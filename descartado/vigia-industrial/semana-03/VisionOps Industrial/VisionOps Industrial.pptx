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VisionOps Industrial. No es un detector de cascos: es una capa configurable que convierte video en eventos operativos accionables. El EPP es el primer caso de uso, no el producto completo. Caso piloto: seguridad industrial en SIDERPERU.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ley peruana de SST exige verificar el uso efectivo del EPP. SIDERPERU publica un sistema maduro: inspecciones planeadas, auditorías, registro de actos subestándar en su software SSMA. Pero esas herramientas cubren momentos, no la continuidad del turno, y las cámaras producen video, no eventos. No hay información pública sobre cuántas cámaras hay o quién las mira: eso se valida en entrevistas.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producto observa una fuente de video, identifica una condición, aplica una regla y genera un único evento con evidencia para que el supervisor decida. El núcleo no sabe qué es un casco: evalúa objetos, zonas, atributos y reglas, así que se reutiliza para zonas restringidas, persona-montacargas o permanencia. Primer experimento deliberadamente mínimo.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control de falsos positivos está en el diseño: no evaluamos un frame aislado, sino una condición que persiste en el tiempo para una misma persona trackeada. Si el casco se oculta un frame, no hay alarma. El cooldown garantiza máximo un evento por persona y regla. El contrato de evento es lo que consume la API y el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Cliente piloto: SIDERPERU, que ya tiene un proceso SST maduro. Usuarios directos: supervisor SST, supervisor operativo, jefatura o analítica SST, y administrador técnico. Beneficiarios: los trabajadores directos y tercerizados, y el Comité de SST y auditoría gracias a la trazabilidad. A futuro, cualquier planta industrial con cámaras, porque el núcleo es genérico.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fila superior corre en Python sobre la laptop o un nodo edge: captura con OpenCV, detección con YOLO nano, tracking con ByteTrack y el motor de reglas, que es el corazón del producto. Cuando se cumple la regla, se envía el evento con su snapshot a FastAPI, que lo persiste en PostgreSQL; el dashboard en Next.js lo muestra y el supervisor decide la acción dentro del proceso SST existente.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stack sigue patrones comunes de video analytics pero evita infraestructura prematura. Para la demo basta una laptop moderna con 16 GB de RAM y una webcam o un MP4; la GPU no es obligatoria para un modelo nano, solo sube los FPS. El Jetson Orin Nano Super es una opción edge futura, no hace falta comprarlo para el MVP.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fuentes de datos con roles distintos. Construction-PPE de Ultralytics, con 1,416 imágenes y 11 clases, nos da un arranque rápido; nos quedamos con persona, casco y sin casco. Luego imágenes propias del entorno objetivo, con el ángulo, iluminación y EPP reales, etiquetadas por el equipo. Y un set de prueba de al menos 30 escenarios que nunca se usa para entrenar. Todo con aviso de videovigilancia y sin reconocimiento facial, según la directiva de la ANPD.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Partimos de YOLO nano preentrenado en COCO, que ya sabe detectar personas. Primer fine-tuning con Construction-PPE reducido a tres clases, con aumentos de datos para simular iluminación y movimiento. Segundo fine-tuning con imágenes locales para cerrar la brecha entre construcción y siderurgia. Después calibramos umbrales por clase y la lógica temporal. La evaluación final es a nivel de evento, que es lo que le importa al supervisor.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primer criterio es de valor, no técnico: que al menos el 80% de los eventos le sirvan al usuario para actuar. Luego latencia, precisión y recall a nivel de evento, cero alertas duplicadas y estabilidad de 30 minutos, para demostrar un sistema y no un script de 20 segundos. Cada evento además conserva hora, cámara, zona, regla y evidencia.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hipótesis no entra al backlog hasta tener evidencia. Antes del Sprint 1 hacemos discovery con entrevistas a SST y operaciones. Cada sprint entrega un incremento demostrable de extremo a extremo. Al cerrar discovery aplicamos el gate: seguir, pivotar a otro caso visual o parar. Y dejamos fuera todo lo que se ve bien pero no mejora el evento.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Somos dos, así que los roles se combinan: Anthony como Product Owner y Luis Fernando como Scrum Master, y ambos desarrollamos. Sprints de dos semanas con los cuatro eventos de Scrum. El Sprint Backlog vive en un tablero Kanban con WIP limitado, y cada incremento tiene que cumplir la Definition of Done: criterios de aceptación, prueba reproducible, código revisado en rama principal y demo de extremo a extremo.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backlog semilla del documento de discovery, con el sprint en que planeamos atender cada historia. US-03 y US-04 cruzan dos sprints porque primero construimos la detección y luego la lógica de evento y su persistencia. El Product Owner refina y reordena el backlog antes de cada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sprint tiene un objetivo en una frase y un incremento demostrable de extremo a extremo. Sprint 1: el modelo ve. Sprint 2: el sistema razona y genera un evento sin duplicados. Sprint 3: el evento se guarda con su evidencia y es consultable por API. Sprint 4: el supervisor lo ve en el dashboard y medimos contra los criterios de éxito. Lo que aprendemos en cada Review ajusta el backlog del siguiente sprint.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investigación no justifica una plataforma enorme desde el inicio; sí justifica probar un componente concreto: convertir observaciones visuales en eventos operativos confiables. El producto gana por tres cosas: evento correcto, a tiempo y accionable.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1.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81E"/>
        </a:solidFill>
      </p:bgPr>
    </p:bg>
    <p:spTree>
      <p:nvGrpSpPr>
        <p:cNvPr id="1" name=""/>
        <p:cNvGrpSpPr/>
        <p:nvPr/>
      </p:nvGrpSpPr>
      <p:grpSpPr>
        <a:xfrm>
          <a:off x="0" y="0"/>
          <a:ext cx="0" cy="0"/>
          <a:chOff x="0" y="0"/>
          <a:chExt cx="0" cy="0"/>
        </a:xfrm>
      </p:grpSpPr>
      <p:sp>
        <p:nvSpPr>
          <p:cNvPr id="2" name="Text 0"/>
          <p:cNvSpPr/>
          <p:nvPr/>
        </p:nvSpPr>
        <p:spPr>
          <a:xfrm>
            <a:off x="812767" y="812767"/>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08A3C"/>
                </a:solidFill>
                <a:latin typeface="IBM Plex Mono" pitchFamily="34" charset="0"/>
                <a:ea typeface="IBM Plex Mono" pitchFamily="34" charset="-122"/>
                <a:cs typeface="IBM Plex Mono" pitchFamily="34" charset="-120"/>
              </a:rPr>
              <a:t>PRODUCT DISCOVERY · MVP · V0.1</a:t>
            </a:r>
            <a:endParaRPr lang="en-US" sz="1200" dirty="0"/>
          </a:p>
        </p:txBody>
      </p:sp>
      <p:sp>
        <p:nvSpPr>
          <p:cNvPr id="3" name="Shape 1"/>
          <p:cNvSpPr/>
          <p:nvPr/>
        </p:nvSpPr>
        <p:spPr>
          <a:xfrm>
            <a:off x="812767" y="1942827"/>
            <a:ext cx="609575" cy="50767"/>
          </a:xfrm>
          <a:prstGeom prst="rect">
            <a:avLst/>
          </a:prstGeom>
          <a:solidFill>
            <a:srgbClr val="F08A3C"/>
          </a:solidFill>
          <a:ln/>
        </p:spPr>
      </p:sp>
      <p:sp>
        <p:nvSpPr>
          <p:cNvPr id="4" name="Text 2"/>
          <p:cNvSpPr/>
          <p:nvPr/>
        </p:nvSpPr>
        <p:spPr>
          <a:xfrm>
            <a:off x="812767" y="2247594"/>
            <a:ext cx="6278880" cy="930275"/>
          </a:xfrm>
          <a:prstGeom prst="rect">
            <a:avLst/>
          </a:prstGeom>
          <a:noFill/>
          <a:ln/>
        </p:spPr>
        <p:txBody>
          <a:bodyPr wrap="square" lIns="0" tIns="0" rIns="0" bIns="0" rtlCol="0" anchor="t">
            <a:normAutofit/>
          </a:bodyPr>
          <a:lstStyle/>
          <a:p>
            <a:pPr algn="l" indent="0" marL="0">
              <a:lnSpc>
                <a:spcPts val="7125"/>
              </a:lnSpc>
              <a:buNone/>
            </a:pPr>
            <a:r>
              <a:rPr lang="en-US" sz="7500" b="1" spc="-200" kern="0" dirty="0">
                <a:solidFill>
                  <a:srgbClr val="F3F2EE"/>
                </a:solidFill>
                <a:latin typeface="Space Grotesk" pitchFamily="34" charset="0"/>
                <a:ea typeface="Space Grotesk" pitchFamily="34" charset="-122"/>
                <a:cs typeface="Space Grotesk" pitchFamily="34" charset="-120"/>
              </a:rPr>
              <a:t>New Bit</a:t>
            </a:r>
            <a:endParaRPr lang="en-US" sz="7500" dirty="0"/>
          </a:p>
        </p:txBody>
      </p:sp>
      <p:sp>
        <p:nvSpPr>
          <p:cNvPr id="5" name="Text 3"/>
          <p:cNvSpPr/>
          <p:nvPr/>
        </p:nvSpPr>
        <p:spPr>
          <a:xfrm>
            <a:off x="812767" y="3406469"/>
            <a:ext cx="6278880" cy="105405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9CCD2"/>
                </a:solidFill>
                <a:latin typeface="IBM Plex Sans" pitchFamily="34" charset="0"/>
                <a:ea typeface="IBM Plex Sans" pitchFamily="34" charset="-122"/>
                <a:cs typeface="IBM Plex Sans" pitchFamily="34" charset="-120"/>
              </a:rPr>
              <a:t>Una plataforma de Computer Vision que convierte cámaras existentes en sensores inteligentes configurables para operaciones industriales.</a:t>
            </a:r>
            <a:endParaRPr lang="en-US" sz="2000" dirty="0"/>
          </a:p>
        </p:txBody>
      </p:sp>
      <p:sp>
        <p:nvSpPr>
          <p:cNvPr id="6" name="Text 4"/>
          <p:cNvSpPr/>
          <p:nvPr/>
        </p:nvSpPr>
        <p:spPr>
          <a:xfrm>
            <a:off x="812767" y="5351818"/>
            <a:ext cx="3418518" cy="71881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EA3AC"/>
                </a:solidFill>
                <a:latin typeface="IBM Plex Sans" pitchFamily="34" charset="0"/>
                <a:ea typeface="IBM Plex Sans" pitchFamily="34" charset="-122"/>
                <a:cs typeface="IBM Plex Sans" pitchFamily="34" charset="-120"/>
              </a:rPr>
              <a:t>Caso piloto</a:t>
            </a:r>
            <a:endParaRPr lang="en-US" sz="1300" dirty="0"/>
          </a:p>
          <a:p>
            <a:pPr algn="l" indent="0" marL="0">
              <a:lnSpc>
                <a:spcPts val="1820"/>
              </a:lnSpc>
              <a:buNone/>
            </a:pPr>
            <a:r>
              <a:rPr lang="en-US" sz="1300" dirty="0">
                <a:solidFill>
                  <a:srgbClr val="F3F2EE"/>
                </a:solidFill>
                <a:latin typeface="IBM Plex Sans" pitchFamily="34" charset="0"/>
                <a:ea typeface="IBM Plex Sans" pitchFamily="34" charset="-122"/>
                <a:cs typeface="IBM Plex Sans" pitchFamily="34" charset="-120"/>
              </a:rPr>
              <a:t>Seguridad industrial · SIDERPERU</a:t>
            </a:r>
            <a:endParaRPr lang="en-US" sz="1300" dirty="0"/>
          </a:p>
        </p:txBody>
      </p:sp>
      <p:sp>
        <p:nvSpPr>
          <p:cNvPr id="7" name="Text 5"/>
          <p:cNvSpPr/>
          <p:nvPr/>
        </p:nvSpPr>
        <p:spPr>
          <a:xfrm>
            <a:off x="4436483" y="5351818"/>
            <a:ext cx="3418561" cy="71881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EA3AC"/>
                </a:solidFill>
                <a:latin typeface="IBM Plex Sans" pitchFamily="34" charset="0"/>
                <a:ea typeface="IBM Plex Sans" pitchFamily="34" charset="-122"/>
                <a:cs typeface="IBM Plex Sans" pitchFamily="34" charset="-120"/>
              </a:rPr>
              <a:t>Curso</a:t>
            </a:r>
            <a:endParaRPr lang="en-US" sz="1300" dirty="0"/>
          </a:p>
          <a:p>
            <a:pPr algn="l" indent="0" marL="0">
              <a:lnSpc>
                <a:spcPts val="1820"/>
              </a:lnSpc>
              <a:buNone/>
            </a:pPr>
            <a:r>
              <a:rPr lang="en-US" sz="1300" dirty="0">
                <a:solidFill>
                  <a:srgbClr val="F3F2EE"/>
                </a:solidFill>
                <a:latin typeface="IBM Plex Sans" pitchFamily="34" charset="0"/>
                <a:ea typeface="IBM Plex Sans" pitchFamily="34" charset="-122"/>
                <a:cs typeface="IBM Plex Sans" pitchFamily="34" charset="-120"/>
              </a:rPr>
              <a:t>Software Engineering · Lean + Kanban + Scrum</a:t>
            </a:r>
            <a:endParaRPr lang="en-US" sz="1300" dirty="0"/>
          </a:p>
        </p:txBody>
      </p:sp>
      <p:sp>
        <p:nvSpPr>
          <p:cNvPr id="8" name="Text 6"/>
          <p:cNvSpPr/>
          <p:nvPr/>
        </p:nvSpPr>
        <p:spPr>
          <a:xfrm>
            <a:off x="8060241" y="5351818"/>
            <a:ext cx="3418518" cy="71881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EA3AC"/>
                </a:solidFill>
                <a:latin typeface="IBM Plex Sans" pitchFamily="34" charset="0"/>
                <a:ea typeface="IBM Plex Sans" pitchFamily="34" charset="-122"/>
                <a:cs typeface="IBM Plex Sans" pitchFamily="34" charset="-120"/>
              </a:rPr>
              <a:t>Estudiantes</a:t>
            </a:r>
            <a:endParaRPr lang="en-US" sz="1300" dirty="0"/>
          </a:p>
          <a:p>
            <a:pPr algn="l" indent="0" marL="0">
              <a:lnSpc>
                <a:spcPts val="1820"/>
              </a:lnSpc>
              <a:buNone/>
            </a:pPr>
            <a:r>
              <a:rPr lang="en-US" sz="1300" dirty="0">
                <a:solidFill>
                  <a:srgbClr val="F3F2EE"/>
                </a:solidFill>
                <a:latin typeface="IBM Plex Sans" pitchFamily="34" charset="0"/>
                <a:ea typeface="IBM Plex Sans" pitchFamily="34" charset="-122"/>
                <a:cs typeface="IBM Plex Sans" pitchFamily="34" charset="-120"/>
              </a:rPr>
              <a:t>Anthony Lopez Yrribarren</a:t>
            </a:r>
            <a:endParaRPr lang="en-US" sz="1300" dirty="0"/>
          </a:p>
          <a:p>
            <a:pPr algn="l" indent="0" marL="0">
              <a:lnSpc>
                <a:spcPts val="1820"/>
              </a:lnSpc>
              <a:buNone/>
            </a:pPr>
            <a:r>
              <a:rPr lang="en-US" sz="1300" dirty="0">
                <a:solidFill>
                  <a:srgbClr val="F3F2EE"/>
                </a:solidFill>
                <a:latin typeface="IBM Plex Sans" pitchFamily="34" charset="0"/>
                <a:ea typeface="IBM Plex Sans" pitchFamily="34" charset="-122"/>
                <a:cs typeface="IBM Plex Sans" pitchFamily="34" charset="-120"/>
              </a:rPr>
              <a:t>Salazar Diaz Luis Fernando</a:t>
            </a:r>
            <a:endParaRPr lang="en-US" sz="1300" dirty="0"/>
          </a:p>
        </p:txBody>
      </p:sp>
      <p:pic>
        <p:nvPicPr>
          <p:cNvPr id="9" name="Image 0" descr="Visor de cámara: una persona dentro de una zona marcada, con su cabeza resaltada por no llevar casco y una alerta generada">    </p:cNvPr>
          <p:cNvPicPr>
            <a:picLocks noChangeAspect="1"/>
          </p:cNvPicPr>
          <p:nvPr/>
        </p:nvPicPr>
        <p:blipFill>
          <a:blip r:embed="rId1"/>
          <a:srcRect l="0" r="0" t="0" b="0"/>
          <a:stretch/>
        </p:blipFill>
        <p:spPr>
          <a:xfrm>
            <a:off x="7239000" y="1270000"/>
            <a:ext cx="4140191" cy="381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2EE"/>
        </a:solidFill>
      </p:bgPr>
    </p:bg>
    <p:spTree>
      <p:nvGrpSpPr>
        <p:cNvPr id="1" name=""/>
        <p:cNvGrpSpPr/>
        <p:nvPr/>
      </p:nvGrpSpPr>
      <p:grpSpPr>
        <a:xfrm>
          <a:off x="0" y="0"/>
          <a:ext cx="0" cy="0"/>
          <a:chOff x="0" y="0"/>
          <a:chExt cx="0" cy="0"/>
        </a:xfrm>
      </p:grpSpPr>
      <p:sp>
        <p:nvSpPr>
          <p:cNvPr id="2" name="Text 0"/>
          <p:cNvSpPr/>
          <p:nvPr/>
        </p:nvSpPr>
        <p:spPr>
          <a:xfrm>
            <a:off x="812767" y="812767"/>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4A0C"/>
                </a:solidFill>
                <a:latin typeface="IBM Plex Mono" pitchFamily="34" charset="0"/>
                <a:ea typeface="IBM Plex Mono" pitchFamily="34" charset="-122"/>
                <a:cs typeface="IBM Plex Mono" pitchFamily="34" charset="-120"/>
              </a:rPr>
              <a:t>01 · PROBLEMA</a:t>
            </a:r>
            <a:endParaRPr lang="en-US" sz="1200" dirty="0"/>
          </a:p>
        </p:txBody>
      </p:sp>
      <p:sp>
        <p:nvSpPr>
          <p:cNvPr id="3" name="Text 1"/>
          <p:cNvSpPr/>
          <p:nvPr/>
        </p:nvSpPr>
        <p:spPr>
          <a:xfrm>
            <a:off x="812767" y="1127662"/>
            <a:ext cx="10883460" cy="528274"/>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15181E"/>
                </a:solidFill>
                <a:latin typeface="Space Grotesk" pitchFamily="34" charset="0"/>
                <a:ea typeface="Space Grotesk" pitchFamily="34" charset="-122"/>
                <a:cs typeface="Space Grotesk" pitchFamily="34" charset="-120"/>
              </a:rPr>
              <a:t>Una brecha entre ocurrir y enterarse</a:t>
            </a:r>
            <a:endParaRPr lang="en-US" sz="3600" dirty="0"/>
          </a:p>
        </p:txBody>
      </p:sp>
      <p:sp>
        <p:nvSpPr>
          <p:cNvPr id="4" name="Shape 2"/>
          <p:cNvSpPr/>
          <p:nvPr/>
        </p:nvSpPr>
        <p:spPr>
          <a:xfrm>
            <a:off x="815942" y="1989286"/>
            <a:ext cx="3380317" cy="2301643"/>
          </a:xfrm>
          <a:prstGeom prst="roundRect">
            <a:avLst>
              <a:gd name="adj" fmla="val 4276"/>
            </a:avLst>
          </a:prstGeom>
          <a:solidFill>
            <a:srgbClr val="FBFAF7"/>
          </a:solidFill>
          <a:ln w="6350">
            <a:solidFill>
              <a:srgbClr val="D8D5CC"/>
            </a:solidFill>
            <a:prstDash val="solid"/>
          </a:ln>
        </p:spPr>
      </p:sp>
      <p:sp>
        <p:nvSpPr>
          <p:cNvPr id="5" name="Text 3"/>
          <p:cNvSpPr/>
          <p:nvPr/>
        </p:nvSpPr>
        <p:spPr>
          <a:xfrm>
            <a:off x="1072059" y="2245402"/>
            <a:ext cx="29541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Normativa</a:t>
            </a:r>
            <a:endParaRPr lang="en-US" sz="1200" dirty="0"/>
          </a:p>
        </p:txBody>
      </p:sp>
      <p:sp>
        <p:nvSpPr>
          <p:cNvPr id="6" name="Text 4"/>
          <p:cNvSpPr/>
          <p:nvPr/>
        </p:nvSpPr>
        <p:spPr>
          <a:xfrm>
            <a:off x="1072059" y="2585723"/>
            <a:ext cx="2954126"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81E"/>
                </a:solidFill>
                <a:latin typeface="Space Grotesk" pitchFamily="34" charset="0"/>
                <a:ea typeface="Space Grotesk" pitchFamily="34" charset="-122"/>
                <a:cs typeface="Space Grotesk" pitchFamily="34" charset="-120"/>
              </a:rPr>
              <a:t>La ley exige verificar</a:t>
            </a:r>
            <a:endParaRPr lang="en-US" sz="1800" dirty="0"/>
          </a:p>
        </p:txBody>
      </p:sp>
      <p:sp>
        <p:nvSpPr>
          <p:cNvPr id="7" name="Text 5"/>
          <p:cNvSpPr/>
          <p:nvPr/>
        </p:nvSpPr>
        <p:spPr>
          <a:xfrm>
            <a:off x="1072059" y="2987063"/>
            <a:ext cx="2954126" cy="7988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4F58"/>
                </a:solidFill>
                <a:latin typeface="IBM Plex Sans" pitchFamily="34" charset="0"/>
                <a:ea typeface="IBM Plex Sans" pitchFamily="34" charset="-122"/>
                <a:cs typeface="IBM Plex Sans" pitchFamily="34" charset="-120"/>
              </a:rPr>
              <a:t>La Ley N.° 29783 obliga a entregar EPP adecuado y a verificar su uso efectivo, no solo a entregarlo.</a:t>
            </a:r>
            <a:endParaRPr lang="en-US" sz="1400" dirty="0"/>
          </a:p>
        </p:txBody>
      </p:sp>
      <p:sp>
        <p:nvSpPr>
          <p:cNvPr id="8" name="Shape 6"/>
          <p:cNvSpPr/>
          <p:nvPr/>
        </p:nvSpPr>
        <p:spPr>
          <a:xfrm>
            <a:off x="4405800" y="1989286"/>
            <a:ext cx="3380358" cy="2301643"/>
          </a:xfrm>
          <a:prstGeom prst="roundRect">
            <a:avLst>
              <a:gd name="adj" fmla="val 4276"/>
            </a:avLst>
          </a:prstGeom>
          <a:solidFill>
            <a:srgbClr val="FBFAF7"/>
          </a:solidFill>
          <a:ln w="6350">
            <a:solidFill>
              <a:srgbClr val="D8D5CC"/>
            </a:solidFill>
            <a:prstDash val="solid"/>
          </a:ln>
        </p:spPr>
      </p:sp>
      <p:sp>
        <p:nvSpPr>
          <p:cNvPr id="9" name="Text 7"/>
          <p:cNvSpPr/>
          <p:nvPr/>
        </p:nvSpPr>
        <p:spPr>
          <a:xfrm>
            <a:off x="4661917" y="2245402"/>
            <a:ext cx="29541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Proceso actual</a:t>
            </a:r>
            <a:endParaRPr lang="en-US" sz="1200" dirty="0"/>
          </a:p>
        </p:txBody>
      </p:sp>
      <p:sp>
        <p:nvSpPr>
          <p:cNvPr id="10" name="Text 8"/>
          <p:cNvSpPr/>
          <p:nvPr/>
        </p:nvSpPr>
        <p:spPr>
          <a:xfrm>
            <a:off x="4661917" y="2585723"/>
            <a:ext cx="2954168"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81E"/>
                </a:solidFill>
                <a:latin typeface="Space Grotesk" pitchFamily="34" charset="0"/>
                <a:ea typeface="Space Grotesk" pitchFamily="34" charset="-122"/>
                <a:cs typeface="Space Grotesk" pitchFamily="34" charset="-120"/>
              </a:rPr>
              <a:t>La inspección no escala</a:t>
            </a:r>
            <a:endParaRPr lang="en-US" sz="1800" dirty="0"/>
          </a:p>
        </p:txBody>
      </p:sp>
      <p:sp>
        <p:nvSpPr>
          <p:cNvPr id="11" name="Text 9"/>
          <p:cNvSpPr/>
          <p:nvPr/>
        </p:nvSpPr>
        <p:spPr>
          <a:xfrm>
            <a:off x="4661917" y="2987063"/>
            <a:ext cx="2954168" cy="7988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4F58"/>
                </a:solidFill>
                <a:latin typeface="IBM Plex Sans" pitchFamily="34" charset="0"/>
                <a:ea typeface="IBM Plex Sans" pitchFamily="34" charset="-122"/>
                <a:cs typeface="IBM Plex Sans" pitchFamily="34" charset="-120"/>
              </a:rPr>
              <a:t>Inspecciones, auditorías y reportes en SSMA cubren momentos, no todo el turno ni todos los puntos.</a:t>
            </a:r>
            <a:endParaRPr lang="en-US" sz="1400" dirty="0"/>
          </a:p>
        </p:txBody>
      </p:sp>
      <p:sp>
        <p:nvSpPr>
          <p:cNvPr id="12" name="Shape 10"/>
          <p:cNvSpPr/>
          <p:nvPr/>
        </p:nvSpPr>
        <p:spPr>
          <a:xfrm>
            <a:off x="7995700" y="1989286"/>
            <a:ext cx="3380317" cy="2301643"/>
          </a:xfrm>
          <a:prstGeom prst="roundRect">
            <a:avLst>
              <a:gd name="adj" fmla="val 4276"/>
            </a:avLst>
          </a:prstGeom>
          <a:solidFill>
            <a:srgbClr val="FBFAF7"/>
          </a:solidFill>
          <a:ln w="6350">
            <a:solidFill>
              <a:srgbClr val="D8D5CC"/>
            </a:solidFill>
            <a:prstDash val="solid"/>
          </a:ln>
        </p:spPr>
      </p:sp>
      <p:sp>
        <p:nvSpPr>
          <p:cNvPr id="13" name="Text 11"/>
          <p:cNvSpPr/>
          <p:nvPr/>
        </p:nvSpPr>
        <p:spPr>
          <a:xfrm>
            <a:off x="8251816" y="2245402"/>
            <a:ext cx="29541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Tecnología actual</a:t>
            </a:r>
            <a:endParaRPr lang="en-US" sz="1200" dirty="0"/>
          </a:p>
        </p:txBody>
      </p:sp>
      <p:sp>
        <p:nvSpPr>
          <p:cNvPr id="14" name="Text 12"/>
          <p:cNvSpPr/>
          <p:nvPr/>
        </p:nvSpPr>
        <p:spPr>
          <a:xfrm>
            <a:off x="8251816" y="2585723"/>
            <a:ext cx="2954126" cy="5740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81E"/>
                </a:solidFill>
                <a:latin typeface="Space Grotesk" pitchFamily="34" charset="0"/>
                <a:ea typeface="Space Grotesk" pitchFamily="34" charset="-122"/>
                <a:cs typeface="Space Grotesk" pitchFamily="34" charset="-120"/>
              </a:rPr>
              <a:t>La cámara graba, no alerta</a:t>
            </a:r>
            <a:endParaRPr lang="en-US" sz="1800" dirty="0"/>
          </a:p>
        </p:txBody>
      </p:sp>
      <p:sp>
        <p:nvSpPr>
          <p:cNvPr id="15" name="Text 13"/>
          <p:cNvSpPr/>
          <p:nvPr/>
        </p:nvSpPr>
        <p:spPr>
          <a:xfrm>
            <a:off x="8251816" y="3261402"/>
            <a:ext cx="2954126" cy="7988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4F58"/>
                </a:solidFill>
                <a:latin typeface="IBM Plex Sans" pitchFamily="34" charset="0"/>
                <a:ea typeface="IBM Plex Sans" pitchFamily="34" charset="-122"/>
                <a:cs typeface="IBM Plex Sans" pitchFamily="34" charset="-120"/>
              </a:rPr>
              <a:t>El CCTV produce horas de video, pero ningún evento listo para que alguien actúe a tiempo.</a:t>
            </a:r>
            <a:endParaRPr lang="en-US" sz="1400" dirty="0"/>
          </a:p>
        </p:txBody>
      </p:sp>
      <p:sp>
        <p:nvSpPr>
          <p:cNvPr id="16" name="Shape 14"/>
          <p:cNvSpPr/>
          <p:nvPr/>
        </p:nvSpPr>
        <p:spPr>
          <a:xfrm>
            <a:off x="831817" y="4649680"/>
            <a:ext cx="0" cy="761917"/>
          </a:xfrm>
          <a:prstGeom prst="line">
            <a:avLst/>
          </a:prstGeom>
          <a:noFill/>
          <a:ln w="38100">
            <a:solidFill>
              <a:srgbClr val="E0701F"/>
            </a:solidFill>
            <a:prstDash val="solid"/>
          </a:ln>
        </p:spPr>
      </p:sp>
      <p:sp>
        <p:nvSpPr>
          <p:cNvPr id="17" name="Text 15"/>
          <p:cNvSpPr/>
          <p:nvPr/>
        </p:nvSpPr>
        <p:spPr>
          <a:xfrm>
            <a:off x="1103809" y="4700446"/>
            <a:ext cx="10583687" cy="685783"/>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5181E"/>
                </a:solidFill>
                <a:latin typeface="Space Grotesk" pitchFamily="34" charset="0"/>
                <a:ea typeface="Space Grotesk" pitchFamily="34" charset="-122"/>
                <a:cs typeface="Space Grotesk" pitchFamily="34" charset="-120"/>
              </a:rPr>
              <a:t>El reto no es “detectar objetos con IA”: es cubrir un vacío operativo de supervisión continua.</a:t>
            </a:r>
            <a:endParaRPr lang="en-US" sz="2000" dirty="0"/>
          </a:p>
        </p:txBody>
      </p:sp>
      <p:sp>
        <p:nvSpPr>
          <p:cNvPr id="18" name="Text 16"/>
          <p:cNvSpPr/>
          <p:nvPr/>
        </p:nvSpPr>
        <p:spPr>
          <a:xfrm>
            <a:off x="812767" y="6238295"/>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Fuentes: Ley N.° 29783 · SIDERPERU, Reporte de Sostenibilidad 2023</a:t>
            </a:r>
            <a:endParaRPr lang="en-US" sz="1200" dirty="0"/>
          </a:p>
        </p:txBody>
      </p:sp>
      <p:sp>
        <p:nvSpPr>
          <p:cNvPr id="19" name="Text 17"/>
          <p:cNvSpPr/>
          <p:nvPr/>
        </p:nvSpPr>
        <p:spPr>
          <a:xfrm>
            <a:off x="10312433" y="6238295"/>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7E1"/>
        </a:solidFill>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4A0C"/>
                </a:solidFill>
                <a:latin typeface="IBM Plex Mono" pitchFamily="34" charset="0"/>
                <a:ea typeface="IBM Plex Mono" pitchFamily="34" charset="-122"/>
                <a:cs typeface="IBM Plex Mono" pitchFamily="34" charset="-120"/>
              </a:rPr>
              <a:t>02 · SOLUCIÓN PROPUESTA</a:t>
            </a:r>
            <a:endParaRPr lang="en-US" sz="1200" dirty="0"/>
          </a:p>
        </p:txBody>
      </p:sp>
      <p:sp>
        <p:nvSpPr>
          <p:cNvPr id="3" name="Text 1"/>
          <p:cNvSpPr/>
          <p:nvPr/>
        </p:nvSpPr>
        <p:spPr>
          <a:xfrm>
            <a:off x="812767" y="1127661"/>
            <a:ext cx="10883460" cy="528274"/>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15181E"/>
                </a:solidFill>
                <a:latin typeface="Space Grotesk" pitchFamily="34" charset="0"/>
                <a:ea typeface="Space Grotesk" pitchFamily="34" charset="-122"/>
                <a:cs typeface="Space Grotesk" pitchFamily="34" charset="-120"/>
              </a:rPr>
              <a:t>Convertir video en eventos accionables</a:t>
            </a:r>
            <a:endParaRPr lang="en-US" sz="3600" dirty="0"/>
          </a:p>
        </p:txBody>
      </p:sp>
      <p:sp>
        <p:nvSpPr>
          <p:cNvPr id="4" name="Shape 2"/>
          <p:cNvSpPr/>
          <p:nvPr/>
        </p:nvSpPr>
        <p:spPr>
          <a:xfrm>
            <a:off x="815942" y="1989286"/>
            <a:ext cx="1394908" cy="945654"/>
          </a:xfrm>
          <a:prstGeom prst="roundRect">
            <a:avLst>
              <a:gd name="adj" fmla="val 9065"/>
            </a:avLst>
          </a:prstGeom>
          <a:solidFill>
            <a:srgbClr val="FBFAF7"/>
          </a:solidFill>
          <a:ln w="6350">
            <a:solidFill>
              <a:srgbClr val="D8D5CC"/>
            </a:solidFill>
            <a:prstDash val="solid"/>
          </a:ln>
        </p:spPr>
      </p:sp>
      <p:sp>
        <p:nvSpPr>
          <p:cNvPr id="5" name="Text 3"/>
          <p:cNvSpPr/>
          <p:nvPr/>
        </p:nvSpPr>
        <p:spPr>
          <a:xfrm>
            <a:off x="945059" y="2118402"/>
            <a:ext cx="11874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01</a:t>
            </a:r>
            <a:endParaRPr lang="en-US" sz="1200" dirty="0"/>
          </a:p>
        </p:txBody>
      </p:sp>
      <p:sp>
        <p:nvSpPr>
          <p:cNvPr id="6" name="Text 4"/>
          <p:cNvSpPr/>
          <p:nvPr/>
        </p:nvSpPr>
        <p:spPr>
          <a:xfrm>
            <a:off x="945059" y="2382490"/>
            <a:ext cx="118747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5181E"/>
                </a:solidFill>
                <a:latin typeface="Space Grotesk" pitchFamily="34" charset="0"/>
                <a:ea typeface="Space Grotesk" pitchFamily="34" charset="-122"/>
                <a:cs typeface="Space Grotesk" pitchFamily="34" charset="-120"/>
              </a:rPr>
              <a:t>Mundo real</a:t>
            </a:r>
            <a:endParaRPr lang="en-US" sz="1300" dirty="0"/>
          </a:p>
        </p:txBody>
      </p:sp>
      <p:pic>
        <p:nvPicPr>
          <p:cNvPr id="7" name="Image 0" descr="connector">    </p:cNvPr>
          <p:cNvPicPr>
            <a:picLocks noChangeAspect="1"/>
          </p:cNvPicPr>
          <p:nvPr/>
        </p:nvPicPr>
        <p:blipFill>
          <a:blip r:embed="rId1"/>
          <a:srcRect l="-6" r="-6" t="0" b="0"/>
          <a:stretch/>
        </p:blipFill>
        <p:spPr>
          <a:xfrm>
            <a:off x="2252117" y="2411321"/>
            <a:ext cx="355583" cy="101583"/>
          </a:xfrm>
          <a:prstGeom prst="rect">
            <a:avLst/>
          </a:prstGeom>
        </p:spPr>
      </p:pic>
      <p:sp>
        <p:nvSpPr>
          <p:cNvPr id="8" name="Shape 5"/>
          <p:cNvSpPr/>
          <p:nvPr/>
        </p:nvSpPr>
        <p:spPr>
          <a:xfrm>
            <a:off x="2648967" y="1989286"/>
            <a:ext cx="1394949" cy="945654"/>
          </a:xfrm>
          <a:prstGeom prst="roundRect">
            <a:avLst>
              <a:gd name="adj" fmla="val 9065"/>
            </a:avLst>
          </a:prstGeom>
          <a:solidFill>
            <a:srgbClr val="FBFAF7"/>
          </a:solidFill>
          <a:ln w="6350">
            <a:solidFill>
              <a:srgbClr val="D8D5CC"/>
            </a:solidFill>
            <a:prstDash val="solid"/>
          </a:ln>
        </p:spPr>
      </p:sp>
      <p:sp>
        <p:nvSpPr>
          <p:cNvPr id="9" name="Text 6"/>
          <p:cNvSpPr/>
          <p:nvPr/>
        </p:nvSpPr>
        <p:spPr>
          <a:xfrm>
            <a:off x="2778084" y="2118402"/>
            <a:ext cx="11875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02</a:t>
            </a:r>
            <a:endParaRPr lang="en-US" sz="1200" dirty="0"/>
          </a:p>
        </p:txBody>
      </p:sp>
      <p:sp>
        <p:nvSpPr>
          <p:cNvPr id="10" name="Text 7"/>
          <p:cNvSpPr/>
          <p:nvPr/>
        </p:nvSpPr>
        <p:spPr>
          <a:xfrm>
            <a:off x="2778084" y="2382490"/>
            <a:ext cx="118751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5181E"/>
                </a:solidFill>
                <a:latin typeface="Space Grotesk" pitchFamily="34" charset="0"/>
                <a:ea typeface="Space Grotesk" pitchFamily="34" charset="-122"/>
                <a:cs typeface="Space Grotesk" pitchFamily="34" charset="-120"/>
              </a:rPr>
              <a:t>Cámara</a:t>
            </a:r>
            <a:endParaRPr lang="en-US" sz="1300" dirty="0"/>
          </a:p>
        </p:txBody>
      </p:sp>
      <p:pic>
        <p:nvPicPr>
          <p:cNvPr id="11" name="Image 1" descr="connector">    </p:cNvPr>
          <p:cNvPicPr>
            <a:picLocks noChangeAspect="1"/>
          </p:cNvPicPr>
          <p:nvPr/>
        </p:nvPicPr>
        <p:blipFill>
          <a:blip r:embed="rId2"/>
          <a:srcRect l="-6" r="-6" t="0" b="0"/>
          <a:stretch/>
        </p:blipFill>
        <p:spPr>
          <a:xfrm>
            <a:off x="4085183" y="2411321"/>
            <a:ext cx="355583" cy="101583"/>
          </a:xfrm>
          <a:prstGeom prst="rect">
            <a:avLst/>
          </a:prstGeom>
        </p:spPr>
      </p:pic>
      <p:sp>
        <p:nvSpPr>
          <p:cNvPr id="12" name="Shape 8"/>
          <p:cNvSpPr/>
          <p:nvPr/>
        </p:nvSpPr>
        <p:spPr>
          <a:xfrm>
            <a:off x="4482033" y="1989286"/>
            <a:ext cx="1394908" cy="945654"/>
          </a:xfrm>
          <a:prstGeom prst="roundRect">
            <a:avLst>
              <a:gd name="adj" fmla="val 9065"/>
            </a:avLst>
          </a:prstGeom>
          <a:solidFill>
            <a:srgbClr val="FBFAF7"/>
          </a:solidFill>
          <a:ln w="6350">
            <a:solidFill>
              <a:srgbClr val="D8D5CC"/>
            </a:solidFill>
            <a:prstDash val="solid"/>
          </a:ln>
        </p:spPr>
      </p:sp>
      <p:sp>
        <p:nvSpPr>
          <p:cNvPr id="13" name="Text 9"/>
          <p:cNvSpPr/>
          <p:nvPr/>
        </p:nvSpPr>
        <p:spPr>
          <a:xfrm>
            <a:off x="4611150" y="2118402"/>
            <a:ext cx="11874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03</a:t>
            </a:r>
            <a:endParaRPr lang="en-US" sz="1200" dirty="0"/>
          </a:p>
        </p:txBody>
      </p:sp>
      <p:sp>
        <p:nvSpPr>
          <p:cNvPr id="14" name="Text 10"/>
          <p:cNvSpPr/>
          <p:nvPr/>
        </p:nvSpPr>
        <p:spPr>
          <a:xfrm>
            <a:off x="4611150" y="2382490"/>
            <a:ext cx="1187475"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5181E"/>
                </a:solidFill>
                <a:latin typeface="Space Grotesk" pitchFamily="34" charset="0"/>
                <a:ea typeface="Space Grotesk" pitchFamily="34" charset="-122"/>
                <a:cs typeface="Space Grotesk" pitchFamily="34" charset="-120"/>
              </a:rPr>
              <a:t>Detección + tracking</a:t>
            </a:r>
            <a:endParaRPr lang="en-US" sz="1300" dirty="0"/>
          </a:p>
        </p:txBody>
      </p:sp>
      <p:pic>
        <p:nvPicPr>
          <p:cNvPr id="15" name="Image 2" descr="connector">    </p:cNvPr>
          <p:cNvPicPr>
            <a:picLocks noChangeAspect="1"/>
          </p:cNvPicPr>
          <p:nvPr/>
        </p:nvPicPr>
        <p:blipFill>
          <a:blip r:embed="rId3"/>
          <a:srcRect l="-6" r="-6" t="0" b="0"/>
          <a:stretch/>
        </p:blipFill>
        <p:spPr>
          <a:xfrm>
            <a:off x="5918208" y="2411321"/>
            <a:ext cx="355583" cy="101583"/>
          </a:xfrm>
          <a:prstGeom prst="rect">
            <a:avLst/>
          </a:prstGeom>
        </p:spPr>
      </p:pic>
      <p:sp>
        <p:nvSpPr>
          <p:cNvPr id="16" name="Shape 11"/>
          <p:cNvSpPr/>
          <p:nvPr/>
        </p:nvSpPr>
        <p:spPr>
          <a:xfrm>
            <a:off x="6315058" y="1989286"/>
            <a:ext cx="1394949" cy="945654"/>
          </a:xfrm>
          <a:prstGeom prst="roundRect">
            <a:avLst>
              <a:gd name="adj" fmla="val 9065"/>
            </a:avLst>
          </a:prstGeom>
          <a:solidFill>
            <a:srgbClr val="FBFAF7"/>
          </a:solidFill>
          <a:ln w="6350">
            <a:solidFill>
              <a:srgbClr val="D8D5CC"/>
            </a:solidFill>
            <a:prstDash val="solid"/>
          </a:ln>
        </p:spPr>
      </p:sp>
      <p:sp>
        <p:nvSpPr>
          <p:cNvPr id="17" name="Text 12"/>
          <p:cNvSpPr/>
          <p:nvPr/>
        </p:nvSpPr>
        <p:spPr>
          <a:xfrm>
            <a:off x="6444175" y="2118402"/>
            <a:ext cx="11875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04</a:t>
            </a:r>
            <a:endParaRPr lang="en-US" sz="1200" dirty="0"/>
          </a:p>
        </p:txBody>
      </p:sp>
      <p:sp>
        <p:nvSpPr>
          <p:cNvPr id="18" name="Text 13"/>
          <p:cNvSpPr/>
          <p:nvPr/>
        </p:nvSpPr>
        <p:spPr>
          <a:xfrm>
            <a:off x="6444175" y="2382490"/>
            <a:ext cx="1187516"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5181E"/>
                </a:solidFill>
                <a:latin typeface="Space Grotesk" pitchFamily="34" charset="0"/>
                <a:ea typeface="Space Grotesk" pitchFamily="34" charset="-122"/>
                <a:cs typeface="Space Grotesk" pitchFamily="34" charset="-120"/>
              </a:rPr>
              <a:t>Regla de negocio</a:t>
            </a:r>
            <a:endParaRPr lang="en-US" sz="1300" dirty="0"/>
          </a:p>
        </p:txBody>
      </p:sp>
      <p:pic>
        <p:nvPicPr>
          <p:cNvPr id="19" name="Image 3" descr="connector">    </p:cNvPr>
          <p:cNvPicPr>
            <a:picLocks noChangeAspect="1"/>
          </p:cNvPicPr>
          <p:nvPr/>
        </p:nvPicPr>
        <p:blipFill>
          <a:blip r:embed="rId4"/>
          <a:srcRect l="-6" r="-6" t="0" b="0"/>
          <a:stretch/>
        </p:blipFill>
        <p:spPr>
          <a:xfrm>
            <a:off x="7751274" y="2411321"/>
            <a:ext cx="355583" cy="101583"/>
          </a:xfrm>
          <a:prstGeom prst="rect">
            <a:avLst/>
          </a:prstGeom>
        </p:spPr>
      </p:pic>
      <p:sp>
        <p:nvSpPr>
          <p:cNvPr id="20" name="Shape 14"/>
          <p:cNvSpPr/>
          <p:nvPr/>
        </p:nvSpPr>
        <p:spPr>
          <a:xfrm>
            <a:off x="8151299" y="1992461"/>
            <a:ext cx="1399141" cy="939304"/>
          </a:xfrm>
          <a:prstGeom prst="roundRect">
            <a:avLst>
              <a:gd name="adj" fmla="val 8788"/>
            </a:avLst>
          </a:prstGeom>
          <a:solidFill>
            <a:srgbClr val="FBFAF7"/>
          </a:solidFill>
          <a:ln w="12700">
            <a:solidFill>
              <a:srgbClr val="E0701F"/>
            </a:solidFill>
            <a:prstDash val="solid"/>
          </a:ln>
        </p:spPr>
      </p:sp>
      <p:sp>
        <p:nvSpPr>
          <p:cNvPr id="21" name="Text 15"/>
          <p:cNvSpPr/>
          <p:nvPr/>
        </p:nvSpPr>
        <p:spPr>
          <a:xfrm>
            <a:off x="8282533" y="2123694"/>
            <a:ext cx="11874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05</a:t>
            </a:r>
            <a:endParaRPr lang="en-US" sz="1200" dirty="0"/>
          </a:p>
        </p:txBody>
      </p:sp>
      <p:sp>
        <p:nvSpPr>
          <p:cNvPr id="22" name="Text 16"/>
          <p:cNvSpPr/>
          <p:nvPr/>
        </p:nvSpPr>
        <p:spPr>
          <a:xfrm>
            <a:off x="8282533" y="2387781"/>
            <a:ext cx="1187475"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5181E"/>
                </a:solidFill>
                <a:latin typeface="Space Grotesk" pitchFamily="34" charset="0"/>
                <a:ea typeface="Space Grotesk" pitchFamily="34" charset="-122"/>
                <a:cs typeface="Space Grotesk" pitchFamily="34" charset="-120"/>
              </a:rPr>
              <a:t>Evento único + evidencia</a:t>
            </a:r>
            <a:endParaRPr lang="en-US" sz="1300" dirty="0"/>
          </a:p>
        </p:txBody>
      </p:sp>
      <p:pic>
        <p:nvPicPr>
          <p:cNvPr id="23" name="Image 4" descr="connector">    </p:cNvPr>
          <p:cNvPicPr>
            <a:picLocks noChangeAspect="1"/>
          </p:cNvPicPr>
          <p:nvPr/>
        </p:nvPicPr>
        <p:blipFill>
          <a:blip r:embed="rId5"/>
          <a:srcRect l="-6" r="-6" t="0" b="0"/>
          <a:stretch/>
        </p:blipFill>
        <p:spPr>
          <a:xfrm>
            <a:off x="9594883" y="2411321"/>
            <a:ext cx="355583" cy="101583"/>
          </a:xfrm>
          <a:prstGeom prst="rect">
            <a:avLst/>
          </a:prstGeom>
        </p:spPr>
      </p:pic>
      <p:sp>
        <p:nvSpPr>
          <p:cNvPr id="24" name="Shape 17"/>
          <p:cNvSpPr/>
          <p:nvPr/>
        </p:nvSpPr>
        <p:spPr>
          <a:xfrm>
            <a:off x="9988558" y="1986111"/>
            <a:ext cx="1390675" cy="952004"/>
          </a:xfrm>
          <a:prstGeom prst="roundRect">
            <a:avLst>
              <a:gd name="adj" fmla="val 9338"/>
            </a:avLst>
          </a:prstGeom>
          <a:solidFill>
            <a:srgbClr val="15181E"/>
          </a:solidFill>
          <a:ln/>
        </p:spPr>
      </p:sp>
      <p:sp>
        <p:nvSpPr>
          <p:cNvPr id="25" name="Text 18"/>
          <p:cNvSpPr/>
          <p:nvPr/>
        </p:nvSpPr>
        <p:spPr>
          <a:xfrm>
            <a:off x="10115558" y="2113111"/>
            <a:ext cx="11874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8A3C"/>
                </a:solidFill>
                <a:latin typeface="IBM Plex Mono" pitchFamily="34" charset="0"/>
                <a:ea typeface="IBM Plex Mono" pitchFamily="34" charset="-122"/>
                <a:cs typeface="IBM Plex Mono" pitchFamily="34" charset="-120"/>
              </a:rPr>
              <a:t>06</a:t>
            </a:r>
            <a:endParaRPr lang="en-US" sz="1200" dirty="0"/>
          </a:p>
        </p:txBody>
      </p:sp>
      <p:sp>
        <p:nvSpPr>
          <p:cNvPr id="26" name="Text 19"/>
          <p:cNvSpPr/>
          <p:nvPr/>
        </p:nvSpPr>
        <p:spPr>
          <a:xfrm>
            <a:off x="10115558" y="2377198"/>
            <a:ext cx="1187475"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3F2EE"/>
                </a:solidFill>
                <a:latin typeface="Space Grotesk" pitchFamily="34" charset="0"/>
                <a:ea typeface="Space Grotesk" pitchFamily="34" charset="-122"/>
                <a:cs typeface="Space Grotesk" pitchFamily="34" charset="-120"/>
              </a:rPr>
              <a:t>Supervisor actúa</a:t>
            </a:r>
            <a:endParaRPr lang="en-US" sz="1300" dirty="0"/>
          </a:p>
        </p:txBody>
      </p:sp>
      <p:sp>
        <p:nvSpPr>
          <p:cNvPr id="27" name="Text 20"/>
          <p:cNvSpPr/>
          <p:nvPr/>
        </p:nvSpPr>
        <p:spPr>
          <a:xfrm>
            <a:off x="812767" y="3065115"/>
            <a:ext cx="108834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Núcleo genérico: Camera → Detector → Track → Zone → Rule → Event → Action. El EPP es el primer caso de uso.</a:t>
            </a:r>
            <a:endParaRPr lang="en-US" sz="1200" dirty="0"/>
          </a:p>
        </p:txBody>
      </p:sp>
      <p:sp>
        <p:nvSpPr>
          <p:cNvPr id="28" name="Shape 21"/>
          <p:cNvSpPr/>
          <p:nvPr/>
        </p:nvSpPr>
        <p:spPr>
          <a:xfrm>
            <a:off x="812767" y="3634011"/>
            <a:ext cx="5181616" cy="1725001"/>
          </a:xfrm>
          <a:prstGeom prst="roundRect">
            <a:avLst>
              <a:gd name="adj" fmla="val 5890"/>
            </a:avLst>
          </a:prstGeom>
          <a:solidFill>
            <a:srgbClr val="E0701F"/>
          </a:solidFill>
          <a:ln/>
        </p:spPr>
      </p:sp>
      <p:sp>
        <p:nvSpPr>
          <p:cNvPr id="29" name="Text 22"/>
          <p:cNvSpPr/>
          <p:nvPr/>
        </p:nvSpPr>
        <p:spPr>
          <a:xfrm>
            <a:off x="1066767" y="3888011"/>
            <a:ext cx="4813825"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5181E"/>
                </a:solidFill>
                <a:latin typeface="IBM Plex Mono" pitchFamily="34" charset="0"/>
                <a:ea typeface="IBM Plex Mono" pitchFamily="34" charset="-122"/>
                <a:cs typeface="IBM Plex Mono" pitchFamily="34" charset="-120"/>
              </a:rPr>
              <a:t>DECISIÓN DE ALCANCE</a:t>
            </a:r>
            <a:endParaRPr lang="en-US" sz="1200" dirty="0"/>
          </a:p>
        </p:txBody>
      </p:sp>
      <p:sp>
        <p:nvSpPr>
          <p:cNvPr id="30" name="Text 23"/>
          <p:cNvSpPr/>
          <p:nvPr/>
        </p:nvSpPr>
        <p:spPr>
          <a:xfrm>
            <a:off x="1066767" y="4202906"/>
            <a:ext cx="4813825"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81E"/>
                </a:solidFill>
                <a:latin typeface="Space Grotesk" pitchFamily="34" charset="0"/>
                <a:ea typeface="Space Grotesk" pitchFamily="34" charset="-122"/>
                <a:cs typeface="Space Grotesk" pitchFamily="34" charset="-120"/>
              </a:rPr>
              <a:t>1 cámara · 1 zona · 1 regla</a:t>
            </a:r>
            <a:endParaRPr lang="en-US" sz="1800" dirty="0"/>
          </a:p>
        </p:txBody>
      </p:sp>
      <p:sp>
        <p:nvSpPr>
          <p:cNvPr id="31" name="Text 24"/>
          <p:cNvSpPr/>
          <p:nvPr/>
        </p:nvSpPr>
        <p:spPr>
          <a:xfrm>
            <a:off x="1066767" y="4578821"/>
            <a:ext cx="4813825" cy="54100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5181E"/>
                </a:solidFill>
                <a:latin typeface="IBM Plex Sans" pitchFamily="34" charset="0"/>
                <a:ea typeface="IBM Plex Sans" pitchFamily="34" charset="-122"/>
                <a:cs typeface="IBM Plex Sans" pitchFamily="34" charset="-120"/>
              </a:rPr>
              <a:t>«Persona entra en zona operacional sin casco requerido». Si ese evento no lleva a una acción útil, no se escala.</a:t>
            </a:r>
            <a:endParaRPr lang="en-US" sz="1400" dirty="0"/>
          </a:p>
        </p:txBody>
      </p:sp>
      <p:sp>
        <p:nvSpPr>
          <p:cNvPr id="32" name="Shape 25"/>
          <p:cNvSpPr/>
          <p:nvPr/>
        </p:nvSpPr>
        <p:spPr>
          <a:xfrm>
            <a:off x="6200750" y="3637186"/>
            <a:ext cx="5175308" cy="1718651"/>
          </a:xfrm>
          <a:prstGeom prst="roundRect">
            <a:avLst>
              <a:gd name="adj" fmla="val 5727"/>
            </a:avLst>
          </a:prstGeom>
          <a:solidFill>
            <a:srgbClr val="FBFAF7"/>
          </a:solidFill>
          <a:ln w="6350">
            <a:solidFill>
              <a:srgbClr val="D8D5CC"/>
            </a:solidFill>
            <a:prstDash val="solid"/>
          </a:ln>
        </p:spPr>
      </p:sp>
      <p:sp>
        <p:nvSpPr>
          <p:cNvPr id="33" name="Text 26"/>
          <p:cNvSpPr/>
          <p:nvPr/>
        </p:nvSpPr>
        <p:spPr>
          <a:xfrm>
            <a:off x="6456867" y="3893302"/>
            <a:ext cx="4802967"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84A0C"/>
                </a:solidFill>
                <a:latin typeface="IBM Plex Mono" pitchFamily="34" charset="0"/>
                <a:ea typeface="IBM Plex Mono" pitchFamily="34" charset="-122"/>
                <a:cs typeface="IBM Plex Mono" pitchFamily="34" charset="-120"/>
              </a:rPr>
              <a:t>LO QUE NO ES</a:t>
            </a:r>
            <a:endParaRPr lang="en-US" sz="1200" dirty="0"/>
          </a:p>
        </p:txBody>
      </p:sp>
      <p:sp>
        <p:nvSpPr>
          <p:cNvPr id="34" name="Text 27"/>
          <p:cNvSpPr/>
          <p:nvPr/>
        </p:nvSpPr>
        <p:spPr>
          <a:xfrm>
            <a:off x="6456867" y="4208197"/>
            <a:ext cx="4802967"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81E"/>
                </a:solidFill>
                <a:latin typeface="Space Grotesk" pitchFamily="34" charset="0"/>
                <a:ea typeface="Space Grotesk" pitchFamily="34" charset="-122"/>
                <a:cs typeface="Space Grotesk" pitchFamily="34" charset="-120"/>
              </a:rPr>
              <a:t>No reemplaza el sistema SST</a:t>
            </a:r>
            <a:endParaRPr lang="en-US" sz="1800" dirty="0"/>
          </a:p>
        </p:txBody>
      </p:sp>
      <p:sp>
        <p:nvSpPr>
          <p:cNvPr id="35" name="Text 28"/>
          <p:cNvSpPr/>
          <p:nvPr/>
        </p:nvSpPr>
        <p:spPr>
          <a:xfrm>
            <a:off x="6456867" y="4584112"/>
            <a:ext cx="4802967" cy="54100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4F58"/>
                </a:solidFill>
                <a:latin typeface="IBM Plex Sans" pitchFamily="34" charset="0"/>
                <a:ea typeface="IBM Plex Sans" pitchFamily="34" charset="-122"/>
                <a:cs typeface="IBM Plex Sans" pitchFamily="34" charset="-120"/>
              </a:rPr>
              <a:t>Se integra antes del registro en SSMA: entrega evidencia y alerta; la decisión sigue siendo humana.</a:t>
            </a:r>
            <a:endParaRPr lang="en-US" sz="1400" dirty="0"/>
          </a:p>
        </p:txBody>
      </p:sp>
      <p:sp>
        <p:nvSpPr>
          <p:cNvPr id="36" name="Text 29"/>
          <p:cNvSpPr/>
          <p:nvPr/>
        </p:nvSpPr>
        <p:spPr>
          <a:xfrm>
            <a:off x="812767" y="6238295"/>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VisionOps Industrial · Solución</a:t>
            </a:r>
            <a:endParaRPr lang="en-US" sz="1200" dirty="0"/>
          </a:p>
        </p:txBody>
      </p:sp>
      <p:sp>
        <p:nvSpPr>
          <p:cNvPr id="37" name="Text 30"/>
          <p:cNvSpPr/>
          <p:nvPr/>
        </p:nvSpPr>
        <p:spPr>
          <a:xfrm>
            <a:off x="10312433" y="6238295"/>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2EE"/>
        </a:solidFill>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4A0C"/>
                </a:solidFill>
                <a:latin typeface="IBM Plex Mono" pitchFamily="34" charset="0"/>
                <a:ea typeface="IBM Plex Mono" pitchFamily="34" charset="-122"/>
                <a:cs typeface="IBM Plex Mono" pitchFamily="34" charset="-120"/>
              </a:rPr>
              <a:t>02 · SOLUCIÓN — LÓGICA DEL EVENTO</a:t>
            </a:r>
            <a:endParaRPr lang="en-US" sz="1200" dirty="0"/>
          </a:p>
        </p:txBody>
      </p:sp>
      <p:sp>
        <p:nvSpPr>
          <p:cNvPr id="3" name="Text 1"/>
          <p:cNvSpPr/>
          <p:nvPr/>
        </p:nvSpPr>
        <p:spPr>
          <a:xfrm>
            <a:off x="812767" y="1127661"/>
            <a:ext cx="10883460" cy="528274"/>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15181E"/>
                </a:solidFill>
                <a:latin typeface="Space Grotesk" pitchFamily="34" charset="0"/>
                <a:ea typeface="Space Grotesk" pitchFamily="34" charset="-122"/>
                <a:cs typeface="Space Grotesk" pitchFamily="34" charset="-120"/>
              </a:rPr>
              <a:t>Un evento, no un frame</a:t>
            </a:r>
            <a:endParaRPr lang="en-US" sz="3600" dirty="0"/>
          </a:p>
        </p:txBody>
      </p:sp>
      <p:sp>
        <p:nvSpPr>
          <p:cNvPr id="4" name="Shape 2"/>
          <p:cNvSpPr/>
          <p:nvPr/>
        </p:nvSpPr>
        <p:spPr>
          <a:xfrm>
            <a:off x="812767" y="2653655"/>
            <a:ext cx="5588083" cy="0"/>
          </a:xfrm>
          <a:prstGeom prst="line">
            <a:avLst/>
          </a:prstGeom>
          <a:noFill/>
          <a:ln w="6350">
            <a:solidFill>
              <a:srgbClr val="D8D5CC"/>
            </a:solidFill>
            <a:prstDash val="solid"/>
          </a:ln>
        </p:spPr>
      </p:sp>
      <p:sp>
        <p:nvSpPr>
          <p:cNvPr id="5" name="Text 3"/>
          <p:cNvSpPr/>
          <p:nvPr/>
        </p:nvSpPr>
        <p:spPr>
          <a:xfrm>
            <a:off x="812767" y="1986111"/>
            <a:ext cx="431800" cy="538444"/>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A84A0C"/>
                </a:solidFill>
                <a:latin typeface="IBM Plex Mono" pitchFamily="34" charset="0"/>
                <a:ea typeface="IBM Plex Mono" pitchFamily="34" charset="-122"/>
                <a:cs typeface="IBM Plex Mono" pitchFamily="34" charset="-120"/>
              </a:rPr>
              <a:t>1</a:t>
            </a:r>
            <a:endParaRPr lang="en-US" sz="2000" dirty="0"/>
          </a:p>
        </p:txBody>
      </p:sp>
      <p:sp>
        <p:nvSpPr>
          <p:cNvPr id="6" name="Text 4"/>
          <p:cNvSpPr/>
          <p:nvPr/>
        </p:nvSpPr>
        <p:spPr>
          <a:xfrm>
            <a:off x="1371534" y="1986111"/>
            <a:ext cx="518019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E"/>
                </a:solidFill>
                <a:latin typeface="Space Grotesk" pitchFamily="34" charset="0"/>
                <a:ea typeface="Space Grotesk" pitchFamily="34" charset="-122"/>
                <a:cs typeface="Space Grotesk" pitchFamily="34" charset="-120"/>
              </a:rPr>
              <a:t>Detecta</a:t>
            </a:r>
            <a:endParaRPr lang="en-US" sz="1600" dirty="0"/>
          </a:p>
        </p:txBody>
      </p:sp>
      <p:sp>
        <p:nvSpPr>
          <p:cNvPr id="7" name="Text 5"/>
          <p:cNvSpPr/>
          <p:nvPr/>
        </p:nvSpPr>
        <p:spPr>
          <a:xfrm>
            <a:off x="1371534" y="2268017"/>
            <a:ext cx="5180195" cy="25653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8"/>
                </a:solidFill>
                <a:latin typeface="IBM Plex Sans" pitchFamily="34" charset="0"/>
                <a:ea typeface="IBM Plex Sans" pitchFamily="34" charset="-122"/>
                <a:cs typeface="IBM Plex Sans" pitchFamily="34" charset="-120"/>
              </a:rPr>
              <a:t>YOLO localiza personas y cascos en cada frame.</a:t>
            </a:r>
            <a:endParaRPr lang="en-US" sz="1300" dirty="0"/>
          </a:p>
        </p:txBody>
      </p:sp>
      <p:sp>
        <p:nvSpPr>
          <p:cNvPr id="8" name="Shape 6"/>
          <p:cNvSpPr/>
          <p:nvPr/>
        </p:nvSpPr>
        <p:spPr>
          <a:xfrm>
            <a:off x="812767" y="3502140"/>
            <a:ext cx="5588083" cy="0"/>
          </a:xfrm>
          <a:prstGeom prst="line">
            <a:avLst/>
          </a:prstGeom>
          <a:noFill/>
          <a:ln w="6350">
            <a:solidFill>
              <a:srgbClr val="D8D5CC"/>
            </a:solidFill>
            <a:prstDash val="solid"/>
          </a:ln>
        </p:spPr>
      </p:sp>
      <p:sp>
        <p:nvSpPr>
          <p:cNvPr id="9" name="Text 7"/>
          <p:cNvSpPr/>
          <p:nvPr/>
        </p:nvSpPr>
        <p:spPr>
          <a:xfrm>
            <a:off x="812767" y="2834596"/>
            <a:ext cx="431800" cy="538444"/>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A84A0C"/>
                </a:solidFill>
                <a:latin typeface="IBM Plex Mono" pitchFamily="34" charset="0"/>
                <a:ea typeface="IBM Plex Mono" pitchFamily="34" charset="-122"/>
                <a:cs typeface="IBM Plex Mono" pitchFamily="34" charset="-120"/>
              </a:rPr>
              <a:t>2</a:t>
            </a:r>
            <a:endParaRPr lang="en-US" sz="2000" dirty="0"/>
          </a:p>
        </p:txBody>
      </p:sp>
      <p:sp>
        <p:nvSpPr>
          <p:cNvPr id="10" name="Text 8"/>
          <p:cNvSpPr/>
          <p:nvPr/>
        </p:nvSpPr>
        <p:spPr>
          <a:xfrm>
            <a:off x="1371534" y="2834596"/>
            <a:ext cx="518019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E"/>
                </a:solidFill>
                <a:latin typeface="Space Grotesk" pitchFamily="34" charset="0"/>
                <a:ea typeface="Space Grotesk" pitchFamily="34" charset="-122"/>
                <a:cs typeface="Space Grotesk" pitchFamily="34" charset="-120"/>
              </a:rPr>
              <a:t>Sigue</a:t>
            </a:r>
            <a:endParaRPr lang="en-US" sz="1600" dirty="0"/>
          </a:p>
        </p:txBody>
      </p:sp>
      <p:sp>
        <p:nvSpPr>
          <p:cNvPr id="11" name="Text 9"/>
          <p:cNvSpPr/>
          <p:nvPr/>
        </p:nvSpPr>
        <p:spPr>
          <a:xfrm>
            <a:off x="1371534" y="3116501"/>
            <a:ext cx="5180195" cy="25653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8"/>
                </a:solidFill>
                <a:latin typeface="IBM Plex Sans" pitchFamily="34" charset="0"/>
                <a:ea typeface="IBM Plex Sans" pitchFamily="34" charset="-122"/>
                <a:cs typeface="IBM Plex Sans" pitchFamily="34" charset="-120"/>
              </a:rPr>
              <a:t>ByteTrack mantiene un ID temporal por persona entre frames.</a:t>
            </a:r>
            <a:endParaRPr lang="en-US" sz="1300" dirty="0"/>
          </a:p>
        </p:txBody>
      </p:sp>
      <p:sp>
        <p:nvSpPr>
          <p:cNvPr id="12" name="Shape 10"/>
          <p:cNvSpPr/>
          <p:nvPr/>
        </p:nvSpPr>
        <p:spPr>
          <a:xfrm>
            <a:off x="812767" y="4581764"/>
            <a:ext cx="5588083" cy="0"/>
          </a:xfrm>
          <a:prstGeom prst="line">
            <a:avLst/>
          </a:prstGeom>
          <a:noFill/>
          <a:ln w="6350">
            <a:solidFill>
              <a:srgbClr val="D8D5CC"/>
            </a:solidFill>
            <a:prstDash val="solid"/>
          </a:ln>
        </p:spPr>
      </p:sp>
      <p:sp>
        <p:nvSpPr>
          <p:cNvPr id="13" name="Text 11"/>
          <p:cNvSpPr/>
          <p:nvPr/>
        </p:nvSpPr>
        <p:spPr>
          <a:xfrm>
            <a:off x="812767" y="3683082"/>
            <a:ext cx="431800" cy="769582"/>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A84A0C"/>
                </a:solidFill>
                <a:latin typeface="IBM Plex Mono" pitchFamily="34" charset="0"/>
                <a:ea typeface="IBM Plex Mono" pitchFamily="34" charset="-122"/>
                <a:cs typeface="IBM Plex Mono" pitchFamily="34" charset="-120"/>
              </a:rPr>
              <a:t>3</a:t>
            </a:r>
            <a:endParaRPr lang="en-US" sz="2000" dirty="0"/>
          </a:p>
        </p:txBody>
      </p:sp>
      <p:sp>
        <p:nvSpPr>
          <p:cNvPr id="14" name="Text 12"/>
          <p:cNvSpPr/>
          <p:nvPr/>
        </p:nvSpPr>
        <p:spPr>
          <a:xfrm>
            <a:off x="1371534" y="3683082"/>
            <a:ext cx="518019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E"/>
                </a:solidFill>
                <a:latin typeface="Space Grotesk" pitchFamily="34" charset="0"/>
                <a:ea typeface="Space Grotesk" pitchFamily="34" charset="-122"/>
                <a:cs typeface="Space Grotesk" pitchFamily="34" charset="-120"/>
              </a:rPr>
              <a:t>Evalúa</a:t>
            </a:r>
            <a:endParaRPr lang="en-US" sz="1600" dirty="0"/>
          </a:p>
        </p:txBody>
      </p:sp>
      <p:sp>
        <p:nvSpPr>
          <p:cNvPr id="15" name="Text 13"/>
          <p:cNvSpPr/>
          <p:nvPr/>
        </p:nvSpPr>
        <p:spPr>
          <a:xfrm>
            <a:off x="1371534" y="3964987"/>
            <a:ext cx="5180195" cy="48767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8"/>
                </a:solidFill>
                <a:latin typeface="IBM Plex Sans" pitchFamily="34" charset="0"/>
                <a:ea typeface="IBM Plex Sans" pitchFamily="34" charset="-122"/>
                <a:cs typeface="IBM Plex Sans" pitchFamily="34" charset="-120"/>
              </a:rPr>
              <a:t>¿Ese ID está dentro del polígono y sin casco durante la ventana mínima de N segundos?</a:t>
            </a:r>
            <a:endParaRPr lang="en-US" sz="1300" dirty="0"/>
          </a:p>
        </p:txBody>
      </p:sp>
      <p:sp>
        <p:nvSpPr>
          <p:cNvPr id="16" name="Text 14"/>
          <p:cNvSpPr/>
          <p:nvPr/>
        </p:nvSpPr>
        <p:spPr>
          <a:xfrm>
            <a:off x="812767" y="4762706"/>
            <a:ext cx="431800" cy="538444"/>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A84A0C"/>
                </a:solidFill>
                <a:latin typeface="IBM Plex Mono" pitchFamily="34" charset="0"/>
                <a:ea typeface="IBM Plex Mono" pitchFamily="34" charset="-122"/>
                <a:cs typeface="IBM Plex Mono" pitchFamily="34" charset="-120"/>
              </a:rPr>
              <a:t>4</a:t>
            </a:r>
            <a:endParaRPr lang="en-US" sz="2000" dirty="0"/>
          </a:p>
        </p:txBody>
      </p:sp>
      <p:sp>
        <p:nvSpPr>
          <p:cNvPr id="17" name="Text 15"/>
          <p:cNvSpPr/>
          <p:nvPr/>
        </p:nvSpPr>
        <p:spPr>
          <a:xfrm>
            <a:off x="1371534" y="4762706"/>
            <a:ext cx="518019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E"/>
                </a:solidFill>
                <a:latin typeface="Space Grotesk" pitchFamily="34" charset="0"/>
                <a:ea typeface="Space Grotesk" pitchFamily="34" charset="-122"/>
                <a:cs typeface="Space Grotesk" pitchFamily="34" charset="-120"/>
              </a:rPr>
              <a:t>Emite</a:t>
            </a:r>
            <a:endParaRPr lang="en-US" sz="1600" dirty="0"/>
          </a:p>
        </p:txBody>
      </p:sp>
      <p:sp>
        <p:nvSpPr>
          <p:cNvPr id="18" name="Text 16"/>
          <p:cNvSpPr/>
          <p:nvPr/>
        </p:nvSpPr>
        <p:spPr>
          <a:xfrm>
            <a:off x="1371534" y="5044611"/>
            <a:ext cx="5180195" cy="25653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8"/>
                </a:solidFill>
                <a:latin typeface="IBM Plex Sans" pitchFamily="34" charset="0"/>
                <a:ea typeface="IBM Plex Sans" pitchFamily="34" charset="-122"/>
                <a:cs typeface="IBM Plex Sans" pitchFamily="34" charset="-120"/>
              </a:rPr>
              <a:t>Un único evento con snapshot; el cooldown evita duplicados.</a:t>
            </a:r>
            <a:endParaRPr lang="en-US" sz="1300" dirty="0"/>
          </a:p>
        </p:txBody>
      </p:sp>
      <p:sp>
        <p:nvSpPr>
          <p:cNvPr id="19" name="Shape 17"/>
          <p:cNvSpPr/>
          <p:nvPr/>
        </p:nvSpPr>
        <p:spPr>
          <a:xfrm>
            <a:off x="6807233" y="1986111"/>
            <a:ext cx="4572000" cy="3596060"/>
          </a:xfrm>
          <a:prstGeom prst="roundRect">
            <a:avLst>
              <a:gd name="adj" fmla="val 2825"/>
            </a:avLst>
          </a:prstGeom>
          <a:solidFill>
            <a:srgbClr val="15181E"/>
          </a:solidFill>
          <a:ln/>
        </p:spPr>
      </p:sp>
      <p:sp>
        <p:nvSpPr>
          <p:cNvPr id="20" name="Text 18"/>
          <p:cNvSpPr/>
          <p:nvPr/>
        </p:nvSpPr>
        <p:spPr>
          <a:xfrm>
            <a:off x="7061233" y="2240111"/>
            <a:ext cx="4185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EA3AC"/>
                </a:solidFill>
                <a:latin typeface="IBM Plex Mono" pitchFamily="34" charset="0"/>
                <a:ea typeface="IBM Plex Mono" pitchFamily="34" charset="-122"/>
                <a:cs typeface="IBM Plex Mono" pitchFamily="34" charset="-120"/>
              </a:rPr>
              <a:t>evento.json · ejemplo</a:t>
            </a:r>
            <a:endParaRPr lang="en-US" sz="1200" dirty="0"/>
          </a:p>
        </p:txBody>
      </p:sp>
      <p:sp>
        <p:nvSpPr>
          <p:cNvPr id="21" name="Text 19"/>
          <p:cNvSpPr/>
          <p:nvPr/>
        </p:nvSpPr>
        <p:spPr>
          <a:xfrm>
            <a:off x="7061233" y="2580432"/>
            <a:ext cx="4185920" cy="2219499"/>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E3E5E8"/>
                </a:solidFill>
                <a:latin typeface="IBM Plex Mono" pitchFamily="34" charset="0"/>
                <a:ea typeface="IBM Plex Mono" pitchFamily="34" charset="-122"/>
                <a:cs typeface="IBM Plex Mono" pitchFamily="34" charset="-120"/>
              </a:rPr>
              <a:t>{</a:t>
            </a:r>
            <a:endParaRPr lang="en-US" sz="1200" dirty="0"/>
          </a:p>
          <a:p>
            <a:pPr algn="l" indent="0" marL="0">
              <a:lnSpc>
                <a:spcPts val="1920"/>
              </a:lnSpc>
              <a:buNone/>
            </a:pPr>
            <a:r>
              <a:rPr lang="en-US" sz="1200" dirty="0">
                <a:solidFill>
                  <a:srgbClr val="E3E5E8"/>
                </a:solidFill>
                <a:latin typeface="IBM Plex Mono" pitchFamily="34" charset="0"/>
                <a:ea typeface="IBM Plex Mono" pitchFamily="34" charset="-122"/>
                <a:cs typeface="IBM Plex Mono" pitchFamily="34" charset="-120"/>
              </a:rPr>
              <a:t>  </a:t>
            </a:r>
            <a:r>
              <a:rPr lang="en-US" sz="1200" dirty="0">
                <a:solidFill>
                  <a:srgbClr val="F08A3C"/>
                </a:solidFill>
                <a:latin typeface="IBM Plex Mono" pitchFamily="34" charset="0"/>
                <a:ea typeface="IBM Plex Mono" pitchFamily="34" charset="-122"/>
                <a:cs typeface="IBM Plex Mono" pitchFamily="34" charset="-120"/>
              </a:rPr>
              <a:t>"camera"</a:t>
            </a:r>
            <a:r>
              <a:rPr lang="en-US" sz="1200" dirty="0">
                <a:solidFill>
                  <a:srgbClr val="E3E5E8"/>
                </a:solidFill>
                <a:latin typeface="IBM Plex Mono" pitchFamily="34" charset="0"/>
                <a:ea typeface="IBM Plex Mono" pitchFamily="34" charset="-122"/>
                <a:cs typeface="IBM Plex Mono" pitchFamily="34" charset="-120"/>
              </a:rPr>
              <a:t>: "cam-01",</a:t>
            </a:r>
            <a:endParaRPr lang="en-US" sz="1200" dirty="0"/>
          </a:p>
          <a:p>
            <a:pPr algn="l" indent="0" marL="0">
              <a:lnSpc>
                <a:spcPts val="1920"/>
              </a:lnSpc>
              <a:buNone/>
            </a:pPr>
            <a:r>
              <a:rPr lang="en-US" sz="1200" dirty="0">
                <a:solidFill>
                  <a:srgbClr val="E3E5E8"/>
                </a:solidFill>
                <a:latin typeface="IBM Plex Mono" pitchFamily="34" charset="0"/>
                <a:ea typeface="IBM Plex Mono" pitchFamily="34" charset="-122"/>
                <a:cs typeface="IBM Plex Mono" pitchFamily="34" charset="-120"/>
              </a:rPr>
              <a:t>  </a:t>
            </a:r>
            <a:r>
              <a:rPr lang="en-US" sz="1200" dirty="0">
                <a:solidFill>
                  <a:srgbClr val="F08A3C"/>
                </a:solidFill>
                <a:latin typeface="IBM Plex Mono" pitchFamily="34" charset="0"/>
                <a:ea typeface="IBM Plex Mono" pitchFamily="34" charset="-122"/>
                <a:cs typeface="IBM Plex Mono" pitchFamily="34" charset="-120"/>
              </a:rPr>
              <a:t>"zone"</a:t>
            </a:r>
            <a:r>
              <a:rPr lang="en-US" sz="1200" dirty="0">
                <a:solidFill>
                  <a:srgbClr val="E3E5E8"/>
                </a:solidFill>
                <a:latin typeface="IBM Plex Mono" pitchFamily="34" charset="0"/>
                <a:ea typeface="IBM Plex Mono" pitchFamily="34" charset="-122"/>
                <a:cs typeface="IBM Plex Mono" pitchFamily="34" charset="-120"/>
              </a:rPr>
              <a:t>: "zona-operacional-A",</a:t>
            </a:r>
            <a:endParaRPr lang="en-US" sz="1200" dirty="0"/>
          </a:p>
          <a:p>
            <a:pPr algn="l" indent="0" marL="0">
              <a:lnSpc>
                <a:spcPts val="1920"/>
              </a:lnSpc>
              <a:buNone/>
            </a:pPr>
            <a:r>
              <a:rPr lang="en-US" sz="1200" dirty="0">
                <a:solidFill>
                  <a:srgbClr val="E3E5E8"/>
                </a:solidFill>
                <a:latin typeface="IBM Plex Mono" pitchFamily="34" charset="0"/>
                <a:ea typeface="IBM Plex Mono" pitchFamily="34" charset="-122"/>
                <a:cs typeface="IBM Plex Mono" pitchFamily="34" charset="-120"/>
              </a:rPr>
              <a:t>  </a:t>
            </a:r>
            <a:r>
              <a:rPr lang="en-US" sz="1200" dirty="0">
                <a:solidFill>
                  <a:srgbClr val="F08A3C"/>
                </a:solidFill>
                <a:latin typeface="IBM Plex Mono" pitchFamily="34" charset="0"/>
                <a:ea typeface="IBM Plex Mono" pitchFamily="34" charset="-122"/>
                <a:cs typeface="IBM Plex Mono" pitchFamily="34" charset="-120"/>
              </a:rPr>
              <a:t>"rule"</a:t>
            </a:r>
            <a:r>
              <a:rPr lang="en-US" sz="1200" dirty="0">
                <a:solidFill>
                  <a:srgbClr val="E3E5E8"/>
                </a:solidFill>
                <a:latin typeface="IBM Plex Mono" pitchFamily="34" charset="0"/>
                <a:ea typeface="IBM Plex Mono" pitchFamily="34" charset="-122"/>
                <a:cs typeface="IBM Plex Mono" pitchFamily="34" charset="-120"/>
              </a:rPr>
              <a:t>: "casco_requerido",</a:t>
            </a:r>
            <a:endParaRPr lang="en-US" sz="1200" dirty="0"/>
          </a:p>
          <a:p>
            <a:pPr algn="l" indent="0" marL="0">
              <a:lnSpc>
                <a:spcPts val="1920"/>
              </a:lnSpc>
              <a:buNone/>
            </a:pPr>
            <a:r>
              <a:rPr lang="en-US" sz="1200" dirty="0">
                <a:solidFill>
                  <a:srgbClr val="E3E5E8"/>
                </a:solidFill>
                <a:latin typeface="IBM Plex Mono" pitchFamily="34" charset="0"/>
                <a:ea typeface="IBM Plex Mono" pitchFamily="34" charset="-122"/>
                <a:cs typeface="IBM Plex Mono" pitchFamily="34" charset="-120"/>
              </a:rPr>
              <a:t>  </a:t>
            </a:r>
            <a:r>
              <a:rPr lang="en-US" sz="1200" dirty="0">
                <a:solidFill>
                  <a:srgbClr val="F08A3C"/>
                </a:solidFill>
                <a:latin typeface="IBM Plex Mono" pitchFamily="34" charset="0"/>
                <a:ea typeface="IBM Plex Mono" pitchFamily="34" charset="-122"/>
                <a:cs typeface="IBM Plex Mono" pitchFamily="34" charset="-120"/>
              </a:rPr>
              <a:t>"track_id"</a:t>
            </a:r>
            <a:r>
              <a:rPr lang="en-US" sz="1200" dirty="0">
                <a:solidFill>
                  <a:srgbClr val="E3E5E8"/>
                </a:solidFill>
                <a:latin typeface="IBM Plex Mono" pitchFamily="34" charset="0"/>
                <a:ea typeface="IBM Plex Mono" pitchFamily="34" charset="-122"/>
                <a:cs typeface="IBM Plex Mono" pitchFamily="34" charset="-120"/>
              </a:rPr>
              <a:t>: 17,</a:t>
            </a:r>
            <a:endParaRPr lang="en-US" sz="1200" dirty="0"/>
          </a:p>
          <a:p>
            <a:pPr algn="l" indent="0" marL="0">
              <a:lnSpc>
                <a:spcPts val="1920"/>
              </a:lnSpc>
              <a:buNone/>
            </a:pPr>
            <a:r>
              <a:rPr lang="en-US" sz="1200" dirty="0">
                <a:solidFill>
                  <a:srgbClr val="E3E5E8"/>
                </a:solidFill>
                <a:latin typeface="IBM Plex Mono" pitchFamily="34" charset="0"/>
                <a:ea typeface="IBM Plex Mono" pitchFamily="34" charset="-122"/>
                <a:cs typeface="IBM Plex Mono" pitchFamily="34" charset="-120"/>
              </a:rPr>
              <a:t>  </a:t>
            </a:r>
            <a:r>
              <a:rPr lang="en-US" sz="1200" dirty="0">
                <a:solidFill>
                  <a:srgbClr val="F08A3C"/>
                </a:solidFill>
                <a:latin typeface="IBM Plex Mono" pitchFamily="34" charset="0"/>
                <a:ea typeface="IBM Plex Mono" pitchFamily="34" charset="-122"/>
                <a:cs typeface="IBM Plex Mono" pitchFamily="34" charset="-120"/>
              </a:rPr>
              <a:t>"timestamp"</a:t>
            </a:r>
            <a:r>
              <a:rPr lang="en-US" sz="1200" dirty="0">
                <a:solidFill>
                  <a:srgbClr val="E3E5E8"/>
                </a:solidFill>
                <a:latin typeface="IBM Plex Mono" pitchFamily="34" charset="0"/>
                <a:ea typeface="IBM Plex Mono" pitchFamily="34" charset="-122"/>
                <a:cs typeface="IBM Plex Mono" pitchFamily="34" charset="-120"/>
              </a:rPr>
              <a:t>: "2026-10-12T09:41:07",</a:t>
            </a:r>
            <a:endParaRPr lang="en-US" sz="1200" dirty="0"/>
          </a:p>
          <a:p>
            <a:pPr algn="l" indent="0" marL="0">
              <a:lnSpc>
                <a:spcPts val="1920"/>
              </a:lnSpc>
              <a:buNone/>
            </a:pPr>
            <a:r>
              <a:rPr lang="en-US" sz="1200" dirty="0">
                <a:solidFill>
                  <a:srgbClr val="E3E5E8"/>
                </a:solidFill>
                <a:latin typeface="IBM Plex Mono" pitchFamily="34" charset="0"/>
                <a:ea typeface="IBM Plex Mono" pitchFamily="34" charset="-122"/>
                <a:cs typeface="IBM Plex Mono" pitchFamily="34" charset="-120"/>
              </a:rPr>
              <a:t>  </a:t>
            </a:r>
            <a:r>
              <a:rPr lang="en-US" sz="1200" dirty="0">
                <a:solidFill>
                  <a:srgbClr val="F08A3C"/>
                </a:solidFill>
                <a:latin typeface="IBM Plex Mono" pitchFamily="34" charset="0"/>
                <a:ea typeface="IBM Plex Mono" pitchFamily="34" charset="-122"/>
                <a:cs typeface="IBM Plex Mono" pitchFamily="34" charset="-120"/>
              </a:rPr>
              <a:t>"confidence"</a:t>
            </a:r>
            <a:r>
              <a:rPr lang="en-US" sz="1200" dirty="0">
                <a:solidFill>
                  <a:srgbClr val="E3E5E8"/>
                </a:solidFill>
                <a:latin typeface="IBM Plex Mono" pitchFamily="34" charset="0"/>
                <a:ea typeface="IBM Plex Mono" pitchFamily="34" charset="-122"/>
                <a:cs typeface="IBM Plex Mono" pitchFamily="34" charset="-120"/>
              </a:rPr>
              <a:t>: 0.87,</a:t>
            </a:r>
            <a:endParaRPr lang="en-US" sz="1200" dirty="0"/>
          </a:p>
          <a:p>
            <a:pPr algn="l" indent="0" marL="0">
              <a:lnSpc>
                <a:spcPts val="1920"/>
              </a:lnSpc>
              <a:buNone/>
            </a:pPr>
            <a:r>
              <a:rPr lang="en-US" sz="1200" dirty="0">
                <a:solidFill>
                  <a:srgbClr val="E3E5E8"/>
                </a:solidFill>
                <a:latin typeface="IBM Plex Mono" pitchFamily="34" charset="0"/>
                <a:ea typeface="IBM Plex Mono" pitchFamily="34" charset="-122"/>
                <a:cs typeface="IBM Plex Mono" pitchFamily="34" charset="-120"/>
              </a:rPr>
              <a:t>  </a:t>
            </a:r>
            <a:r>
              <a:rPr lang="en-US" sz="1200" dirty="0">
                <a:solidFill>
                  <a:srgbClr val="F08A3C"/>
                </a:solidFill>
                <a:latin typeface="IBM Plex Mono" pitchFamily="34" charset="0"/>
                <a:ea typeface="IBM Plex Mono" pitchFamily="34" charset="-122"/>
                <a:cs typeface="IBM Plex Mono" pitchFamily="34" charset="-120"/>
              </a:rPr>
              <a:t>"snapshot"</a:t>
            </a:r>
            <a:r>
              <a:rPr lang="en-US" sz="1200" dirty="0">
                <a:solidFill>
                  <a:srgbClr val="E3E5E8"/>
                </a:solidFill>
                <a:latin typeface="IBM Plex Mono" pitchFamily="34" charset="0"/>
                <a:ea typeface="IBM Plex Mono" pitchFamily="34" charset="-122"/>
                <a:cs typeface="IBM Plex Mono" pitchFamily="34" charset="-120"/>
              </a:rPr>
              <a:t>: "evt_0192.jpg"</a:t>
            </a:r>
            <a:endParaRPr lang="en-US" sz="1200" dirty="0"/>
          </a:p>
          <a:p>
            <a:pPr algn="l" indent="0" marL="0">
              <a:lnSpc>
                <a:spcPts val="1920"/>
              </a:lnSpc>
              <a:buNone/>
            </a:pPr>
            <a:r>
              <a:rPr lang="en-US" sz="1200" dirty="0">
                <a:solidFill>
                  <a:srgbClr val="E3E5E8"/>
                </a:solidFill>
                <a:latin typeface="IBM Plex Mono" pitchFamily="34" charset="0"/>
                <a:ea typeface="IBM Plex Mono" pitchFamily="34" charset="-122"/>
                <a:cs typeface="IBM Plex Mono" pitchFamily="34" charset="-120"/>
              </a:rPr>
              <a:t>}</a:t>
            </a:r>
            <a:endParaRPr lang="en-US" sz="1200" dirty="0"/>
          </a:p>
        </p:txBody>
      </p:sp>
      <p:sp>
        <p:nvSpPr>
          <p:cNvPr id="22" name="Text 20"/>
          <p:cNvSpPr/>
          <p:nvPr/>
        </p:nvSpPr>
        <p:spPr>
          <a:xfrm>
            <a:off x="7061233" y="4901530"/>
            <a:ext cx="41859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EA3AC"/>
                </a:solidFill>
                <a:latin typeface="IBM Plex Sans" pitchFamily="34" charset="0"/>
                <a:ea typeface="IBM Plex Sans" pitchFamily="34" charset="-122"/>
                <a:cs typeface="IBM Plex Sans" pitchFamily="34" charset="-120"/>
              </a:rPr>
              <a:t>Cada evento es trazable y auditable: hora, cámara, zona, regla, confianza y evidencia.</a:t>
            </a:r>
            <a:endParaRPr lang="en-US" sz="1200" dirty="0"/>
          </a:p>
        </p:txBody>
      </p:sp>
      <p:sp>
        <p:nvSpPr>
          <p:cNvPr id="23" name="Text 21"/>
          <p:cNvSpPr/>
          <p:nvPr/>
        </p:nvSpPr>
        <p:spPr>
          <a:xfrm>
            <a:off x="812767" y="6238295"/>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Valores del JSON ilustrativos</a:t>
            </a:r>
            <a:endParaRPr lang="en-US" sz="1200" dirty="0"/>
          </a:p>
        </p:txBody>
      </p:sp>
      <p:sp>
        <p:nvSpPr>
          <p:cNvPr id="24" name="Text 22"/>
          <p:cNvSpPr/>
          <p:nvPr/>
        </p:nvSpPr>
        <p:spPr>
          <a:xfrm>
            <a:off x="10312433" y="6238295"/>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2EE"/>
        </a:solidFill>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4A0C"/>
                </a:solidFill>
                <a:latin typeface="IBM Plex Mono" pitchFamily="34" charset="0"/>
                <a:ea typeface="IBM Plex Mono" pitchFamily="34" charset="-122"/>
                <a:cs typeface="IBM Plex Mono" pitchFamily="34" charset="-120"/>
              </a:rPr>
              <a:t>03 · CLIENTES Y BENEFICIARIOS</a:t>
            </a:r>
            <a:endParaRPr lang="en-US" sz="1200" dirty="0"/>
          </a:p>
        </p:txBody>
      </p:sp>
      <p:sp>
        <p:nvSpPr>
          <p:cNvPr id="3" name="Text 1"/>
          <p:cNvSpPr/>
          <p:nvPr/>
        </p:nvSpPr>
        <p:spPr>
          <a:xfrm>
            <a:off x="812767" y="1127661"/>
            <a:ext cx="10883460" cy="528274"/>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15181E"/>
                </a:solidFill>
                <a:latin typeface="Space Grotesk" pitchFamily="34" charset="0"/>
                <a:ea typeface="Space Grotesk" pitchFamily="34" charset="-122"/>
                <a:cs typeface="Space Grotesk" pitchFamily="34" charset="-120"/>
              </a:rPr>
              <a:t>Quién adopta, usa y se beneficia</a:t>
            </a:r>
            <a:endParaRPr lang="en-US" sz="3600" dirty="0"/>
          </a:p>
        </p:txBody>
      </p:sp>
      <p:sp>
        <p:nvSpPr>
          <p:cNvPr id="4" name="Shape 2"/>
          <p:cNvSpPr/>
          <p:nvPr/>
        </p:nvSpPr>
        <p:spPr>
          <a:xfrm>
            <a:off x="812767" y="1935302"/>
            <a:ext cx="2527308" cy="1574974"/>
          </a:xfrm>
          <a:prstGeom prst="roundRect">
            <a:avLst>
              <a:gd name="adj" fmla="val 6451"/>
            </a:avLst>
          </a:prstGeom>
          <a:solidFill>
            <a:srgbClr val="15181E"/>
          </a:solidFill>
          <a:ln/>
        </p:spPr>
      </p:sp>
      <p:sp>
        <p:nvSpPr>
          <p:cNvPr id="5" name="Text 3"/>
          <p:cNvSpPr/>
          <p:nvPr/>
        </p:nvSpPr>
        <p:spPr>
          <a:xfrm>
            <a:off x="990534" y="2113068"/>
            <a:ext cx="2336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8A3C"/>
                </a:solidFill>
                <a:latin typeface="IBM Plex Mono" pitchFamily="34" charset="0"/>
                <a:ea typeface="IBM Plex Mono" pitchFamily="34" charset="-122"/>
                <a:cs typeface="IBM Plex Mono" pitchFamily="34" charset="-120"/>
              </a:rPr>
              <a:t>01</a:t>
            </a:r>
            <a:endParaRPr lang="en-US" sz="1200" dirty="0"/>
          </a:p>
        </p:txBody>
      </p:sp>
      <p:sp>
        <p:nvSpPr>
          <p:cNvPr id="6" name="Text 4"/>
          <p:cNvSpPr/>
          <p:nvPr/>
        </p:nvSpPr>
        <p:spPr>
          <a:xfrm>
            <a:off x="2522223" y="2113068"/>
            <a:ext cx="6908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EA3AC"/>
                </a:solidFill>
                <a:latin typeface="IBM Plex Mono" pitchFamily="34" charset="0"/>
                <a:ea typeface="IBM Plex Mono" pitchFamily="34" charset="-122"/>
                <a:cs typeface="IBM Plex Mono" pitchFamily="34" charset="-120"/>
              </a:rPr>
              <a:t>CLIENTE</a:t>
            </a:r>
            <a:endParaRPr lang="en-US" sz="1200" dirty="0"/>
          </a:p>
        </p:txBody>
      </p:sp>
      <p:sp>
        <p:nvSpPr>
          <p:cNvPr id="7" name="Text 5"/>
          <p:cNvSpPr/>
          <p:nvPr/>
        </p:nvSpPr>
        <p:spPr>
          <a:xfrm>
            <a:off x="990534" y="2389888"/>
            <a:ext cx="2236928"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3F2EE"/>
                </a:solidFill>
                <a:latin typeface="Space Grotesk" pitchFamily="34" charset="0"/>
                <a:ea typeface="Space Grotesk" pitchFamily="34" charset="-122"/>
                <a:cs typeface="Space Grotesk" pitchFamily="34" charset="-120"/>
              </a:rPr>
              <a:t>SIDERPERU (piloto)</a:t>
            </a:r>
            <a:endParaRPr lang="en-US" sz="1500" dirty="0"/>
          </a:p>
        </p:txBody>
      </p:sp>
      <p:sp>
        <p:nvSpPr>
          <p:cNvPr id="8" name="Text 6"/>
          <p:cNvSpPr/>
          <p:nvPr/>
        </p:nvSpPr>
        <p:spPr>
          <a:xfrm>
            <a:off x="990534" y="2681963"/>
            <a:ext cx="223692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2"/>
                </a:solidFill>
                <a:latin typeface="IBM Plex Sans" pitchFamily="34" charset="0"/>
                <a:ea typeface="IBM Plex Sans" pitchFamily="34" charset="-122"/>
                <a:cs typeface="IBM Plex Sans" pitchFamily="34" charset="-120"/>
              </a:rPr>
              <a:t>Valida el caso real: cámaras, zonas y su proceso SST existente.</a:t>
            </a:r>
            <a:endParaRPr lang="en-US" sz="1200" dirty="0"/>
          </a:p>
        </p:txBody>
      </p:sp>
      <p:sp>
        <p:nvSpPr>
          <p:cNvPr id="9" name="Shape 7"/>
          <p:cNvSpPr/>
          <p:nvPr/>
        </p:nvSpPr>
        <p:spPr>
          <a:xfrm>
            <a:off x="3495634" y="1938477"/>
            <a:ext cx="2521000" cy="1568624"/>
          </a:xfrm>
          <a:prstGeom prst="roundRect">
            <a:avLst>
              <a:gd name="adj" fmla="val 6275"/>
            </a:avLst>
          </a:prstGeom>
          <a:solidFill>
            <a:srgbClr val="FBFAF7"/>
          </a:solidFill>
          <a:ln w="6350">
            <a:solidFill>
              <a:srgbClr val="D8D5CC"/>
            </a:solidFill>
            <a:prstDash val="solid"/>
          </a:ln>
        </p:spPr>
      </p:sp>
      <p:sp>
        <p:nvSpPr>
          <p:cNvPr id="10" name="Text 8"/>
          <p:cNvSpPr/>
          <p:nvPr/>
        </p:nvSpPr>
        <p:spPr>
          <a:xfrm>
            <a:off x="3675517" y="2118361"/>
            <a:ext cx="2336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02</a:t>
            </a:r>
            <a:endParaRPr lang="en-US" sz="1200" dirty="0"/>
          </a:p>
        </p:txBody>
      </p:sp>
      <p:sp>
        <p:nvSpPr>
          <p:cNvPr id="11" name="Text 9"/>
          <p:cNvSpPr/>
          <p:nvPr/>
        </p:nvSpPr>
        <p:spPr>
          <a:xfrm>
            <a:off x="5196665" y="2118361"/>
            <a:ext cx="6908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USUARIO</a:t>
            </a:r>
            <a:endParaRPr lang="en-US" sz="1200" dirty="0"/>
          </a:p>
        </p:txBody>
      </p:sp>
      <p:sp>
        <p:nvSpPr>
          <p:cNvPr id="12" name="Text 10"/>
          <p:cNvSpPr/>
          <p:nvPr/>
        </p:nvSpPr>
        <p:spPr>
          <a:xfrm>
            <a:off x="3675517" y="2395181"/>
            <a:ext cx="2226069"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181E"/>
                </a:solidFill>
                <a:latin typeface="Space Grotesk" pitchFamily="34" charset="0"/>
                <a:ea typeface="Space Grotesk" pitchFamily="34" charset="-122"/>
                <a:cs typeface="Space Grotesk" pitchFamily="34" charset="-120"/>
              </a:rPr>
              <a:t>Supervisor SST</a:t>
            </a:r>
            <a:endParaRPr lang="en-US" sz="1500" dirty="0"/>
          </a:p>
        </p:txBody>
      </p:sp>
      <p:sp>
        <p:nvSpPr>
          <p:cNvPr id="13" name="Text 11"/>
          <p:cNvSpPr/>
          <p:nvPr/>
        </p:nvSpPr>
        <p:spPr>
          <a:xfrm>
            <a:off x="3675517" y="2687256"/>
            <a:ext cx="222606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Ve dónde y cuándo ocurre una condición insegura sin mirar video.</a:t>
            </a:r>
            <a:endParaRPr lang="en-US" sz="1200" dirty="0"/>
          </a:p>
        </p:txBody>
      </p:sp>
      <p:sp>
        <p:nvSpPr>
          <p:cNvPr id="14" name="Shape 12"/>
          <p:cNvSpPr/>
          <p:nvPr/>
        </p:nvSpPr>
        <p:spPr>
          <a:xfrm>
            <a:off x="6175366" y="1938477"/>
            <a:ext cx="2520958" cy="1568624"/>
          </a:xfrm>
          <a:prstGeom prst="roundRect">
            <a:avLst>
              <a:gd name="adj" fmla="val 6275"/>
            </a:avLst>
          </a:prstGeom>
          <a:solidFill>
            <a:srgbClr val="FBFAF7"/>
          </a:solidFill>
          <a:ln w="6350">
            <a:solidFill>
              <a:srgbClr val="D8D5CC"/>
            </a:solidFill>
            <a:prstDash val="solid"/>
          </a:ln>
        </p:spPr>
      </p:sp>
      <p:sp>
        <p:nvSpPr>
          <p:cNvPr id="15" name="Text 13"/>
          <p:cNvSpPr/>
          <p:nvPr/>
        </p:nvSpPr>
        <p:spPr>
          <a:xfrm>
            <a:off x="6355250" y="2118361"/>
            <a:ext cx="2336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03</a:t>
            </a:r>
            <a:endParaRPr lang="en-US" sz="1200" dirty="0"/>
          </a:p>
        </p:txBody>
      </p:sp>
      <p:sp>
        <p:nvSpPr>
          <p:cNvPr id="16" name="Text 14"/>
          <p:cNvSpPr/>
          <p:nvPr/>
        </p:nvSpPr>
        <p:spPr>
          <a:xfrm>
            <a:off x="7876356" y="2118361"/>
            <a:ext cx="6908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USUARIO</a:t>
            </a:r>
            <a:endParaRPr lang="en-US" sz="1200" dirty="0"/>
          </a:p>
        </p:txBody>
      </p:sp>
      <p:sp>
        <p:nvSpPr>
          <p:cNvPr id="17" name="Text 15"/>
          <p:cNvSpPr/>
          <p:nvPr/>
        </p:nvSpPr>
        <p:spPr>
          <a:xfrm>
            <a:off x="6355250" y="2395181"/>
            <a:ext cx="2226027"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181E"/>
                </a:solidFill>
                <a:latin typeface="Space Grotesk" pitchFamily="34" charset="0"/>
                <a:ea typeface="Space Grotesk" pitchFamily="34" charset="-122"/>
                <a:cs typeface="Space Grotesk" pitchFamily="34" charset="-120"/>
              </a:rPr>
              <a:t>Supervisor operativo</a:t>
            </a:r>
            <a:endParaRPr lang="en-US" sz="1500" dirty="0"/>
          </a:p>
        </p:txBody>
      </p:sp>
      <p:sp>
        <p:nvSpPr>
          <p:cNvPr id="18" name="Text 16"/>
          <p:cNvSpPr/>
          <p:nvPr/>
        </p:nvSpPr>
        <p:spPr>
          <a:xfrm>
            <a:off x="6355250" y="2687256"/>
            <a:ext cx="222602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Se entera a tiempo de lo que requiere intervención en su zona.</a:t>
            </a:r>
            <a:endParaRPr lang="en-US" sz="1200" dirty="0"/>
          </a:p>
        </p:txBody>
      </p:sp>
      <p:sp>
        <p:nvSpPr>
          <p:cNvPr id="19" name="Shape 17"/>
          <p:cNvSpPr/>
          <p:nvPr/>
        </p:nvSpPr>
        <p:spPr>
          <a:xfrm>
            <a:off x="8855058" y="1938477"/>
            <a:ext cx="2521000" cy="1568624"/>
          </a:xfrm>
          <a:prstGeom prst="roundRect">
            <a:avLst>
              <a:gd name="adj" fmla="val 6275"/>
            </a:avLst>
          </a:prstGeom>
          <a:solidFill>
            <a:srgbClr val="FBFAF7"/>
          </a:solidFill>
          <a:ln w="6350">
            <a:solidFill>
              <a:srgbClr val="D8D5CC"/>
            </a:solidFill>
            <a:prstDash val="solid"/>
          </a:ln>
        </p:spPr>
      </p:sp>
      <p:sp>
        <p:nvSpPr>
          <p:cNvPr id="20" name="Text 18"/>
          <p:cNvSpPr/>
          <p:nvPr/>
        </p:nvSpPr>
        <p:spPr>
          <a:xfrm>
            <a:off x="9034942" y="2118361"/>
            <a:ext cx="2336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04</a:t>
            </a:r>
            <a:endParaRPr lang="en-US" sz="1200" dirty="0"/>
          </a:p>
        </p:txBody>
      </p:sp>
      <p:sp>
        <p:nvSpPr>
          <p:cNvPr id="21" name="Text 19"/>
          <p:cNvSpPr/>
          <p:nvPr/>
        </p:nvSpPr>
        <p:spPr>
          <a:xfrm>
            <a:off x="10556089" y="2118361"/>
            <a:ext cx="6908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USUARIO</a:t>
            </a:r>
            <a:endParaRPr lang="en-US" sz="1200" dirty="0"/>
          </a:p>
        </p:txBody>
      </p:sp>
      <p:sp>
        <p:nvSpPr>
          <p:cNvPr id="22" name="Text 20"/>
          <p:cNvSpPr/>
          <p:nvPr/>
        </p:nvSpPr>
        <p:spPr>
          <a:xfrm>
            <a:off x="9034942" y="2395181"/>
            <a:ext cx="2226069"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181E"/>
                </a:solidFill>
                <a:latin typeface="Space Grotesk" pitchFamily="34" charset="0"/>
                <a:ea typeface="Space Grotesk" pitchFamily="34" charset="-122"/>
                <a:cs typeface="Space Grotesk" pitchFamily="34" charset="-120"/>
              </a:rPr>
              <a:t>Jefatura / analítica SST</a:t>
            </a:r>
            <a:endParaRPr lang="en-US" sz="1500" dirty="0"/>
          </a:p>
        </p:txBody>
      </p:sp>
      <p:sp>
        <p:nvSpPr>
          <p:cNvPr id="23" name="Text 21"/>
          <p:cNvSpPr/>
          <p:nvPr/>
        </p:nvSpPr>
        <p:spPr>
          <a:xfrm>
            <a:off x="9034942" y="2687256"/>
            <a:ext cx="222606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Prioriza controles con eventos por zona, tipo y recurrencia.</a:t>
            </a:r>
            <a:endParaRPr lang="en-US" sz="1200" dirty="0"/>
          </a:p>
        </p:txBody>
      </p:sp>
      <p:sp>
        <p:nvSpPr>
          <p:cNvPr id="24" name="Shape 22"/>
          <p:cNvSpPr/>
          <p:nvPr/>
        </p:nvSpPr>
        <p:spPr>
          <a:xfrm>
            <a:off x="815942" y="3665835"/>
            <a:ext cx="2520958" cy="1807782"/>
          </a:xfrm>
          <a:prstGeom prst="roundRect">
            <a:avLst>
              <a:gd name="adj" fmla="val 5445"/>
            </a:avLst>
          </a:prstGeom>
          <a:solidFill>
            <a:srgbClr val="FBFAF7"/>
          </a:solidFill>
          <a:ln w="6350">
            <a:solidFill>
              <a:srgbClr val="D8D5CC"/>
            </a:solidFill>
            <a:prstDash val="solid"/>
          </a:ln>
        </p:spPr>
      </p:sp>
      <p:sp>
        <p:nvSpPr>
          <p:cNvPr id="25" name="Text 23"/>
          <p:cNvSpPr/>
          <p:nvPr/>
        </p:nvSpPr>
        <p:spPr>
          <a:xfrm>
            <a:off x="995825" y="3845719"/>
            <a:ext cx="2336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05</a:t>
            </a:r>
            <a:endParaRPr lang="en-US" sz="1200" dirty="0"/>
          </a:p>
        </p:txBody>
      </p:sp>
      <p:sp>
        <p:nvSpPr>
          <p:cNvPr id="26" name="Text 24"/>
          <p:cNvSpPr/>
          <p:nvPr/>
        </p:nvSpPr>
        <p:spPr>
          <a:xfrm>
            <a:off x="2516932" y="3845719"/>
            <a:ext cx="6908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USUARIO</a:t>
            </a:r>
            <a:endParaRPr lang="en-US" sz="1200" dirty="0"/>
          </a:p>
        </p:txBody>
      </p:sp>
      <p:sp>
        <p:nvSpPr>
          <p:cNvPr id="27" name="Text 25"/>
          <p:cNvSpPr/>
          <p:nvPr/>
        </p:nvSpPr>
        <p:spPr>
          <a:xfrm>
            <a:off x="995825" y="4122539"/>
            <a:ext cx="2226027"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181E"/>
                </a:solidFill>
                <a:latin typeface="Space Grotesk" pitchFamily="34" charset="0"/>
                <a:ea typeface="Space Grotesk" pitchFamily="34" charset="-122"/>
                <a:cs typeface="Space Grotesk" pitchFamily="34" charset="-120"/>
              </a:rPr>
              <a:t>Administrador técnico</a:t>
            </a:r>
            <a:endParaRPr lang="en-US" sz="1500" dirty="0"/>
          </a:p>
        </p:txBody>
      </p:sp>
      <p:sp>
        <p:nvSpPr>
          <p:cNvPr id="28" name="Text 26"/>
          <p:cNvSpPr/>
          <p:nvPr/>
        </p:nvSpPr>
        <p:spPr>
          <a:xfrm>
            <a:off x="995825" y="4414614"/>
            <a:ext cx="22260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Configura cámaras, zonas y reglas sin reescribir el sistema.</a:t>
            </a:r>
            <a:endParaRPr lang="en-US" sz="1200" dirty="0"/>
          </a:p>
        </p:txBody>
      </p:sp>
      <p:sp>
        <p:nvSpPr>
          <p:cNvPr id="29" name="Shape 27"/>
          <p:cNvSpPr/>
          <p:nvPr/>
        </p:nvSpPr>
        <p:spPr>
          <a:xfrm>
            <a:off x="3495634" y="3665835"/>
            <a:ext cx="2521000" cy="1807782"/>
          </a:xfrm>
          <a:prstGeom prst="roundRect">
            <a:avLst>
              <a:gd name="adj" fmla="val 5445"/>
            </a:avLst>
          </a:prstGeom>
          <a:solidFill>
            <a:srgbClr val="E9E7E1"/>
          </a:solidFill>
          <a:ln w="6350">
            <a:solidFill>
              <a:srgbClr val="D8D5CC"/>
            </a:solidFill>
            <a:prstDash val="solid"/>
          </a:ln>
        </p:spPr>
      </p:sp>
      <p:sp>
        <p:nvSpPr>
          <p:cNvPr id="30" name="Text 28"/>
          <p:cNvSpPr/>
          <p:nvPr/>
        </p:nvSpPr>
        <p:spPr>
          <a:xfrm>
            <a:off x="3675517" y="3845719"/>
            <a:ext cx="2336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06</a:t>
            </a:r>
            <a:endParaRPr lang="en-US" sz="1200" dirty="0"/>
          </a:p>
        </p:txBody>
      </p:sp>
      <p:sp>
        <p:nvSpPr>
          <p:cNvPr id="31" name="Text 29"/>
          <p:cNvSpPr/>
          <p:nvPr/>
        </p:nvSpPr>
        <p:spPr>
          <a:xfrm>
            <a:off x="4739432" y="3845719"/>
            <a:ext cx="11481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BENEFICIARIO</a:t>
            </a:r>
            <a:endParaRPr lang="en-US" sz="1200" dirty="0"/>
          </a:p>
        </p:txBody>
      </p:sp>
      <p:sp>
        <p:nvSpPr>
          <p:cNvPr id="32" name="Text 30"/>
          <p:cNvSpPr/>
          <p:nvPr/>
        </p:nvSpPr>
        <p:spPr>
          <a:xfrm>
            <a:off x="3675517" y="4122539"/>
            <a:ext cx="2226069"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181E"/>
                </a:solidFill>
                <a:latin typeface="Space Grotesk" pitchFamily="34" charset="0"/>
                <a:ea typeface="Space Grotesk" pitchFamily="34" charset="-122"/>
                <a:cs typeface="Space Grotesk" pitchFamily="34" charset="-120"/>
              </a:rPr>
              <a:t>Trabajadores</a:t>
            </a:r>
            <a:endParaRPr lang="en-US" sz="1500" dirty="0"/>
          </a:p>
        </p:txBody>
      </p:sp>
      <p:sp>
        <p:nvSpPr>
          <p:cNvPr id="33" name="Text 31"/>
          <p:cNvSpPr/>
          <p:nvPr/>
        </p:nvSpPr>
        <p:spPr>
          <a:xfrm>
            <a:off x="3675517" y="4414614"/>
            <a:ext cx="222606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Directos y tercerizados: menos exposición y revisión humana.</a:t>
            </a:r>
            <a:endParaRPr lang="en-US" sz="1200" dirty="0"/>
          </a:p>
        </p:txBody>
      </p:sp>
      <p:sp>
        <p:nvSpPr>
          <p:cNvPr id="34" name="Shape 32"/>
          <p:cNvSpPr/>
          <p:nvPr/>
        </p:nvSpPr>
        <p:spPr>
          <a:xfrm>
            <a:off x="6175366" y="3665835"/>
            <a:ext cx="2520958" cy="1807782"/>
          </a:xfrm>
          <a:prstGeom prst="roundRect">
            <a:avLst>
              <a:gd name="adj" fmla="val 5445"/>
            </a:avLst>
          </a:prstGeom>
          <a:solidFill>
            <a:srgbClr val="E9E7E1"/>
          </a:solidFill>
          <a:ln w="6350">
            <a:solidFill>
              <a:srgbClr val="D8D5CC"/>
            </a:solidFill>
            <a:prstDash val="solid"/>
          </a:ln>
        </p:spPr>
      </p:sp>
      <p:sp>
        <p:nvSpPr>
          <p:cNvPr id="35" name="Text 33"/>
          <p:cNvSpPr/>
          <p:nvPr/>
        </p:nvSpPr>
        <p:spPr>
          <a:xfrm>
            <a:off x="6355250" y="3845719"/>
            <a:ext cx="2336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07</a:t>
            </a:r>
            <a:endParaRPr lang="en-US" sz="1200" dirty="0"/>
          </a:p>
        </p:txBody>
      </p:sp>
      <p:sp>
        <p:nvSpPr>
          <p:cNvPr id="36" name="Text 34"/>
          <p:cNvSpPr/>
          <p:nvPr/>
        </p:nvSpPr>
        <p:spPr>
          <a:xfrm>
            <a:off x="7419123" y="3845719"/>
            <a:ext cx="11481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BENEFICIARIO</a:t>
            </a:r>
            <a:endParaRPr lang="en-US" sz="1200" dirty="0"/>
          </a:p>
        </p:txBody>
      </p:sp>
      <p:sp>
        <p:nvSpPr>
          <p:cNvPr id="37" name="Text 35"/>
          <p:cNvSpPr/>
          <p:nvPr/>
        </p:nvSpPr>
        <p:spPr>
          <a:xfrm>
            <a:off x="6355250" y="4122539"/>
            <a:ext cx="2226027"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181E"/>
                </a:solidFill>
                <a:latin typeface="Space Grotesk" pitchFamily="34" charset="0"/>
                <a:ea typeface="Space Grotesk" pitchFamily="34" charset="-122"/>
                <a:cs typeface="Space Grotesk" pitchFamily="34" charset="-120"/>
              </a:rPr>
              <a:t>Comité SST y auditoría</a:t>
            </a:r>
            <a:endParaRPr lang="en-US" sz="1500" dirty="0"/>
          </a:p>
        </p:txBody>
      </p:sp>
      <p:sp>
        <p:nvSpPr>
          <p:cNvPr id="38" name="Text 36"/>
          <p:cNvSpPr/>
          <p:nvPr/>
        </p:nvSpPr>
        <p:spPr>
          <a:xfrm>
            <a:off x="6355250" y="4414614"/>
            <a:ext cx="22260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Evidencia trazable: hora, cámara, zona, regla y captura.</a:t>
            </a:r>
            <a:endParaRPr lang="en-US" sz="1200" dirty="0"/>
          </a:p>
        </p:txBody>
      </p:sp>
      <p:sp>
        <p:nvSpPr>
          <p:cNvPr id="39" name="Shape 37"/>
          <p:cNvSpPr/>
          <p:nvPr/>
        </p:nvSpPr>
        <p:spPr>
          <a:xfrm>
            <a:off x="8858233" y="3669010"/>
            <a:ext cx="2514650" cy="1801432"/>
          </a:xfrm>
          <a:prstGeom prst="roundRect">
            <a:avLst>
              <a:gd name="adj" fmla="val 5287"/>
            </a:avLst>
          </a:prstGeom>
          <a:solidFill>
            <a:srgbClr val="F3F2EE"/>
          </a:solidFill>
          <a:ln w="12700">
            <a:solidFill>
              <a:srgbClr val="B9B5AA"/>
            </a:solidFill>
            <a:prstDash val="dash"/>
          </a:ln>
        </p:spPr>
      </p:sp>
      <p:sp>
        <p:nvSpPr>
          <p:cNvPr id="40" name="Text 38"/>
          <p:cNvSpPr/>
          <p:nvPr/>
        </p:nvSpPr>
        <p:spPr>
          <a:xfrm>
            <a:off x="9040233" y="3851008"/>
            <a:ext cx="2336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08</a:t>
            </a:r>
            <a:endParaRPr lang="en-US" sz="1200" dirty="0"/>
          </a:p>
        </p:txBody>
      </p:sp>
      <p:sp>
        <p:nvSpPr>
          <p:cNvPr id="41" name="Text 39"/>
          <p:cNvSpPr/>
          <p:nvPr/>
        </p:nvSpPr>
        <p:spPr>
          <a:xfrm>
            <a:off x="10642203" y="3851008"/>
            <a:ext cx="5994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FUTURO</a:t>
            </a:r>
            <a:endParaRPr lang="en-US" sz="1200" dirty="0"/>
          </a:p>
        </p:txBody>
      </p:sp>
      <p:sp>
        <p:nvSpPr>
          <p:cNvPr id="42" name="Text 40"/>
          <p:cNvSpPr/>
          <p:nvPr/>
        </p:nvSpPr>
        <p:spPr>
          <a:xfrm>
            <a:off x="9040233" y="4127829"/>
            <a:ext cx="2215168" cy="48255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181E"/>
                </a:solidFill>
                <a:latin typeface="Space Grotesk" pitchFamily="34" charset="0"/>
                <a:ea typeface="Space Grotesk" pitchFamily="34" charset="-122"/>
                <a:cs typeface="Space Grotesk" pitchFamily="34" charset="-120"/>
              </a:rPr>
              <a:t>Otras plantas industriales</a:t>
            </a:r>
            <a:endParaRPr lang="en-US" sz="1500" dirty="0"/>
          </a:p>
        </p:txBody>
      </p:sp>
      <p:sp>
        <p:nvSpPr>
          <p:cNvPr id="43" name="Text 41"/>
          <p:cNvSpPr/>
          <p:nvPr/>
        </p:nvSpPr>
        <p:spPr>
          <a:xfrm>
            <a:off x="9040233" y="4648479"/>
            <a:ext cx="221516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Mismo núcleo para zonas restringidas, montacargas o permanencia.</a:t>
            </a:r>
            <a:endParaRPr lang="en-US" sz="1200" dirty="0"/>
          </a:p>
        </p:txBody>
      </p:sp>
      <p:sp>
        <p:nvSpPr>
          <p:cNvPr id="44" name="Text 42"/>
          <p:cNvSpPr/>
          <p:nvPr/>
        </p:nvSpPr>
        <p:spPr>
          <a:xfrm>
            <a:off x="812767" y="6238295"/>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Cliente · Usuario · Beneficiario · Futuro</a:t>
            </a:r>
            <a:endParaRPr lang="en-US" sz="1200" dirty="0"/>
          </a:p>
        </p:txBody>
      </p:sp>
      <p:sp>
        <p:nvSpPr>
          <p:cNvPr id="45" name="Text 43"/>
          <p:cNvSpPr/>
          <p:nvPr/>
        </p:nvSpPr>
        <p:spPr>
          <a:xfrm>
            <a:off x="10312433" y="6238295"/>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2EE"/>
        </a:solidFill>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4A0C"/>
                </a:solidFill>
                <a:latin typeface="IBM Plex Mono" pitchFamily="34" charset="0"/>
                <a:ea typeface="IBM Plex Mono" pitchFamily="34" charset="-122"/>
                <a:cs typeface="IBM Plex Mono" pitchFamily="34" charset="-120"/>
              </a:rPr>
              <a:t>04 · ARQUITECTURA DE LA SOLUCIÓN</a:t>
            </a:r>
            <a:endParaRPr lang="en-US" sz="1200" dirty="0"/>
          </a:p>
        </p:txBody>
      </p:sp>
      <p:sp>
        <p:nvSpPr>
          <p:cNvPr id="3" name="Text 1"/>
          <p:cNvSpPr/>
          <p:nvPr/>
        </p:nvSpPr>
        <p:spPr>
          <a:xfrm>
            <a:off x="812767" y="1127661"/>
            <a:ext cx="10883460" cy="528274"/>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15181E"/>
                </a:solidFill>
                <a:latin typeface="Space Grotesk" pitchFamily="34" charset="0"/>
                <a:ea typeface="Space Grotesk" pitchFamily="34" charset="-122"/>
                <a:cs typeface="Space Grotesk" pitchFamily="34" charset="-120"/>
              </a:rPr>
              <a:t>Una cadena simple, de extremo a extremo</a:t>
            </a:r>
            <a:endParaRPr lang="en-US" sz="3600" dirty="0"/>
          </a:p>
        </p:txBody>
      </p:sp>
      <p:sp>
        <p:nvSpPr>
          <p:cNvPr id="4" name="Text 2"/>
          <p:cNvSpPr/>
          <p:nvPr/>
        </p:nvSpPr>
        <p:spPr>
          <a:xfrm>
            <a:off x="812767" y="19050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Percepción y reglas (Python) → servicio y visualización</a:t>
            </a:r>
            <a:endParaRPr lang="en-US" sz="1200" dirty="0"/>
          </a:p>
        </p:txBody>
      </p:sp>
      <p:sp>
        <p:nvSpPr>
          <p:cNvPr id="5" name="Shape 3"/>
          <p:cNvSpPr/>
          <p:nvPr/>
        </p:nvSpPr>
        <p:spPr>
          <a:xfrm>
            <a:off x="815942" y="2225675"/>
            <a:ext cx="1720842" cy="1111225"/>
          </a:xfrm>
          <a:prstGeom prst="roundRect">
            <a:avLst>
              <a:gd name="adj" fmla="val 8857"/>
            </a:avLst>
          </a:prstGeom>
          <a:solidFill>
            <a:srgbClr val="FBFAF7"/>
          </a:solidFill>
          <a:ln w="6350">
            <a:solidFill>
              <a:srgbClr val="D8D5CC"/>
            </a:solidFill>
            <a:prstDash val="solid"/>
          </a:ln>
        </p:spPr>
      </p:sp>
      <p:sp>
        <p:nvSpPr>
          <p:cNvPr id="6" name="Text 4"/>
          <p:cNvSpPr/>
          <p:nvPr/>
        </p:nvSpPr>
        <p:spPr>
          <a:xfrm>
            <a:off x="970442" y="2380174"/>
            <a:ext cx="14626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Fuente</a:t>
            </a:r>
            <a:endParaRPr lang="en-US" sz="1200" dirty="0"/>
          </a:p>
        </p:txBody>
      </p:sp>
      <p:sp>
        <p:nvSpPr>
          <p:cNvPr id="7" name="Text 5"/>
          <p:cNvSpPr/>
          <p:nvPr/>
        </p:nvSpPr>
        <p:spPr>
          <a:xfrm>
            <a:off x="970442" y="2644260"/>
            <a:ext cx="1462641"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181E"/>
                </a:solidFill>
                <a:latin typeface="Space Grotesk" pitchFamily="34" charset="0"/>
                <a:ea typeface="Space Grotesk" pitchFamily="34" charset="-122"/>
                <a:cs typeface="Space Grotesk" pitchFamily="34" charset="-120"/>
              </a:rPr>
              <a:t>Webcam · MP4</a:t>
            </a:r>
            <a:endParaRPr lang="en-US" sz="1500" dirty="0"/>
          </a:p>
        </p:txBody>
      </p:sp>
      <p:sp>
        <p:nvSpPr>
          <p:cNvPr id="8" name="Text 6"/>
          <p:cNvSpPr/>
          <p:nvPr/>
        </p:nvSpPr>
        <p:spPr>
          <a:xfrm>
            <a:off x="970442" y="2923604"/>
            <a:ext cx="14626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Sans" pitchFamily="34" charset="0"/>
                <a:ea typeface="IBM Plex Sans" pitchFamily="34" charset="-122"/>
                <a:cs typeface="IBM Plex Sans" pitchFamily="34" charset="-120"/>
              </a:rPr>
              <a:t>RTSP después</a:t>
            </a:r>
            <a:endParaRPr lang="en-US" sz="1200" dirty="0"/>
          </a:p>
        </p:txBody>
      </p:sp>
      <p:sp>
        <p:nvSpPr>
          <p:cNvPr id="9" name="Shape 7"/>
          <p:cNvSpPr/>
          <p:nvPr/>
        </p:nvSpPr>
        <p:spPr>
          <a:xfrm>
            <a:off x="3025750" y="2225675"/>
            <a:ext cx="1720842" cy="1111225"/>
          </a:xfrm>
          <a:prstGeom prst="roundRect">
            <a:avLst>
              <a:gd name="adj" fmla="val 8857"/>
            </a:avLst>
          </a:prstGeom>
          <a:solidFill>
            <a:srgbClr val="FBFAF7"/>
          </a:solidFill>
          <a:ln w="6350">
            <a:solidFill>
              <a:srgbClr val="D8D5CC"/>
            </a:solidFill>
            <a:prstDash val="solid"/>
          </a:ln>
        </p:spPr>
      </p:sp>
      <p:sp>
        <p:nvSpPr>
          <p:cNvPr id="10" name="Text 8"/>
          <p:cNvSpPr/>
          <p:nvPr/>
        </p:nvSpPr>
        <p:spPr>
          <a:xfrm>
            <a:off x="3180250" y="2380174"/>
            <a:ext cx="14626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Captura</a:t>
            </a:r>
            <a:endParaRPr lang="en-US" sz="1200" dirty="0"/>
          </a:p>
        </p:txBody>
      </p:sp>
      <p:sp>
        <p:nvSpPr>
          <p:cNvPr id="11" name="Text 9"/>
          <p:cNvSpPr/>
          <p:nvPr/>
        </p:nvSpPr>
        <p:spPr>
          <a:xfrm>
            <a:off x="3180250" y="2644260"/>
            <a:ext cx="1462641"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181E"/>
                </a:solidFill>
                <a:latin typeface="Space Grotesk" pitchFamily="34" charset="0"/>
                <a:ea typeface="Space Grotesk" pitchFamily="34" charset="-122"/>
                <a:cs typeface="Space Grotesk" pitchFamily="34" charset="-120"/>
              </a:rPr>
              <a:t>OpenCV</a:t>
            </a:r>
            <a:endParaRPr lang="en-US" sz="1500" dirty="0"/>
          </a:p>
        </p:txBody>
      </p:sp>
      <p:sp>
        <p:nvSpPr>
          <p:cNvPr id="12" name="Text 10"/>
          <p:cNvSpPr/>
          <p:nvPr/>
        </p:nvSpPr>
        <p:spPr>
          <a:xfrm>
            <a:off x="3180250" y="2923604"/>
            <a:ext cx="14626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Sans" pitchFamily="34" charset="0"/>
                <a:ea typeface="IBM Plex Sans" pitchFamily="34" charset="-122"/>
                <a:cs typeface="IBM Plex Sans" pitchFamily="34" charset="-120"/>
              </a:rPr>
              <a:t>Lee frames</a:t>
            </a:r>
            <a:endParaRPr lang="en-US" sz="1200" dirty="0"/>
          </a:p>
        </p:txBody>
      </p:sp>
      <p:sp>
        <p:nvSpPr>
          <p:cNvPr id="13" name="Shape 11"/>
          <p:cNvSpPr/>
          <p:nvPr/>
        </p:nvSpPr>
        <p:spPr>
          <a:xfrm>
            <a:off x="5235558" y="2225675"/>
            <a:ext cx="1720842" cy="1111225"/>
          </a:xfrm>
          <a:prstGeom prst="roundRect">
            <a:avLst>
              <a:gd name="adj" fmla="val 8857"/>
            </a:avLst>
          </a:prstGeom>
          <a:solidFill>
            <a:srgbClr val="FBFAF7"/>
          </a:solidFill>
          <a:ln w="6350">
            <a:solidFill>
              <a:srgbClr val="D8D5CC"/>
            </a:solidFill>
            <a:prstDash val="solid"/>
          </a:ln>
        </p:spPr>
      </p:sp>
      <p:sp>
        <p:nvSpPr>
          <p:cNvPr id="14" name="Text 12"/>
          <p:cNvSpPr/>
          <p:nvPr/>
        </p:nvSpPr>
        <p:spPr>
          <a:xfrm>
            <a:off x="5390059" y="2380174"/>
            <a:ext cx="14626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Detección</a:t>
            </a:r>
            <a:endParaRPr lang="en-US" sz="1200" dirty="0"/>
          </a:p>
        </p:txBody>
      </p:sp>
      <p:sp>
        <p:nvSpPr>
          <p:cNvPr id="15" name="Text 13"/>
          <p:cNvSpPr/>
          <p:nvPr/>
        </p:nvSpPr>
        <p:spPr>
          <a:xfrm>
            <a:off x="5390059" y="2644260"/>
            <a:ext cx="1462641"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181E"/>
                </a:solidFill>
                <a:latin typeface="Space Grotesk" pitchFamily="34" charset="0"/>
                <a:ea typeface="Space Grotesk" pitchFamily="34" charset="-122"/>
                <a:cs typeface="Space Grotesk" pitchFamily="34" charset="-120"/>
              </a:rPr>
              <a:t>YOLO nano</a:t>
            </a:r>
            <a:endParaRPr lang="en-US" sz="1500" dirty="0"/>
          </a:p>
        </p:txBody>
      </p:sp>
      <p:sp>
        <p:nvSpPr>
          <p:cNvPr id="16" name="Text 14"/>
          <p:cNvSpPr/>
          <p:nvPr/>
        </p:nvSpPr>
        <p:spPr>
          <a:xfrm>
            <a:off x="5390059" y="2923604"/>
            <a:ext cx="14626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Sans" pitchFamily="34" charset="0"/>
                <a:ea typeface="IBM Plex Sans" pitchFamily="34" charset="-122"/>
                <a:cs typeface="IBM Plex Sans" pitchFamily="34" charset="-120"/>
              </a:rPr>
              <a:t>Persona · casco</a:t>
            </a:r>
            <a:endParaRPr lang="en-US" sz="1200" dirty="0"/>
          </a:p>
        </p:txBody>
      </p:sp>
      <p:sp>
        <p:nvSpPr>
          <p:cNvPr id="17" name="Shape 15"/>
          <p:cNvSpPr/>
          <p:nvPr/>
        </p:nvSpPr>
        <p:spPr>
          <a:xfrm>
            <a:off x="7445366" y="2225675"/>
            <a:ext cx="1720842" cy="1111225"/>
          </a:xfrm>
          <a:prstGeom prst="roundRect">
            <a:avLst>
              <a:gd name="adj" fmla="val 8857"/>
            </a:avLst>
          </a:prstGeom>
          <a:solidFill>
            <a:srgbClr val="FBFAF7"/>
          </a:solidFill>
          <a:ln w="6350">
            <a:solidFill>
              <a:srgbClr val="D8D5CC"/>
            </a:solidFill>
            <a:prstDash val="solid"/>
          </a:ln>
        </p:spPr>
      </p:sp>
      <p:sp>
        <p:nvSpPr>
          <p:cNvPr id="18" name="Text 16"/>
          <p:cNvSpPr/>
          <p:nvPr/>
        </p:nvSpPr>
        <p:spPr>
          <a:xfrm>
            <a:off x="7599866" y="2380174"/>
            <a:ext cx="14626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Tracking</a:t>
            </a:r>
            <a:endParaRPr lang="en-US" sz="1200" dirty="0"/>
          </a:p>
        </p:txBody>
      </p:sp>
      <p:sp>
        <p:nvSpPr>
          <p:cNvPr id="19" name="Text 17"/>
          <p:cNvSpPr/>
          <p:nvPr/>
        </p:nvSpPr>
        <p:spPr>
          <a:xfrm>
            <a:off x="7599866" y="2644260"/>
            <a:ext cx="1462641"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181E"/>
                </a:solidFill>
                <a:latin typeface="Space Grotesk" pitchFamily="34" charset="0"/>
                <a:ea typeface="Space Grotesk" pitchFamily="34" charset="-122"/>
                <a:cs typeface="Space Grotesk" pitchFamily="34" charset="-120"/>
              </a:rPr>
              <a:t>ByteTrack</a:t>
            </a:r>
            <a:endParaRPr lang="en-US" sz="1500" dirty="0"/>
          </a:p>
        </p:txBody>
      </p:sp>
      <p:sp>
        <p:nvSpPr>
          <p:cNvPr id="20" name="Text 18"/>
          <p:cNvSpPr/>
          <p:nvPr/>
        </p:nvSpPr>
        <p:spPr>
          <a:xfrm>
            <a:off x="7599866" y="2923604"/>
            <a:ext cx="14626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Sans" pitchFamily="34" charset="0"/>
                <a:ea typeface="IBM Plex Sans" pitchFamily="34" charset="-122"/>
                <a:cs typeface="IBM Plex Sans" pitchFamily="34" charset="-120"/>
              </a:rPr>
              <a:t>ID por persona</a:t>
            </a:r>
            <a:endParaRPr lang="en-US" sz="1200" dirty="0"/>
          </a:p>
        </p:txBody>
      </p:sp>
      <p:sp>
        <p:nvSpPr>
          <p:cNvPr id="21" name="Shape 19"/>
          <p:cNvSpPr/>
          <p:nvPr/>
        </p:nvSpPr>
        <p:spPr>
          <a:xfrm>
            <a:off x="9652000" y="2222500"/>
            <a:ext cx="1727192" cy="1117575"/>
          </a:xfrm>
          <a:prstGeom prst="roundRect">
            <a:avLst>
              <a:gd name="adj" fmla="val 9091"/>
            </a:avLst>
          </a:prstGeom>
          <a:solidFill>
            <a:srgbClr val="15181E"/>
          </a:solidFill>
          <a:ln/>
        </p:spPr>
      </p:sp>
      <p:sp>
        <p:nvSpPr>
          <p:cNvPr id="22" name="Text 20"/>
          <p:cNvSpPr/>
          <p:nvPr/>
        </p:nvSpPr>
        <p:spPr>
          <a:xfrm>
            <a:off x="9804383" y="2374881"/>
            <a:ext cx="14732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8A3C"/>
                </a:solidFill>
                <a:latin typeface="IBM Plex Mono" pitchFamily="34" charset="0"/>
                <a:ea typeface="IBM Plex Mono" pitchFamily="34" charset="-122"/>
                <a:cs typeface="IBM Plex Mono" pitchFamily="34" charset="-120"/>
              </a:rPr>
              <a:t>Reglas</a:t>
            </a:r>
            <a:endParaRPr lang="en-US" sz="1200" dirty="0"/>
          </a:p>
        </p:txBody>
      </p:sp>
      <p:sp>
        <p:nvSpPr>
          <p:cNvPr id="23" name="Text 21"/>
          <p:cNvSpPr/>
          <p:nvPr/>
        </p:nvSpPr>
        <p:spPr>
          <a:xfrm>
            <a:off x="9804383" y="2638971"/>
            <a:ext cx="1473225"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3F2EE"/>
                </a:solidFill>
                <a:latin typeface="Space Grotesk" pitchFamily="34" charset="0"/>
                <a:ea typeface="Space Grotesk" pitchFamily="34" charset="-122"/>
                <a:cs typeface="Space Grotesk" pitchFamily="34" charset="-120"/>
              </a:rPr>
              <a:t>Zona + regla</a:t>
            </a:r>
            <a:endParaRPr lang="en-US" sz="1500" dirty="0"/>
          </a:p>
        </p:txBody>
      </p:sp>
      <p:sp>
        <p:nvSpPr>
          <p:cNvPr id="24" name="Text 22"/>
          <p:cNvSpPr/>
          <p:nvPr/>
        </p:nvSpPr>
        <p:spPr>
          <a:xfrm>
            <a:off x="9804383" y="2918312"/>
            <a:ext cx="14732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EA3AC"/>
                </a:solidFill>
                <a:latin typeface="IBM Plex Sans" pitchFamily="34" charset="0"/>
                <a:ea typeface="IBM Plex Sans" pitchFamily="34" charset="-122"/>
                <a:cs typeface="IBM Plex Sans" pitchFamily="34" charset="-120"/>
              </a:rPr>
              <a:t>N s + cooldown</a:t>
            </a:r>
            <a:endParaRPr lang="en-US" sz="1200" dirty="0"/>
          </a:p>
        </p:txBody>
      </p:sp>
      <p:sp>
        <p:nvSpPr>
          <p:cNvPr id="25" name="Shape 23"/>
          <p:cNvSpPr/>
          <p:nvPr/>
        </p:nvSpPr>
        <p:spPr>
          <a:xfrm>
            <a:off x="9655175" y="3940175"/>
            <a:ext cx="1720842" cy="1111225"/>
          </a:xfrm>
          <a:prstGeom prst="roundRect">
            <a:avLst>
              <a:gd name="adj" fmla="val 8857"/>
            </a:avLst>
          </a:prstGeom>
          <a:solidFill>
            <a:srgbClr val="FBFAF7"/>
          </a:solidFill>
          <a:ln w="6350">
            <a:solidFill>
              <a:srgbClr val="D8D5CC"/>
            </a:solidFill>
            <a:prstDash val="solid"/>
          </a:ln>
        </p:spPr>
      </p:sp>
      <p:sp>
        <p:nvSpPr>
          <p:cNvPr id="26" name="Text 24"/>
          <p:cNvSpPr/>
          <p:nvPr/>
        </p:nvSpPr>
        <p:spPr>
          <a:xfrm>
            <a:off x="9809675" y="4094674"/>
            <a:ext cx="14626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API</a:t>
            </a:r>
            <a:endParaRPr lang="en-US" sz="1200" dirty="0"/>
          </a:p>
        </p:txBody>
      </p:sp>
      <p:sp>
        <p:nvSpPr>
          <p:cNvPr id="27" name="Text 25"/>
          <p:cNvSpPr/>
          <p:nvPr/>
        </p:nvSpPr>
        <p:spPr>
          <a:xfrm>
            <a:off x="9809675" y="4358760"/>
            <a:ext cx="1462641"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181E"/>
                </a:solidFill>
                <a:latin typeface="Space Grotesk" pitchFamily="34" charset="0"/>
                <a:ea typeface="Space Grotesk" pitchFamily="34" charset="-122"/>
                <a:cs typeface="Space Grotesk" pitchFamily="34" charset="-120"/>
              </a:rPr>
              <a:t>FastAPI</a:t>
            </a:r>
            <a:endParaRPr lang="en-US" sz="1500" dirty="0"/>
          </a:p>
        </p:txBody>
      </p:sp>
      <p:sp>
        <p:nvSpPr>
          <p:cNvPr id="28" name="Text 26"/>
          <p:cNvSpPr/>
          <p:nvPr/>
        </p:nvSpPr>
        <p:spPr>
          <a:xfrm>
            <a:off x="9809675" y="4638104"/>
            <a:ext cx="14626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Sans" pitchFamily="34" charset="0"/>
                <a:ea typeface="IBM Plex Sans" pitchFamily="34" charset="-122"/>
                <a:cs typeface="IBM Plex Sans" pitchFamily="34" charset="-120"/>
              </a:rPr>
              <a:t>Recibe eventos</a:t>
            </a:r>
            <a:endParaRPr lang="en-US" sz="1200" dirty="0"/>
          </a:p>
        </p:txBody>
      </p:sp>
      <p:sp>
        <p:nvSpPr>
          <p:cNvPr id="29" name="Shape 27"/>
          <p:cNvSpPr/>
          <p:nvPr/>
        </p:nvSpPr>
        <p:spPr>
          <a:xfrm>
            <a:off x="7445366" y="3940175"/>
            <a:ext cx="1720842" cy="1111225"/>
          </a:xfrm>
          <a:prstGeom prst="roundRect">
            <a:avLst>
              <a:gd name="adj" fmla="val 8857"/>
            </a:avLst>
          </a:prstGeom>
          <a:solidFill>
            <a:srgbClr val="FBFAF7"/>
          </a:solidFill>
          <a:ln w="6350">
            <a:solidFill>
              <a:srgbClr val="D8D5CC"/>
            </a:solidFill>
            <a:prstDash val="solid"/>
          </a:ln>
        </p:spPr>
      </p:sp>
      <p:sp>
        <p:nvSpPr>
          <p:cNvPr id="30" name="Text 28"/>
          <p:cNvSpPr/>
          <p:nvPr/>
        </p:nvSpPr>
        <p:spPr>
          <a:xfrm>
            <a:off x="7599866" y="4094674"/>
            <a:ext cx="14626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Datos</a:t>
            </a:r>
            <a:endParaRPr lang="en-US" sz="1200" dirty="0"/>
          </a:p>
        </p:txBody>
      </p:sp>
      <p:sp>
        <p:nvSpPr>
          <p:cNvPr id="31" name="Text 29"/>
          <p:cNvSpPr/>
          <p:nvPr/>
        </p:nvSpPr>
        <p:spPr>
          <a:xfrm>
            <a:off x="7599866" y="4358760"/>
            <a:ext cx="1462641"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181E"/>
                </a:solidFill>
                <a:latin typeface="Space Grotesk" pitchFamily="34" charset="0"/>
                <a:ea typeface="Space Grotesk" pitchFamily="34" charset="-122"/>
                <a:cs typeface="Space Grotesk" pitchFamily="34" charset="-120"/>
              </a:rPr>
              <a:t>PostgreSQL</a:t>
            </a:r>
            <a:endParaRPr lang="en-US" sz="1500" dirty="0"/>
          </a:p>
        </p:txBody>
      </p:sp>
      <p:sp>
        <p:nvSpPr>
          <p:cNvPr id="32" name="Text 30"/>
          <p:cNvSpPr/>
          <p:nvPr/>
        </p:nvSpPr>
        <p:spPr>
          <a:xfrm>
            <a:off x="7599866" y="4638104"/>
            <a:ext cx="14626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Sans" pitchFamily="34" charset="0"/>
                <a:ea typeface="IBM Plex Sans" pitchFamily="34" charset="-122"/>
                <a:cs typeface="IBM Plex Sans" pitchFamily="34" charset="-120"/>
              </a:rPr>
              <a:t>+ snapshots</a:t>
            </a:r>
            <a:endParaRPr lang="en-US" sz="1200" dirty="0"/>
          </a:p>
        </p:txBody>
      </p:sp>
      <p:sp>
        <p:nvSpPr>
          <p:cNvPr id="33" name="Shape 31"/>
          <p:cNvSpPr/>
          <p:nvPr/>
        </p:nvSpPr>
        <p:spPr>
          <a:xfrm>
            <a:off x="5235558" y="3940175"/>
            <a:ext cx="1720842" cy="1111225"/>
          </a:xfrm>
          <a:prstGeom prst="roundRect">
            <a:avLst>
              <a:gd name="adj" fmla="val 8857"/>
            </a:avLst>
          </a:prstGeom>
          <a:solidFill>
            <a:srgbClr val="FBFAF7"/>
          </a:solidFill>
          <a:ln w="6350">
            <a:solidFill>
              <a:srgbClr val="D8D5CC"/>
            </a:solidFill>
            <a:prstDash val="solid"/>
          </a:ln>
        </p:spPr>
      </p:sp>
      <p:sp>
        <p:nvSpPr>
          <p:cNvPr id="34" name="Text 32"/>
          <p:cNvSpPr/>
          <p:nvPr/>
        </p:nvSpPr>
        <p:spPr>
          <a:xfrm>
            <a:off x="5390059" y="4094674"/>
            <a:ext cx="14626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Interfaz</a:t>
            </a:r>
            <a:endParaRPr lang="en-US" sz="1200" dirty="0"/>
          </a:p>
        </p:txBody>
      </p:sp>
      <p:sp>
        <p:nvSpPr>
          <p:cNvPr id="35" name="Text 33"/>
          <p:cNvSpPr/>
          <p:nvPr/>
        </p:nvSpPr>
        <p:spPr>
          <a:xfrm>
            <a:off x="5390059" y="4358760"/>
            <a:ext cx="1462641"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181E"/>
                </a:solidFill>
                <a:latin typeface="Space Grotesk" pitchFamily="34" charset="0"/>
                <a:ea typeface="Space Grotesk" pitchFamily="34" charset="-122"/>
                <a:cs typeface="Space Grotesk" pitchFamily="34" charset="-120"/>
              </a:rPr>
              <a:t>Next.js</a:t>
            </a:r>
            <a:endParaRPr lang="en-US" sz="1500" dirty="0"/>
          </a:p>
        </p:txBody>
      </p:sp>
      <p:sp>
        <p:nvSpPr>
          <p:cNvPr id="36" name="Text 34"/>
          <p:cNvSpPr/>
          <p:nvPr/>
        </p:nvSpPr>
        <p:spPr>
          <a:xfrm>
            <a:off x="5390059" y="4638104"/>
            <a:ext cx="14626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Sans" pitchFamily="34" charset="0"/>
                <a:ea typeface="IBM Plex Sans" pitchFamily="34" charset="-122"/>
                <a:cs typeface="IBM Plex Sans" pitchFamily="34" charset="-120"/>
              </a:rPr>
              <a:t>Dashboard</a:t>
            </a:r>
            <a:endParaRPr lang="en-US" sz="1200" dirty="0"/>
          </a:p>
        </p:txBody>
      </p:sp>
      <p:sp>
        <p:nvSpPr>
          <p:cNvPr id="37" name="Shape 35"/>
          <p:cNvSpPr/>
          <p:nvPr/>
        </p:nvSpPr>
        <p:spPr>
          <a:xfrm>
            <a:off x="3022575" y="3937000"/>
            <a:ext cx="1727192" cy="1117575"/>
          </a:xfrm>
          <a:prstGeom prst="roundRect">
            <a:avLst>
              <a:gd name="adj" fmla="val 9091"/>
            </a:avLst>
          </a:prstGeom>
          <a:solidFill>
            <a:srgbClr val="E0701F"/>
          </a:solidFill>
          <a:ln/>
        </p:spPr>
      </p:sp>
      <p:sp>
        <p:nvSpPr>
          <p:cNvPr id="38" name="Text 36"/>
          <p:cNvSpPr/>
          <p:nvPr/>
        </p:nvSpPr>
        <p:spPr>
          <a:xfrm>
            <a:off x="3174959" y="4089381"/>
            <a:ext cx="14732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E"/>
                </a:solidFill>
                <a:latin typeface="IBM Plex Mono" pitchFamily="34" charset="0"/>
                <a:ea typeface="IBM Plex Mono" pitchFamily="34" charset="-122"/>
                <a:cs typeface="IBM Plex Mono" pitchFamily="34" charset="-120"/>
              </a:rPr>
              <a:t>Usuario</a:t>
            </a:r>
            <a:endParaRPr lang="en-US" sz="1200" dirty="0"/>
          </a:p>
        </p:txBody>
      </p:sp>
      <p:sp>
        <p:nvSpPr>
          <p:cNvPr id="39" name="Text 37"/>
          <p:cNvSpPr/>
          <p:nvPr/>
        </p:nvSpPr>
        <p:spPr>
          <a:xfrm>
            <a:off x="3174959" y="4353471"/>
            <a:ext cx="1473225"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181E"/>
                </a:solidFill>
                <a:latin typeface="Space Grotesk" pitchFamily="34" charset="0"/>
                <a:ea typeface="Space Grotesk" pitchFamily="34" charset="-122"/>
                <a:cs typeface="Space Grotesk" pitchFamily="34" charset="-120"/>
              </a:rPr>
              <a:t>Supervisor</a:t>
            </a:r>
            <a:endParaRPr lang="en-US" sz="1500" dirty="0"/>
          </a:p>
        </p:txBody>
      </p:sp>
      <p:sp>
        <p:nvSpPr>
          <p:cNvPr id="40" name="Text 38"/>
          <p:cNvSpPr/>
          <p:nvPr/>
        </p:nvSpPr>
        <p:spPr>
          <a:xfrm>
            <a:off x="3174959" y="4632812"/>
            <a:ext cx="14732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E"/>
                </a:solidFill>
                <a:latin typeface="IBM Plex Sans" pitchFamily="34" charset="0"/>
                <a:ea typeface="IBM Plex Sans" pitchFamily="34" charset="-122"/>
                <a:cs typeface="IBM Plex Sans" pitchFamily="34" charset="-120"/>
              </a:rPr>
              <a:t>Revisa y decide</a:t>
            </a:r>
            <a:endParaRPr lang="en-US" sz="1200" dirty="0"/>
          </a:p>
        </p:txBody>
      </p:sp>
      <p:sp>
        <p:nvSpPr>
          <p:cNvPr id="41" name="Shape 39"/>
          <p:cNvSpPr/>
          <p:nvPr/>
        </p:nvSpPr>
        <p:spPr>
          <a:xfrm>
            <a:off x="815942" y="3940175"/>
            <a:ext cx="1720842" cy="1111225"/>
          </a:xfrm>
          <a:prstGeom prst="roundRect">
            <a:avLst>
              <a:gd name="adj" fmla="val 8857"/>
            </a:avLst>
          </a:prstGeom>
          <a:solidFill>
            <a:srgbClr val="FBFAF7"/>
          </a:solidFill>
          <a:ln w="6350">
            <a:solidFill>
              <a:srgbClr val="D8D5CC"/>
            </a:solidFill>
            <a:prstDash val="solid"/>
          </a:ln>
        </p:spPr>
      </p:sp>
      <p:sp>
        <p:nvSpPr>
          <p:cNvPr id="42" name="Text 40"/>
          <p:cNvSpPr/>
          <p:nvPr/>
        </p:nvSpPr>
        <p:spPr>
          <a:xfrm>
            <a:off x="970442" y="4094674"/>
            <a:ext cx="14626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Acción</a:t>
            </a:r>
            <a:endParaRPr lang="en-US" sz="1200" dirty="0"/>
          </a:p>
        </p:txBody>
      </p:sp>
      <p:sp>
        <p:nvSpPr>
          <p:cNvPr id="43" name="Text 41"/>
          <p:cNvSpPr/>
          <p:nvPr/>
        </p:nvSpPr>
        <p:spPr>
          <a:xfrm>
            <a:off x="970442" y="4358760"/>
            <a:ext cx="1462641"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181E"/>
                </a:solidFill>
                <a:latin typeface="Space Grotesk" pitchFamily="34" charset="0"/>
                <a:ea typeface="Space Grotesk" pitchFamily="34" charset="-122"/>
                <a:cs typeface="Space Grotesk" pitchFamily="34" charset="-120"/>
              </a:rPr>
              <a:t>Proceso SST</a:t>
            </a:r>
            <a:endParaRPr lang="en-US" sz="1500" dirty="0"/>
          </a:p>
        </p:txBody>
      </p:sp>
      <p:sp>
        <p:nvSpPr>
          <p:cNvPr id="44" name="Text 42"/>
          <p:cNvSpPr/>
          <p:nvPr/>
        </p:nvSpPr>
        <p:spPr>
          <a:xfrm>
            <a:off x="970442" y="4638104"/>
            <a:ext cx="14626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Sans" pitchFamily="34" charset="0"/>
                <a:ea typeface="IBM Plex Sans" pitchFamily="34" charset="-122"/>
                <a:cs typeface="IBM Plex Sans" pitchFamily="34" charset="-120"/>
              </a:rPr>
              <a:t>Registro SSMA</a:t>
            </a:r>
            <a:endParaRPr lang="en-US" sz="1200" dirty="0"/>
          </a:p>
        </p:txBody>
      </p:sp>
      <p:pic>
        <p:nvPicPr>
          <p:cNvPr id="45" name="Image 0" descr="connector">    </p:cNvPr>
          <p:cNvPicPr>
            <a:picLocks noChangeAspect="1"/>
          </p:cNvPicPr>
          <p:nvPr/>
        </p:nvPicPr>
        <p:blipFill>
          <a:blip r:embed="rId1"/>
          <a:srcRect l="-12" r="-12" t="0" b="0"/>
          <a:stretch/>
        </p:blipFill>
        <p:spPr>
          <a:xfrm>
            <a:off x="2489192" y="2730500"/>
            <a:ext cx="584192" cy="101575"/>
          </a:xfrm>
          <a:prstGeom prst="rect">
            <a:avLst/>
          </a:prstGeom>
        </p:spPr>
      </p:pic>
      <p:pic>
        <p:nvPicPr>
          <p:cNvPr id="46" name="Image 1" descr="connector">    </p:cNvPr>
          <p:cNvPicPr>
            <a:picLocks noChangeAspect="1"/>
          </p:cNvPicPr>
          <p:nvPr/>
        </p:nvPicPr>
        <p:blipFill>
          <a:blip r:embed="rId2"/>
          <a:srcRect l="-12" r="-12" t="0" b="0"/>
          <a:stretch/>
        </p:blipFill>
        <p:spPr>
          <a:xfrm>
            <a:off x="4699000" y="2730500"/>
            <a:ext cx="584192" cy="101575"/>
          </a:xfrm>
          <a:prstGeom prst="rect">
            <a:avLst/>
          </a:prstGeom>
        </p:spPr>
      </p:pic>
      <p:pic>
        <p:nvPicPr>
          <p:cNvPr id="47" name="Image 2" descr="connector">    </p:cNvPr>
          <p:cNvPicPr>
            <a:picLocks noChangeAspect="1"/>
          </p:cNvPicPr>
          <p:nvPr/>
        </p:nvPicPr>
        <p:blipFill>
          <a:blip r:embed="rId3"/>
          <a:srcRect l="-12" r="-12" t="0" b="0"/>
          <a:stretch/>
        </p:blipFill>
        <p:spPr>
          <a:xfrm>
            <a:off x="6908767" y="2730500"/>
            <a:ext cx="584192" cy="101575"/>
          </a:xfrm>
          <a:prstGeom prst="rect">
            <a:avLst/>
          </a:prstGeom>
        </p:spPr>
      </p:pic>
      <p:pic>
        <p:nvPicPr>
          <p:cNvPr id="48" name="Image 3" descr="connector">    </p:cNvPr>
          <p:cNvPicPr>
            <a:picLocks noChangeAspect="1"/>
          </p:cNvPicPr>
          <p:nvPr/>
        </p:nvPicPr>
        <p:blipFill>
          <a:blip r:embed="rId4"/>
          <a:srcRect l="-12" r="-12" t="0" b="0"/>
          <a:stretch/>
        </p:blipFill>
        <p:spPr>
          <a:xfrm>
            <a:off x="9118575" y="2730500"/>
            <a:ext cx="584192" cy="101575"/>
          </a:xfrm>
          <a:prstGeom prst="rect">
            <a:avLst/>
          </a:prstGeom>
        </p:spPr>
      </p:pic>
      <p:pic>
        <p:nvPicPr>
          <p:cNvPr id="49" name="Image 4" descr="connector">    </p:cNvPr>
          <p:cNvPicPr>
            <a:picLocks noChangeAspect="1"/>
          </p:cNvPicPr>
          <p:nvPr/>
        </p:nvPicPr>
        <p:blipFill>
          <a:blip r:embed="rId5"/>
          <a:srcRect l="0" r="0" t="-12" b="-12"/>
          <a:stretch/>
        </p:blipFill>
        <p:spPr>
          <a:xfrm>
            <a:off x="10464767" y="3289266"/>
            <a:ext cx="101575" cy="698500"/>
          </a:xfrm>
          <a:prstGeom prst="rect">
            <a:avLst/>
          </a:prstGeom>
        </p:spPr>
      </p:pic>
      <p:pic>
        <p:nvPicPr>
          <p:cNvPr id="50" name="Image 5" descr="connector">    </p:cNvPr>
          <p:cNvPicPr>
            <a:picLocks noChangeAspect="1"/>
          </p:cNvPicPr>
          <p:nvPr/>
        </p:nvPicPr>
        <p:blipFill>
          <a:blip r:embed="rId6"/>
          <a:srcRect l="-12" r="-12" t="0" b="0"/>
          <a:stretch/>
        </p:blipFill>
        <p:spPr>
          <a:xfrm>
            <a:off x="9118575" y="4445000"/>
            <a:ext cx="584192" cy="101575"/>
          </a:xfrm>
          <a:prstGeom prst="rect">
            <a:avLst/>
          </a:prstGeom>
        </p:spPr>
      </p:pic>
      <p:pic>
        <p:nvPicPr>
          <p:cNvPr id="51" name="Image 6" descr="connector">    </p:cNvPr>
          <p:cNvPicPr>
            <a:picLocks noChangeAspect="1"/>
          </p:cNvPicPr>
          <p:nvPr/>
        </p:nvPicPr>
        <p:blipFill>
          <a:blip r:embed="rId7"/>
          <a:srcRect l="-12" r="-12" t="0" b="0"/>
          <a:stretch/>
        </p:blipFill>
        <p:spPr>
          <a:xfrm>
            <a:off x="6908767" y="4445000"/>
            <a:ext cx="584192" cy="101575"/>
          </a:xfrm>
          <a:prstGeom prst="rect">
            <a:avLst/>
          </a:prstGeom>
        </p:spPr>
      </p:pic>
      <p:pic>
        <p:nvPicPr>
          <p:cNvPr id="52" name="Image 7" descr="connector">    </p:cNvPr>
          <p:cNvPicPr>
            <a:picLocks noChangeAspect="1"/>
          </p:cNvPicPr>
          <p:nvPr/>
        </p:nvPicPr>
        <p:blipFill>
          <a:blip r:embed="rId8"/>
          <a:srcRect l="-12" r="-12" t="0" b="0"/>
          <a:stretch/>
        </p:blipFill>
        <p:spPr>
          <a:xfrm>
            <a:off x="4699000" y="4445000"/>
            <a:ext cx="584192" cy="101575"/>
          </a:xfrm>
          <a:prstGeom prst="rect">
            <a:avLst/>
          </a:prstGeom>
        </p:spPr>
      </p:pic>
      <p:pic>
        <p:nvPicPr>
          <p:cNvPr id="53" name="Image 8" descr="connector">    </p:cNvPr>
          <p:cNvPicPr>
            <a:picLocks noChangeAspect="1"/>
          </p:cNvPicPr>
          <p:nvPr/>
        </p:nvPicPr>
        <p:blipFill>
          <a:blip r:embed="rId9"/>
          <a:srcRect l="-12" r="-12" t="0" b="0"/>
          <a:stretch/>
        </p:blipFill>
        <p:spPr>
          <a:xfrm>
            <a:off x="2489192" y="4445000"/>
            <a:ext cx="584192" cy="101575"/>
          </a:xfrm>
          <a:prstGeom prst="rect">
            <a:avLst/>
          </a:prstGeom>
        </p:spPr>
      </p:pic>
      <p:sp>
        <p:nvSpPr>
          <p:cNvPr id="54" name="Text 43"/>
          <p:cNvSpPr/>
          <p:nvPr/>
        </p:nvSpPr>
        <p:spPr>
          <a:xfrm>
            <a:off x="812767" y="5308575"/>
            <a:ext cx="10883374" cy="48767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8"/>
                </a:solidFill>
                <a:latin typeface="IBM Plex Sans" pitchFamily="34" charset="0"/>
                <a:ea typeface="IBM Plex Sans" pitchFamily="34" charset="-122"/>
                <a:cs typeface="IBM Plex Sans" pitchFamily="34" charset="-120"/>
              </a:rPr>
              <a:t>Deliberadamente simple: una cámara, Docker Compose local, sin Kafka ni Kubernetes. Mismo patrón que NVIDIA DeepStream: fuente → inferencia → tracking → analytics → evento.</a:t>
            </a:r>
            <a:endParaRPr lang="en-US" sz="1300" dirty="0"/>
          </a:p>
        </p:txBody>
      </p:sp>
      <p:sp>
        <p:nvSpPr>
          <p:cNvPr id="55" name="Text 44"/>
          <p:cNvSpPr/>
          <p:nvPr/>
        </p:nvSpPr>
        <p:spPr>
          <a:xfrm>
            <a:off x="10312433" y="6238295"/>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2EE"/>
        </a:solidFill>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4A0C"/>
                </a:solidFill>
                <a:latin typeface="IBM Plex Mono" pitchFamily="34" charset="0"/>
                <a:ea typeface="IBM Plex Mono" pitchFamily="34" charset="-122"/>
                <a:cs typeface="IBM Plex Mono" pitchFamily="34" charset="-120"/>
              </a:rPr>
              <a:t>04 · STACK TECNOLÓGICO</a:t>
            </a:r>
            <a:endParaRPr lang="en-US" sz="1200" dirty="0"/>
          </a:p>
        </p:txBody>
      </p:sp>
      <p:sp>
        <p:nvSpPr>
          <p:cNvPr id="3" name="Text 1"/>
          <p:cNvSpPr/>
          <p:nvPr/>
        </p:nvSpPr>
        <p:spPr>
          <a:xfrm>
            <a:off x="812767" y="1127661"/>
            <a:ext cx="10883460" cy="528274"/>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15181E"/>
                </a:solidFill>
                <a:latin typeface="Space Grotesk" pitchFamily="34" charset="0"/>
                <a:ea typeface="Space Grotesk" pitchFamily="34" charset="-122"/>
                <a:cs typeface="Space Grotesk" pitchFamily="34" charset="-120"/>
              </a:rPr>
              <a:t>Demo hoy, ruta clara para escalar</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50" y="1996695"/>
          <a:ext cx="10555800" cy="3455417"/>
        </p:xfrm>
        <a:graphic>
          <a:graphicData uri="http://schemas.openxmlformats.org/drawingml/2006/table">
            <a:tbl>
              <a:tblPr/>
              <a:tblGrid>
                <a:gridCol w="2111160"/>
                <a:gridCol w="4222320"/>
                <a:gridCol w="4222320"/>
              </a:tblGrid>
              <a:tr h="383935">
                <a:tc>
                  <a:txBody>
                    <a:bodyPr/>
                    <a:lstStyle/>
                    <a:p>
                      <a:pPr indent="0" marL="0">
                        <a:lnSpc>
                          <a:spcPts val="1960"/>
                        </a:lnSpc>
                        <a:buNone/>
                      </a:pPr>
                      <a:r>
                        <a:rPr lang="en-US" sz="1400" b="1" dirty="0">
                          <a:solidFill>
                            <a:srgbClr val="F3F2EE"/>
                          </a:solidFill>
                          <a:latin typeface="IBM Plex Sans" pitchFamily="34" charset="0"/>
                          <a:ea typeface="IBM Plex Sans" pitchFamily="34" charset="-122"/>
                          <a:cs typeface="IBM Plex Sans" pitchFamily="34" charset="-120"/>
                        </a:rPr>
                        <a:t>Capa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1BE"/>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C2C1BE"/>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15181E"/>
                    </a:solidFill>
                  </a:tcPr>
                </a:tc>
                <a:tc>
                  <a:txBody>
                    <a:bodyPr/>
                    <a:lstStyle/>
                    <a:p>
                      <a:pPr indent="0" marL="0">
                        <a:lnSpc>
                          <a:spcPts val="1960"/>
                        </a:lnSpc>
                        <a:buNone/>
                      </a:pPr>
                      <a:r>
                        <a:rPr lang="en-US" sz="1400" b="1" dirty="0">
                          <a:solidFill>
                            <a:srgbClr val="F08A3C"/>
                          </a:solidFill>
                          <a:latin typeface="IBM Plex Sans" pitchFamily="34" charset="0"/>
                          <a:ea typeface="IBM Plex Sans" pitchFamily="34" charset="-122"/>
                          <a:cs typeface="IBM Plex Sans" pitchFamily="34" charset="-120"/>
                        </a:rPr>
                        <a:t>Demo universitaria (MVP)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C2C1BE"/>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15181E"/>
                    </a:solidFill>
                  </a:tcPr>
                </a:tc>
                <a:tc>
                  <a:txBody>
                    <a:bodyPr/>
                    <a:lstStyle/>
                    <a:p>
                      <a:pPr indent="0" marL="0">
                        <a:lnSpc>
                          <a:spcPts val="1960"/>
                        </a:lnSpc>
                        <a:buNone/>
                      </a:pPr>
                      <a:r>
                        <a:rPr lang="en-US" sz="1400" b="1" dirty="0">
                          <a:solidFill>
                            <a:srgbClr val="F3F2EE"/>
                          </a:solidFill>
                          <a:latin typeface="IBM Plex Sans" pitchFamily="34" charset="0"/>
                          <a:ea typeface="IBM Plex Sans" pitchFamily="34" charset="-122"/>
                          <a:cs typeface="IBM Plex Sans" pitchFamily="34" charset="-120"/>
                        </a:rPr>
                        <a:t>Escalado posterior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C2C1BE"/>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15181E"/>
                    </a:solidFill>
                  </a:tcPr>
                </a:tc>
              </a:tr>
              <a:tr h="383935">
                <a:tc>
                  <a:txBody>
                    <a:bodyPr/>
                    <a:lstStyle/>
                    <a:p>
                      <a:pPr indent="0" marL="0">
                        <a:lnSpc>
                          <a:spcPts val="1960"/>
                        </a:lnSpc>
                        <a:buNone/>
                      </a:pPr>
                      <a:r>
                        <a:rPr lang="en-US" sz="1400" dirty="0">
                          <a:solidFill>
                            <a:srgbClr val="2A2E36"/>
                          </a:solidFill>
                          <a:latin typeface="IBM Plex Sans" pitchFamily="34" charset="0"/>
                          <a:ea typeface="IBM Plex Sans" pitchFamily="34" charset="-122"/>
                          <a:cs typeface="IBM Plex Sans" pitchFamily="34" charset="-120"/>
                        </a:rPr>
                        <a:t>Video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1BE"/>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960"/>
                        </a:lnSpc>
                        <a:buNone/>
                      </a:pPr>
                      <a:r>
                        <a:rPr lang="en-US" sz="1400" dirty="0">
                          <a:solidFill>
                            <a:srgbClr val="2A2E36"/>
                          </a:solidFill>
                          <a:latin typeface="IBM Plex Sans" pitchFamily="34" charset="0"/>
                          <a:ea typeface="IBM Plex Sans" pitchFamily="34" charset="-122"/>
                          <a:cs typeface="IBM Plex Sans" pitchFamily="34" charset="-120"/>
                        </a:rPr>
                        <a:t>OpenCV / FFmpeg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960"/>
                        </a:lnSpc>
                        <a:buNone/>
                      </a:pPr>
                      <a:r>
                        <a:rPr lang="en-US" sz="1400" dirty="0">
                          <a:solidFill>
                            <a:srgbClr val="2A2E36"/>
                          </a:solidFill>
                          <a:latin typeface="IBM Plex Sans" pitchFamily="34" charset="0"/>
                          <a:ea typeface="IBM Plex Sans" pitchFamily="34" charset="-122"/>
                          <a:cs typeface="IBM Plex Sans" pitchFamily="34" charset="-120"/>
                        </a:rPr>
                        <a:t>GStreamer / DeepStream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383935">
                <a:tc>
                  <a:txBody>
                    <a:bodyPr/>
                    <a:lstStyle/>
                    <a:p>
                      <a:pPr indent="0" marL="0">
                        <a:lnSpc>
                          <a:spcPts val="1960"/>
                        </a:lnSpc>
                        <a:buNone/>
                      </a:pPr>
                      <a:r>
                        <a:rPr lang="en-US" sz="1400" dirty="0">
                          <a:solidFill>
                            <a:srgbClr val="2A2E36"/>
                          </a:solidFill>
                          <a:latin typeface="IBM Plex Sans" pitchFamily="34" charset="0"/>
                          <a:ea typeface="IBM Plex Sans" pitchFamily="34" charset="-122"/>
                          <a:cs typeface="IBM Plex Sans" pitchFamily="34" charset="-120"/>
                        </a:rPr>
                        <a:t>Detector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1BE"/>
                      </a:solidFill>
                      <a:prstDash val="solid"/>
                      <a:round/>
                      <a:headEnd type="none" w="med" len="med"/>
                      <a:tailEnd type="none" w="med" len="med"/>
                    </a:lnL>
                    <a:lnR w="12700" cap="flat" cmpd="sng" algn="ctr">
                      <a:solidFill>
                        <a:srgbClr val="C2C1BE"/>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1BE"/>
                      </a:solidFill>
                      <a:prstDash val="solid"/>
                      <a:round/>
                      <a:headEnd type="none" w="med" len="med"/>
                      <a:tailEnd type="none" w="med" len="med"/>
                    </a:lnB>
                  </a:tcPr>
                </a:tc>
                <a:tc>
                  <a:txBody>
                    <a:bodyPr/>
                    <a:lstStyle/>
                    <a:p>
                      <a:pPr indent="0" marL="0">
                        <a:lnSpc>
                          <a:spcPts val="1960"/>
                        </a:lnSpc>
                        <a:buNone/>
                      </a:pPr>
                      <a:r>
                        <a:rPr lang="en-US" sz="1400" dirty="0">
                          <a:solidFill>
                            <a:srgbClr val="2A2E36"/>
                          </a:solidFill>
                          <a:latin typeface="IBM Plex Sans" pitchFamily="34" charset="0"/>
                          <a:ea typeface="IBM Plex Sans" pitchFamily="34" charset="-122"/>
                          <a:cs typeface="IBM Plex Sans" pitchFamily="34" charset="-120"/>
                        </a:rPr>
                        <a:t>Ultralytics YOLO nano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1BE"/>
                      </a:solidFill>
                      <a:prstDash val="solid"/>
                      <a:round/>
                      <a:headEnd type="none" w="med" len="med"/>
                      <a:tailEnd type="none" w="med" len="med"/>
                    </a:lnL>
                    <a:lnR w="12700" cap="flat" cmpd="sng" algn="ctr">
                      <a:solidFill>
                        <a:srgbClr val="C2C1BE"/>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1BE"/>
                      </a:solidFill>
                      <a:prstDash val="solid"/>
                      <a:round/>
                      <a:headEnd type="none" w="med" len="med"/>
                      <a:tailEnd type="none" w="med" len="med"/>
                    </a:lnB>
                  </a:tcPr>
                </a:tc>
                <a:tc>
                  <a:txBody>
                    <a:bodyPr/>
                    <a:lstStyle/>
                    <a:p>
                      <a:pPr indent="0" marL="0">
                        <a:lnSpc>
                          <a:spcPts val="1960"/>
                        </a:lnSpc>
                        <a:buNone/>
                      </a:pPr>
                      <a:r>
                        <a:rPr lang="en-US" sz="1400" dirty="0">
                          <a:solidFill>
                            <a:srgbClr val="2A2E36"/>
                          </a:solidFill>
                          <a:latin typeface="IBM Plex Sans" pitchFamily="34" charset="0"/>
                          <a:ea typeface="IBM Plex Sans" pitchFamily="34" charset="-122"/>
                          <a:cs typeface="IBM Plex Sans" pitchFamily="34" charset="-120"/>
                        </a:rPr>
                        <a:t>TensorRT / modelo optimizado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1BE"/>
                      </a:solidFill>
                      <a:prstDash val="solid"/>
                      <a:round/>
                      <a:headEnd type="none" w="med" len="med"/>
                      <a:tailEnd type="none" w="med" len="med"/>
                    </a:lnL>
                    <a:lnR w="12700" cap="flat" cmpd="sng" algn="ctr">
                      <a:solidFill>
                        <a:srgbClr val="C2C1BE"/>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1BE"/>
                      </a:solidFill>
                      <a:prstDash val="solid"/>
                      <a:round/>
                      <a:headEnd type="none" w="med" len="med"/>
                      <a:tailEnd type="none" w="med" len="med"/>
                    </a:lnB>
                  </a:tcPr>
                </a:tc>
              </a:tr>
              <a:tr h="383935">
                <a:tc>
                  <a:txBody>
                    <a:bodyPr/>
                    <a:lstStyle/>
                    <a:p>
                      <a:pPr indent="0" marL="0">
                        <a:lnSpc>
                          <a:spcPts val="1960"/>
                        </a:lnSpc>
                        <a:buNone/>
                      </a:pPr>
                      <a:r>
                        <a:rPr lang="en-US" sz="1400" dirty="0">
                          <a:solidFill>
                            <a:srgbClr val="2A2E36"/>
                          </a:solidFill>
                          <a:latin typeface="IBM Plex Sans" pitchFamily="34" charset="0"/>
                          <a:ea typeface="IBM Plex Sans" pitchFamily="34" charset="-122"/>
                          <a:cs typeface="IBM Plex Sans" pitchFamily="34" charset="-120"/>
                        </a:rPr>
                        <a:t>Tracking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1BE"/>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1BE"/>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960"/>
                        </a:lnSpc>
                        <a:buNone/>
                      </a:pPr>
                      <a:r>
                        <a:rPr lang="en-US" sz="1400" dirty="0">
                          <a:solidFill>
                            <a:srgbClr val="2A2E36"/>
                          </a:solidFill>
                          <a:latin typeface="IBM Plex Sans" pitchFamily="34" charset="0"/>
                          <a:ea typeface="IBM Plex Sans" pitchFamily="34" charset="-122"/>
                          <a:cs typeface="IBM Plex Sans" pitchFamily="34" charset="-120"/>
                        </a:rPr>
                        <a:t>ByteTrack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1BE"/>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960"/>
                        </a:lnSpc>
                        <a:buNone/>
                      </a:pPr>
                      <a:r>
                        <a:rPr lang="en-US" sz="1400" dirty="0">
                          <a:solidFill>
                            <a:srgbClr val="2A2E36"/>
                          </a:solidFill>
                          <a:latin typeface="IBM Plex Sans" pitchFamily="34" charset="0"/>
                          <a:ea typeface="IBM Plex Sans" pitchFamily="34" charset="-122"/>
                          <a:cs typeface="IBM Plex Sans" pitchFamily="34" charset="-120"/>
                        </a:rPr>
                        <a:t>DeepStream tracker / BoT-SORT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1BE"/>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383935">
                <a:tc>
                  <a:txBody>
                    <a:bodyPr/>
                    <a:lstStyle/>
                    <a:p>
                      <a:pPr indent="0" marL="0">
                        <a:lnSpc>
                          <a:spcPts val="1960"/>
                        </a:lnSpc>
                        <a:buNone/>
                      </a:pPr>
                      <a:r>
                        <a:rPr lang="en-US" sz="1400" dirty="0">
                          <a:solidFill>
                            <a:srgbClr val="2A2E36"/>
                          </a:solidFill>
                          <a:latin typeface="IBM Plex Sans" pitchFamily="34" charset="0"/>
                          <a:ea typeface="IBM Plex Sans" pitchFamily="34" charset="-122"/>
                          <a:cs typeface="IBM Plex Sans" pitchFamily="34" charset="-120"/>
                        </a:rPr>
                        <a:t>Reglas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1BE"/>
                      </a:solidFill>
                      <a:prstDash val="solid"/>
                      <a:round/>
                      <a:headEnd type="none" w="med" len="med"/>
                      <a:tailEnd type="none" w="med" len="med"/>
                    </a:lnL>
                    <a:lnR w="12700" cap="flat" cmpd="sng" algn="ctr">
                      <a:solidFill>
                        <a:srgbClr val="C2C1BE"/>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1BE"/>
                      </a:solidFill>
                      <a:prstDash val="solid"/>
                      <a:round/>
                      <a:headEnd type="none" w="med" len="med"/>
                      <a:tailEnd type="none" w="med" len="med"/>
                    </a:lnB>
                  </a:tcPr>
                </a:tc>
                <a:tc>
                  <a:txBody>
                    <a:bodyPr/>
                    <a:lstStyle/>
                    <a:p>
                      <a:pPr indent="0" marL="0">
                        <a:lnSpc>
                          <a:spcPts val="1960"/>
                        </a:lnSpc>
                        <a:buNone/>
                      </a:pPr>
                      <a:r>
                        <a:rPr lang="en-US" sz="1400" dirty="0">
                          <a:solidFill>
                            <a:srgbClr val="2A2E36"/>
                          </a:solidFill>
                          <a:latin typeface="IBM Plex Sans" pitchFamily="34" charset="0"/>
                          <a:ea typeface="IBM Plex Sans" pitchFamily="34" charset="-122"/>
                          <a:cs typeface="IBM Plex Sans" pitchFamily="34" charset="-120"/>
                        </a:rPr>
                        <a:t>Python: zonas + condiciones + cooldown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1BE"/>
                      </a:solidFill>
                      <a:prstDash val="solid"/>
                      <a:round/>
                      <a:headEnd type="none" w="med" len="med"/>
                      <a:tailEnd type="none" w="med" len="med"/>
                    </a:lnL>
                    <a:lnR w="12700" cap="flat" cmpd="sng" algn="ctr">
                      <a:solidFill>
                        <a:srgbClr val="C2C1BE"/>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1BE"/>
                      </a:solidFill>
                      <a:prstDash val="solid"/>
                      <a:round/>
                      <a:headEnd type="none" w="med" len="med"/>
                      <a:tailEnd type="none" w="med" len="med"/>
                    </a:lnB>
                  </a:tcPr>
                </a:tc>
                <a:tc>
                  <a:txBody>
                    <a:bodyPr/>
                    <a:lstStyle/>
                    <a:p>
                      <a:pPr indent="0" marL="0">
                        <a:lnSpc>
                          <a:spcPts val="1960"/>
                        </a:lnSpc>
                        <a:buNone/>
                      </a:pPr>
                      <a:r>
                        <a:rPr lang="en-US" sz="1400" dirty="0">
                          <a:solidFill>
                            <a:srgbClr val="2A2E36"/>
                          </a:solidFill>
                          <a:latin typeface="IBM Plex Sans" pitchFamily="34" charset="0"/>
                          <a:ea typeface="IBM Plex Sans" pitchFamily="34" charset="-122"/>
                          <a:cs typeface="IBM Plex Sans" pitchFamily="34" charset="-120"/>
                        </a:rPr>
                        <a:t>Servicio de reglas configurable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1BE"/>
                      </a:solidFill>
                      <a:prstDash val="solid"/>
                      <a:round/>
                      <a:headEnd type="none" w="med" len="med"/>
                      <a:tailEnd type="none" w="med" len="med"/>
                    </a:lnL>
                    <a:lnR w="12700" cap="flat" cmpd="sng" algn="ctr">
                      <a:solidFill>
                        <a:srgbClr val="C2C1BE"/>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1BE"/>
                      </a:solidFill>
                      <a:prstDash val="solid"/>
                      <a:round/>
                      <a:headEnd type="none" w="med" len="med"/>
                      <a:tailEnd type="none" w="med" len="med"/>
                    </a:lnB>
                  </a:tcPr>
                </a:tc>
              </a:tr>
              <a:tr h="383935">
                <a:tc>
                  <a:txBody>
                    <a:bodyPr/>
                    <a:lstStyle/>
                    <a:p>
                      <a:pPr indent="0" marL="0">
                        <a:lnSpc>
                          <a:spcPts val="1960"/>
                        </a:lnSpc>
                        <a:buNone/>
                      </a:pPr>
                      <a:r>
                        <a:rPr lang="en-US" sz="1400" dirty="0">
                          <a:solidFill>
                            <a:srgbClr val="2A2E36"/>
                          </a:solidFill>
                          <a:latin typeface="IBM Plex Sans" pitchFamily="34" charset="0"/>
                          <a:ea typeface="IBM Plex Sans" pitchFamily="34" charset="-122"/>
                          <a:cs typeface="IBM Plex Sans" pitchFamily="34" charset="-120"/>
                        </a:rPr>
                        <a:t>API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1BE"/>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1BE"/>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960"/>
                        </a:lnSpc>
                        <a:buNone/>
                      </a:pPr>
                      <a:r>
                        <a:rPr lang="en-US" sz="1400" dirty="0">
                          <a:solidFill>
                            <a:srgbClr val="2A2E36"/>
                          </a:solidFill>
                          <a:latin typeface="IBM Plex Sans" pitchFamily="34" charset="0"/>
                          <a:ea typeface="IBM Plex Sans" pitchFamily="34" charset="-122"/>
                          <a:cs typeface="IBM Plex Sans" pitchFamily="34" charset="-120"/>
                        </a:rPr>
                        <a:t>FastAPI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1BE"/>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960"/>
                        </a:lnSpc>
                        <a:buNone/>
                      </a:pPr>
                      <a:r>
                        <a:rPr lang="en-US" sz="1400" dirty="0">
                          <a:solidFill>
                            <a:srgbClr val="2A2E36"/>
                          </a:solidFill>
                          <a:latin typeface="IBM Plex Sans" pitchFamily="34" charset="0"/>
                          <a:ea typeface="IBM Plex Sans" pitchFamily="34" charset="-122"/>
                          <a:cs typeface="IBM Plex Sans" pitchFamily="34" charset="-120"/>
                        </a:rPr>
                        <a:t>API + event bus si el volumen lo exige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1BE"/>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383935">
                <a:tc>
                  <a:txBody>
                    <a:bodyPr/>
                    <a:lstStyle/>
                    <a:p>
                      <a:pPr indent="0" marL="0">
                        <a:lnSpc>
                          <a:spcPts val="1960"/>
                        </a:lnSpc>
                        <a:buNone/>
                      </a:pPr>
                      <a:r>
                        <a:rPr lang="en-US" sz="1400" dirty="0">
                          <a:solidFill>
                            <a:srgbClr val="2A2E36"/>
                          </a:solidFill>
                          <a:latin typeface="IBM Plex Sans" pitchFamily="34" charset="0"/>
                          <a:ea typeface="IBM Plex Sans" pitchFamily="34" charset="-122"/>
                          <a:cs typeface="IBM Plex Sans" pitchFamily="34" charset="-120"/>
                        </a:rPr>
                        <a:t>Datos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1BE"/>
                      </a:solidFill>
                      <a:prstDash val="solid"/>
                      <a:round/>
                      <a:headEnd type="none" w="med" len="med"/>
                      <a:tailEnd type="none" w="med" len="med"/>
                    </a:lnL>
                    <a:lnR w="12700" cap="flat" cmpd="sng" algn="ctr">
                      <a:solidFill>
                        <a:srgbClr val="C2C1BE"/>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1BE"/>
                      </a:solidFill>
                      <a:prstDash val="solid"/>
                      <a:round/>
                      <a:headEnd type="none" w="med" len="med"/>
                      <a:tailEnd type="none" w="med" len="med"/>
                    </a:lnB>
                  </a:tcPr>
                </a:tc>
                <a:tc>
                  <a:txBody>
                    <a:bodyPr/>
                    <a:lstStyle/>
                    <a:p>
                      <a:pPr indent="0" marL="0">
                        <a:lnSpc>
                          <a:spcPts val="1960"/>
                        </a:lnSpc>
                        <a:buNone/>
                      </a:pPr>
                      <a:r>
                        <a:rPr lang="en-US" sz="1400" dirty="0">
                          <a:solidFill>
                            <a:srgbClr val="2A2E36"/>
                          </a:solidFill>
                          <a:latin typeface="IBM Plex Sans" pitchFamily="34" charset="0"/>
                          <a:ea typeface="IBM Plex Sans" pitchFamily="34" charset="-122"/>
                          <a:cs typeface="IBM Plex Sans" pitchFamily="34" charset="-120"/>
                        </a:rPr>
                        <a:t>PostgreSQL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1BE"/>
                      </a:solidFill>
                      <a:prstDash val="solid"/>
                      <a:round/>
                      <a:headEnd type="none" w="med" len="med"/>
                      <a:tailEnd type="none" w="med" len="med"/>
                    </a:lnL>
                    <a:lnR w="12700" cap="flat" cmpd="sng" algn="ctr">
                      <a:solidFill>
                        <a:srgbClr val="C2C1BE"/>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1BE"/>
                      </a:solidFill>
                      <a:prstDash val="solid"/>
                      <a:round/>
                      <a:headEnd type="none" w="med" len="med"/>
                      <a:tailEnd type="none" w="med" len="med"/>
                    </a:lnB>
                  </a:tcPr>
                </a:tc>
                <a:tc>
                  <a:txBody>
                    <a:bodyPr/>
                    <a:lstStyle/>
                    <a:p>
                      <a:pPr indent="0" marL="0">
                        <a:lnSpc>
                          <a:spcPts val="1960"/>
                        </a:lnSpc>
                        <a:buNone/>
                      </a:pPr>
                      <a:r>
                        <a:rPr lang="en-US" sz="1400" dirty="0">
                          <a:solidFill>
                            <a:srgbClr val="2A2E36"/>
                          </a:solidFill>
                          <a:latin typeface="IBM Plex Sans" pitchFamily="34" charset="0"/>
                          <a:ea typeface="IBM Plex Sans" pitchFamily="34" charset="-122"/>
                          <a:cs typeface="IBM Plex Sans" pitchFamily="34" charset="-120"/>
                        </a:rPr>
                        <a:t>PostgreSQL + object storage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1BE"/>
                      </a:solidFill>
                      <a:prstDash val="solid"/>
                      <a:round/>
                      <a:headEnd type="none" w="med" len="med"/>
                      <a:tailEnd type="none" w="med" len="med"/>
                    </a:lnL>
                    <a:lnR w="12700" cap="flat" cmpd="sng" algn="ctr">
                      <a:solidFill>
                        <a:srgbClr val="C2C1BE"/>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1BE"/>
                      </a:solidFill>
                      <a:prstDash val="solid"/>
                      <a:round/>
                      <a:headEnd type="none" w="med" len="med"/>
                      <a:tailEnd type="none" w="med" len="med"/>
                    </a:lnB>
                  </a:tcPr>
                </a:tc>
              </a:tr>
              <a:tr h="383935">
                <a:tc>
                  <a:txBody>
                    <a:bodyPr/>
                    <a:lstStyle/>
                    <a:p>
                      <a:pPr indent="0" marL="0">
                        <a:lnSpc>
                          <a:spcPts val="1960"/>
                        </a:lnSpc>
                        <a:buNone/>
                      </a:pPr>
                      <a:r>
                        <a:rPr lang="en-US" sz="1400" dirty="0">
                          <a:solidFill>
                            <a:srgbClr val="2A2E36"/>
                          </a:solidFill>
                          <a:latin typeface="IBM Plex Sans" pitchFamily="34" charset="0"/>
                          <a:ea typeface="IBM Plex Sans" pitchFamily="34" charset="-122"/>
                          <a:cs typeface="IBM Plex Sans" pitchFamily="34" charset="-120"/>
                        </a:rPr>
                        <a:t>Frontend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1BE"/>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1BE"/>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960"/>
                        </a:lnSpc>
                        <a:buNone/>
                      </a:pPr>
                      <a:r>
                        <a:rPr lang="en-US" sz="1400" dirty="0">
                          <a:solidFill>
                            <a:srgbClr val="2A2E36"/>
                          </a:solidFill>
                          <a:latin typeface="IBM Plex Sans" pitchFamily="34" charset="0"/>
                          <a:ea typeface="IBM Plex Sans" pitchFamily="34" charset="-122"/>
                          <a:cs typeface="IBM Plex Sans" pitchFamily="34" charset="-120"/>
                        </a:rPr>
                        <a:t>Next.js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1BE"/>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960"/>
                        </a:lnSpc>
                        <a:buNone/>
                      </a:pPr>
                      <a:r>
                        <a:rPr lang="en-US" sz="1400" dirty="0">
                          <a:solidFill>
                            <a:srgbClr val="2A2E36"/>
                          </a:solidFill>
                          <a:latin typeface="IBM Plex Sans" pitchFamily="34" charset="0"/>
                          <a:ea typeface="IBM Plex Sans" pitchFamily="34" charset="-122"/>
                          <a:cs typeface="IBM Plex Sans" pitchFamily="34" charset="-120"/>
                        </a:rPr>
                        <a:t>Mismo frontend, multi-site / multi-tenant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1BE"/>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383935">
                <a:tc>
                  <a:txBody>
                    <a:bodyPr/>
                    <a:lstStyle/>
                    <a:p>
                      <a:pPr indent="0" marL="0">
                        <a:lnSpc>
                          <a:spcPts val="1960"/>
                        </a:lnSpc>
                        <a:buNone/>
                      </a:pPr>
                      <a:r>
                        <a:rPr lang="en-US" sz="1400" dirty="0">
                          <a:solidFill>
                            <a:srgbClr val="2A2E36"/>
                          </a:solidFill>
                          <a:latin typeface="IBM Plex Sans" pitchFamily="34" charset="0"/>
                          <a:ea typeface="IBM Plex Sans" pitchFamily="34" charset="-122"/>
                          <a:cs typeface="IBM Plex Sans" pitchFamily="34" charset="-120"/>
                        </a:rPr>
                        <a:t>Deploy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1BE"/>
                      </a:solidFill>
                      <a:prstDash val="solid"/>
                      <a:round/>
                      <a:headEnd type="none" w="med" len="med"/>
                      <a:tailEnd type="none" w="med" len="med"/>
                    </a:lnL>
                    <a:lnR w="12700" cap="flat" cmpd="sng" algn="ctr">
                      <a:solidFill>
                        <a:srgbClr val="C2C1BE"/>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1BE"/>
                      </a:solidFill>
                      <a:prstDash val="solid"/>
                      <a:round/>
                      <a:headEnd type="none" w="med" len="med"/>
                      <a:tailEnd type="none" w="med" len="med"/>
                    </a:lnB>
                  </a:tcPr>
                </a:tc>
                <a:tc>
                  <a:txBody>
                    <a:bodyPr/>
                    <a:lstStyle/>
                    <a:p>
                      <a:pPr indent="0" marL="0">
                        <a:lnSpc>
                          <a:spcPts val="1960"/>
                        </a:lnSpc>
                        <a:buNone/>
                      </a:pPr>
                      <a:r>
                        <a:rPr lang="en-US" sz="1400" dirty="0">
                          <a:solidFill>
                            <a:srgbClr val="2A2E36"/>
                          </a:solidFill>
                          <a:latin typeface="IBM Plex Sans" pitchFamily="34" charset="0"/>
                          <a:ea typeface="IBM Plex Sans" pitchFamily="34" charset="-122"/>
                          <a:cs typeface="IBM Plex Sans" pitchFamily="34" charset="-120"/>
                        </a:rPr>
                        <a:t>Docker Compose local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1BE"/>
                      </a:solidFill>
                      <a:prstDash val="solid"/>
                      <a:round/>
                      <a:headEnd type="none" w="med" len="med"/>
                      <a:tailEnd type="none" w="med" len="med"/>
                    </a:lnL>
                    <a:lnR w="12700" cap="flat" cmpd="sng" algn="ctr">
                      <a:solidFill>
                        <a:srgbClr val="C2C1BE"/>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1BE"/>
                      </a:solidFill>
                      <a:prstDash val="solid"/>
                      <a:round/>
                      <a:headEnd type="none" w="med" len="med"/>
                      <a:tailEnd type="none" w="med" len="med"/>
                    </a:lnB>
                  </a:tcPr>
                </a:tc>
                <a:tc>
                  <a:txBody>
                    <a:bodyPr/>
                    <a:lstStyle/>
                    <a:p>
                      <a:pPr indent="0" marL="0">
                        <a:lnSpc>
                          <a:spcPts val="1960"/>
                        </a:lnSpc>
                        <a:buNone/>
                      </a:pPr>
                      <a:r>
                        <a:rPr lang="en-US" sz="1400" dirty="0">
                          <a:solidFill>
                            <a:srgbClr val="2A2E36"/>
                          </a:solidFill>
                          <a:latin typeface="IBM Plex Sans" pitchFamily="34" charset="0"/>
                          <a:ea typeface="IBM Plex Sans" pitchFamily="34" charset="-122"/>
                          <a:cs typeface="IBM Plex Sans" pitchFamily="34" charset="-120"/>
                        </a:rPr>
                        <a:t>Edge node (p. ej. Jetson Orin Nano) + cloud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1BE"/>
                      </a:solidFill>
                      <a:prstDash val="solid"/>
                      <a:round/>
                      <a:headEnd type="none" w="med" len="med"/>
                      <a:tailEnd type="none" w="med" len="med"/>
                    </a:lnL>
                    <a:lnR w="12700" cap="flat" cmpd="sng" algn="ctr">
                      <a:solidFill>
                        <a:srgbClr val="C2C1BE"/>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1BE"/>
                      </a:solidFill>
                      <a:prstDash val="solid"/>
                      <a:round/>
                      <a:headEnd type="none" w="med" len="med"/>
                      <a:tailEnd type="none" w="med" len="med"/>
                    </a:lnB>
                  </a:tcPr>
                </a:tc>
              </a:tr>
            </a:tbl>
          </a:graphicData>
        </a:graphic>
      </p:graphicFrame>
      <p:sp>
        <p:nvSpPr>
          <p:cNvPr id="5" name="Text 2"/>
          <p:cNvSpPr/>
          <p:nvPr/>
        </p:nvSpPr>
        <p:spPr>
          <a:xfrm>
            <a:off x="812767" y="6238295"/>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Hardware demo: laptop 16 GB RAM · webcam 720p o MP4 · GPU opcional</a:t>
            </a:r>
            <a:endParaRPr lang="en-US" sz="1200" dirty="0"/>
          </a:p>
        </p:txBody>
      </p:sp>
      <p:sp>
        <p:nvSpPr>
          <p:cNvPr id="6" name="Text 3"/>
          <p:cNvSpPr/>
          <p:nvPr/>
        </p:nvSpPr>
        <p:spPr>
          <a:xfrm>
            <a:off x="10312433" y="6238295"/>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9E7E1"/>
        </a:solidFill>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4A0C"/>
                </a:solidFill>
                <a:latin typeface="IBM Plex Mono" pitchFamily="34" charset="0"/>
                <a:ea typeface="IBM Plex Mono" pitchFamily="34" charset="-122"/>
                <a:cs typeface="IBM Plex Mono" pitchFamily="34" charset="-120"/>
              </a:rPr>
              <a:t>05 · MODELO YOLO — DATOS</a:t>
            </a:r>
            <a:endParaRPr lang="en-US" sz="1200" dirty="0"/>
          </a:p>
        </p:txBody>
      </p:sp>
      <p:sp>
        <p:nvSpPr>
          <p:cNvPr id="3" name="Text 1"/>
          <p:cNvSpPr/>
          <p:nvPr/>
        </p:nvSpPr>
        <p:spPr>
          <a:xfrm>
            <a:off x="812767" y="1127661"/>
            <a:ext cx="10883460" cy="528274"/>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15181E"/>
                </a:solidFill>
                <a:latin typeface="Space Grotesk" pitchFamily="34" charset="0"/>
                <a:ea typeface="Space Grotesk" pitchFamily="34" charset="-122"/>
                <a:cs typeface="Space Grotesk" pitchFamily="34" charset="-120"/>
              </a:rPr>
              <a:t>¿Con qué datos se entrena?</a:t>
            </a:r>
            <a:endParaRPr lang="en-US" sz="3600" dirty="0"/>
          </a:p>
        </p:txBody>
      </p:sp>
      <p:sp>
        <p:nvSpPr>
          <p:cNvPr id="4" name="Shape 2"/>
          <p:cNvSpPr/>
          <p:nvPr/>
        </p:nvSpPr>
        <p:spPr>
          <a:xfrm>
            <a:off x="815942" y="1989286"/>
            <a:ext cx="3380317" cy="2572139"/>
          </a:xfrm>
          <a:prstGeom prst="roundRect">
            <a:avLst>
              <a:gd name="adj" fmla="val 3827"/>
            </a:avLst>
          </a:prstGeom>
          <a:solidFill>
            <a:srgbClr val="FBFAF7"/>
          </a:solidFill>
          <a:ln w="6350">
            <a:solidFill>
              <a:srgbClr val="D8D5CC"/>
            </a:solidFill>
            <a:prstDash val="solid"/>
          </a:ln>
        </p:spPr>
      </p:sp>
      <p:sp>
        <p:nvSpPr>
          <p:cNvPr id="5" name="Text 3"/>
          <p:cNvSpPr/>
          <p:nvPr/>
        </p:nvSpPr>
        <p:spPr>
          <a:xfrm>
            <a:off x="1072059" y="2245401"/>
            <a:ext cx="29541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Fuente 1 · Construction-PPE</a:t>
            </a:r>
            <a:endParaRPr lang="en-US" sz="1200" dirty="0"/>
          </a:p>
        </p:txBody>
      </p:sp>
      <p:sp>
        <p:nvSpPr>
          <p:cNvPr id="6" name="Text 4"/>
          <p:cNvSpPr/>
          <p:nvPr/>
        </p:nvSpPr>
        <p:spPr>
          <a:xfrm>
            <a:off x="1072059" y="2547606"/>
            <a:ext cx="2954126" cy="41657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5181E"/>
                </a:solidFill>
                <a:latin typeface="Space Grotesk" pitchFamily="34" charset="0"/>
                <a:ea typeface="Space Grotesk" pitchFamily="34" charset="-122"/>
                <a:cs typeface="Space Grotesk" pitchFamily="34" charset="-120"/>
              </a:rPr>
              <a:t>1,416</a:t>
            </a:r>
            <a:endParaRPr lang="en-US" sz="2800" dirty="0"/>
          </a:p>
        </p:txBody>
      </p:sp>
      <p:sp>
        <p:nvSpPr>
          <p:cNvPr id="7" name="Text 5"/>
          <p:cNvSpPr/>
          <p:nvPr/>
        </p:nvSpPr>
        <p:spPr>
          <a:xfrm>
            <a:off x="1072059" y="3027660"/>
            <a:ext cx="2954126"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181E"/>
                </a:solidFill>
                <a:latin typeface="IBM Plex Sans" pitchFamily="34" charset="0"/>
                <a:ea typeface="IBM Plex Sans" pitchFamily="34" charset="-122"/>
                <a:cs typeface="IBM Plex Sans" pitchFamily="34" charset="-120"/>
              </a:rPr>
              <a:t>imágenes · 11 clases</a:t>
            </a:r>
            <a:endParaRPr lang="en-US" sz="1300" dirty="0"/>
          </a:p>
        </p:txBody>
      </p:sp>
      <p:sp>
        <p:nvSpPr>
          <p:cNvPr id="8" name="Text 6"/>
          <p:cNvSpPr/>
          <p:nvPr/>
        </p:nvSpPr>
        <p:spPr>
          <a:xfrm>
            <a:off x="1072059" y="3347681"/>
            <a:ext cx="2954126" cy="74362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4F58"/>
                </a:solidFill>
                <a:latin typeface="IBM Plex Sans" pitchFamily="34" charset="0"/>
                <a:ea typeface="IBM Plex Sans" pitchFamily="34" charset="-122"/>
                <a:cs typeface="IBM Plex Sans" pitchFamily="34" charset="-120"/>
              </a:rPr>
              <a:t>Dataset público de Ultralytics, punto de partida. Para el MVP usamos 3 clases: persona, casco y sin casco.</a:t>
            </a:r>
            <a:endParaRPr lang="en-US" sz="1300" dirty="0"/>
          </a:p>
        </p:txBody>
      </p:sp>
      <p:sp>
        <p:nvSpPr>
          <p:cNvPr id="9" name="Shape 7"/>
          <p:cNvSpPr/>
          <p:nvPr/>
        </p:nvSpPr>
        <p:spPr>
          <a:xfrm>
            <a:off x="4405800" y="1989286"/>
            <a:ext cx="3380358" cy="2572139"/>
          </a:xfrm>
          <a:prstGeom prst="roundRect">
            <a:avLst>
              <a:gd name="adj" fmla="val 3827"/>
            </a:avLst>
          </a:prstGeom>
          <a:solidFill>
            <a:srgbClr val="FBFAF7"/>
          </a:solidFill>
          <a:ln w="6350">
            <a:solidFill>
              <a:srgbClr val="D8D5CC"/>
            </a:solidFill>
            <a:prstDash val="solid"/>
          </a:ln>
        </p:spPr>
      </p:sp>
      <p:sp>
        <p:nvSpPr>
          <p:cNvPr id="10" name="Text 8"/>
          <p:cNvSpPr/>
          <p:nvPr/>
        </p:nvSpPr>
        <p:spPr>
          <a:xfrm>
            <a:off x="4661917" y="2245401"/>
            <a:ext cx="29541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Fuente 2 · Planta objetivo</a:t>
            </a:r>
            <a:endParaRPr lang="en-US" sz="1200" dirty="0"/>
          </a:p>
        </p:txBody>
      </p:sp>
      <p:sp>
        <p:nvSpPr>
          <p:cNvPr id="11" name="Text 9"/>
          <p:cNvSpPr/>
          <p:nvPr/>
        </p:nvSpPr>
        <p:spPr>
          <a:xfrm>
            <a:off x="4661917" y="2547606"/>
            <a:ext cx="2954168" cy="41657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5181E"/>
                </a:solidFill>
                <a:latin typeface="Space Grotesk" pitchFamily="34" charset="0"/>
                <a:ea typeface="Space Grotesk" pitchFamily="34" charset="-122"/>
                <a:cs typeface="Space Grotesk" pitchFamily="34" charset="-120"/>
              </a:rPr>
              <a:t>In situ</a:t>
            </a:r>
            <a:endParaRPr lang="en-US" sz="2800" dirty="0"/>
          </a:p>
        </p:txBody>
      </p:sp>
      <p:sp>
        <p:nvSpPr>
          <p:cNvPr id="12" name="Text 10"/>
          <p:cNvSpPr/>
          <p:nvPr/>
        </p:nvSpPr>
        <p:spPr>
          <a:xfrm>
            <a:off x="4661917" y="3027660"/>
            <a:ext cx="2954168"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181E"/>
                </a:solidFill>
                <a:latin typeface="IBM Plex Sans" pitchFamily="34" charset="0"/>
                <a:ea typeface="IBM Plex Sans" pitchFamily="34" charset="-122"/>
                <a:cs typeface="IBM Plex Sans" pitchFamily="34" charset="-120"/>
              </a:rPr>
              <a:t>ángulo · luz · EPP real</a:t>
            </a:r>
            <a:endParaRPr lang="en-US" sz="1300" dirty="0"/>
          </a:p>
        </p:txBody>
      </p:sp>
      <p:sp>
        <p:nvSpPr>
          <p:cNvPr id="13" name="Text 11"/>
          <p:cNvSpPr/>
          <p:nvPr/>
        </p:nvSpPr>
        <p:spPr>
          <a:xfrm>
            <a:off x="4661917" y="3347681"/>
            <a:ext cx="2954168" cy="98302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4F58"/>
                </a:solidFill>
                <a:latin typeface="IBM Plex Sans" pitchFamily="34" charset="0"/>
                <a:ea typeface="IBM Plex Sans" pitchFamily="34" charset="-122"/>
                <a:cs typeface="IBM Plex Sans" pitchFamily="34" charset="-120"/>
              </a:rPr>
              <a:t>Capturas propias desde la cámara real, en distintos turnos y con el casco usado en planta. Etiquetado en CVAT o Label Studio.</a:t>
            </a:r>
            <a:endParaRPr lang="en-US" sz="1300" dirty="0"/>
          </a:p>
        </p:txBody>
      </p:sp>
      <p:sp>
        <p:nvSpPr>
          <p:cNvPr id="14" name="Shape 12"/>
          <p:cNvSpPr/>
          <p:nvPr/>
        </p:nvSpPr>
        <p:spPr>
          <a:xfrm>
            <a:off x="7992525" y="1986111"/>
            <a:ext cx="3386667" cy="2578489"/>
          </a:xfrm>
          <a:prstGeom prst="roundRect">
            <a:avLst>
              <a:gd name="adj" fmla="val 3940"/>
            </a:avLst>
          </a:prstGeom>
          <a:solidFill>
            <a:srgbClr val="15181E"/>
          </a:solidFill>
          <a:ln/>
        </p:spPr>
      </p:sp>
      <p:sp>
        <p:nvSpPr>
          <p:cNvPr id="15" name="Text 13"/>
          <p:cNvSpPr/>
          <p:nvPr/>
        </p:nvSpPr>
        <p:spPr>
          <a:xfrm>
            <a:off x="8246525" y="2240111"/>
            <a:ext cx="29650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8A3C"/>
                </a:solidFill>
                <a:latin typeface="IBM Plex Mono" pitchFamily="34" charset="0"/>
                <a:ea typeface="IBM Plex Mono" pitchFamily="34" charset="-122"/>
                <a:cs typeface="IBM Plex Mono" pitchFamily="34" charset="-120"/>
              </a:rPr>
              <a:t>Fuente 3 · Set de prueba</a:t>
            </a:r>
            <a:endParaRPr lang="en-US" sz="1200" dirty="0"/>
          </a:p>
        </p:txBody>
      </p:sp>
      <p:sp>
        <p:nvSpPr>
          <p:cNvPr id="16" name="Text 14"/>
          <p:cNvSpPr/>
          <p:nvPr/>
        </p:nvSpPr>
        <p:spPr>
          <a:xfrm>
            <a:off x="8246525" y="2542313"/>
            <a:ext cx="2965027" cy="41657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3F2EE"/>
                </a:solidFill>
                <a:latin typeface="Space Grotesk" pitchFamily="34" charset="0"/>
                <a:ea typeface="Space Grotesk" pitchFamily="34" charset="-122"/>
                <a:cs typeface="Space Grotesk" pitchFamily="34" charset="-120"/>
              </a:rPr>
              <a:t>≥ 30</a:t>
            </a:r>
            <a:endParaRPr lang="en-US" sz="2800" dirty="0"/>
          </a:p>
        </p:txBody>
      </p:sp>
      <p:sp>
        <p:nvSpPr>
          <p:cNvPr id="17" name="Text 15"/>
          <p:cNvSpPr/>
          <p:nvPr/>
        </p:nvSpPr>
        <p:spPr>
          <a:xfrm>
            <a:off x="8246525" y="3022367"/>
            <a:ext cx="2965027"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3F2EE"/>
                </a:solidFill>
                <a:latin typeface="IBM Plex Sans" pitchFamily="34" charset="0"/>
                <a:ea typeface="IBM Plex Sans" pitchFamily="34" charset="-122"/>
                <a:cs typeface="IBM Plex Sans" pitchFamily="34" charset="-120"/>
              </a:rPr>
              <a:t>escenarios controlados</a:t>
            </a:r>
            <a:endParaRPr lang="en-US" sz="1300" dirty="0"/>
          </a:p>
        </p:txBody>
      </p:sp>
      <p:sp>
        <p:nvSpPr>
          <p:cNvPr id="18" name="Text 16"/>
          <p:cNvSpPr/>
          <p:nvPr/>
        </p:nvSpPr>
        <p:spPr>
          <a:xfrm>
            <a:off x="8246525" y="3342388"/>
            <a:ext cx="2965027" cy="98302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CCD2"/>
                </a:solidFill>
                <a:latin typeface="IBM Plex Sans" pitchFamily="34" charset="0"/>
                <a:ea typeface="IBM Plex Sans" pitchFamily="34" charset="-122"/>
                <a:cs typeface="IBM Plex Sans" pitchFamily="34" charset="-120"/>
              </a:rPr>
              <a:t>Con y sin casco, oclusión, distancia y entradas a la zona. Separado del entrenamiento: mide eventos, no frames.</a:t>
            </a:r>
            <a:endParaRPr lang="en-US" sz="1300" dirty="0"/>
          </a:p>
        </p:txBody>
      </p:sp>
      <p:sp>
        <p:nvSpPr>
          <p:cNvPr id="19" name="Shape 17"/>
          <p:cNvSpPr/>
          <p:nvPr/>
        </p:nvSpPr>
        <p:spPr>
          <a:xfrm>
            <a:off x="831817" y="4920171"/>
            <a:ext cx="0" cy="617141"/>
          </a:xfrm>
          <a:prstGeom prst="line">
            <a:avLst/>
          </a:prstGeom>
          <a:noFill/>
          <a:ln w="38100">
            <a:solidFill>
              <a:srgbClr val="E0701F"/>
            </a:solidFill>
            <a:prstDash val="solid"/>
          </a:ln>
        </p:spPr>
      </p:sp>
      <p:sp>
        <p:nvSpPr>
          <p:cNvPr id="20" name="Text 18"/>
          <p:cNvSpPr/>
          <p:nvPr/>
        </p:nvSpPr>
        <p:spPr>
          <a:xfrm>
            <a:off x="1103809" y="4970940"/>
            <a:ext cx="10583687" cy="541007"/>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5181E"/>
                </a:solidFill>
                <a:latin typeface="IBM Plex Sans" pitchFamily="34" charset="0"/>
                <a:ea typeface="IBM Plex Sans" pitchFamily="34" charset="-122"/>
                <a:cs typeface="IBM Plex Sans" pitchFamily="34" charset="-120"/>
              </a:rPr>
              <a:t>Por qué no basta el dataset público:</a:t>
            </a:r>
            <a:r>
              <a:rPr lang="en-US" sz="1400" dirty="0">
                <a:solidFill>
                  <a:srgbClr val="15181E"/>
                </a:solidFill>
                <a:latin typeface="IBM Plex Sans" pitchFamily="34" charset="0"/>
                <a:ea typeface="IBM Plex Sans" pitchFamily="34" charset="-122"/>
                <a:cs typeface="IBM Plex Sans" pitchFamily="34" charset="-120"/>
              </a:rPr>
              <a:t> un modelo entrenado en construcción puede fallar en siderurgia (domain shift). El público acelera; los datos locales validan.</a:t>
            </a:r>
            <a:endParaRPr lang="en-US" sz="1400" dirty="0"/>
          </a:p>
        </p:txBody>
      </p:sp>
      <p:sp>
        <p:nvSpPr>
          <p:cNvPr id="21" name="Text 19"/>
          <p:cNvSpPr/>
          <p:nvPr/>
        </p:nvSpPr>
        <p:spPr>
          <a:xfrm>
            <a:off x="812767" y="6238292"/>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Sin reconocimiento facial · capturas con aviso previo de videovigilancia</a:t>
            </a:r>
            <a:endParaRPr lang="en-US" sz="1200" dirty="0"/>
          </a:p>
        </p:txBody>
      </p:sp>
      <p:sp>
        <p:nvSpPr>
          <p:cNvPr id="22" name="Text 20"/>
          <p:cNvSpPr/>
          <p:nvPr/>
        </p:nvSpPr>
        <p:spPr>
          <a:xfrm>
            <a:off x="10312433" y="6238292"/>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2EE"/>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4A0C"/>
                </a:solidFill>
                <a:latin typeface="IBM Plex Mono" pitchFamily="34" charset="0"/>
                <a:ea typeface="IBM Plex Mono" pitchFamily="34" charset="-122"/>
                <a:cs typeface="IBM Plex Mono" pitchFamily="34" charset="-120"/>
              </a:rPr>
              <a:t>05 · MODELO YOLO — ENTRENAMIENTO</a:t>
            </a:r>
            <a:endParaRPr lang="en-US" sz="1200" dirty="0"/>
          </a:p>
        </p:txBody>
      </p:sp>
      <p:sp>
        <p:nvSpPr>
          <p:cNvPr id="3" name="Text 1"/>
          <p:cNvSpPr/>
          <p:nvPr/>
        </p:nvSpPr>
        <p:spPr>
          <a:xfrm>
            <a:off x="812767" y="1127658"/>
            <a:ext cx="10883460" cy="528274"/>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15181E"/>
                </a:solidFill>
                <a:latin typeface="Space Grotesk" pitchFamily="34" charset="0"/>
                <a:ea typeface="Space Grotesk" pitchFamily="34" charset="-122"/>
                <a:cs typeface="Space Grotesk" pitchFamily="34" charset="-120"/>
              </a:rPr>
              <a:t>Cómo se entrena y se valida</a:t>
            </a:r>
            <a:endParaRPr lang="en-US" sz="3600" dirty="0"/>
          </a:p>
        </p:txBody>
      </p:sp>
      <p:sp>
        <p:nvSpPr>
          <p:cNvPr id="4" name="Shape 2"/>
          <p:cNvSpPr/>
          <p:nvPr/>
        </p:nvSpPr>
        <p:spPr>
          <a:xfrm>
            <a:off x="815942" y="1938474"/>
            <a:ext cx="1865246" cy="1715963"/>
          </a:xfrm>
          <a:prstGeom prst="roundRect">
            <a:avLst>
              <a:gd name="adj" fmla="val 4996"/>
            </a:avLst>
          </a:prstGeom>
          <a:solidFill>
            <a:srgbClr val="FBFAF7"/>
          </a:solidFill>
          <a:ln w="6350">
            <a:solidFill>
              <a:srgbClr val="D8D5CC"/>
            </a:solidFill>
            <a:prstDash val="solid"/>
          </a:ln>
        </p:spPr>
      </p:sp>
      <p:sp>
        <p:nvSpPr>
          <p:cNvPr id="5" name="Text 3"/>
          <p:cNvSpPr/>
          <p:nvPr/>
        </p:nvSpPr>
        <p:spPr>
          <a:xfrm>
            <a:off x="970442" y="2092976"/>
            <a:ext cx="16070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Paso 1</a:t>
            </a:r>
            <a:endParaRPr lang="en-US" sz="1200" dirty="0"/>
          </a:p>
        </p:txBody>
      </p:sp>
      <p:sp>
        <p:nvSpPr>
          <p:cNvPr id="6" name="Text 4"/>
          <p:cNvSpPr/>
          <p:nvPr/>
        </p:nvSpPr>
        <p:spPr>
          <a:xfrm>
            <a:off x="970442" y="2369796"/>
            <a:ext cx="1607046" cy="23876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181E"/>
                </a:solidFill>
                <a:latin typeface="Space Grotesk" pitchFamily="34" charset="0"/>
                <a:ea typeface="Space Grotesk" pitchFamily="34" charset="-122"/>
                <a:cs typeface="Space Grotesk" pitchFamily="34" charset="-120"/>
              </a:rPr>
              <a:t>Base</a:t>
            </a:r>
            <a:endParaRPr lang="en-US" sz="1400" dirty="0"/>
          </a:p>
        </p:txBody>
      </p:sp>
      <p:sp>
        <p:nvSpPr>
          <p:cNvPr id="7" name="Text 5"/>
          <p:cNvSpPr/>
          <p:nvPr/>
        </p:nvSpPr>
        <p:spPr>
          <a:xfrm>
            <a:off x="970442" y="2646660"/>
            <a:ext cx="160704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YOLO nano con pesos preentrenados en COCO.</a:t>
            </a:r>
            <a:endParaRPr lang="en-US" sz="1200" dirty="0"/>
          </a:p>
        </p:txBody>
      </p:sp>
      <p:pic>
        <p:nvPicPr>
          <p:cNvPr id="8" name="Image 0" descr="connector">    </p:cNvPr>
          <p:cNvPicPr>
            <a:picLocks noChangeAspect="1"/>
          </p:cNvPicPr>
          <p:nvPr/>
        </p:nvPicPr>
        <p:blipFill>
          <a:blip r:embed="rId1"/>
          <a:srcRect l="-7" r="-7" t="0" b="0"/>
          <a:stretch/>
        </p:blipFill>
        <p:spPr>
          <a:xfrm>
            <a:off x="2697030" y="2745643"/>
            <a:ext cx="279392" cy="101583"/>
          </a:xfrm>
          <a:prstGeom prst="rect">
            <a:avLst/>
          </a:prstGeom>
        </p:spPr>
      </p:pic>
      <p:sp>
        <p:nvSpPr>
          <p:cNvPr id="9" name="Shape 6"/>
          <p:cNvSpPr/>
          <p:nvPr/>
        </p:nvSpPr>
        <p:spPr>
          <a:xfrm>
            <a:off x="2992264" y="1938474"/>
            <a:ext cx="1865288" cy="1715963"/>
          </a:xfrm>
          <a:prstGeom prst="roundRect">
            <a:avLst>
              <a:gd name="adj" fmla="val 4996"/>
            </a:avLst>
          </a:prstGeom>
          <a:solidFill>
            <a:srgbClr val="FBFAF7"/>
          </a:solidFill>
          <a:ln w="6350">
            <a:solidFill>
              <a:srgbClr val="D8D5CC"/>
            </a:solidFill>
            <a:prstDash val="solid"/>
          </a:ln>
        </p:spPr>
      </p:sp>
      <p:sp>
        <p:nvSpPr>
          <p:cNvPr id="10" name="Text 7"/>
          <p:cNvSpPr/>
          <p:nvPr/>
        </p:nvSpPr>
        <p:spPr>
          <a:xfrm>
            <a:off x="3146764" y="2092976"/>
            <a:ext cx="160708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Paso 2</a:t>
            </a:r>
            <a:endParaRPr lang="en-US" sz="1200" dirty="0"/>
          </a:p>
        </p:txBody>
      </p:sp>
      <p:sp>
        <p:nvSpPr>
          <p:cNvPr id="11" name="Text 8"/>
          <p:cNvSpPr/>
          <p:nvPr/>
        </p:nvSpPr>
        <p:spPr>
          <a:xfrm>
            <a:off x="3146764" y="2369796"/>
            <a:ext cx="1607087" cy="23876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181E"/>
                </a:solidFill>
                <a:latin typeface="Space Grotesk" pitchFamily="34" charset="0"/>
                <a:ea typeface="Space Grotesk" pitchFamily="34" charset="-122"/>
                <a:cs typeface="Space Grotesk" pitchFamily="34" charset="-120"/>
              </a:rPr>
              <a:t>Fine-tuning 1</a:t>
            </a:r>
            <a:endParaRPr lang="en-US" sz="1400" dirty="0"/>
          </a:p>
        </p:txBody>
      </p:sp>
      <p:sp>
        <p:nvSpPr>
          <p:cNvPr id="12" name="Text 9"/>
          <p:cNvSpPr/>
          <p:nvPr/>
        </p:nvSpPr>
        <p:spPr>
          <a:xfrm>
            <a:off x="3146764" y="2646660"/>
            <a:ext cx="1607087"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Construction-PPE, 3 clases, 640 px; aumentos de brillo, blur y flip.</a:t>
            </a:r>
            <a:endParaRPr lang="en-US" sz="1200" dirty="0"/>
          </a:p>
        </p:txBody>
      </p:sp>
      <p:pic>
        <p:nvPicPr>
          <p:cNvPr id="13" name="Image 1" descr="connector">    </p:cNvPr>
          <p:cNvPicPr>
            <a:picLocks noChangeAspect="1"/>
          </p:cNvPicPr>
          <p:nvPr/>
        </p:nvPicPr>
        <p:blipFill>
          <a:blip r:embed="rId2"/>
          <a:srcRect l="-7" r="-7" t="0" b="0"/>
          <a:stretch/>
        </p:blipFill>
        <p:spPr>
          <a:xfrm>
            <a:off x="4873393" y="2745643"/>
            <a:ext cx="279392" cy="101583"/>
          </a:xfrm>
          <a:prstGeom prst="rect">
            <a:avLst/>
          </a:prstGeom>
        </p:spPr>
      </p:pic>
      <p:sp>
        <p:nvSpPr>
          <p:cNvPr id="14" name="Shape 10"/>
          <p:cNvSpPr/>
          <p:nvPr/>
        </p:nvSpPr>
        <p:spPr>
          <a:xfrm>
            <a:off x="5168627" y="1938474"/>
            <a:ext cx="1865288" cy="1715963"/>
          </a:xfrm>
          <a:prstGeom prst="roundRect">
            <a:avLst>
              <a:gd name="adj" fmla="val 4996"/>
            </a:avLst>
          </a:prstGeom>
          <a:solidFill>
            <a:srgbClr val="FBFAF7"/>
          </a:solidFill>
          <a:ln w="6350">
            <a:solidFill>
              <a:srgbClr val="D8D5CC"/>
            </a:solidFill>
            <a:prstDash val="solid"/>
          </a:ln>
        </p:spPr>
      </p:sp>
      <p:sp>
        <p:nvSpPr>
          <p:cNvPr id="15" name="Text 11"/>
          <p:cNvSpPr/>
          <p:nvPr/>
        </p:nvSpPr>
        <p:spPr>
          <a:xfrm>
            <a:off x="5323127" y="2092976"/>
            <a:ext cx="160708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Paso 3</a:t>
            </a:r>
            <a:endParaRPr lang="en-US" sz="1200" dirty="0"/>
          </a:p>
        </p:txBody>
      </p:sp>
      <p:sp>
        <p:nvSpPr>
          <p:cNvPr id="16" name="Text 12"/>
          <p:cNvSpPr/>
          <p:nvPr/>
        </p:nvSpPr>
        <p:spPr>
          <a:xfrm>
            <a:off x="5323127" y="2369796"/>
            <a:ext cx="1607087" cy="23876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181E"/>
                </a:solidFill>
                <a:latin typeface="Space Grotesk" pitchFamily="34" charset="0"/>
                <a:ea typeface="Space Grotesk" pitchFamily="34" charset="-122"/>
                <a:cs typeface="Space Grotesk" pitchFamily="34" charset="-120"/>
              </a:rPr>
              <a:t>Fine-tuning 2</a:t>
            </a:r>
            <a:endParaRPr lang="en-US" sz="1400" dirty="0"/>
          </a:p>
        </p:txBody>
      </p:sp>
      <p:sp>
        <p:nvSpPr>
          <p:cNvPr id="17" name="Text 13"/>
          <p:cNvSpPr/>
          <p:nvPr/>
        </p:nvSpPr>
        <p:spPr>
          <a:xfrm>
            <a:off x="5323127" y="2646660"/>
            <a:ext cx="160708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Se suman imágenes locales para corregir el domain shift.</a:t>
            </a:r>
            <a:endParaRPr lang="en-US" sz="1200" dirty="0"/>
          </a:p>
        </p:txBody>
      </p:sp>
      <p:pic>
        <p:nvPicPr>
          <p:cNvPr id="18" name="Image 2" descr="connector">    </p:cNvPr>
          <p:cNvPicPr>
            <a:picLocks noChangeAspect="1"/>
          </p:cNvPicPr>
          <p:nvPr/>
        </p:nvPicPr>
        <p:blipFill>
          <a:blip r:embed="rId3"/>
          <a:srcRect l="-7" r="-7" t="0" b="0"/>
          <a:stretch/>
        </p:blipFill>
        <p:spPr>
          <a:xfrm>
            <a:off x="7049757" y="2745643"/>
            <a:ext cx="279392" cy="101583"/>
          </a:xfrm>
          <a:prstGeom prst="rect">
            <a:avLst/>
          </a:prstGeom>
        </p:spPr>
      </p:pic>
      <p:sp>
        <p:nvSpPr>
          <p:cNvPr id="19" name="Shape 14"/>
          <p:cNvSpPr/>
          <p:nvPr/>
        </p:nvSpPr>
        <p:spPr>
          <a:xfrm>
            <a:off x="7344990" y="1938474"/>
            <a:ext cx="1865288" cy="1715963"/>
          </a:xfrm>
          <a:prstGeom prst="roundRect">
            <a:avLst>
              <a:gd name="adj" fmla="val 4996"/>
            </a:avLst>
          </a:prstGeom>
          <a:solidFill>
            <a:srgbClr val="FBFAF7"/>
          </a:solidFill>
          <a:ln w="6350">
            <a:solidFill>
              <a:srgbClr val="D8D5CC"/>
            </a:solidFill>
            <a:prstDash val="solid"/>
          </a:ln>
        </p:spPr>
      </p:sp>
      <p:sp>
        <p:nvSpPr>
          <p:cNvPr id="20" name="Text 15"/>
          <p:cNvSpPr/>
          <p:nvPr/>
        </p:nvSpPr>
        <p:spPr>
          <a:xfrm>
            <a:off x="7499490" y="2092976"/>
            <a:ext cx="160708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Paso 4</a:t>
            </a:r>
            <a:endParaRPr lang="en-US" sz="1200" dirty="0"/>
          </a:p>
        </p:txBody>
      </p:sp>
      <p:sp>
        <p:nvSpPr>
          <p:cNvPr id="21" name="Text 16"/>
          <p:cNvSpPr/>
          <p:nvPr/>
        </p:nvSpPr>
        <p:spPr>
          <a:xfrm>
            <a:off x="7499490" y="2369796"/>
            <a:ext cx="1607087" cy="23876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181E"/>
                </a:solidFill>
                <a:latin typeface="Space Grotesk" pitchFamily="34" charset="0"/>
                <a:ea typeface="Space Grotesk" pitchFamily="34" charset="-122"/>
                <a:cs typeface="Space Grotesk" pitchFamily="34" charset="-120"/>
              </a:rPr>
              <a:t>Calibración</a:t>
            </a:r>
            <a:endParaRPr lang="en-US" sz="1400" dirty="0"/>
          </a:p>
        </p:txBody>
      </p:sp>
      <p:sp>
        <p:nvSpPr>
          <p:cNvPr id="22" name="Text 17"/>
          <p:cNvSpPr/>
          <p:nvPr/>
        </p:nvSpPr>
        <p:spPr>
          <a:xfrm>
            <a:off x="7499490" y="2646660"/>
            <a:ext cx="160708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Umbral por clase, ventana de N frames y cooldown.</a:t>
            </a:r>
            <a:endParaRPr lang="en-US" sz="1200" dirty="0"/>
          </a:p>
        </p:txBody>
      </p:sp>
      <p:pic>
        <p:nvPicPr>
          <p:cNvPr id="23" name="Image 3" descr="connector">    </p:cNvPr>
          <p:cNvPicPr>
            <a:picLocks noChangeAspect="1"/>
          </p:cNvPicPr>
          <p:nvPr/>
        </p:nvPicPr>
        <p:blipFill>
          <a:blip r:embed="rId4"/>
          <a:srcRect l="-7" r="-7" t="0" b="0"/>
          <a:stretch/>
        </p:blipFill>
        <p:spPr>
          <a:xfrm>
            <a:off x="9226120" y="2745643"/>
            <a:ext cx="279392" cy="101583"/>
          </a:xfrm>
          <a:prstGeom prst="rect">
            <a:avLst/>
          </a:prstGeom>
        </p:spPr>
      </p:pic>
      <p:sp>
        <p:nvSpPr>
          <p:cNvPr id="24" name="Shape 18"/>
          <p:cNvSpPr/>
          <p:nvPr/>
        </p:nvSpPr>
        <p:spPr>
          <a:xfrm>
            <a:off x="9518179" y="1935299"/>
            <a:ext cx="1861054" cy="1722313"/>
          </a:xfrm>
          <a:prstGeom prst="roundRect">
            <a:avLst>
              <a:gd name="adj" fmla="val 5162"/>
            </a:avLst>
          </a:prstGeom>
          <a:solidFill>
            <a:srgbClr val="15181E"/>
          </a:solidFill>
          <a:ln/>
        </p:spPr>
      </p:sp>
      <p:sp>
        <p:nvSpPr>
          <p:cNvPr id="25" name="Text 19"/>
          <p:cNvSpPr/>
          <p:nvPr/>
        </p:nvSpPr>
        <p:spPr>
          <a:xfrm>
            <a:off x="9670562" y="2087687"/>
            <a:ext cx="160708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8A3C"/>
                </a:solidFill>
                <a:latin typeface="IBM Plex Mono" pitchFamily="34" charset="0"/>
                <a:ea typeface="IBM Plex Mono" pitchFamily="34" charset="-122"/>
                <a:cs typeface="IBM Plex Mono" pitchFamily="34" charset="-120"/>
              </a:rPr>
              <a:t>Paso 5</a:t>
            </a:r>
            <a:endParaRPr lang="en-US" sz="1200" dirty="0"/>
          </a:p>
        </p:txBody>
      </p:sp>
      <p:sp>
        <p:nvSpPr>
          <p:cNvPr id="26" name="Text 20"/>
          <p:cNvSpPr/>
          <p:nvPr/>
        </p:nvSpPr>
        <p:spPr>
          <a:xfrm>
            <a:off x="9670562" y="2364507"/>
            <a:ext cx="1607087" cy="23876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3F2EE"/>
                </a:solidFill>
                <a:latin typeface="Space Grotesk" pitchFamily="34" charset="0"/>
                <a:ea typeface="Space Grotesk" pitchFamily="34" charset="-122"/>
                <a:cs typeface="Space Grotesk" pitchFamily="34" charset="-120"/>
              </a:rPr>
              <a:t>Evaluación</a:t>
            </a:r>
            <a:endParaRPr lang="en-US" sz="1400" dirty="0"/>
          </a:p>
        </p:txBody>
      </p:sp>
      <p:sp>
        <p:nvSpPr>
          <p:cNvPr id="27" name="Text 21"/>
          <p:cNvSpPr/>
          <p:nvPr/>
        </p:nvSpPr>
        <p:spPr>
          <a:xfrm>
            <a:off x="9670562" y="2641364"/>
            <a:ext cx="1607087"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2"/>
                </a:solidFill>
                <a:latin typeface="IBM Plex Sans" pitchFamily="34" charset="0"/>
                <a:ea typeface="IBM Plex Sans" pitchFamily="34" charset="-122"/>
                <a:cs typeface="IBM Plex Sans" pitchFamily="34" charset="-120"/>
              </a:rPr>
              <a:t>mAP por clase y precisión / recall por evento en los 30 escenarios.</a:t>
            </a:r>
            <a:endParaRPr lang="en-US" sz="1200" dirty="0"/>
          </a:p>
        </p:txBody>
      </p:sp>
      <p:sp>
        <p:nvSpPr>
          <p:cNvPr id="28" name="Shape 22"/>
          <p:cNvSpPr/>
          <p:nvPr/>
        </p:nvSpPr>
        <p:spPr>
          <a:xfrm>
            <a:off x="815942" y="3965556"/>
            <a:ext cx="5175266" cy="1462005"/>
          </a:xfrm>
          <a:prstGeom prst="roundRect">
            <a:avLst>
              <a:gd name="adj" fmla="val 6732"/>
            </a:avLst>
          </a:prstGeom>
          <a:solidFill>
            <a:srgbClr val="FBFAF7"/>
          </a:solidFill>
          <a:ln w="6350">
            <a:solidFill>
              <a:srgbClr val="D8D5CC"/>
            </a:solidFill>
            <a:prstDash val="solid"/>
          </a:ln>
        </p:spPr>
      </p:sp>
      <p:sp>
        <p:nvSpPr>
          <p:cNvPr id="29" name="Text 23"/>
          <p:cNvSpPr/>
          <p:nvPr/>
        </p:nvSpPr>
        <p:spPr>
          <a:xfrm>
            <a:off x="1021250" y="4170865"/>
            <a:ext cx="49075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Dónde corre</a:t>
            </a:r>
            <a:endParaRPr lang="en-US" sz="1200" dirty="0"/>
          </a:p>
        </p:txBody>
      </p:sp>
      <p:sp>
        <p:nvSpPr>
          <p:cNvPr id="30" name="Text 24"/>
          <p:cNvSpPr/>
          <p:nvPr/>
        </p:nvSpPr>
        <p:spPr>
          <a:xfrm>
            <a:off x="1021250" y="4460379"/>
            <a:ext cx="490758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E"/>
                </a:solidFill>
                <a:latin typeface="Space Grotesk" pitchFamily="34" charset="0"/>
                <a:ea typeface="Space Grotesk" pitchFamily="34" charset="-122"/>
                <a:cs typeface="Space Grotesk" pitchFamily="34" charset="-120"/>
              </a:rPr>
              <a:t>GPU para entrenar, laptop para inferir</a:t>
            </a:r>
            <a:endParaRPr lang="en-US" sz="1600" dirty="0"/>
          </a:p>
        </p:txBody>
      </p:sp>
      <p:sp>
        <p:nvSpPr>
          <p:cNvPr id="31" name="Text 25"/>
          <p:cNvSpPr/>
          <p:nvPr/>
        </p:nvSpPr>
        <p:spPr>
          <a:xfrm>
            <a:off x="1021250" y="4780397"/>
            <a:ext cx="4907589" cy="46725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4F58"/>
                </a:solidFill>
                <a:latin typeface="IBM Plex Sans" pitchFamily="34" charset="0"/>
                <a:ea typeface="IBM Plex Sans" pitchFamily="34" charset="-122"/>
                <a:cs typeface="IBM Plex Sans" pitchFamily="34" charset="-120"/>
              </a:rPr>
              <a:t>Entrenamos en GPU (local o en la nube). La demo infiere en CPU o Apple Silicon; luego se exporta a ONNX / TensorRT para edge.</a:t>
            </a:r>
            <a:endParaRPr lang="en-US" sz="1200" dirty="0"/>
          </a:p>
        </p:txBody>
      </p:sp>
      <p:sp>
        <p:nvSpPr>
          <p:cNvPr id="32" name="Shape 26"/>
          <p:cNvSpPr/>
          <p:nvPr/>
        </p:nvSpPr>
        <p:spPr>
          <a:xfrm>
            <a:off x="6200750" y="3965556"/>
            <a:ext cx="5175308" cy="1462005"/>
          </a:xfrm>
          <a:prstGeom prst="roundRect">
            <a:avLst>
              <a:gd name="adj" fmla="val 6732"/>
            </a:avLst>
          </a:prstGeom>
          <a:solidFill>
            <a:srgbClr val="FBFAF7"/>
          </a:solidFill>
          <a:ln w="6350">
            <a:solidFill>
              <a:srgbClr val="D8D5CC"/>
            </a:solidFill>
            <a:prstDash val="solid"/>
          </a:ln>
        </p:spPr>
      </p:sp>
      <p:sp>
        <p:nvSpPr>
          <p:cNvPr id="33" name="Text 27"/>
          <p:cNvSpPr/>
          <p:nvPr/>
        </p:nvSpPr>
        <p:spPr>
          <a:xfrm>
            <a:off x="6406059" y="4170865"/>
            <a:ext cx="49076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Qué medimos</a:t>
            </a:r>
            <a:endParaRPr lang="en-US" sz="1200" dirty="0"/>
          </a:p>
        </p:txBody>
      </p:sp>
      <p:sp>
        <p:nvSpPr>
          <p:cNvPr id="34" name="Text 28"/>
          <p:cNvSpPr/>
          <p:nvPr/>
        </p:nvSpPr>
        <p:spPr>
          <a:xfrm>
            <a:off x="6406059" y="4460379"/>
            <a:ext cx="490763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E"/>
                </a:solidFill>
                <a:latin typeface="Space Grotesk" pitchFamily="34" charset="0"/>
                <a:ea typeface="Space Grotesk" pitchFamily="34" charset="-122"/>
                <a:cs typeface="Space Grotesk" pitchFamily="34" charset="-120"/>
              </a:rPr>
              <a:t>Modelo ≠ producto</a:t>
            </a:r>
            <a:endParaRPr lang="en-US" sz="1600" dirty="0"/>
          </a:p>
        </p:txBody>
      </p:sp>
      <p:sp>
        <p:nvSpPr>
          <p:cNvPr id="35" name="Text 29"/>
          <p:cNvSpPr/>
          <p:nvPr/>
        </p:nvSpPr>
        <p:spPr>
          <a:xfrm>
            <a:off x="6406059" y="4780397"/>
            <a:ext cx="4907632" cy="46725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4F58"/>
                </a:solidFill>
                <a:latin typeface="IBM Plex Sans" pitchFamily="34" charset="0"/>
                <a:ea typeface="IBM Plex Sans" pitchFamily="34" charset="-122"/>
                <a:cs typeface="IBM Plex Sans" pitchFamily="34" charset="-120"/>
              </a:rPr>
              <a:t>mAP@0.5 dice si el detector ve cascos. Precisión y recall por evento dicen si el supervisor recibe alertas confiables.</a:t>
            </a:r>
            <a:endParaRPr lang="en-US" sz="1200" dirty="0"/>
          </a:p>
        </p:txBody>
      </p:sp>
      <p:sp>
        <p:nvSpPr>
          <p:cNvPr id="36" name="Text 30"/>
          <p:cNvSpPr/>
          <p:nvPr/>
        </p:nvSpPr>
        <p:spPr>
          <a:xfrm>
            <a:off x="812767" y="6238292"/>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Hiperparámetros iniciales: propuesta del equipo, ajustables</a:t>
            </a:r>
            <a:endParaRPr lang="en-US" sz="1200" dirty="0"/>
          </a:p>
        </p:txBody>
      </p:sp>
      <p:sp>
        <p:nvSpPr>
          <p:cNvPr id="37" name="Text 31"/>
          <p:cNvSpPr/>
          <p:nvPr/>
        </p:nvSpPr>
        <p:spPr>
          <a:xfrm>
            <a:off x="10312433" y="6238292"/>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2EE"/>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4A0C"/>
                </a:solidFill>
                <a:latin typeface="IBM Plex Mono" pitchFamily="34" charset="0"/>
                <a:ea typeface="IBM Plex Mono" pitchFamily="34" charset="-122"/>
                <a:cs typeface="IBM Plex Mono" pitchFamily="34" charset="-120"/>
              </a:rPr>
              <a:t>06 · CRITERIOS DE ÉXITO DEL MVP</a:t>
            </a:r>
            <a:endParaRPr lang="en-US" sz="1200" dirty="0"/>
          </a:p>
        </p:txBody>
      </p:sp>
      <p:sp>
        <p:nvSpPr>
          <p:cNvPr id="3" name="Text 1"/>
          <p:cNvSpPr/>
          <p:nvPr/>
        </p:nvSpPr>
        <p:spPr>
          <a:xfrm>
            <a:off x="812767" y="1127658"/>
            <a:ext cx="10883460" cy="528274"/>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15181E"/>
                </a:solidFill>
                <a:latin typeface="Space Grotesk" pitchFamily="34" charset="0"/>
                <a:ea typeface="Space Grotesk" pitchFamily="34" charset="-122"/>
                <a:cs typeface="Space Grotesk" pitchFamily="34" charset="-120"/>
              </a:rPr>
              <a:t>Cómo sabremos que funciona</a:t>
            </a:r>
            <a:endParaRPr lang="en-US" sz="3600" dirty="0"/>
          </a:p>
        </p:txBody>
      </p:sp>
      <p:sp>
        <p:nvSpPr>
          <p:cNvPr id="4" name="Shape 2"/>
          <p:cNvSpPr/>
          <p:nvPr/>
        </p:nvSpPr>
        <p:spPr>
          <a:xfrm>
            <a:off x="812767" y="1986111"/>
            <a:ext cx="3420566" cy="1646163"/>
          </a:xfrm>
          <a:prstGeom prst="roundRect">
            <a:avLst>
              <a:gd name="adj" fmla="val 6172"/>
            </a:avLst>
          </a:prstGeom>
          <a:solidFill>
            <a:srgbClr val="15181E"/>
          </a:solidFill>
          <a:ln/>
        </p:spPr>
      </p:sp>
      <p:sp>
        <p:nvSpPr>
          <p:cNvPr id="5" name="Text 3"/>
          <p:cNvSpPr/>
          <p:nvPr/>
        </p:nvSpPr>
        <p:spPr>
          <a:xfrm>
            <a:off x="1041342" y="2214687"/>
            <a:ext cx="3052318"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08A3C"/>
                </a:solidFill>
                <a:latin typeface="Space Grotesk" pitchFamily="34" charset="0"/>
                <a:ea typeface="Space Grotesk" pitchFamily="34" charset="-122"/>
                <a:cs typeface="Space Grotesk" pitchFamily="34" charset="-120"/>
              </a:rPr>
              <a:t>≥ 80%</a:t>
            </a:r>
            <a:endParaRPr lang="en-US" sz="4400" dirty="0"/>
          </a:p>
        </p:txBody>
      </p:sp>
      <p:sp>
        <p:nvSpPr>
          <p:cNvPr id="6" name="Text 4"/>
          <p:cNvSpPr/>
          <p:nvPr/>
        </p:nvSpPr>
        <p:spPr>
          <a:xfrm>
            <a:off x="1041342" y="2880109"/>
            <a:ext cx="3052318" cy="27431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3F2EE"/>
                </a:solidFill>
                <a:latin typeface="IBM Plex Sans" pitchFamily="34" charset="0"/>
                <a:ea typeface="IBM Plex Sans" pitchFamily="34" charset="-122"/>
                <a:cs typeface="IBM Plex Sans" pitchFamily="34" charset="-120"/>
              </a:rPr>
              <a:t>Eventos accionables</a:t>
            </a:r>
            <a:endParaRPr lang="en-US" sz="1400" dirty="0"/>
          </a:p>
        </p:txBody>
      </p:sp>
      <p:sp>
        <p:nvSpPr>
          <p:cNvPr id="7" name="Text 5"/>
          <p:cNvSpPr/>
          <p:nvPr/>
        </p:nvSpPr>
        <p:spPr>
          <a:xfrm>
            <a:off x="1041342" y="3179794"/>
            <a:ext cx="30523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2"/>
                </a:solidFill>
                <a:latin typeface="IBM Plex Sans" pitchFamily="34" charset="0"/>
                <a:ea typeface="IBM Plex Sans" pitchFamily="34" charset="-122"/>
                <a:cs typeface="IBM Plex Sans" pitchFamily="34" charset="-120"/>
              </a:rPr>
              <a:t>según el usuario evaluador</a:t>
            </a:r>
            <a:endParaRPr lang="en-US" sz="1200" dirty="0"/>
          </a:p>
        </p:txBody>
      </p:sp>
      <p:sp>
        <p:nvSpPr>
          <p:cNvPr id="8" name="Shape 6"/>
          <p:cNvSpPr/>
          <p:nvPr/>
        </p:nvSpPr>
        <p:spPr>
          <a:xfrm>
            <a:off x="4388892" y="1989286"/>
            <a:ext cx="3414216" cy="1639813"/>
          </a:xfrm>
          <a:prstGeom prst="roundRect">
            <a:avLst>
              <a:gd name="adj" fmla="val 6002"/>
            </a:avLst>
          </a:prstGeom>
          <a:solidFill>
            <a:srgbClr val="FBFAF7"/>
          </a:solidFill>
          <a:ln w="6350">
            <a:solidFill>
              <a:srgbClr val="D8D5CC"/>
            </a:solidFill>
            <a:prstDash val="solid"/>
          </a:ln>
        </p:spPr>
      </p:sp>
      <p:sp>
        <p:nvSpPr>
          <p:cNvPr id="9" name="Text 7"/>
          <p:cNvSpPr/>
          <p:nvPr/>
        </p:nvSpPr>
        <p:spPr>
          <a:xfrm>
            <a:off x="4619584" y="2219976"/>
            <a:ext cx="3041418"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A84A0C"/>
                </a:solidFill>
                <a:latin typeface="Space Grotesk" pitchFamily="34" charset="0"/>
                <a:ea typeface="Space Grotesk" pitchFamily="34" charset="-122"/>
                <a:cs typeface="Space Grotesk" pitchFamily="34" charset="-120"/>
              </a:rPr>
              <a:t>≤ 5 s</a:t>
            </a:r>
            <a:endParaRPr lang="en-US" sz="4400" dirty="0"/>
          </a:p>
        </p:txBody>
      </p:sp>
      <p:sp>
        <p:nvSpPr>
          <p:cNvPr id="10" name="Text 8"/>
          <p:cNvSpPr/>
          <p:nvPr/>
        </p:nvSpPr>
        <p:spPr>
          <a:xfrm>
            <a:off x="4619584" y="2885405"/>
            <a:ext cx="3041418" cy="27431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5181E"/>
                </a:solidFill>
                <a:latin typeface="IBM Plex Sans" pitchFamily="34" charset="0"/>
                <a:ea typeface="IBM Plex Sans" pitchFamily="34" charset="-122"/>
                <a:cs typeface="IBM Plex Sans" pitchFamily="34" charset="-120"/>
              </a:rPr>
              <a:t>Latencia</a:t>
            </a:r>
            <a:endParaRPr lang="en-US" sz="1400" dirty="0"/>
          </a:p>
        </p:txBody>
      </p:sp>
      <p:sp>
        <p:nvSpPr>
          <p:cNvPr id="11" name="Text 9"/>
          <p:cNvSpPr/>
          <p:nvPr/>
        </p:nvSpPr>
        <p:spPr>
          <a:xfrm>
            <a:off x="4619584" y="3185083"/>
            <a:ext cx="30414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de la regla al dashboard</a:t>
            </a:r>
            <a:endParaRPr lang="en-US" sz="1200" dirty="0"/>
          </a:p>
        </p:txBody>
      </p:sp>
      <p:sp>
        <p:nvSpPr>
          <p:cNvPr id="12" name="Shape 10"/>
          <p:cNvSpPr/>
          <p:nvPr/>
        </p:nvSpPr>
        <p:spPr>
          <a:xfrm>
            <a:off x="7961841" y="1989286"/>
            <a:ext cx="3414216" cy="1639813"/>
          </a:xfrm>
          <a:prstGeom prst="roundRect">
            <a:avLst>
              <a:gd name="adj" fmla="val 6002"/>
            </a:avLst>
          </a:prstGeom>
          <a:solidFill>
            <a:srgbClr val="FBFAF7"/>
          </a:solidFill>
          <a:ln w="6350">
            <a:solidFill>
              <a:srgbClr val="D8D5CC"/>
            </a:solidFill>
            <a:prstDash val="solid"/>
          </a:ln>
        </p:spPr>
      </p:sp>
      <p:sp>
        <p:nvSpPr>
          <p:cNvPr id="13" name="Text 11"/>
          <p:cNvSpPr/>
          <p:nvPr/>
        </p:nvSpPr>
        <p:spPr>
          <a:xfrm>
            <a:off x="8192533" y="2219976"/>
            <a:ext cx="3041418"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A84A0C"/>
                </a:solidFill>
                <a:latin typeface="Space Grotesk" pitchFamily="34" charset="0"/>
                <a:ea typeface="Space Grotesk" pitchFamily="34" charset="-122"/>
                <a:cs typeface="Space Grotesk" pitchFamily="34" charset="-120"/>
              </a:rPr>
              <a:t>≥ 90%</a:t>
            </a:r>
            <a:endParaRPr lang="en-US" sz="4400" dirty="0"/>
          </a:p>
        </p:txBody>
      </p:sp>
      <p:sp>
        <p:nvSpPr>
          <p:cNvPr id="14" name="Text 12"/>
          <p:cNvSpPr/>
          <p:nvPr/>
        </p:nvSpPr>
        <p:spPr>
          <a:xfrm>
            <a:off x="8192533" y="2885405"/>
            <a:ext cx="3041418" cy="27431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5181E"/>
                </a:solidFill>
                <a:latin typeface="IBM Plex Sans" pitchFamily="34" charset="0"/>
                <a:ea typeface="IBM Plex Sans" pitchFamily="34" charset="-122"/>
                <a:cs typeface="IBM Plex Sans" pitchFamily="34" charset="-120"/>
              </a:rPr>
              <a:t>Precisión de evento</a:t>
            </a:r>
            <a:endParaRPr lang="en-US" sz="1400" dirty="0"/>
          </a:p>
        </p:txBody>
      </p:sp>
      <p:sp>
        <p:nvSpPr>
          <p:cNvPr id="15" name="Text 13"/>
          <p:cNvSpPr/>
          <p:nvPr/>
        </p:nvSpPr>
        <p:spPr>
          <a:xfrm>
            <a:off x="8192533" y="3185083"/>
            <a:ext cx="30414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en un set de ≥ 30 escenarios</a:t>
            </a:r>
            <a:endParaRPr lang="en-US" sz="1200" dirty="0"/>
          </a:p>
        </p:txBody>
      </p:sp>
      <p:sp>
        <p:nvSpPr>
          <p:cNvPr id="16" name="Shape 14"/>
          <p:cNvSpPr/>
          <p:nvPr/>
        </p:nvSpPr>
        <p:spPr>
          <a:xfrm>
            <a:off x="815942" y="3787831"/>
            <a:ext cx="3414216" cy="1639813"/>
          </a:xfrm>
          <a:prstGeom prst="roundRect">
            <a:avLst>
              <a:gd name="adj" fmla="val 6002"/>
            </a:avLst>
          </a:prstGeom>
          <a:solidFill>
            <a:srgbClr val="FBFAF7"/>
          </a:solidFill>
          <a:ln w="6350">
            <a:solidFill>
              <a:srgbClr val="D8D5CC"/>
            </a:solidFill>
            <a:prstDash val="solid"/>
          </a:ln>
        </p:spPr>
      </p:sp>
      <p:sp>
        <p:nvSpPr>
          <p:cNvPr id="17" name="Text 15"/>
          <p:cNvSpPr/>
          <p:nvPr/>
        </p:nvSpPr>
        <p:spPr>
          <a:xfrm>
            <a:off x="1046634" y="4018521"/>
            <a:ext cx="3041418"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A84A0C"/>
                </a:solidFill>
                <a:latin typeface="Space Grotesk" pitchFamily="34" charset="0"/>
                <a:ea typeface="Space Grotesk" pitchFamily="34" charset="-122"/>
                <a:cs typeface="Space Grotesk" pitchFamily="34" charset="-120"/>
              </a:rPr>
              <a:t>≥ 85%</a:t>
            </a:r>
            <a:endParaRPr lang="en-US" sz="4400" dirty="0"/>
          </a:p>
        </p:txBody>
      </p:sp>
      <p:sp>
        <p:nvSpPr>
          <p:cNvPr id="18" name="Text 16"/>
          <p:cNvSpPr/>
          <p:nvPr/>
        </p:nvSpPr>
        <p:spPr>
          <a:xfrm>
            <a:off x="1046634" y="4683950"/>
            <a:ext cx="3041418" cy="27431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5181E"/>
                </a:solidFill>
                <a:latin typeface="IBM Plex Sans" pitchFamily="34" charset="0"/>
                <a:ea typeface="IBM Plex Sans" pitchFamily="34" charset="-122"/>
                <a:cs typeface="IBM Plex Sans" pitchFamily="34" charset="-120"/>
              </a:rPr>
              <a:t>Recall de evento</a:t>
            </a:r>
            <a:endParaRPr lang="en-US" sz="1400" dirty="0"/>
          </a:p>
        </p:txBody>
      </p:sp>
      <p:sp>
        <p:nvSpPr>
          <p:cNvPr id="19" name="Text 17"/>
          <p:cNvSpPr/>
          <p:nvPr/>
        </p:nvSpPr>
        <p:spPr>
          <a:xfrm>
            <a:off x="1046634" y="4983634"/>
            <a:ext cx="30414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en el mismo set de prueba</a:t>
            </a:r>
            <a:endParaRPr lang="en-US" sz="1200" dirty="0"/>
          </a:p>
        </p:txBody>
      </p:sp>
      <p:sp>
        <p:nvSpPr>
          <p:cNvPr id="20" name="Shape 18"/>
          <p:cNvSpPr/>
          <p:nvPr/>
        </p:nvSpPr>
        <p:spPr>
          <a:xfrm>
            <a:off x="4388892" y="3787831"/>
            <a:ext cx="3414216" cy="1639813"/>
          </a:xfrm>
          <a:prstGeom prst="roundRect">
            <a:avLst>
              <a:gd name="adj" fmla="val 6002"/>
            </a:avLst>
          </a:prstGeom>
          <a:solidFill>
            <a:srgbClr val="FBFAF7"/>
          </a:solidFill>
          <a:ln w="6350">
            <a:solidFill>
              <a:srgbClr val="D8D5CC"/>
            </a:solidFill>
            <a:prstDash val="solid"/>
          </a:ln>
        </p:spPr>
      </p:sp>
      <p:sp>
        <p:nvSpPr>
          <p:cNvPr id="21" name="Text 19"/>
          <p:cNvSpPr/>
          <p:nvPr/>
        </p:nvSpPr>
        <p:spPr>
          <a:xfrm>
            <a:off x="4619584" y="4018521"/>
            <a:ext cx="3041418"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A84A0C"/>
                </a:solidFill>
                <a:latin typeface="Space Grotesk" pitchFamily="34" charset="0"/>
                <a:ea typeface="Space Grotesk" pitchFamily="34" charset="-122"/>
                <a:cs typeface="Space Grotesk" pitchFamily="34" charset="-120"/>
              </a:rPr>
              <a:t>1</a:t>
            </a:r>
            <a:endParaRPr lang="en-US" sz="4400" dirty="0"/>
          </a:p>
        </p:txBody>
      </p:sp>
      <p:sp>
        <p:nvSpPr>
          <p:cNvPr id="22" name="Text 20"/>
          <p:cNvSpPr/>
          <p:nvPr/>
        </p:nvSpPr>
        <p:spPr>
          <a:xfrm>
            <a:off x="4619584" y="4683950"/>
            <a:ext cx="3041418" cy="27431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5181E"/>
                </a:solidFill>
                <a:latin typeface="IBM Plex Sans" pitchFamily="34" charset="0"/>
                <a:ea typeface="IBM Plex Sans" pitchFamily="34" charset="-122"/>
                <a:cs typeface="IBM Plex Sans" pitchFamily="34" charset="-120"/>
              </a:rPr>
              <a:t>Evento por persona y regla</a:t>
            </a:r>
            <a:endParaRPr lang="en-US" sz="1400" dirty="0"/>
          </a:p>
        </p:txBody>
      </p:sp>
      <p:sp>
        <p:nvSpPr>
          <p:cNvPr id="23" name="Text 21"/>
          <p:cNvSpPr/>
          <p:nvPr/>
        </p:nvSpPr>
        <p:spPr>
          <a:xfrm>
            <a:off x="4619584" y="4983634"/>
            <a:ext cx="30414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durante el cooldown</a:t>
            </a:r>
            <a:endParaRPr lang="en-US" sz="1200" dirty="0"/>
          </a:p>
        </p:txBody>
      </p:sp>
      <p:sp>
        <p:nvSpPr>
          <p:cNvPr id="24" name="Shape 22"/>
          <p:cNvSpPr/>
          <p:nvPr/>
        </p:nvSpPr>
        <p:spPr>
          <a:xfrm>
            <a:off x="7961841" y="3787831"/>
            <a:ext cx="3414216" cy="1639813"/>
          </a:xfrm>
          <a:prstGeom prst="roundRect">
            <a:avLst>
              <a:gd name="adj" fmla="val 6002"/>
            </a:avLst>
          </a:prstGeom>
          <a:solidFill>
            <a:srgbClr val="FBFAF7"/>
          </a:solidFill>
          <a:ln w="6350">
            <a:solidFill>
              <a:srgbClr val="D8D5CC"/>
            </a:solidFill>
            <a:prstDash val="solid"/>
          </a:ln>
        </p:spPr>
      </p:sp>
      <p:sp>
        <p:nvSpPr>
          <p:cNvPr id="25" name="Text 23"/>
          <p:cNvSpPr/>
          <p:nvPr/>
        </p:nvSpPr>
        <p:spPr>
          <a:xfrm>
            <a:off x="8192533" y="4018521"/>
            <a:ext cx="3041418"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A84A0C"/>
                </a:solidFill>
                <a:latin typeface="Space Grotesk" pitchFamily="34" charset="0"/>
                <a:ea typeface="Space Grotesk" pitchFamily="34" charset="-122"/>
                <a:cs typeface="Space Grotesk" pitchFamily="34" charset="-120"/>
              </a:rPr>
              <a:t>30 min</a:t>
            </a:r>
            <a:endParaRPr lang="en-US" sz="4400" dirty="0"/>
          </a:p>
        </p:txBody>
      </p:sp>
      <p:sp>
        <p:nvSpPr>
          <p:cNvPr id="26" name="Text 24"/>
          <p:cNvSpPr/>
          <p:nvPr/>
        </p:nvSpPr>
        <p:spPr>
          <a:xfrm>
            <a:off x="8192533" y="4683950"/>
            <a:ext cx="3041418" cy="27431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5181E"/>
                </a:solidFill>
                <a:latin typeface="IBM Plex Sans" pitchFamily="34" charset="0"/>
                <a:ea typeface="IBM Plex Sans" pitchFamily="34" charset="-122"/>
                <a:cs typeface="IBM Plex Sans" pitchFamily="34" charset="-120"/>
              </a:rPr>
              <a:t>Estabilidad</a:t>
            </a:r>
            <a:endParaRPr lang="en-US" sz="1400" dirty="0"/>
          </a:p>
        </p:txBody>
      </p:sp>
      <p:sp>
        <p:nvSpPr>
          <p:cNvPr id="27" name="Text 25"/>
          <p:cNvSpPr/>
          <p:nvPr/>
        </p:nvSpPr>
        <p:spPr>
          <a:xfrm>
            <a:off x="8192533" y="4983634"/>
            <a:ext cx="30414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continuos sin caída, una fuente</a:t>
            </a:r>
            <a:endParaRPr lang="en-US" sz="1200" dirty="0"/>
          </a:p>
        </p:txBody>
      </p:sp>
      <p:sp>
        <p:nvSpPr>
          <p:cNvPr id="28" name="Text 26"/>
          <p:cNvSpPr/>
          <p:nvPr/>
        </p:nvSpPr>
        <p:spPr>
          <a:xfrm>
            <a:off x="812767" y="6238292"/>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Objetivos de demo para validar el loop, no SLA de producción</a:t>
            </a:r>
            <a:endParaRPr lang="en-US" sz="1200" dirty="0"/>
          </a:p>
        </p:txBody>
      </p:sp>
      <p:sp>
        <p:nvSpPr>
          <p:cNvPr id="29" name="Text 27"/>
          <p:cNvSpPr/>
          <p:nvPr/>
        </p:nvSpPr>
        <p:spPr>
          <a:xfrm>
            <a:off x="10312433" y="6238292"/>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9E7E1"/>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4A0C"/>
                </a:solidFill>
                <a:latin typeface="IBM Plex Mono" pitchFamily="34" charset="0"/>
                <a:ea typeface="IBM Plex Mono" pitchFamily="34" charset="-122"/>
                <a:cs typeface="IBM Plex Mono" pitchFamily="34" charset="-120"/>
              </a:rPr>
              <a:t>06 · PLAN DE TRABAJO</a:t>
            </a:r>
            <a:endParaRPr lang="en-US" sz="1200" dirty="0"/>
          </a:p>
        </p:txBody>
      </p:sp>
      <p:sp>
        <p:nvSpPr>
          <p:cNvPr id="3" name="Text 1"/>
          <p:cNvSpPr/>
          <p:nvPr/>
        </p:nvSpPr>
        <p:spPr>
          <a:xfrm>
            <a:off x="812767" y="1127658"/>
            <a:ext cx="10883460" cy="528274"/>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15181E"/>
                </a:solidFill>
                <a:latin typeface="Space Grotesk" pitchFamily="34" charset="0"/>
                <a:ea typeface="Space Grotesk" pitchFamily="34" charset="-122"/>
                <a:cs typeface="Space Grotesk" pitchFamily="34" charset="-120"/>
              </a:rPr>
              <a:t>Discovery primero, luego 4 sprints</a:t>
            </a:r>
            <a:endParaRPr lang="en-US" sz="3600" dirty="0"/>
          </a:p>
        </p:txBody>
      </p:sp>
      <p:sp>
        <p:nvSpPr>
          <p:cNvPr id="4" name="Shape 2"/>
          <p:cNvSpPr/>
          <p:nvPr/>
        </p:nvSpPr>
        <p:spPr>
          <a:xfrm>
            <a:off x="812767" y="1909918"/>
            <a:ext cx="2011660" cy="1586218"/>
          </a:xfrm>
          <a:custGeom>
            <a:avLst/>
            <a:gdLst/>
            <a:ahLst/>
            <a:cxnLst/>
            <a:rect l="l" t="t" r="r" b="b"/>
            <a:pathLst>
              <a:path w="2011660" h="1586218">
                <a:moveTo>
                  <a:pt x="0" y="0"/>
                </a:moveTo>
                <a:lnTo>
                  <a:pt x="2011660" y="0"/>
                </a:lnTo>
                <a:lnTo>
                  <a:pt x="2011660" y="1510018"/>
                </a:lnTo>
                <a:arcTo hR="76200" wR="76200" stAng="0" swAng="5400000"/>
                <a:lnTo>
                  <a:pt x="76200" y="1586218"/>
                </a:lnTo>
                <a:arcTo hR="76200" wR="76200" stAng="5400000" swAng="5400000"/>
                <a:lnTo>
                  <a:pt x="0" y="0"/>
                </a:lnTo>
                <a:close/>
              </a:path>
            </a:pathLst>
          </a:custGeom>
          <a:solidFill>
            <a:srgbClr val="FBFAF7"/>
          </a:solidFill>
          <a:ln/>
        </p:spPr>
      </p:sp>
      <p:sp>
        <p:nvSpPr>
          <p:cNvPr id="5" name="Shape 3"/>
          <p:cNvSpPr/>
          <p:nvPr/>
        </p:nvSpPr>
        <p:spPr>
          <a:xfrm>
            <a:off x="812767" y="1909918"/>
            <a:ext cx="2011660" cy="1586218"/>
          </a:xfrm>
          <a:custGeom>
            <a:avLst/>
            <a:gdLst/>
            <a:ahLst/>
            <a:cxnLst/>
            <a:rect l="l" t="t" r="r" b="b"/>
            <a:pathLst>
              <a:path w="2011660" h="1586218">
                <a:moveTo>
                  <a:pt x="0" y="38100"/>
                </a:moveTo>
                <a:lnTo>
                  <a:pt x="0" y="0"/>
                </a:lnTo>
                <a:lnTo>
                  <a:pt x="2011660" y="0"/>
                </a:lnTo>
                <a:lnTo>
                  <a:pt x="2011660" y="38100"/>
                </a:lnTo>
                <a:lnTo>
                  <a:pt x="0" y="38100"/>
                </a:lnTo>
                <a:close/>
              </a:path>
            </a:pathLst>
          </a:custGeom>
          <a:solidFill>
            <a:srgbClr val="15181E"/>
          </a:solidFill>
          <a:ln/>
        </p:spPr>
      </p:sp>
      <p:sp>
        <p:nvSpPr>
          <p:cNvPr id="6" name="Text 4"/>
          <p:cNvSpPr/>
          <p:nvPr/>
        </p:nvSpPr>
        <p:spPr>
          <a:xfrm>
            <a:off x="990534" y="2124726"/>
            <a:ext cx="17069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Discovery</a:t>
            </a:r>
            <a:endParaRPr lang="en-US" sz="1200" dirty="0"/>
          </a:p>
        </p:txBody>
      </p:sp>
      <p:sp>
        <p:nvSpPr>
          <p:cNvPr id="7" name="Text 5"/>
          <p:cNvSpPr/>
          <p:nvPr/>
        </p:nvSpPr>
        <p:spPr>
          <a:xfrm>
            <a:off x="990534" y="2401546"/>
            <a:ext cx="1706926" cy="23876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181E"/>
                </a:solidFill>
                <a:latin typeface="Space Grotesk" pitchFamily="34" charset="0"/>
                <a:ea typeface="Space Grotesk" pitchFamily="34" charset="-122"/>
                <a:cs typeface="Space Grotesk" pitchFamily="34" charset="-120"/>
              </a:rPr>
              <a:t>Entender</a:t>
            </a:r>
            <a:endParaRPr lang="en-US" sz="1400" dirty="0"/>
          </a:p>
        </p:txBody>
      </p:sp>
      <p:sp>
        <p:nvSpPr>
          <p:cNvPr id="8" name="Text 6"/>
          <p:cNvSpPr/>
          <p:nvPr/>
        </p:nvSpPr>
        <p:spPr>
          <a:xfrm>
            <a:off x="990534" y="2678410"/>
            <a:ext cx="170692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Mapa del proceso, 2+ entrevistas y pain priorizado.</a:t>
            </a:r>
            <a:endParaRPr lang="en-US" sz="1200" dirty="0"/>
          </a:p>
        </p:txBody>
      </p:sp>
      <p:sp>
        <p:nvSpPr>
          <p:cNvPr id="9" name="Shape 7"/>
          <p:cNvSpPr/>
          <p:nvPr/>
        </p:nvSpPr>
        <p:spPr>
          <a:xfrm>
            <a:off x="2951427" y="1909918"/>
            <a:ext cx="2011701" cy="1586218"/>
          </a:xfrm>
          <a:custGeom>
            <a:avLst/>
            <a:gdLst/>
            <a:ahLst/>
            <a:cxnLst/>
            <a:rect l="l" t="t" r="r" b="b"/>
            <a:pathLst>
              <a:path w="2011701" h="1586218">
                <a:moveTo>
                  <a:pt x="0" y="0"/>
                </a:moveTo>
                <a:lnTo>
                  <a:pt x="2011701" y="0"/>
                </a:lnTo>
                <a:lnTo>
                  <a:pt x="2011701" y="1510018"/>
                </a:lnTo>
                <a:arcTo hR="76200" wR="76200" stAng="0" swAng="5400000"/>
                <a:lnTo>
                  <a:pt x="76200" y="1586218"/>
                </a:lnTo>
                <a:arcTo hR="76200" wR="76200" stAng="5400000" swAng="5400000"/>
                <a:lnTo>
                  <a:pt x="0" y="0"/>
                </a:lnTo>
                <a:close/>
              </a:path>
            </a:pathLst>
          </a:custGeom>
          <a:solidFill>
            <a:srgbClr val="FBFAF7"/>
          </a:solidFill>
          <a:ln/>
        </p:spPr>
      </p:sp>
      <p:sp>
        <p:nvSpPr>
          <p:cNvPr id="10" name="Shape 8"/>
          <p:cNvSpPr/>
          <p:nvPr/>
        </p:nvSpPr>
        <p:spPr>
          <a:xfrm>
            <a:off x="2951427" y="1909918"/>
            <a:ext cx="2011701" cy="1586218"/>
          </a:xfrm>
          <a:custGeom>
            <a:avLst/>
            <a:gdLst/>
            <a:ahLst/>
            <a:cxnLst/>
            <a:rect l="l" t="t" r="r" b="b"/>
            <a:pathLst>
              <a:path w="2011701" h="1586218">
                <a:moveTo>
                  <a:pt x="0" y="38100"/>
                </a:moveTo>
                <a:lnTo>
                  <a:pt x="0" y="0"/>
                </a:lnTo>
                <a:lnTo>
                  <a:pt x="2011701" y="0"/>
                </a:lnTo>
                <a:lnTo>
                  <a:pt x="2011701" y="38100"/>
                </a:lnTo>
                <a:lnTo>
                  <a:pt x="0" y="38100"/>
                </a:lnTo>
                <a:close/>
              </a:path>
            </a:pathLst>
          </a:custGeom>
          <a:solidFill>
            <a:srgbClr val="E0701F"/>
          </a:solidFill>
          <a:ln/>
        </p:spPr>
      </p:sp>
      <p:sp>
        <p:nvSpPr>
          <p:cNvPr id="11" name="Text 9"/>
          <p:cNvSpPr/>
          <p:nvPr/>
        </p:nvSpPr>
        <p:spPr>
          <a:xfrm>
            <a:off x="3129194" y="2124726"/>
            <a:ext cx="17069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Sprint 1</a:t>
            </a:r>
            <a:endParaRPr lang="en-US" sz="1200" dirty="0"/>
          </a:p>
        </p:txBody>
      </p:sp>
      <p:sp>
        <p:nvSpPr>
          <p:cNvPr id="12" name="Text 10"/>
          <p:cNvSpPr/>
          <p:nvPr/>
        </p:nvSpPr>
        <p:spPr>
          <a:xfrm>
            <a:off x="3129194" y="2401546"/>
            <a:ext cx="1706968" cy="23876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181E"/>
                </a:solidFill>
                <a:latin typeface="Space Grotesk" pitchFamily="34" charset="0"/>
                <a:ea typeface="Space Grotesk" pitchFamily="34" charset="-122"/>
                <a:cs typeface="Space Grotesk" pitchFamily="34" charset="-120"/>
              </a:rPr>
              <a:t>Ver</a:t>
            </a:r>
            <a:endParaRPr lang="en-US" sz="1400" dirty="0"/>
          </a:p>
        </p:txBody>
      </p:sp>
      <p:sp>
        <p:nvSpPr>
          <p:cNvPr id="13" name="Text 11"/>
          <p:cNvSpPr/>
          <p:nvPr/>
        </p:nvSpPr>
        <p:spPr>
          <a:xfrm>
            <a:off x="3129194" y="2678410"/>
            <a:ext cx="170696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Video → detección de persona y casco.</a:t>
            </a:r>
            <a:endParaRPr lang="en-US" sz="1200" dirty="0"/>
          </a:p>
        </p:txBody>
      </p:sp>
      <p:sp>
        <p:nvSpPr>
          <p:cNvPr id="14" name="Shape 12"/>
          <p:cNvSpPr/>
          <p:nvPr/>
        </p:nvSpPr>
        <p:spPr>
          <a:xfrm>
            <a:off x="5090128" y="1909918"/>
            <a:ext cx="2011701" cy="1586218"/>
          </a:xfrm>
          <a:custGeom>
            <a:avLst/>
            <a:gdLst/>
            <a:ahLst/>
            <a:cxnLst/>
            <a:rect l="l" t="t" r="r" b="b"/>
            <a:pathLst>
              <a:path w="2011701" h="1586218">
                <a:moveTo>
                  <a:pt x="0" y="0"/>
                </a:moveTo>
                <a:lnTo>
                  <a:pt x="2011701" y="0"/>
                </a:lnTo>
                <a:lnTo>
                  <a:pt x="2011701" y="1510018"/>
                </a:lnTo>
                <a:arcTo hR="76200" wR="76200" stAng="0" swAng="5400000"/>
                <a:lnTo>
                  <a:pt x="76200" y="1586218"/>
                </a:lnTo>
                <a:arcTo hR="76200" wR="76200" stAng="5400000" swAng="5400000"/>
                <a:lnTo>
                  <a:pt x="0" y="0"/>
                </a:lnTo>
                <a:close/>
              </a:path>
            </a:pathLst>
          </a:custGeom>
          <a:solidFill>
            <a:srgbClr val="FBFAF7"/>
          </a:solidFill>
          <a:ln/>
        </p:spPr>
      </p:sp>
      <p:sp>
        <p:nvSpPr>
          <p:cNvPr id="15" name="Shape 13"/>
          <p:cNvSpPr/>
          <p:nvPr/>
        </p:nvSpPr>
        <p:spPr>
          <a:xfrm>
            <a:off x="5090128" y="1909918"/>
            <a:ext cx="2011701" cy="1586218"/>
          </a:xfrm>
          <a:custGeom>
            <a:avLst/>
            <a:gdLst/>
            <a:ahLst/>
            <a:cxnLst/>
            <a:rect l="l" t="t" r="r" b="b"/>
            <a:pathLst>
              <a:path w="2011701" h="1586218">
                <a:moveTo>
                  <a:pt x="0" y="38100"/>
                </a:moveTo>
                <a:lnTo>
                  <a:pt x="0" y="0"/>
                </a:lnTo>
                <a:lnTo>
                  <a:pt x="2011701" y="0"/>
                </a:lnTo>
                <a:lnTo>
                  <a:pt x="2011701" y="38100"/>
                </a:lnTo>
                <a:lnTo>
                  <a:pt x="0" y="38100"/>
                </a:lnTo>
                <a:close/>
              </a:path>
            </a:pathLst>
          </a:custGeom>
          <a:solidFill>
            <a:srgbClr val="E0701F"/>
          </a:solidFill>
          <a:ln/>
        </p:spPr>
      </p:sp>
      <p:sp>
        <p:nvSpPr>
          <p:cNvPr id="16" name="Text 14"/>
          <p:cNvSpPr/>
          <p:nvPr/>
        </p:nvSpPr>
        <p:spPr>
          <a:xfrm>
            <a:off x="5267896" y="2124726"/>
            <a:ext cx="17069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Sprint 2</a:t>
            </a:r>
            <a:endParaRPr lang="en-US" sz="1200" dirty="0"/>
          </a:p>
        </p:txBody>
      </p:sp>
      <p:sp>
        <p:nvSpPr>
          <p:cNvPr id="17" name="Text 15"/>
          <p:cNvSpPr/>
          <p:nvPr/>
        </p:nvSpPr>
        <p:spPr>
          <a:xfrm>
            <a:off x="5267896" y="2401546"/>
            <a:ext cx="1706968" cy="23876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181E"/>
                </a:solidFill>
                <a:latin typeface="Space Grotesk" pitchFamily="34" charset="0"/>
                <a:ea typeface="Space Grotesk" pitchFamily="34" charset="-122"/>
                <a:cs typeface="Space Grotesk" pitchFamily="34" charset="-120"/>
              </a:rPr>
              <a:t>Razonar</a:t>
            </a:r>
            <a:endParaRPr lang="en-US" sz="1400" dirty="0"/>
          </a:p>
        </p:txBody>
      </p:sp>
      <p:sp>
        <p:nvSpPr>
          <p:cNvPr id="18" name="Text 16"/>
          <p:cNvSpPr/>
          <p:nvPr/>
        </p:nvSpPr>
        <p:spPr>
          <a:xfrm>
            <a:off x="5267896" y="2678410"/>
            <a:ext cx="170696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Tracking + zona + regla con deduplicación.</a:t>
            </a:r>
            <a:endParaRPr lang="en-US" sz="1200" dirty="0"/>
          </a:p>
        </p:txBody>
      </p:sp>
      <p:sp>
        <p:nvSpPr>
          <p:cNvPr id="19" name="Shape 17"/>
          <p:cNvSpPr/>
          <p:nvPr/>
        </p:nvSpPr>
        <p:spPr>
          <a:xfrm>
            <a:off x="7228830" y="1909918"/>
            <a:ext cx="2011701" cy="1586218"/>
          </a:xfrm>
          <a:custGeom>
            <a:avLst/>
            <a:gdLst/>
            <a:ahLst/>
            <a:cxnLst/>
            <a:rect l="l" t="t" r="r" b="b"/>
            <a:pathLst>
              <a:path w="2011701" h="1586218">
                <a:moveTo>
                  <a:pt x="0" y="0"/>
                </a:moveTo>
                <a:lnTo>
                  <a:pt x="2011701" y="0"/>
                </a:lnTo>
                <a:lnTo>
                  <a:pt x="2011701" y="1510018"/>
                </a:lnTo>
                <a:arcTo hR="76200" wR="76200" stAng="0" swAng="5400000"/>
                <a:lnTo>
                  <a:pt x="76200" y="1586218"/>
                </a:lnTo>
                <a:arcTo hR="76200" wR="76200" stAng="5400000" swAng="5400000"/>
                <a:lnTo>
                  <a:pt x="0" y="0"/>
                </a:lnTo>
                <a:close/>
              </a:path>
            </a:pathLst>
          </a:custGeom>
          <a:solidFill>
            <a:srgbClr val="FBFAF7"/>
          </a:solidFill>
          <a:ln/>
        </p:spPr>
      </p:sp>
      <p:sp>
        <p:nvSpPr>
          <p:cNvPr id="20" name="Shape 18"/>
          <p:cNvSpPr/>
          <p:nvPr/>
        </p:nvSpPr>
        <p:spPr>
          <a:xfrm>
            <a:off x="7228830" y="1909918"/>
            <a:ext cx="2011701" cy="1586218"/>
          </a:xfrm>
          <a:custGeom>
            <a:avLst/>
            <a:gdLst/>
            <a:ahLst/>
            <a:cxnLst/>
            <a:rect l="l" t="t" r="r" b="b"/>
            <a:pathLst>
              <a:path w="2011701" h="1586218">
                <a:moveTo>
                  <a:pt x="0" y="38100"/>
                </a:moveTo>
                <a:lnTo>
                  <a:pt x="0" y="0"/>
                </a:lnTo>
                <a:lnTo>
                  <a:pt x="2011701" y="0"/>
                </a:lnTo>
                <a:lnTo>
                  <a:pt x="2011701" y="38100"/>
                </a:lnTo>
                <a:lnTo>
                  <a:pt x="0" y="38100"/>
                </a:lnTo>
                <a:close/>
              </a:path>
            </a:pathLst>
          </a:custGeom>
          <a:solidFill>
            <a:srgbClr val="E0701F"/>
          </a:solidFill>
          <a:ln/>
        </p:spPr>
      </p:sp>
      <p:sp>
        <p:nvSpPr>
          <p:cNvPr id="21" name="Text 19"/>
          <p:cNvSpPr/>
          <p:nvPr/>
        </p:nvSpPr>
        <p:spPr>
          <a:xfrm>
            <a:off x="7406597" y="2124726"/>
            <a:ext cx="17069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Sprint 3</a:t>
            </a:r>
            <a:endParaRPr lang="en-US" sz="1200" dirty="0"/>
          </a:p>
        </p:txBody>
      </p:sp>
      <p:sp>
        <p:nvSpPr>
          <p:cNvPr id="22" name="Text 20"/>
          <p:cNvSpPr/>
          <p:nvPr/>
        </p:nvSpPr>
        <p:spPr>
          <a:xfrm>
            <a:off x="7406597" y="2401546"/>
            <a:ext cx="1706968" cy="23876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181E"/>
                </a:solidFill>
                <a:latin typeface="Space Grotesk" pitchFamily="34" charset="0"/>
                <a:ea typeface="Space Grotesk" pitchFamily="34" charset="-122"/>
                <a:cs typeface="Space Grotesk" pitchFamily="34" charset="-120"/>
              </a:rPr>
              <a:t>Persistir</a:t>
            </a:r>
            <a:endParaRPr lang="en-US" sz="1400" dirty="0"/>
          </a:p>
        </p:txBody>
      </p:sp>
      <p:sp>
        <p:nvSpPr>
          <p:cNvPr id="23" name="Text 21"/>
          <p:cNvSpPr/>
          <p:nvPr/>
        </p:nvSpPr>
        <p:spPr>
          <a:xfrm>
            <a:off x="7406597" y="2678410"/>
            <a:ext cx="170696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FastAPI, PostgreSQL, evidencia y contrato de evento.</a:t>
            </a:r>
            <a:endParaRPr lang="en-US" sz="1200" dirty="0"/>
          </a:p>
        </p:txBody>
      </p:sp>
      <p:sp>
        <p:nvSpPr>
          <p:cNvPr id="24" name="Shape 22"/>
          <p:cNvSpPr/>
          <p:nvPr/>
        </p:nvSpPr>
        <p:spPr>
          <a:xfrm>
            <a:off x="9367531" y="1909918"/>
            <a:ext cx="2011701" cy="1586218"/>
          </a:xfrm>
          <a:custGeom>
            <a:avLst/>
            <a:gdLst/>
            <a:ahLst/>
            <a:cxnLst/>
            <a:rect l="l" t="t" r="r" b="b"/>
            <a:pathLst>
              <a:path w="2011701" h="1586218">
                <a:moveTo>
                  <a:pt x="0" y="0"/>
                </a:moveTo>
                <a:lnTo>
                  <a:pt x="2011701" y="0"/>
                </a:lnTo>
                <a:lnTo>
                  <a:pt x="2011701" y="1510018"/>
                </a:lnTo>
                <a:arcTo hR="76200" wR="76200" stAng="0" swAng="5400000"/>
                <a:lnTo>
                  <a:pt x="76200" y="1586218"/>
                </a:lnTo>
                <a:arcTo hR="76200" wR="76200" stAng="5400000" swAng="5400000"/>
                <a:lnTo>
                  <a:pt x="0" y="0"/>
                </a:lnTo>
                <a:close/>
              </a:path>
            </a:pathLst>
          </a:custGeom>
          <a:solidFill>
            <a:srgbClr val="FBFAF7"/>
          </a:solidFill>
          <a:ln/>
        </p:spPr>
      </p:sp>
      <p:sp>
        <p:nvSpPr>
          <p:cNvPr id="25" name="Shape 23"/>
          <p:cNvSpPr/>
          <p:nvPr/>
        </p:nvSpPr>
        <p:spPr>
          <a:xfrm>
            <a:off x="9367531" y="1909918"/>
            <a:ext cx="2011701" cy="1586218"/>
          </a:xfrm>
          <a:custGeom>
            <a:avLst/>
            <a:gdLst/>
            <a:ahLst/>
            <a:cxnLst/>
            <a:rect l="l" t="t" r="r" b="b"/>
            <a:pathLst>
              <a:path w="2011701" h="1586218">
                <a:moveTo>
                  <a:pt x="0" y="38100"/>
                </a:moveTo>
                <a:lnTo>
                  <a:pt x="0" y="0"/>
                </a:lnTo>
                <a:lnTo>
                  <a:pt x="2011701" y="0"/>
                </a:lnTo>
                <a:lnTo>
                  <a:pt x="2011701" y="38100"/>
                </a:lnTo>
                <a:lnTo>
                  <a:pt x="0" y="38100"/>
                </a:lnTo>
                <a:close/>
              </a:path>
            </a:pathLst>
          </a:custGeom>
          <a:solidFill>
            <a:srgbClr val="E0701F"/>
          </a:solidFill>
          <a:ln/>
        </p:spPr>
      </p:sp>
      <p:sp>
        <p:nvSpPr>
          <p:cNvPr id="26" name="Text 24"/>
          <p:cNvSpPr/>
          <p:nvPr/>
        </p:nvSpPr>
        <p:spPr>
          <a:xfrm>
            <a:off x="9545298" y="2124726"/>
            <a:ext cx="17069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Sprint 4</a:t>
            </a:r>
            <a:endParaRPr lang="en-US" sz="1200" dirty="0"/>
          </a:p>
        </p:txBody>
      </p:sp>
      <p:sp>
        <p:nvSpPr>
          <p:cNvPr id="27" name="Text 25"/>
          <p:cNvSpPr/>
          <p:nvPr/>
        </p:nvSpPr>
        <p:spPr>
          <a:xfrm>
            <a:off x="9545298" y="2401546"/>
            <a:ext cx="1706968" cy="23876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181E"/>
                </a:solidFill>
                <a:latin typeface="Space Grotesk" pitchFamily="34" charset="0"/>
                <a:ea typeface="Space Grotesk" pitchFamily="34" charset="-122"/>
                <a:cs typeface="Space Grotesk" pitchFamily="34" charset="-120"/>
              </a:rPr>
              <a:t>Mostrar y medir</a:t>
            </a:r>
            <a:endParaRPr lang="en-US" sz="1400" dirty="0"/>
          </a:p>
        </p:txBody>
      </p:sp>
      <p:sp>
        <p:nvSpPr>
          <p:cNvPr id="28" name="Text 26"/>
          <p:cNvSpPr/>
          <p:nvPr/>
        </p:nvSpPr>
        <p:spPr>
          <a:xfrm>
            <a:off x="9545298" y="2678410"/>
            <a:ext cx="170696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Dashboard, pruebas end-to-end, métricas y feedback.</a:t>
            </a:r>
            <a:endParaRPr lang="en-US" sz="1200" dirty="0"/>
          </a:p>
        </p:txBody>
      </p:sp>
      <p:sp>
        <p:nvSpPr>
          <p:cNvPr id="29" name="Shape 27"/>
          <p:cNvSpPr/>
          <p:nvPr/>
        </p:nvSpPr>
        <p:spPr>
          <a:xfrm>
            <a:off x="812767" y="3775521"/>
            <a:ext cx="3420566" cy="1041673"/>
          </a:xfrm>
          <a:prstGeom prst="roundRect">
            <a:avLst>
              <a:gd name="adj" fmla="val 7315"/>
            </a:avLst>
          </a:prstGeom>
          <a:solidFill>
            <a:srgbClr val="15181E"/>
          </a:solidFill>
          <a:ln/>
        </p:spPr>
      </p:sp>
      <p:sp>
        <p:nvSpPr>
          <p:cNvPr id="30" name="Text 28"/>
          <p:cNvSpPr/>
          <p:nvPr/>
        </p:nvSpPr>
        <p:spPr>
          <a:xfrm>
            <a:off x="990534" y="3927903"/>
            <a:ext cx="3156983" cy="27431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8A3C"/>
                </a:solidFill>
                <a:latin typeface="Space Grotesk" pitchFamily="34" charset="0"/>
                <a:ea typeface="Space Grotesk" pitchFamily="34" charset="-122"/>
                <a:cs typeface="Space Grotesk" pitchFamily="34" charset="-120"/>
              </a:rPr>
              <a:t>GO</a:t>
            </a:r>
            <a:endParaRPr lang="en-US" sz="1400" dirty="0"/>
          </a:p>
        </p:txBody>
      </p:sp>
      <p:sp>
        <p:nvSpPr>
          <p:cNvPr id="31" name="Text 29"/>
          <p:cNvSpPr/>
          <p:nvPr/>
        </p:nvSpPr>
        <p:spPr>
          <a:xfrm>
            <a:off x="990534" y="4227587"/>
            <a:ext cx="31569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E5E8"/>
                </a:solidFill>
                <a:latin typeface="IBM Plex Sans" pitchFamily="34" charset="0"/>
                <a:ea typeface="IBM Plex Sans" pitchFamily="34" charset="-122"/>
                <a:cs typeface="IBM Plex Sans" pitchFamily="34" charset="-120"/>
              </a:rPr>
              <a:t>Evento frecuente con detección tardía, cámara viable y acción concreta.</a:t>
            </a:r>
            <a:endParaRPr lang="en-US" sz="1200" dirty="0"/>
          </a:p>
        </p:txBody>
      </p:sp>
      <p:sp>
        <p:nvSpPr>
          <p:cNvPr id="32" name="Shape 30"/>
          <p:cNvSpPr/>
          <p:nvPr/>
        </p:nvSpPr>
        <p:spPr>
          <a:xfrm>
            <a:off x="4388892" y="3778696"/>
            <a:ext cx="3414216" cy="1035323"/>
          </a:xfrm>
          <a:prstGeom prst="roundRect">
            <a:avLst>
              <a:gd name="adj" fmla="val 7053"/>
            </a:avLst>
          </a:prstGeom>
          <a:solidFill>
            <a:srgbClr val="FBFAF7"/>
          </a:solidFill>
          <a:ln w="6350">
            <a:solidFill>
              <a:srgbClr val="D8D5CC"/>
            </a:solidFill>
            <a:prstDash val="solid"/>
          </a:ln>
        </p:spPr>
      </p:sp>
      <p:sp>
        <p:nvSpPr>
          <p:cNvPr id="33" name="Text 31"/>
          <p:cNvSpPr/>
          <p:nvPr/>
        </p:nvSpPr>
        <p:spPr>
          <a:xfrm>
            <a:off x="4568775" y="3933192"/>
            <a:ext cx="3146083" cy="27431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84A0C"/>
                </a:solidFill>
                <a:latin typeface="Space Grotesk" pitchFamily="34" charset="0"/>
                <a:ea typeface="Space Grotesk" pitchFamily="34" charset="-122"/>
                <a:cs typeface="Space Grotesk" pitchFamily="34" charset="-120"/>
              </a:rPr>
              <a:t>PIVOT</a:t>
            </a:r>
            <a:endParaRPr lang="en-US" sz="1400" dirty="0"/>
          </a:p>
        </p:txBody>
      </p:sp>
      <p:sp>
        <p:nvSpPr>
          <p:cNvPr id="34" name="Text 32"/>
          <p:cNvSpPr/>
          <p:nvPr/>
        </p:nvSpPr>
        <p:spPr>
          <a:xfrm>
            <a:off x="4568775" y="4232877"/>
            <a:ext cx="31460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Otro problema visual duele más: zonas, montacargas, permanencia.</a:t>
            </a:r>
            <a:endParaRPr lang="en-US" sz="1200" dirty="0"/>
          </a:p>
        </p:txBody>
      </p:sp>
      <p:sp>
        <p:nvSpPr>
          <p:cNvPr id="35" name="Shape 33"/>
          <p:cNvSpPr/>
          <p:nvPr/>
        </p:nvSpPr>
        <p:spPr>
          <a:xfrm>
            <a:off x="7961841" y="3778696"/>
            <a:ext cx="3414216" cy="1035323"/>
          </a:xfrm>
          <a:prstGeom prst="roundRect">
            <a:avLst>
              <a:gd name="adj" fmla="val 7053"/>
            </a:avLst>
          </a:prstGeom>
          <a:solidFill>
            <a:srgbClr val="FBFAF7"/>
          </a:solidFill>
          <a:ln w="6350">
            <a:solidFill>
              <a:srgbClr val="D8D5CC"/>
            </a:solidFill>
            <a:prstDash val="solid"/>
          </a:ln>
        </p:spPr>
      </p:sp>
      <p:sp>
        <p:nvSpPr>
          <p:cNvPr id="36" name="Text 34"/>
          <p:cNvSpPr/>
          <p:nvPr/>
        </p:nvSpPr>
        <p:spPr>
          <a:xfrm>
            <a:off x="8141725" y="3933192"/>
            <a:ext cx="3146083" cy="27431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5181E"/>
                </a:solidFill>
                <a:latin typeface="Space Grotesk" pitchFamily="34" charset="0"/>
                <a:ea typeface="Space Grotesk" pitchFamily="34" charset="-122"/>
                <a:cs typeface="Space Grotesk" pitchFamily="34" charset="-120"/>
              </a:rPr>
              <a:t>STOP</a:t>
            </a:r>
            <a:endParaRPr lang="en-US" sz="1400" dirty="0"/>
          </a:p>
        </p:txBody>
      </p:sp>
      <p:sp>
        <p:nvSpPr>
          <p:cNvPr id="37" name="Text 35"/>
          <p:cNvSpPr/>
          <p:nvPr/>
        </p:nvSpPr>
        <p:spPr>
          <a:xfrm>
            <a:off x="8141725" y="4232877"/>
            <a:ext cx="31460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El evento no lleva a acción o la cámara no puede ver la condición.</a:t>
            </a:r>
            <a:endParaRPr lang="en-US" sz="1200" dirty="0"/>
          </a:p>
        </p:txBody>
      </p:sp>
      <p:sp>
        <p:nvSpPr>
          <p:cNvPr id="38" name="Text 36"/>
          <p:cNvSpPr/>
          <p:nvPr/>
        </p:nvSpPr>
        <p:spPr>
          <a:xfrm>
            <a:off x="812767" y="5096576"/>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4F58"/>
                </a:solidFill>
                <a:latin typeface="IBM Plex Sans" pitchFamily="34" charset="0"/>
                <a:ea typeface="IBM Plex Sans" pitchFamily="34" charset="-122"/>
                <a:cs typeface="IBM Plex Sans" pitchFamily="34" charset="-120"/>
              </a:rPr>
              <a:t>Fuera del MVP:</a:t>
            </a:r>
            <a:r>
              <a:rPr lang="en-US" sz="1200" dirty="0">
                <a:solidFill>
                  <a:srgbClr val="4A4F58"/>
                </a:solidFill>
                <a:latin typeface="IBM Plex Sans" pitchFamily="34" charset="0"/>
                <a:ea typeface="IBM Plex Sans" pitchFamily="34" charset="-122"/>
                <a:cs typeface="IBM Plex Sans" pitchFamily="34" charset="-120"/>
              </a:rPr>
              <a:t> reconocimiento facial · chat IA · app móvil · 15 clases de EPP · Kafka / Kubernetes · sanciones automáticas.</a:t>
            </a:r>
            <a:endParaRPr lang="en-US" sz="1200" dirty="0"/>
          </a:p>
        </p:txBody>
      </p:sp>
      <p:sp>
        <p:nvSpPr>
          <p:cNvPr id="39" name="Text 37"/>
          <p:cNvSpPr/>
          <p:nvPr/>
        </p:nvSpPr>
        <p:spPr>
          <a:xfrm>
            <a:off x="812767" y="6238292"/>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Lean evita construir lo equivocado · Scrum organiza la construcción</a:t>
            </a:r>
            <a:endParaRPr lang="en-US" sz="1200" dirty="0"/>
          </a:p>
        </p:txBody>
      </p:sp>
      <p:sp>
        <p:nvSpPr>
          <p:cNvPr id="40" name="Text 38"/>
          <p:cNvSpPr/>
          <p:nvPr/>
        </p:nvSpPr>
        <p:spPr>
          <a:xfrm>
            <a:off x="10312433" y="6238292"/>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2EE"/>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4A0C"/>
                </a:solidFill>
                <a:latin typeface="IBM Plex Mono" pitchFamily="34" charset="0"/>
                <a:ea typeface="IBM Plex Mono" pitchFamily="34" charset="-122"/>
                <a:cs typeface="IBM Plex Mono" pitchFamily="34" charset="-120"/>
              </a:rPr>
              <a:t>07 · SCRUM — CÓMO LO EJECUTAMOS</a:t>
            </a:r>
            <a:endParaRPr lang="en-US" sz="1200" dirty="0"/>
          </a:p>
        </p:txBody>
      </p:sp>
      <p:sp>
        <p:nvSpPr>
          <p:cNvPr id="3" name="Text 1"/>
          <p:cNvSpPr/>
          <p:nvPr/>
        </p:nvSpPr>
        <p:spPr>
          <a:xfrm>
            <a:off x="812767" y="1127658"/>
            <a:ext cx="10883460" cy="528274"/>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15181E"/>
                </a:solidFill>
                <a:latin typeface="Space Grotesk" pitchFamily="34" charset="0"/>
                <a:ea typeface="Space Grotesk" pitchFamily="34" charset="-122"/>
                <a:cs typeface="Space Grotesk" pitchFamily="34" charset="-120"/>
              </a:rPr>
              <a:t>Sprints de 2 semanas, ritmo fijo</a:t>
            </a:r>
            <a:endParaRPr lang="en-US" sz="3600" dirty="0"/>
          </a:p>
        </p:txBody>
      </p:sp>
      <p:sp>
        <p:nvSpPr>
          <p:cNvPr id="4" name="Shape 2"/>
          <p:cNvSpPr/>
          <p:nvPr/>
        </p:nvSpPr>
        <p:spPr>
          <a:xfrm>
            <a:off x="812767" y="1909918"/>
            <a:ext cx="3420566" cy="1320974"/>
          </a:xfrm>
          <a:prstGeom prst="roundRect">
            <a:avLst>
              <a:gd name="adj" fmla="val 7691"/>
            </a:avLst>
          </a:prstGeom>
          <a:solidFill>
            <a:srgbClr val="15181E"/>
          </a:solidFill>
          <a:ln/>
        </p:spPr>
      </p:sp>
      <p:sp>
        <p:nvSpPr>
          <p:cNvPr id="5" name="Text 3"/>
          <p:cNvSpPr/>
          <p:nvPr/>
        </p:nvSpPr>
        <p:spPr>
          <a:xfrm>
            <a:off x="990534" y="2087687"/>
            <a:ext cx="31569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8A3C"/>
                </a:solidFill>
                <a:latin typeface="IBM Plex Mono" pitchFamily="34" charset="0"/>
                <a:ea typeface="IBM Plex Mono" pitchFamily="34" charset="-122"/>
                <a:cs typeface="IBM Plex Mono" pitchFamily="34" charset="-120"/>
              </a:rPr>
              <a:t>PRODUCT OWNER</a:t>
            </a:r>
            <a:endParaRPr lang="en-US" sz="1200" dirty="0"/>
          </a:p>
        </p:txBody>
      </p:sp>
      <p:sp>
        <p:nvSpPr>
          <p:cNvPr id="6" name="Text 4"/>
          <p:cNvSpPr/>
          <p:nvPr/>
        </p:nvSpPr>
        <p:spPr>
          <a:xfrm>
            <a:off x="990534" y="2351770"/>
            <a:ext cx="3156983" cy="23876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3F2EE"/>
                </a:solidFill>
                <a:latin typeface="Space Grotesk" pitchFamily="34" charset="0"/>
                <a:ea typeface="Space Grotesk" pitchFamily="34" charset="-122"/>
                <a:cs typeface="Space Grotesk" pitchFamily="34" charset="-120"/>
              </a:rPr>
              <a:t>Anthony Lopez Yrribarren</a:t>
            </a:r>
            <a:endParaRPr lang="en-US" sz="1400" dirty="0"/>
          </a:p>
        </p:txBody>
      </p:sp>
      <p:sp>
        <p:nvSpPr>
          <p:cNvPr id="7" name="Text 5"/>
          <p:cNvSpPr/>
          <p:nvPr/>
        </p:nvSpPr>
        <p:spPr>
          <a:xfrm>
            <a:off x="990534" y="2615902"/>
            <a:ext cx="31569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2"/>
                </a:solidFill>
                <a:latin typeface="IBM Plex Sans" pitchFamily="34" charset="0"/>
                <a:ea typeface="IBM Plex Sans" pitchFamily="34" charset="-122"/>
                <a:cs typeface="IBM Plex Sans" pitchFamily="34" charset="-120"/>
              </a:rPr>
              <a:t>Prioriza el backlog por valor y valida con SST / operaciones.</a:t>
            </a:r>
            <a:endParaRPr lang="en-US" sz="1200" dirty="0"/>
          </a:p>
        </p:txBody>
      </p:sp>
      <p:sp>
        <p:nvSpPr>
          <p:cNvPr id="8" name="Shape 6"/>
          <p:cNvSpPr/>
          <p:nvPr/>
        </p:nvSpPr>
        <p:spPr>
          <a:xfrm>
            <a:off x="4385717" y="1909918"/>
            <a:ext cx="3420566" cy="1320974"/>
          </a:xfrm>
          <a:prstGeom prst="roundRect">
            <a:avLst>
              <a:gd name="adj" fmla="val 7691"/>
            </a:avLst>
          </a:prstGeom>
          <a:solidFill>
            <a:srgbClr val="15181E"/>
          </a:solidFill>
          <a:ln/>
        </p:spPr>
      </p:sp>
      <p:sp>
        <p:nvSpPr>
          <p:cNvPr id="9" name="Text 7"/>
          <p:cNvSpPr/>
          <p:nvPr/>
        </p:nvSpPr>
        <p:spPr>
          <a:xfrm>
            <a:off x="4563483" y="2087687"/>
            <a:ext cx="31569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8A3C"/>
                </a:solidFill>
                <a:latin typeface="IBM Plex Mono" pitchFamily="34" charset="0"/>
                <a:ea typeface="IBM Plex Mono" pitchFamily="34" charset="-122"/>
                <a:cs typeface="IBM Plex Mono" pitchFamily="34" charset="-120"/>
              </a:rPr>
              <a:t>SCRUM MASTER</a:t>
            </a:r>
            <a:endParaRPr lang="en-US" sz="1200" dirty="0"/>
          </a:p>
        </p:txBody>
      </p:sp>
      <p:sp>
        <p:nvSpPr>
          <p:cNvPr id="10" name="Text 8"/>
          <p:cNvSpPr/>
          <p:nvPr/>
        </p:nvSpPr>
        <p:spPr>
          <a:xfrm>
            <a:off x="4563483" y="2351770"/>
            <a:ext cx="3156983" cy="23876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3F2EE"/>
                </a:solidFill>
                <a:latin typeface="Space Grotesk" pitchFamily="34" charset="0"/>
                <a:ea typeface="Space Grotesk" pitchFamily="34" charset="-122"/>
                <a:cs typeface="Space Grotesk" pitchFamily="34" charset="-120"/>
              </a:rPr>
              <a:t>Salazar Diaz Luis Fernando</a:t>
            </a:r>
            <a:endParaRPr lang="en-US" sz="1400" dirty="0"/>
          </a:p>
        </p:txBody>
      </p:sp>
      <p:sp>
        <p:nvSpPr>
          <p:cNvPr id="11" name="Text 9"/>
          <p:cNvSpPr/>
          <p:nvPr/>
        </p:nvSpPr>
        <p:spPr>
          <a:xfrm>
            <a:off x="4563483" y="2615902"/>
            <a:ext cx="31569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2"/>
                </a:solidFill>
                <a:latin typeface="IBM Plex Sans" pitchFamily="34" charset="0"/>
                <a:ea typeface="IBM Plex Sans" pitchFamily="34" charset="-122"/>
                <a:cs typeface="IBM Plex Sans" pitchFamily="34" charset="-120"/>
              </a:rPr>
              <a:t>Facilita los eventos, cuida el WIP y remueve bloqueos.</a:t>
            </a:r>
            <a:endParaRPr lang="en-US" sz="1200" dirty="0"/>
          </a:p>
        </p:txBody>
      </p:sp>
      <p:sp>
        <p:nvSpPr>
          <p:cNvPr id="12" name="Shape 10"/>
          <p:cNvSpPr/>
          <p:nvPr/>
        </p:nvSpPr>
        <p:spPr>
          <a:xfrm>
            <a:off x="7961841" y="1913093"/>
            <a:ext cx="3414216" cy="1314624"/>
          </a:xfrm>
          <a:prstGeom prst="roundRect">
            <a:avLst>
              <a:gd name="adj" fmla="val 7487"/>
            </a:avLst>
          </a:prstGeom>
          <a:solidFill>
            <a:srgbClr val="FBFAF7"/>
          </a:solidFill>
          <a:ln w="6350">
            <a:solidFill>
              <a:srgbClr val="D8D5CC"/>
            </a:solidFill>
            <a:prstDash val="solid"/>
          </a:ln>
        </p:spPr>
      </p:sp>
      <p:sp>
        <p:nvSpPr>
          <p:cNvPr id="13" name="Text 11"/>
          <p:cNvSpPr/>
          <p:nvPr/>
        </p:nvSpPr>
        <p:spPr>
          <a:xfrm>
            <a:off x="8141725" y="2092976"/>
            <a:ext cx="3146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DEVELOPERS</a:t>
            </a:r>
            <a:endParaRPr lang="en-US" sz="1200" dirty="0"/>
          </a:p>
        </p:txBody>
      </p:sp>
      <p:sp>
        <p:nvSpPr>
          <p:cNvPr id="14" name="Text 12"/>
          <p:cNvSpPr/>
          <p:nvPr/>
        </p:nvSpPr>
        <p:spPr>
          <a:xfrm>
            <a:off x="8141725" y="2357065"/>
            <a:ext cx="3146083" cy="23876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181E"/>
                </a:solidFill>
                <a:latin typeface="Space Grotesk" pitchFamily="34" charset="0"/>
                <a:ea typeface="Space Grotesk" pitchFamily="34" charset="-122"/>
                <a:cs typeface="Space Grotesk" pitchFamily="34" charset="-120"/>
              </a:rPr>
              <a:t>Ambos</a:t>
            </a:r>
            <a:endParaRPr lang="en-US" sz="1400" dirty="0"/>
          </a:p>
        </p:txBody>
      </p:sp>
      <p:sp>
        <p:nvSpPr>
          <p:cNvPr id="15" name="Text 13"/>
          <p:cNvSpPr/>
          <p:nvPr/>
        </p:nvSpPr>
        <p:spPr>
          <a:xfrm>
            <a:off x="8141725" y="2621192"/>
            <a:ext cx="31460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Visión, backend y frontend, con revisión cruzada de código.</a:t>
            </a:r>
            <a:endParaRPr lang="en-US" sz="1200" dirty="0"/>
          </a:p>
        </p:txBody>
      </p:sp>
      <p:sp>
        <p:nvSpPr>
          <p:cNvPr id="16" name="Shape 14"/>
          <p:cNvSpPr/>
          <p:nvPr/>
        </p:nvSpPr>
        <p:spPr>
          <a:xfrm>
            <a:off x="815942" y="3513448"/>
            <a:ext cx="2409337" cy="1477177"/>
          </a:xfrm>
          <a:prstGeom prst="roundRect">
            <a:avLst>
              <a:gd name="adj" fmla="val 5803"/>
            </a:avLst>
          </a:prstGeom>
          <a:solidFill>
            <a:srgbClr val="FBFAF7"/>
          </a:solidFill>
          <a:ln w="6350">
            <a:solidFill>
              <a:srgbClr val="D8D5CC"/>
            </a:solidFill>
            <a:prstDash val="solid"/>
          </a:ln>
        </p:spPr>
      </p:sp>
      <p:sp>
        <p:nvSpPr>
          <p:cNvPr id="17" name="Text 15"/>
          <p:cNvSpPr/>
          <p:nvPr/>
        </p:nvSpPr>
        <p:spPr>
          <a:xfrm>
            <a:off x="970442" y="3667950"/>
            <a:ext cx="21633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Día 1 · 2 h</a:t>
            </a:r>
            <a:endParaRPr lang="en-US" sz="1200" dirty="0"/>
          </a:p>
        </p:txBody>
      </p:sp>
      <p:sp>
        <p:nvSpPr>
          <p:cNvPr id="18" name="Text 16"/>
          <p:cNvSpPr/>
          <p:nvPr/>
        </p:nvSpPr>
        <p:spPr>
          <a:xfrm>
            <a:off x="970442" y="3932039"/>
            <a:ext cx="2163347" cy="23876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181E"/>
                </a:solidFill>
                <a:latin typeface="Space Grotesk" pitchFamily="34" charset="0"/>
                <a:ea typeface="Space Grotesk" pitchFamily="34" charset="-122"/>
                <a:cs typeface="Space Grotesk" pitchFamily="34" charset="-120"/>
              </a:rPr>
              <a:t>Sprint Planning</a:t>
            </a:r>
            <a:endParaRPr lang="en-US" sz="1400" dirty="0"/>
          </a:p>
        </p:txBody>
      </p:sp>
      <p:sp>
        <p:nvSpPr>
          <p:cNvPr id="19" name="Text 17"/>
          <p:cNvSpPr/>
          <p:nvPr/>
        </p:nvSpPr>
        <p:spPr>
          <a:xfrm>
            <a:off x="970442" y="4196166"/>
            <a:ext cx="216334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Objetivo del sprint e historias que entran, estimadas en puntos.</a:t>
            </a:r>
            <a:endParaRPr lang="en-US" sz="1200" dirty="0"/>
          </a:p>
        </p:txBody>
      </p:sp>
      <p:pic>
        <p:nvPicPr>
          <p:cNvPr id="20" name="Image 0" descr="connector">    </p:cNvPr>
          <p:cNvPicPr>
            <a:picLocks noChangeAspect="1"/>
          </p:cNvPicPr>
          <p:nvPr/>
        </p:nvPicPr>
        <p:blipFill>
          <a:blip r:embed="rId1"/>
          <a:srcRect l="-7" r="-7" t="0" b="0"/>
          <a:stretch/>
        </p:blipFill>
        <p:spPr>
          <a:xfrm>
            <a:off x="3241121" y="4201226"/>
            <a:ext cx="279392" cy="101583"/>
          </a:xfrm>
          <a:prstGeom prst="rect">
            <a:avLst/>
          </a:prstGeom>
        </p:spPr>
      </p:pic>
      <p:sp>
        <p:nvSpPr>
          <p:cNvPr id="21" name="Shape 18"/>
          <p:cNvSpPr/>
          <p:nvPr/>
        </p:nvSpPr>
        <p:spPr>
          <a:xfrm>
            <a:off x="3536355" y="3513448"/>
            <a:ext cx="2409379" cy="1477177"/>
          </a:xfrm>
          <a:prstGeom prst="roundRect">
            <a:avLst>
              <a:gd name="adj" fmla="val 5803"/>
            </a:avLst>
          </a:prstGeom>
          <a:solidFill>
            <a:srgbClr val="FBFAF7"/>
          </a:solidFill>
          <a:ln w="6350">
            <a:solidFill>
              <a:srgbClr val="D8D5CC"/>
            </a:solidFill>
            <a:prstDash val="solid"/>
          </a:ln>
        </p:spPr>
      </p:sp>
      <p:sp>
        <p:nvSpPr>
          <p:cNvPr id="22" name="Text 19"/>
          <p:cNvSpPr/>
          <p:nvPr/>
        </p:nvSpPr>
        <p:spPr>
          <a:xfrm>
            <a:off x="3690855" y="3667950"/>
            <a:ext cx="21633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Diario · 15 min</a:t>
            </a:r>
            <a:endParaRPr lang="en-US" sz="1200" dirty="0"/>
          </a:p>
        </p:txBody>
      </p:sp>
      <p:sp>
        <p:nvSpPr>
          <p:cNvPr id="23" name="Text 20"/>
          <p:cNvSpPr/>
          <p:nvPr/>
        </p:nvSpPr>
        <p:spPr>
          <a:xfrm>
            <a:off x="3690855" y="3932039"/>
            <a:ext cx="2163390" cy="23876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181E"/>
                </a:solidFill>
                <a:latin typeface="Space Grotesk" pitchFamily="34" charset="0"/>
                <a:ea typeface="Space Grotesk" pitchFamily="34" charset="-122"/>
                <a:cs typeface="Space Grotesk" pitchFamily="34" charset="-120"/>
              </a:rPr>
              <a:t>Daily</a:t>
            </a:r>
            <a:endParaRPr lang="en-US" sz="1400" dirty="0"/>
          </a:p>
        </p:txBody>
      </p:sp>
      <p:sp>
        <p:nvSpPr>
          <p:cNvPr id="24" name="Text 21"/>
          <p:cNvSpPr/>
          <p:nvPr/>
        </p:nvSpPr>
        <p:spPr>
          <a:xfrm>
            <a:off x="3690855" y="4196166"/>
            <a:ext cx="216339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Qué hice, qué haré, bloqueos. Presencial o por chat.</a:t>
            </a:r>
            <a:endParaRPr lang="en-US" sz="1200" dirty="0"/>
          </a:p>
        </p:txBody>
      </p:sp>
      <p:pic>
        <p:nvPicPr>
          <p:cNvPr id="25" name="Image 1" descr="connector">    </p:cNvPr>
          <p:cNvPicPr>
            <a:picLocks noChangeAspect="1"/>
          </p:cNvPicPr>
          <p:nvPr/>
        </p:nvPicPr>
        <p:blipFill>
          <a:blip r:embed="rId2"/>
          <a:srcRect l="-7" r="-7" t="0" b="0"/>
          <a:stretch/>
        </p:blipFill>
        <p:spPr>
          <a:xfrm>
            <a:off x="5961575" y="4201226"/>
            <a:ext cx="279392" cy="101583"/>
          </a:xfrm>
          <a:prstGeom prst="rect">
            <a:avLst/>
          </a:prstGeom>
        </p:spPr>
      </p:pic>
      <p:sp>
        <p:nvSpPr>
          <p:cNvPr id="26" name="Shape 22"/>
          <p:cNvSpPr/>
          <p:nvPr/>
        </p:nvSpPr>
        <p:spPr>
          <a:xfrm>
            <a:off x="6256809" y="3513448"/>
            <a:ext cx="2409379" cy="1477177"/>
          </a:xfrm>
          <a:prstGeom prst="roundRect">
            <a:avLst>
              <a:gd name="adj" fmla="val 5803"/>
            </a:avLst>
          </a:prstGeom>
          <a:solidFill>
            <a:srgbClr val="FBFAF7"/>
          </a:solidFill>
          <a:ln w="6350">
            <a:solidFill>
              <a:srgbClr val="D8D5CC"/>
            </a:solidFill>
            <a:prstDash val="solid"/>
          </a:ln>
        </p:spPr>
      </p:sp>
      <p:sp>
        <p:nvSpPr>
          <p:cNvPr id="27" name="Text 23"/>
          <p:cNvSpPr/>
          <p:nvPr/>
        </p:nvSpPr>
        <p:spPr>
          <a:xfrm>
            <a:off x="6411309" y="3667950"/>
            <a:ext cx="21633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Último día · 1 h</a:t>
            </a:r>
            <a:endParaRPr lang="en-US" sz="1200" dirty="0"/>
          </a:p>
        </p:txBody>
      </p:sp>
      <p:sp>
        <p:nvSpPr>
          <p:cNvPr id="28" name="Text 24"/>
          <p:cNvSpPr/>
          <p:nvPr/>
        </p:nvSpPr>
        <p:spPr>
          <a:xfrm>
            <a:off x="6411309" y="3932039"/>
            <a:ext cx="2163390" cy="23876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181E"/>
                </a:solidFill>
                <a:latin typeface="Space Grotesk" pitchFamily="34" charset="0"/>
                <a:ea typeface="Space Grotesk" pitchFamily="34" charset="-122"/>
                <a:cs typeface="Space Grotesk" pitchFamily="34" charset="-120"/>
              </a:rPr>
              <a:t>Sprint Review</a:t>
            </a:r>
            <a:endParaRPr lang="en-US" sz="1400" dirty="0"/>
          </a:p>
        </p:txBody>
      </p:sp>
      <p:sp>
        <p:nvSpPr>
          <p:cNvPr id="29" name="Text 25"/>
          <p:cNvSpPr/>
          <p:nvPr/>
        </p:nvSpPr>
        <p:spPr>
          <a:xfrm>
            <a:off x="6411309" y="4196166"/>
            <a:ext cx="216339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Demo end-to-end ante el usuario evaluador y el docente.</a:t>
            </a:r>
            <a:endParaRPr lang="en-US" sz="1200" dirty="0"/>
          </a:p>
        </p:txBody>
      </p:sp>
      <p:pic>
        <p:nvPicPr>
          <p:cNvPr id="30" name="Image 2" descr="connector">    </p:cNvPr>
          <p:cNvPicPr>
            <a:picLocks noChangeAspect="1"/>
          </p:cNvPicPr>
          <p:nvPr/>
        </p:nvPicPr>
        <p:blipFill>
          <a:blip r:embed="rId3"/>
          <a:srcRect l="-7" r="-7" t="0" b="0"/>
          <a:stretch/>
        </p:blipFill>
        <p:spPr>
          <a:xfrm>
            <a:off x="8682029" y="4201226"/>
            <a:ext cx="279392" cy="101583"/>
          </a:xfrm>
          <a:prstGeom prst="rect">
            <a:avLst/>
          </a:prstGeom>
        </p:spPr>
      </p:pic>
      <p:sp>
        <p:nvSpPr>
          <p:cNvPr id="31" name="Shape 26"/>
          <p:cNvSpPr/>
          <p:nvPr/>
        </p:nvSpPr>
        <p:spPr>
          <a:xfrm>
            <a:off x="8974088" y="3510273"/>
            <a:ext cx="2405145" cy="1483527"/>
          </a:xfrm>
          <a:prstGeom prst="roundRect">
            <a:avLst>
              <a:gd name="adj" fmla="val 5992"/>
            </a:avLst>
          </a:prstGeom>
          <a:solidFill>
            <a:srgbClr val="E0701F"/>
          </a:solidFill>
          <a:ln/>
        </p:spPr>
      </p:sp>
      <p:sp>
        <p:nvSpPr>
          <p:cNvPr id="32" name="Text 27"/>
          <p:cNvSpPr/>
          <p:nvPr/>
        </p:nvSpPr>
        <p:spPr>
          <a:xfrm>
            <a:off x="9126471" y="3662660"/>
            <a:ext cx="21633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E"/>
                </a:solidFill>
                <a:latin typeface="IBM Plex Mono" pitchFamily="34" charset="0"/>
                <a:ea typeface="IBM Plex Mono" pitchFamily="34" charset="-122"/>
                <a:cs typeface="IBM Plex Mono" pitchFamily="34" charset="-120"/>
              </a:rPr>
              <a:t>Último día · 30 min</a:t>
            </a:r>
            <a:endParaRPr lang="en-US" sz="1200" dirty="0"/>
          </a:p>
        </p:txBody>
      </p:sp>
      <p:sp>
        <p:nvSpPr>
          <p:cNvPr id="33" name="Text 28"/>
          <p:cNvSpPr/>
          <p:nvPr/>
        </p:nvSpPr>
        <p:spPr>
          <a:xfrm>
            <a:off x="9126471" y="3926743"/>
            <a:ext cx="2163390" cy="23876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181E"/>
                </a:solidFill>
                <a:latin typeface="Space Grotesk" pitchFamily="34" charset="0"/>
                <a:ea typeface="Space Grotesk" pitchFamily="34" charset="-122"/>
                <a:cs typeface="Space Grotesk" pitchFamily="34" charset="-120"/>
              </a:rPr>
              <a:t>Retrospectiva</a:t>
            </a:r>
            <a:endParaRPr lang="en-US" sz="1400" dirty="0"/>
          </a:p>
        </p:txBody>
      </p:sp>
      <p:sp>
        <p:nvSpPr>
          <p:cNvPr id="34" name="Text 29"/>
          <p:cNvSpPr/>
          <p:nvPr/>
        </p:nvSpPr>
        <p:spPr>
          <a:xfrm>
            <a:off x="9126471" y="4190876"/>
            <a:ext cx="216339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E"/>
                </a:solidFill>
                <a:latin typeface="IBM Plex Sans" pitchFamily="34" charset="0"/>
                <a:ea typeface="IBM Plex Sans" pitchFamily="34" charset="-122"/>
                <a:cs typeface="IBM Plex Sans" pitchFamily="34" charset="-120"/>
              </a:rPr>
              <a:t>Una mejora concreta que entra al siguiente sprint.</a:t>
            </a:r>
            <a:endParaRPr lang="en-US" sz="1200" dirty="0"/>
          </a:p>
        </p:txBody>
      </p:sp>
      <p:sp>
        <p:nvSpPr>
          <p:cNvPr id="35" name="Text 30"/>
          <p:cNvSpPr/>
          <p:nvPr/>
        </p:nvSpPr>
        <p:spPr>
          <a:xfrm>
            <a:off x="812767" y="5273185"/>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4F58"/>
                </a:solidFill>
                <a:latin typeface="IBM Plex Sans" pitchFamily="34" charset="0"/>
                <a:ea typeface="IBM Plex Sans" pitchFamily="34" charset="-122"/>
                <a:cs typeface="IBM Plex Sans" pitchFamily="34" charset="-120"/>
              </a:rPr>
              <a:t>Artefactos:</a:t>
            </a:r>
            <a:r>
              <a:rPr lang="en-US" sz="1200" dirty="0">
                <a:solidFill>
                  <a:srgbClr val="4A4F58"/>
                </a:solidFill>
                <a:latin typeface="IBM Plex Sans" pitchFamily="34" charset="0"/>
                <a:ea typeface="IBM Plex Sans" pitchFamily="34" charset="-122"/>
                <a:cs typeface="IBM Plex Sans" pitchFamily="34" charset="-120"/>
              </a:rPr>
              <a:t> Product Backlog (US-01 a US-06) · Sprint Backlog en tablero Kanban (Por hacer · En curso · Revisión · Hecho) · Incremento que cumple la DoD.</a:t>
            </a:r>
            <a:endParaRPr lang="en-US" sz="1200" dirty="0"/>
          </a:p>
        </p:txBody>
      </p:sp>
      <p:sp>
        <p:nvSpPr>
          <p:cNvPr id="36" name="Text 31"/>
          <p:cNvSpPr/>
          <p:nvPr/>
        </p:nvSpPr>
        <p:spPr>
          <a:xfrm>
            <a:off x="812767" y="6238292"/>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Duración y roles: propuesta del equipo</a:t>
            </a:r>
            <a:endParaRPr lang="en-US" sz="1200" dirty="0"/>
          </a:p>
        </p:txBody>
      </p:sp>
      <p:sp>
        <p:nvSpPr>
          <p:cNvPr id="37" name="Text 32"/>
          <p:cNvSpPr/>
          <p:nvPr/>
        </p:nvSpPr>
        <p:spPr>
          <a:xfrm>
            <a:off x="10312433" y="6238292"/>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9E7E1"/>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4A0C"/>
                </a:solidFill>
                <a:latin typeface="IBM Plex Mono" pitchFamily="34" charset="0"/>
                <a:ea typeface="IBM Plex Mono" pitchFamily="34" charset="-122"/>
                <a:cs typeface="IBM Plex Mono" pitchFamily="34" charset="-120"/>
              </a:rPr>
              <a:t>07 · SCRUM — PRODUCT BACKLOG</a:t>
            </a:r>
            <a:endParaRPr lang="en-US" sz="1200" dirty="0"/>
          </a:p>
        </p:txBody>
      </p:sp>
      <p:sp>
        <p:nvSpPr>
          <p:cNvPr id="3" name="Text 1"/>
          <p:cNvSpPr/>
          <p:nvPr/>
        </p:nvSpPr>
        <p:spPr>
          <a:xfrm>
            <a:off x="812767" y="1127658"/>
            <a:ext cx="10883460" cy="528274"/>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15181E"/>
                </a:solidFill>
                <a:latin typeface="Space Grotesk" pitchFamily="34" charset="0"/>
                <a:ea typeface="Space Grotesk" pitchFamily="34" charset="-122"/>
                <a:cs typeface="Space Grotesk" pitchFamily="34" charset="-120"/>
              </a:rPr>
              <a:t>Seis historias que sostienen el loop</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50" y="1945882"/>
          <a:ext cx="10555800" cy="2313947"/>
        </p:xfrm>
        <a:graphic>
          <a:graphicData uri="http://schemas.openxmlformats.org/drawingml/2006/table">
            <a:tbl>
              <a:tblPr/>
              <a:tblGrid>
                <a:gridCol w="950022"/>
                <a:gridCol w="1583370"/>
                <a:gridCol w="3483414"/>
                <a:gridCol w="3272298"/>
                <a:gridCol w="1266696"/>
              </a:tblGrid>
              <a:tr h="330564">
                <a:tc>
                  <a:txBody>
                    <a:bodyPr/>
                    <a:lstStyle/>
                    <a:p>
                      <a:pPr indent="0" marL="0">
                        <a:lnSpc>
                          <a:spcPts val="1680"/>
                        </a:lnSpc>
                        <a:buNone/>
                      </a:pPr>
                      <a:r>
                        <a:rPr lang="en-US" sz="1200" b="1" dirty="0">
                          <a:solidFill>
                            <a:srgbClr val="F08A3C"/>
                          </a:solidFill>
                          <a:latin typeface="IBM Plex Sans" pitchFamily="34" charset="0"/>
                          <a:ea typeface="IBM Plex Sans" pitchFamily="34" charset="-122"/>
                          <a:cs typeface="IBM Plex Sans" pitchFamily="34" charset="-120"/>
                        </a:rPr>
                        <a:t>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9B4"/>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BAB9B4"/>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15181E"/>
                    </a:solidFill>
                  </a:tcPr>
                </a:tc>
                <a:tc>
                  <a:txBody>
                    <a:bodyPr/>
                    <a:lstStyle/>
                    <a:p>
                      <a:pPr indent="0" marL="0">
                        <a:lnSpc>
                          <a:spcPts val="1680"/>
                        </a:lnSpc>
                        <a:buNone/>
                      </a:pPr>
                      <a:r>
                        <a:rPr lang="en-US" sz="1200" b="1" dirty="0">
                          <a:solidFill>
                            <a:srgbClr val="F3F2EE"/>
                          </a:solidFill>
                          <a:latin typeface="IBM Plex Sans" pitchFamily="34" charset="0"/>
                          <a:ea typeface="IBM Plex Sans" pitchFamily="34" charset="-122"/>
                          <a:cs typeface="IBM Plex Sans" pitchFamily="34" charset="-120"/>
                        </a:rPr>
                        <a:t>Como…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BAB9B4"/>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15181E"/>
                    </a:solidFill>
                  </a:tcPr>
                </a:tc>
                <a:tc>
                  <a:txBody>
                    <a:bodyPr/>
                    <a:lstStyle/>
                    <a:p>
                      <a:pPr indent="0" marL="0">
                        <a:lnSpc>
                          <a:spcPts val="1680"/>
                        </a:lnSpc>
                        <a:buNone/>
                      </a:pPr>
                      <a:r>
                        <a:rPr lang="en-US" sz="1200" b="1" dirty="0">
                          <a:solidFill>
                            <a:srgbClr val="F3F2EE"/>
                          </a:solidFill>
                          <a:latin typeface="IBM Plex Sans" pitchFamily="34" charset="0"/>
                          <a:ea typeface="IBM Plex Sans" pitchFamily="34" charset="-122"/>
                          <a:cs typeface="IBM Plex Sans" pitchFamily="34" charset="-120"/>
                        </a:rPr>
                        <a:t>Quiero…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BAB9B4"/>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15181E"/>
                    </a:solidFill>
                  </a:tcPr>
                </a:tc>
                <a:tc>
                  <a:txBody>
                    <a:bodyPr/>
                    <a:lstStyle/>
                    <a:p>
                      <a:pPr indent="0" marL="0">
                        <a:lnSpc>
                          <a:spcPts val="1680"/>
                        </a:lnSpc>
                        <a:buNone/>
                      </a:pPr>
                      <a:r>
                        <a:rPr lang="en-US" sz="1200" b="1" dirty="0">
                          <a:solidFill>
                            <a:srgbClr val="F3F2EE"/>
                          </a:solidFill>
                          <a:latin typeface="IBM Plex Sans" pitchFamily="34" charset="0"/>
                          <a:ea typeface="IBM Plex Sans" pitchFamily="34" charset="-122"/>
                          <a:cs typeface="IBM Plex Sans" pitchFamily="34" charset="-120"/>
                        </a:rPr>
                        <a:t>Criterio de aceptación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BAB9B4"/>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15181E"/>
                    </a:solidFill>
                  </a:tcPr>
                </a:tc>
                <a:tc>
                  <a:txBody>
                    <a:bodyPr/>
                    <a:lstStyle/>
                    <a:p>
                      <a:pPr indent="0" marL="0">
                        <a:lnSpc>
                          <a:spcPts val="1680"/>
                        </a:lnSpc>
                        <a:buNone/>
                      </a:pPr>
                      <a:r>
                        <a:rPr lang="en-US" sz="1200" b="1" dirty="0">
                          <a:solidFill>
                            <a:srgbClr val="F3F2EE"/>
                          </a:solidFill>
                          <a:latin typeface="IBM Plex Sans" pitchFamily="34" charset="0"/>
                          <a:ea typeface="IBM Plex Sans" pitchFamily="34" charset="-122"/>
                          <a:cs typeface="IBM Plex Sans" pitchFamily="34" charset="-120"/>
                        </a:rPr>
                        <a:t>Sprint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BAB9B4"/>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15181E"/>
                    </a:solidFill>
                  </a:tcPr>
                </a:tc>
              </a:tr>
              <a:tr h="330564">
                <a:tc>
                  <a:txBody>
                    <a:bodyPr/>
                    <a:lstStyle/>
                    <a:p>
                      <a:pPr indent="0" marL="0">
                        <a:lnSpc>
                          <a:spcPts val="1680"/>
                        </a:lnSpc>
                        <a:buNone/>
                      </a:pPr>
                      <a:r>
                        <a:rPr lang="en-US" sz="1200" dirty="0">
                          <a:solidFill>
                            <a:srgbClr val="2A2E36"/>
                          </a:solidFill>
                          <a:latin typeface="IBM Plex Sans" pitchFamily="34" charset="0"/>
                          <a:ea typeface="IBM Plex Sans" pitchFamily="34" charset="-122"/>
                          <a:cs typeface="IBM Plex Sans" pitchFamily="34" charset="-120"/>
                        </a:rPr>
                        <a:t>US-01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9B4"/>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680"/>
                        </a:lnSpc>
                        <a:buNone/>
                      </a:pPr>
                      <a:r>
                        <a:rPr lang="en-US" sz="1200" dirty="0">
                          <a:solidFill>
                            <a:srgbClr val="2A2E36"/>
                          </a:solidFill>
                          <a:latin typeface="IBM Plex Sans" pitchFamily="34" charset="0"/>
                          <a:ea typeface="IBM Plex Sans" pitchFamily="34" charset="-122"/>
                          <a:cs typeface="IBM Plex Sans" pitchFamily="34" charset="-120"/>
                        </a:rPr>
                        <a:t>Administrador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680"/>
                        </a:lnSpc>
                        <a:buNone/>
                      </a:pPr>
                      <a:r>
                        <a:rPr lang="en-US" sz="1200" dirty="0">
                          <a:solidFill>
                            <a:srgbClr val="2A2E36"/>
                          </a:solidFill>
                          <a:latin typeface="IBM Plex Sans" pitchFamily="34" charset="0"/>
                          <a:ea typeface="IBM Plex Sans" pitchFamily="34" charset="-122"/>
                          <a:cs typeface="IBM Plex Sans" pitchFamily="34" charset="-120"/>
                        </a:rPr>
                        <a:t>registrar una fuente de video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680"/>
                        </a:lnSpc>
                        <a:buNone/>
                      </a:pPr>
                      <a:r>
                        <a:rPr lang="en-US" sz="1200" dirty="0">
                          <a:solidFill>
                            <a:srgbClr val="2A2E36"/>
                          </a:solidFill>
                          <a:latin typeface="IBM Plex Sans" pitchFamily="34" charset="0"/>
                          <a:ea typeface="IBM Plex Sans" pitchFamily="34" charset="-122"/>
                          <a:cs typeface="IBM Plex Sans" pitchFamily="34" charset="-120"/>
                        </a:rPr>
                        <a:t>Procesa MP4/webcam y reporta estado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680"/>
                        </a:lnSpc>
                        <a:buNone/>
                      </a:pPr>
                      <a:r>
                        <a:rPr lang="en-US" sz="1200" dirty="0">
                          <a:solidFill>
                            <a:srgbClr val="2A2E36"/>
                          </a:solidFill>
                          <a:latin typeface="IBM Plex Sans" pitchFamily="34" charset="0"/>
                          <a:ea typeface="IBM Plex Sans" pitchFamily="34" charset="-122"/>
                          <a:cs typeface="IBM Plex Sans" pitchFamily="34" charset="-120"/>
                        </a:rPr>
                        <a:t>S1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330564">
                <a:tc>
                  <a:txBody>
                    <a:bodyPr/>
                    <a:lstStyle/>
                    <a:p>
                      <a:pPr indent="0" marL="0">
                        <a:lnSpc>
                          <a:spcPts val="1680"/>
                        </a:lnSpc>
                        <a:buNone/>
                      </a:pPr>
                      <a:r>
                        <a:rPr lang="en-US" sz="1200" dirty="0">
                          <a:solidFill>
                            <a:srgbClr val="2A2E36"/>
                          </a:solidFill>
                          <a:latin typeface="IBM Plex Sans" pitchFamily="34" charset="0"/>
                          <a:ea typeface="IBM Plex Sans" pitchFamily="34" charset="-122"/>
                          <a:cs typeface="IBM Plex Sans" pitchFamily="34" charset="-120"/>
                        </a:rPr>
                        <a:t>US-02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9B4"/>
                      </a:solidFill>
                      <a:prstDash val="solid"/>
                      <a:round/>
                      <a:headEnd type="none" w="med" len="med"/>
                      <a:tailEnd type="none" w="med" len="med"/>
                    </a:lnL>
                    <a:lnR w="12700" cap="flat" cmpd="sng" algn="ctr">
                      <a:solidFill>
                        <a:srgbClr val="BAB9B4"/>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AB9B4"/>
                      </a:solidFill>
                      <a:prstDash val="solid"/>
                      <a:round/>
                      <a:headEnd type="none" w="med" len="med"/>
                      <a:tailEnd type="none" w="med" len="med"/>
                    </a:lnB>
                  </a:tcPr>
                </a:tc>
                <a:tc>
                  <a:txBody>
                    <a:bodyPr/>
                    <a:lstStyle/>
                    <a:p>
                      <a:pPr indent="0" marL="0">
                        <a:lnSpc>
                          <a:spcPts val="1680"/>
                        </a:lnSpc>
                        <a:buNone/>
                      </a:pPr>
                      <a:r>
                        <a:rPr lang="en-US" sz="1200" dirty="0">
                          <a:solidFill>
                            <a:srgbClr val="2A2E36"/>
                          </a:solidFill>
                          <a:latin typeface="IBM Plex Sans" pitchFamily="34" charset="0"/>
                          <a:ea typeface="IBM Plex Sans" pitchFamily="34" charset="-122"/>
                          <a:cs typeface="IBM Plex Sans" pitchFamily="34" charset="-120"/>
                        </a:rPr>
                        <a:t>Supervisor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9B4"/>
                      </a:solidFill>
                      <a:prstDash val="solid"/>
                      <a:round/>
                      <a:headEnd type="none" w="med" len="med"/>
                      <a:tailEnd type="none" w="med" len="med"/>
                    </a:lnL>
                    <a:lnR w="12700" cap="flat" cmpd="sng" algn="ctr">
                      <a:solidFill>
                        <a:srgbClr val="BAB9B4"/>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AB9B4"/>
                      </a:solidFill>
                      <a:prstDash val="solid"/>
                      <a:round/>
                      <a:headEnd type="none" w="med" len="med"/>
                      <a:tailEnd type="none" w="med" len="med"/>
                    </a:lnB>
                  </a:tcPr>
                </a:tc>
                <a:tc>
                  <a:txBody>
                    <a:bodyPr/>
                    <a:lstStyle/>
                    <a:p>
                      <a:pPr indent="0" marL="0">
                        <a:lnSpc>
                          <a:spcPts val="1680"/>
                        </a:lnSpc>
                        <a:buNone/>
                      </a:pPr>
                      <a:r>
                        <a:rPr lang="en-US" sz="1200" dirty="0">
                          <a:solidFill>
                            <a:srgbClr val="2A2E36"/>
                          </a:solidFill>
                          <a:latin typeface="IBM Plex Sans" pitchFamily="34" charset="0"/>
                          <a:ea typeface="IBM Plex Sans" pitchFamily="34" charset="-122"/>
                          <a:cs typeface="IBM Plex Sans" pitchFamily="34" charset="-120"/>
                        </a:rPr>
                        <a:t>definir una zona y el EPP requerido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9B4"/>
                      </a:solidFill>
                      <a:prstDash val="solid"/>
                      <a:round/>
                      <a:headEnd type="none" w="med" len="med"/>
                      <a:tailEnd type="none" w="med" len="med"/>
                    </a:lnL>
                    <a:lnR w="12700" cap="flat" cmpd="sng" algn="ctr">
                      <a:solidFill>
                        <a:srgbClr val="BAB9B4"/>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AB9B4"/>
                      </a:solidFill>
                      <a:prstDash val="solid"/>
                      <a:round/>
                      <a:headEnd type="none" w="med" len="med"/>
                      <a:tailEnd type="none" w="med" len="med"/>
                    </a:lnB>
                  </a:tcPr>
                </a:tc>
                <a:tc>
                  <a:txBody>
                    <a:bodyPr/>
                    <a:lstStyle/>
                    <a:p>
                      <a:pPr indent="0" marL="0">
                        <a:lnSpc>
                          <a:spcPts val="1680"/>
                        </a:lnSpc>
                        <a:buNone/>
                      </a:pPr>
                      <a:r>
                        <a:rPr lang="en-US" sz="1200" dirty="0">
                          <a:solidFill>
                            <a:srgbClr val="2A2E36"/>
                          </a:solidFill>
                          <a:latin typeface="IBM Plex Sans" pitchFamily="34" charset="0"/>
                          <a:ea typeface="IBM Plex Sans" pitchFamily="34" charset="-122"/>
                          <a:cs typeface="IBM Plex Sans" pitchFamily="34" charset="-120"/>
                        </a:rPr>
                        <a:t>Zona guardada, editable y con regla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9B4"/>
                      </a:solidFill>
                      <a:prstDash val="solid"/>
                      <a:round/>
                      <a:headEnd type="none" w="med" len="med"/>
                      <a:tailEnd type="none" w="med" len="med"/>
                    </a:lnL>
                    <a:lnR w="12700" cap="flat" cmpd="sng" algn="ctr">
                      <a:solidFill>
                        <a:srgbClr val="BAB9B4"/>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AB9B4"/>
                      </a:solidFill>
                      <a:prstDash val="solid"/>
                      <a:round/>
                      <a:headEnd type="none" w="med" len="med"/>
                      <a:tailEnd type="none" w="med" len="med"/>
                    </a:lnB>
                  </a:tcPr>
                </a:tc>
                <a:tc>
                  <a:txBody>
                    <a:bodyPr/>
                    <a:lstStyle/>
                    <a:p>
                      <a:pPr indent="0" marL="0">
                        <a:lnSpc>
                          <a:spcPts val="1680"/>
                        </a:lnSpc>
                        <a:buNone/>
                      </a:pPr>
                      <a:r>
                        <a:rPr lang="en-US" sz="1200" dirty="0">
                          <a:solidFill>
                            <a:srgbClr val="2A2E36"/>
                          </a:solidFill>
                          <a:latin typeface="IBM Plex Sans" pitchFamily="34" charset="0"/>
                          <a:ea typeface="IBM Plex Sans" pitchFamily="34" charset="-122"/>
                          <a:cs typeface="IBM Plex Sans" pitchFamily="34" charset="-120"/>
                        </a:rPr>
                        <a:t>S2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9B4"/>
                      </a:solidFill>
                      <a:prstDash val="solid"/>
                      <a:round/>
                      <a:headEnd type="none" w="med" len="med"/>
                      <a:tailEnd type="none" w="med" len="med"/>
                    </a:lnL>
                    <a:lnR w="12700" cap="flat" cmpd="sng" algn="ctr">
                      <a:solidFill>
                        <a:srgbClr val="BAB9B4"/>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AB9B4"/>
                      </a:solidFill>
                      <a:prstDash val="solid"/>
                      <a:round/>
                      <a:headEnd type="none" w="med" len="med"/>
                      <a:tailEnd type="none" w="med" len="med"/>
                    </a:lnB>
                  </a:tcPr>
                </a:tc>
              </a:tr>
              <a:tr h="330564">
                <a:tc>
                  <a:txBody>
                    <a:bodyPr/>
                    <a:lstStyle/>
                    <a:p>
                      <a:pPr indent="0" marL="0">
                        <a:lnSpc>
                          <a:spcPts val="1680"/>
                        </a:lnSpc>
                        <a:buNone/>
                      </a:pPr>
                      <a:r>
                        <a:rPr lang="en-US" sz="1200" dirty="0">
                          <a:solidFill>
                            <a:srgbClr val="2A2E36"/>
                          </a:solidFill>
                          <a:latin typeface="IBM Plex Sans" pitchFamily="34" charset="0"/>
                          <a:ea typeface="IBM Plex Sans" pitchFamily="34" charset="-122"/>
                          <a:cs typeface="IBM Plex Sans" pitchFamily="34" charset="-120"/>
                        </a:rPr>
                        <a:t>US-03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9B4"/>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AB9B4"/>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680"/>
                        </a:lnSpc>
                        <a:buNone/>
                      </a:pPr>
                      <a:r>
                        <a:rPr lang="en-US" sz="1200" dirty="0">
                          <a:solidFill>
                            <a:srgbClr val="2A2E36"/>
                          </a:solidFill>
                          <a:latin typeface="IBM Plex Sans" pitchFamily="34" charset="0"/>
                          <a:ea typeface="IBM Plex Sans" pitchFamily="34" charset="-122"/>
                          <a:cs typeface="IBM Plex Sans" pitchFamily="34" charset="-120"/>
                        </a:rPr>
                        <a:t>Supervisor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AB9B4"/>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680"/>
                        </a:lnSpc>
                        <a:buNone/>
                      </a:pPr>
                      <a:r>
                        <a:rPr lang="en-US" sz="1200" dirty="0">
                          <a:solidFill>
                            <a:srgbClr val="2A2E36"/>
                          </a:solidFill>
                          <a:latin typeface="IBM Plex Sans" pitchFamily="34" charset="0"/>
                          <a:ea typeface="IBM Plex Sans" pitchFamily="34" charset="-122"/>
                          <a:cs typeface="IBM Plex Sans" pitchFamily="34" charset="-120"/>
                        </a:rPr>
                        <a:t>detectar persona sin casco en la zona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AB9B4"/>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680"/>
                        </a:lnSpc>
                        <a:buNone/>
                      </a:pPr>
                      <a:r>
                        <a:rPr lang="en-US" sz="1200" dirty="0">
                          <a:solidFill>
                            <a:srgbClr val="2A2E36"/>
                          </a:solidFill>
                          <a:latin typeface="IBM Plex Sans" pitchFamily="34" charset="0"/>
                          <a:ea typeface="IBM Plex Sans" pitchFamily="34" charset="-122"/>
                          <a:cs typeface="IBM Plex Sans" pitchFamily="34" charset="-120"/>
                        </a:rPr>
                        <a:t>Evento solo si persiste la ventana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AB9B4"/>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680"/>
                        </a:lnSpc>
                        <a:buNone/>
                      </a:pPr>
                      <a:r>
                        <a:rPr lang="en-US" sz="1200" dirty="0">
                          <a:solidFill>
                            <a:srgbClr val="2A2E36"/>
                          </a:solidFill>
                          <a:latin typeface="IBM Plex Sans" pitchFamily="34" charset="0"/>
                          <a:ea typeface="IBM Plex Sans" pitchFamily="34" charset="-122"/>
                          <a:cs typeface="IBM Plex Sans" pitchFamily="34" charset="-120"/>
                        </a:rPr>
                        <a:t>S1–S2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AB9B4"/>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330564">
                <a:tc>
                  <a:txBody>
                    <a:bodyPr/>
                    <a:lstStyle/>
                    <a:p>
                      <a:pPr indent="0" marL="0">
                        <a:lnSpc>
                          <a:spcPts val="1680"/>
                        </a:lnSpc>
                        <a:buNone/>
                      </a:pPr>
                      <a:r>
                        <a:rPr lang="en-US" sz="1200" dirty="0">
                          <a:solidFill>
                            <a:srgbClr val="2A2E36"/>
                          </a:solidFill>
                          <a:latin typeface="IBM Plex Sans" pitchFamily="34" charset="0"/>
                          <a:ea typeface="IBM Plex Sans" pitchFamily="34" charset="-122"/>
                          <a:cs typeface="IBM Plex Sans" pitchFamily="34" charset="-120"/>
                        </a:rPr>
                        <a:t>US-04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9B4"/>
                      </a:solidFill>
                      <a:prstDash val="solid"/>
                      <a:round/>
                      <a:headEnd type="none" w="med" len="med"/>
                      <a:tailEnd type="none" w="med" len="med"/>
                    </a:lnL>
                    <a:lnR w="12700" cap="flat" cmpd="sng" algn="ctr">
                      <a:solidFill>
                        <a:srgbClr val="BAB9B4"/>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AB9B4"/>
                      </a:solidFill>
                      <a:prstDash val="solid"/>
                      <a:round/>
                      <a:headEnd type="none" w="med" len="med"/>
                      <a:tailEnd type="none" w="med" len="med"/>
                    </a:lnB>
                  </a:tcPr>
                </a:tc>
                <a:tc>
                  <a:txBody>
                    <a:bodyPr/>
                    <a:lstStyle/>
                    <a:p>
                      <a:pPr indent="0" marL="0">
                        <a:lnSpc>
                          <a:spcPts val="1680"/>
                        </a:lnSpc>
                        <a:buNone/>
                      </a:pPr>
                      <a:r>
                        <a:rPr lang="en-US" sz="1200" dirty="0">
                          <a:solidFill>
                            <a:srgbClr val="2A2E36"/>
                          </a:solidFill>
                          <a:latin typeface="IBM Plex Sans" pitchFamily="34" charset="0"/>
                          <a:ea typeface="IBM Plex Sans" pitchFamily="34" charset="-122"/>
                          <a:cs typeface="IBM Plex Sans" pitchFamily="34" charset="-120"/>
                        </a:rPr>
                        <a:t>Supervisor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9B4"/>
                      </a:solidFill>
                      <a:prstDash val="solid"/>
                      <a:round/>
                      <a:headEnd type="none" w="med" len="med"/>
                      <a:tailEnd type="none" w="med" len="med"/>
                    </a:lnL>
                    <a:lnR w="12700" cap="flat" cmpd="sng" algn="ctr">
                      <a:solidFill>
                        <a:srgbClr val="BAB9B4"/>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AB9B4"/>
                      </a:solidFill>
                      <a:prstDash val="solid"/>
                      <a:round/>
                      <a:headEnd type="none" w="med" len="med"/>
                      <a:tailEnd type="none" w="med" len="med"/>
                    </a:lnB>
                  </a:tcPr>
                </a:tc>
                <a:tc>
                  <a:txBody>
                    <a:bodyPr/>
                    <a:lstStyle/>
                    <a:p>
                      <a:pPr indent="0" marL="0">
                        <a:lnSpc>
                          <a:spcPts val="1680"/>
                        </a:lnSpc>
                        <a:buNone/>
                      </a:pPr>
                      <a:r>
                        <a:rPr lang="en-US" sz="1200" dirty="0">
                          <a:solidFill>
                            <a:srgbClr val="2A2E36"/>
                          </a:solidFill>
                          <a:latin typeface="IBM Plex Sans" pitchFamily="34" charset="0"/>
                          <a:ea typeface="IBM Plex Sans" pitchFamily="34" charset="-122"/>
                          <a:cs typeface="IBM Plex Sans" pitchFamily="34" charset="-120"/>
                        </a:rPr>
                        <a:t>un único evento con evidencia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9B4"/>
                      </a:solidFill>
                      <a:prstDash val="solid"/>
                      <a:round/>
                      <a:headEnd type="none" w="med" len="med"/>
                      <a:tailEnd type="none" w="med" len="med"/>
                    </a:lnL>
                    <a:lnR w="12700" cap="flat" cmpd="sng" algn="ctr">
                      <a:solidFill>
                        <a:srgbClr val="BAB9B4"/>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AB9B4"/>
                      </a:solidFill>
                      <a:prstDash val="solid"/>
                      <a:round/>
                      <a:headEnd type="none" w="med" len="med"/>
                      <a:tailEnd type="none" w="med" len="med"/>
                    </a:lnB>
                  </a:tcPr>
                </a:tc>
                <a:tc>
                  <a:txBody>
                    <a:bodyPr/>
                    <a:lstStyle/>
                    <a:p>
                      <a:pPr indent="0" marL="0">
                        <a:lnSpc>
                          <a:spcPts val="1680"/>
                        </a:lnSpc>
                        <a:buNone/>
                      </a:pPr>
                      <a:r>
                        <a:rPr lang="en-US" sz="1200" dirty="0">
                          <a:solidFill>
                            <a:srgbClr val="2A2E36"/>
                          </a:solidFill>
                          <a:latin typeface="IBM Plex Sans" pitchFamily="34" charset="0"/>
                          <a:ea typeface="IBM Plex Sans" pitchFamily="34" charset="-122"/>
                          <a:cs typeface="IBM Plex Sans" pitchFamily="34" charset="-120"/>
                        </a:rPr>
                        <a:t>Sin duplicados; snapshot + metadata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9B4"/>
                      </a:solidFill>
                      <a:prstDash val="solid"/>
                      <a:round/>
                      <a:headEnd type="none" w="med" len="med"/>
                      <a:tailEnd type="none" w="med" len="med"/>
                    </a:lnL>
                    <a:lnR w="12700" cap="flat" cmpd="sng" algn="ctr">
                      <a:solidFill>
                        <a:srgbClr val="BAB9B4"/>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AB9B4"/>
                      </a:solidFill>
                      <a:prstDash val="solid"/>
                      <a:round/>
                      <a:headEnd type="none" w="med" len="med"/>
                      <a:tailEnd type="none" w="med" len="med"/>
                    </a:lnB>
                  </a:tcPr>
                </a:tc>
                <a:tc>
                  <a:txBody>
                    <a:bodyPr/>
                    <a:lstStyle/>
                    <a:p>
                      <a:pPr indent="0" marL="0">
                        <a:lnSpc>
                          <a:spcPts val="1680"/>
                        </a:lnSpc>
                        <a:buNone/>
                      </a:pPr>
                      <a:r>
                        <a:rPr lang="en-US" sz="1200" dirty="0">
                          <a:solidFill>
                            <a:srgbClr val="2A2E36"/>
                          </a:solidFill>
                          <a:latin typeface="IBM Plex Sans" pitchFamily="34" charset="0"/>
                          <a:ea typeface="IBM Plex Sans" pitchFamily="34" charset="-122"/>
                          <a:cs typeface="IBM Plex Sans" pitchFamily="34" charset="-120"/>
                        </a:rPr>
                        <a:t>S2–S3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9B4"/>
                      </a:solidFill>
                      <a:prstDash val="solid"/>
                      <a:round/>
                      <a:headEnd type="none" w="med" len="med"/>
                      <a:tailEnd type="none" w="med" len="med"/>
                    </a:lnL>
                    <a:lnR w="12700" cap="flat" cmpd="sng" algn="ctr">
                      <a:solidFill>
                        <a:srgbClr val="BAB9B4"/>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AB9B4"/>
                      </a:solidFill>
                      <a:prstDash val="solid"/>
                      <a:round/>
                      <a:headEnd type="none" w="med" len="med"/>
                      <a:tailEnd type="none" w="med" len="med"/>
                    </a:lnB>
                  </a:tcPr>
                </a:tc>
              </a:tr>
              <a:tr h="330564">
                <a:tc>
                  <a:txBody>
                    <a:bodyPr/>
                    <a:lstStyle/>
                    <a:p>
                      <a:pPr indent="0" marL="0">
                        <a:lnSpc>
                          <a:spcPts val="1680"/>
                        </a:lnSpc>
                        <a:buNone/>
                      </a:pPr>
                      <a:r>
                        <a:rPr lang="en-US" sz="1200" dirty="0">
                          <a:solidFill>
                            <a:srgbClr val="2A2E36"/>
                          </a:solidFill>
                          <a:latin typeface="IBM Plex Sans" pitchFamily="34" charset="0"/>
                          <a:ea typeface="IBM Plex Sans" pitchFamily="34" charset="-122"/>
                          <a:cs typeface="IBM Plex Sans" pitchFamily="34" charset="-120"/>
                        </a:rPr>
                        <a:t>US-05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9B4"/>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AB9B4"/>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680"/>
                        </a:lnSpc>
                        <a:buNone/>
                      </a:pPr>
                      <a:r>
                        <a:rPr lang="en-US" sz="1200" dirty="0">
                          <a:solidFill>
                            <a:srgbClr val="2A2E36"/>
                          </a:solidFill>
                          <a:latin typeface="IBM Plex Sans" pitchFamily="34" charset="0"/>
                          <a:ea typeface="IBM Plex Sans" pitchFamily="34" charset="-122"/>
                          <a:cs typeface="IBM Plex Sans" pitchFamily="34" charset="-120"/>
                        </a:rPr>
                        <a:t>Supervisor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AB9B4"/>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680"/>
                        </a:lnSpc>
                        <a:buNone/>
                      </a:pPr>
                      <a:r>
                        <a:rPr lang="en-US" sz="1200" dirty="0">
                          <a:solidFill>
                            <a:srgbClr val="2A2E36"/>
                          </a:solidFill>
                          <a:latin typeface="IBM Plex Sans" pitchFamily="34" charset="0"/>
                          <a:ea typeface="IBM Plex Sans" pitchFamily="34" charset="-122"/>
                          <a:cs typeface="IBM Plex Sans" pitchFamily="34" charset="-120"/>
                        </a:rPr>
                        <a:t>revisar el historial de eventos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AB9B4"/>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680"/>
                        </a:lnSpc>
                        <a:buNone/>
                      </a:pPr>
                      <a:r>
                        <a:rPr lang="en-US" sz="1200" dirty="0">
                          <a:solidFill>
                            <a:srgbClr val="2A2E36"/>
                          </a:solidFill>
                          <a:latin typeface="IBM Plex Sans" pitchFamily="34" charset="0"/>
                          <a:ea typeface="IBM Plex Sans" pitchFamily="34" charset="-122"/>
                          <a:cs typeface="IBM Plex Sans" pitchFamily="34" charset="-120"/>
                        </a:rPr>
                        <a:t>Filtra por fecha, cámara, zona, regla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AB9B4"/>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680"/>
                        </a:lnSpc>
                        <a:buNone/>
                      </a:pPr>
                      <a:r>
                        <a:rPr lang="en-US" sz="1200" dirty="0">
                          <a:solidFill>
                            <a:srgbClr val="2A2E36"/>
                          </a:solidFill>
                          <a:latin typeface="IBM Plex Sans" pitchFamily="34" charset="0"/>
                          <a:ea typeface="IBM Plex Sans" pitchFamily="34" charset="-122"/>
                          <a:cs typeface="IBM Plex Sans" pitchFamily="34" charset="-120"/>
                        </a:rPr>
                        <a:t>S4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AB9B4"/>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330564">
                <a:tc>
                  <a:txBody>
                    <a:bodyPr/>
                    <a:lstStyle/>
                    <a:p>
                      <a:pPr indent="0" marL="0">
                        <a:lnSpc>
                          <a:spcPts val="1680"/>
                        </a:lnSpc>
                        <a:buNone/>
                      </a:pPr>
                      <a:r>
                        <a:rPr lang="en-US" sz="1200" dirty="0">
                          <a:solidFill>
                            <a:srgbClr val="2A2E36"/>
                          </a:solidFill>
                          <a:latin typeface="IBM Plex Sans" pitchFamily="34" charset="0"/>
                          <a:ea typeface="IBM Plex Sans" pitchFamily="34" charset="-122"/>
                          <a:cs typeface="IBM Plex Sans" pitchFamily="34" charset="-120"/>
                        </a:rPr>
                        <a:t>US-06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9B4"/>
                      </a:solidFill>
                      <a:prstDash val="solid"/>
                      <a:round/>
                      <a:headEnd type="none" w="med" len="med"/>
                      <a:tailEnd type="none" w="med" len="med"/>
                    </a:lnL>
                    <a:lnR w="12700" cap="flat" cmpd="sng" algn="ctr">
                      <a:solidFill>
                        <a:srgbClr val="BAB9B4"/>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AB9B4"/>
                      </a:solidFill>
                      <a:prstDash val="solid"/>
                      <a:round/>
                      <a:headEnd type="none" w="med" len="med"/>
                      <a:tailEnd type="none" w="med" len="med"/>
                    </a:lnB>
                  </a:tcPr>
                </a:tc>
                <a:tc>
                  <a:txBody>
                    <a:bodyPr/>
                    <a:lstStyle/>
                    <a:p>
                      <a:pPr indent="0" marL="0">
                        <a:lnSpc>
                          <a:spcPts val="1680"/>
                        </a:lnSpc>
                        <a:buNone/>
                      </a:pPr>
                      <a:r>
                        <a:rPr lang="en-US" sz="1200" dirty="0">
                          <a:solidFill>
                            <a:srgbClr val="2A2E36"/>
                          </a:solidFill>
                          <a:latin typeface="IBM Plex Sans" pitchFamily="34" charset="0"/>
                          <a:ea typeface="IBM Plex Sans" pitchFamily="34" charset="-122"/>
                          <a:cs typeface="IBM Plex Sans" pitchFamily="34" charset="-120"/>
                        </a:rPr>
                        <a:t>Equipo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9B4"/>
                      </a:solidFill>
                      <a:prstDash val="solid"/>
                      <a:round/>
                      <a:headEnd type="none" w="med" len="med"/>
                      <a:tailEnd type="none" w="med" len="med"/>
                    </a:lnL>
                    <a:lnR w="12700" cap="flat" cmpd="sng" algn="ctr">
                      <a:solidFill>
                        <a:srgbClr val="BAB9B4"/>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AB9B4"/>
                      </a:solidFill>
                      <a:prstDash val="solid"/>
                      <a:round/>
                      <a:headEnd type="none" w="med" len="med"/>
                      <a:tailEnd type="none" w="med" len="med"/>
                    </a:lnB>
                  </a:tcPr>
                </a:tc>
                <a:tc>
                  <a:txBody>
                    <a:bodyPr/>
                    <a:lstStyle/>
                    <a:p>
                      <a:pPr indent="0" marL="0">
                        <a:lnSpc>
                          <a:spcPts val="1680"/>
                        </a:lnSpc>
                        <a:buNone/>
                      </a:pPr>
                      <a:r>
                        <a:rPr lang="en-US" sz="1200" dirty="0">
                          <a:solidFill>
                            <a:srgbClr val="2A2E36"/>
                          </a:solidFill>
                          <a:latin typeface="IBM Plex Sans" pitchFamily="34" charset="0"/>
                          <a:ea typeface="IBM Plex Sans" pitchFamily="34" charset="-122"/>
                          <a:cs typeface="IBM Plex Sans" pitchFamily="34" charset="-120"/>
                        </a:rPr>
                        <a:t>medir precisión, recall y latencia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9B4"/>
                      </a:solidFill>
                      <a:prstDash val="solid"/>
                      <a:round/>
                      <a:headEnd type="none" w="med" len="med"/>
                      <a:tailEnd type="none" w="med" len="med"/>
                    </a:lnL>
                    <a:lnR w="12700" cap="flat" cmpd="sng" algn="ctr">
                      <a:solidFill>
                        <a:srgbClr val="BAB9B4"/>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AB9B4"/>
                      </a:solidFill>
                      <a:prstDash val="solid"/>
                      <a:round/>
                      <a:headEnd type="none" w="med" len="med"/>
                      <a:tailEnd type="none" w="med" len="med"/>
                    </a:lnB>
                  </a:tcPr>
                </a:tc>
                <a:tc>
                  <a:txBody>
                    <a:bodyPr/>
                    <a:lstStyle/>
                    <a:p>
                      <a:pPr indent="0" marL="0">
                        <a:lnSpc>
                          <a:spcPts val="1680"/>
                        </a:lnSpc>
                        <a:buNone/>
                      </a:pPr>
                      <a:r>
                        <a:rPr lang="en-US" sz="1200" dirty="0">
                          <a:solidFill>
                            <a:srgbClr val="2A2E36"/>
                          </a:solidFill>
                          <a:latin typeface="IBM Plex Sans" pitchFamily="34" charset="0"/>
                          <a:ea typeface="IBM Plex Sans" pitchFamily="34" charset="-122"/>
                          <a:cs typeface="IBM Plex Sans" pitchFamily="34" charset="-120"/>
                        </a:rPr>
                        <a:t>Reporte de métricas reproducible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9B4"/>
                      </a:solidFill>
                      <a:prstDash val="solid"/>
                      <a:round/>
                      <a:headEnd type="none" w="med" len="med"/>
                      <a:tailEnd type="none" w="med" len="med"/>
                    </a:lnL>
                    <a:lnR w="12700" cap="flat" cmpd="sng" algn="ctr">
                      <a:solidFill>
                        <a:srgbClr val="BAB9B4"/>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AB9B4"/>
                      </a:solidFill>
                      <a:prstDash val="solid"/>
                      <a:round/>
                      <a:headEnd type="none" w="med" len="med"/>
                      <a:tailEnd type="none" w="med" len="med"/>
                    </a:lnB>
                  </a:tcPr>
                </a:tc>
                <a:tc>
                  <a:txBody>
                    <a:bodyPr/>
                    <a:lstStyle/>
                    <a:p>
                      <a:pPr indent="0" marL="0">
                        <a:lnSpc>
                          <a:spcPts val="1680"/>
                        </a:lnSpc>
                        <a:buNone/>
                      </a:pPr>
                      <a:r>
                        <a:rPr lang="en-US" sz="1200" dirty="0">
                          <a:solidFill>
                            <a:srgbClr val="2A2E36"/>
                          </a:solidFill>
                          <a:latin typeface="IBM Plex Sans" pitchFamily="34" charset="0"/>
                          <a:ea typeface="IBM Plex Sans" pitchFamily="34" charset="-122"/>
                          <a:cs typeface="IBM Plex Sans" pitchFamily="34" charset="-120"/>
                        </a:rPr>
                        <a:t>S4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9B4"/>
                      </a:solidFill>
                      <a:prstDash val="solid"/>
                      <a:round/>
                      <a:headEnd type="none" w="med" len="med"/>
                      <a:tailEnd type="none" w="med" len="med"/>
                    </a:lnL>
                    <a:lnR w="12700" cap="flat" cmpd="sng" algn="ctr">
                      <a:solidFill>
                        <a:srgbClr val="BAB9B4"/>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AB9B4"/>
                      </a:solidFill>
                      <a:prstDash val="solid"/>
                      <a:round/>
                      <a:headEnd type="none" w="med" len="med"/>
                      <a:tailEnd type="none" w="med" len="med"/>
                    </a:lnB>
                  </a:tcPr>
                </a:tc>
              </a:tr>
            </a:tbl>
          </a:graphicData>
        </a:graphic>
      </p:graphicFrame>
      <p:sp>
        <p:nvSpPr>
          <p:cNvPr id="5" name="Shape 2"/>
          <p:cNvSpPr/>
          <p:nvPr/>
        </p:nvSpPr>
        <p:spPr>
          <a:xfrm>
            <a:off x="831817" y="4564596"/>
            <a:ext cx="0" cy="529580"/>
          </a:xfrm>
          <a:prstGeom prst="line">
            <a:avLst/>
          </a:prstGeom>
          <a:noFill/>
          <a:ln w="38100">
            <a:solidFill>
              <a:srgbClr val="E0701F"/>
            </a:solidFill>
            <a:prstDash val="solid"/>
          </a:ln>
        </p:spPr>
      </p:sp>
      <p:sp>
        <p:nvSpPr>
          <p:cNvPr id="6" name="Text 3"/>
          <p:cNvSpPr/>
          <p:nvPr/>
        </p:nvSpPr>
        <p:spPr>
          <a:xfrm>
            <a:off x="1053000" y="4589983"/>
            <a:ext cx="5089624" cy="504213"/>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5181E"/>
                </a:solidFill>
                <a:latin typeface="IBM Plex Sans" pitchFamily="34" charset="0"/>
                <a:ea typeface="IBM Plex Sans" pitchFamily="34" charset="-122"/>
                <a:cs typeface="IBM Plex Sans" pitchFamily="34" charset="-120"/>
              </a:rPr>
              <a:t>Entrada al backlog:</a:t>
            </a:r>
            <a:r>
              <a:rPr lang="en-US" sz="1300" dirty="0">
                <a:solidFill>
                  <a:srgbClr val="15181E"/>
                </a:solidFill>
                <a:latin typeface="IBM Plex Sans" pitchFamily="34" charset="0"/>
                <a:ea typeface="IBM Plex Sans" pitchFamily="34" charset="-122"/>
                <a:cs typeface="IBM Plex Sans" pitchFamily="34" charset="-120"/>
              </a:rPr>
              <a:t> una hipótesis solo se vuelve historia con evidencia de discovery y un criterio de aceptación.</a:t>
            </a:r>
            <a:endParaRPr lang="en-US" sz="1300" dirty="0"/>
          </a:p>
        </p:txBody>
      </p:sp>
      <p:sp>
        <p:nvSpPr>
          <p:cNvPr id="7" name="Shape 4"/>
          <p:cNvSpPr/>
          <p:nvPr/>
        </p:nvSpPr>
        <p:spPr>
          <a:xfrm>
            <a:off x="6216625" y="4564596"/>
            <a:ext cx="0" cy="529580"/>
          </a:xfrm>
          <a:prstGeom prst="line">
            <a:avLst/>
          </a:prstGeom>
          <a:noFill/>
          <a:ln w="38100">
            <a:solidFill>
              <a:srgbClr val="15181E"/>
            </a:solidFill>
            <a:prstDash val="solid"/>
          </a:ln>
        </p:spPr>
      </p:sp>
      <p:sp>
        <p:nvSpPr>
          <p:cNvPr id="8" name="Text 5"/>
          <p:cNvSpPr/>
          <p:nvPr/>
        </p:nvSpPr>
        <p:spPr>
          <a:xfrm>
            <a:off x="6437809" y="4589983"/>
            <a:ext cx="5089667" cy="504213"/>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5181E"/>
                </a:solidFill>
                <a:latin typeface="IBM Plex Sans" pitchFamily="34" charset="0"/>
                <a:ea typeface="IBM Plex Sans" pitchFamily="34" charset="-122"/>
                <a:cs typeface="IBM Plex Sans" pitchFamily="34" charset="-120"/>
              </a:rPr>
              <a:t>Priorización:</a:t>
            </a:r>
            <a:r>
              <a:rPr lang="en-US" sz="1300" dirty="0">
                <a:solidFill>
                  <a:srgbClr val="15181E"/>
                </a:solidFill>
                <a:latin typeface="IBM Plex Sans" pitchFamily="34" charset="0"/>
                <a:ea typeface="IBM Plex Sans" pitchFamily="34" charset="-122"/>
                <a:cs typeface="IBM Plex Sans" pitchFamily="34" charset="-120"/>
              </a:rPr>
              <a:t> primero lo que cierra el loop cámara → evento → acción; lo decorativo espera.</a:t>
            </a:r>
            <a:endParaRPr lang="en-US" sz="1300" dirty="0"/>
          </a:p>
        </p:txBody>
      </p:sp>
      <p:sp>
        <p:nvSpPr>
          <p:cNvPr id="9" name="Text 6"/>
          <p:cNvSpPr/>
          <p:nvPr/>
        </p:nvSpPr>
        <p:spPr>
          <a:xfrm>
            <a:off x="812767" y="6238292"/>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Backlog semilla, deliberadamente corto</a:t>
            </a:r>
            <a:endParaRPr lang="en-US" sz="1200" dirty="0"/>
          </a:p>
        </p:txBody>
      </p:sp>
      <p:sp>
        <p:nvSpPr>
          <p:cNvPr id="10" name="Text 7"/>
          <p:cNvSpPr/>
          <p:nvPr/>
        </p:nvSpPr>
        <p:spPr>
          <a:xfrm>
            <a:off x="10312433" y="6238292"/>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2EE"/>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4A0C"/>
                </a:solidFill>
                <a:latin typeface="IBM Plex Mono" pitchFamily="34" charset="0"/>
                <a:ea typeface="IBM Plex Mono" pitchFamily="34" charset="-122"/>
                <a:cs typeface="IBM Plex Mono" pitchFamily="34" charset="-120"/>
              </a:rPr>
              <a:t>07 · SCRUM — SPRINT A SPRINT</a:t>
            </a:r>
            <a:endParaRPr lang="en-US" sz="1200" dirty="0"/>
          </a:p>
        </p:txBody>
      </p:sp>
      <p:sp>
        <p:nvSpPr>
          <p:cNvPr id="3" name="Text 1"/>
          <p:cNvSpPr/>
          <p:nvPr/>
        </p:nvSpPr>
        <p:spPr>
          <a:xfrm>
            <a:off x="812767" y="1127658"/>
            <a:ext cx="10883460" cy="528274"/>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15181E"/>
                </a:solidFill>
                <a:latin typeface="Space Grotesk" pitchFamily="34" charset="0"/>
                <a:ea typeface="Space Grotesk" pitchFamily="34" charset="-122"/>
                <a:cs typeface="Space Grotesk" pitchFamily="34" charset="-120"/>
              </a:rPr>
              <a:t>Qué entrega y cómo se valida cada sprint</a:t>
            </a:r>
            <a:endParaRPr lang="en-US" sz="3600" dirty="0"/>
          </a:p>
        </p:txBody>
      </p:sp>
      <p:sp>
        <p:nvSpPr>
          <p:cNvPr id="4" name="Shape 2"/>
          <p:cNvSpPr/>
          <p:nvPr/>
        </p:nvSpPr>
        <p:spPr>
          <a:xfrm>
            <a:off x="812767" y="1986111"/>
            <a:ext cx="2527308" cy="3011372"/>
          </a:xfrm>
          <a:custGeom>
            <a:avLst/>
            <a:gdLst/>
            <a:ahLst/>
            <a:cxnLst/>
            <a:rect l="l" t="t" r="r" b="b"/>
            <a:pathLst>
              <a:path w="2527308" h="3011372">
                <a:moveTo>
                  <a:pt x="0" y="0"/>
                </a:moveTo>
                <a:lnTo>
                  <a:pt x="2527308" y="0"/>
                </a:lnTo>
                <a:lnTo>
                  <a:pt x="2527308" y="2922472"/>
                </a:lnTo>
                <a:arcTo hR="88900" wR="88900" stAng="0" swAng="5400000"/>
                <a:lnTo>
                  <a:pt x="88900" y="3011372"/>
                </a:lnTo>
                <a:arcTo hR="88900" wR="88900" stAng="5400000" swAng="5400000"/>
                <a:lnTo>
                  <a:pt x="0" y="0"/>
                </a:lnTo>
                <a:close/>
              </a:path>
            </a:pathLst>
          </a:custGeom>
          <a:solidFill>
            <a:srgbClr val="FBFAF7"/>
          </a:solidFill>
          <a:ln/>
        </p:spPr>
      </p:sp>
      <p:sp>
        <p:nvSpPr>
          <p:cNvPr id="5" name="Shape 3"/>
          <p:cNvSpPr/>
          <p:nvPr/>
        </p:nvSpPr>
        <p:spPr>
          <a:xfrm>
            <a:off x="812767" y="1986111"/>
            <a:ext cx="2527308" cy="3011372"/>
          </a:xfrm>
          <a:custGeom>
            <a:avLst/>
            <a:gdLst/>
            <a:ahLst/>
            <a:cxnLst/>
            <a:rect l="l" t="t" r="r" b="b"/>
            <a:pathLst>
              <a:path w="2527308" h="3011372">
                <a:moveTo>
                  <a:pt x="0" y="38100"/>
                </a:moveTo>
                <a:lnTo>
                  <a:pt x="0" y="0"/>
                </a:lnTo>
                <a:lnTo>
                  <a:pt x="2527308" y="0"/>
                </a:lnTo>
                <a:lnTo>
                  <a:pt x="2527308" y="38100"/>
                </a:lnTo>
                <a:lnTo>
                  <a:pt x="0" y="38100"/>
                </a:lnTo>
                <a:close/>
              </a:path>
            </a:pathLst>
          </a:custGeom>
          <a:solidFill>
            <a:srgbClr val="E0701F"/>
          </a:solidFill>
          <a:ln/>
        </p:spPr>
      </p:sp>
      <p:sp>
        <p:nvSpPr>
          <p:cNvPr id="6" name="Text 4"/>
          <p:cNvSpPr/>
          <p:nvPr/>
        </p:nvSpPr>
        <p:spPr>
          <a:xfrm>
            <a:off x="990534" y="2200920"/>
            <a:ext cx="22369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Sprint 1 · sem. 1–2</a:t>
            </a:r>
            <a:endParaRPr lang="en-US" sz="1200" dirty="0"/>
          </a:p>
        </p:txBody>
      </p:sp>
      <p:sp>
        <p:nvSpPr>
          <p:cNvPr id="7" name="Text 5"/>
          <p:cNvSpPr/>
          <p:nvPr/>
        </p:nvSpPr>
        <p:spPr>
          <a:xfrm>
            <a:off x="990534" y="2477740"/>
            <a:ext cx="223692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E"/>
                </a:solidFill>
                <a:latin typeface="Space Grotesk" pitchFamily="34" charset="0"/>
                <a:ea typeface="Space Grotesk" pitchFamily="34" charset="-122"/>
                <a:cs typeface="Space Grotesk" pitchFamily="34" charset="-120"/>
              </a:rPr>
              <a:t>El modelo ve</a:t>
            </a:r>
            <a:endParaRPr lang="en-US" sz="1600" dirty="0"/>
          </a:p>
        </p:txBody>
      </p:sp>
      <p:sp>
        <p:nvSpPr>
          <p:cNvPr id="8" name="Text 6"/>
          <p:cNvSpPr/>
          <p:nvPr/>
        </p:nvSpPr>
        <p:spPr>
          <a:xfrm>
            <a:off x="990534" y="2785070"/>
            <a:ext cx="22369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US-01 · US-03</a:t>
            </a:r>
            <a:endParaRPr lang="en-US" sz="1200" dirty="0"/>
          </a:p>
        </p:txBody>
      </p:sp>
      <p:pic>
        <p:nvPicPr>
          <p:cNvPr id="9" name="Image 0" descr="line">    </p:cNvPr>
          <p:cNvPicPr>
            <a:picLocks noChangeAspect="1"/>
          </p:cNvPicPr>
          <p:nvPr/>
        </p:nvPicPr>
        <p:blipFill>
          <a:blip r:embed="rId1"/>
          <a:srcRect l="-10002" r="-10002" t="0" b="0"/>
          <a:stretch/>
        </p:blipFill>
        <p:spPr>
          <a:xfrm>
            <a:off x="990534" y="3061891"/>
            <a:ext cx="2171774" cy="10583"/>
          </a:xfrm>
          <a:prstGeom prst="rect">
            <a:avLst/>
          </a:prstGeom>
        </p:spPr>
      </p:pic>
      <p:sp>
        <p:nvSpPr>
          <p:cNvPr id="10" name="Text 7"/>
          <p:cNvSpPr/>
          <p:nvPr/>
        </p:nvSpPr>
        <p:spPr>
          <a:xfrm>
            <a:off x="990534" y="3135970"/>
            <a:ext cx="223692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181E"/>
                </a:solidFill>
                <a:latin typeface="IBM Plex Sans" pitchFamily="34" charset="0"/>
                <a:ea typeface="IBM Plex Sans" pitchFamily="34" charset="-122"/>
                <a:cs typeface="IBM Plex Sans" pitchFamily="34" charset="-120"/>
              </a:rPr>
              <a:t>Entregable</a:t>
            </a:r>
            <a:endParaRPr lang="en-US" sz="1200" dirty="0"/>
          </a:p>
        </p:txBody>
      </p:sp>
      <p:sp>
        <p:nvSpPr>
          <p:cNvPr id="11" name="Text 8"/>
          <p:cNvSpPr/>
          <p:nvPr/>
        </p:nvSpPr>
        <p:spPr>
          <a:xfrm>
            <a:off x="990534" y="3412790"/>
            <a:ext cx="223692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Video → detecciones de persona y casco en demo controlada.</a:t>
            </a:r>
            <a:endParaRPr lang="en-US" sz="1200" dirty="0"/>
          </a:p>
        </p:txBody>
      </p:sp>
      <p:sp>
        <p:nvSpPr>
          <p:cNvPr id="12" name="Text 9"/>
          <p:cNvSpPr/>
          <p:nvPr/>
        </p:nvSpPr>
        <p:spPr>
          <a:xfrm>
            <a:off x="990534" y="4116251"/>
            <a:ext cx="223692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181E"/>
                </a:solidFill>
                <a:latin typeface="IBM Plex Sans" pitchFamily="34" charset="0"/>
                <a:ea typeface="IBM Plex Sans" pitchFamily="34" charset="-122"/>
                <a:cs typeface="IBM Plex Sans" pitchFamily="34" charset="-120"/>
              </a:rPr>
              <a:t>Se valida con</a:t>
            </a:r>
            <a:endParaRPr lang="en-US" sz="1200" dirty="0"/>
          </a:p>
        </p:txBody>
      </p:sp>
      <p:sp>
        <p:nvSpPr>
          <p:cNvPr id="13" name="Text 10"/>
          <p:cNvSpPr/>
          <p:nvPr/>
        </p:nvSpPr>
        <p:spPr>
          <a:xfrm>
            <a:off x="990534" y="4393071"/>
            <a:ext cx="223692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mAP por clase en el set de validación.</a:t>
            </a:r>
            <a:endParaRPr lang="en-US" sz="1200" dirty="0"/>
          </a:p>
        </p:txBody>
      </p:sp>
      <p:sp>
        <p:nvSpPr>
          <p:cNvPr id="14" name="Shape 11"/>
          <p:cNvSpPr/>
          <p:nvPr/>
        </p:nvSpPr>
        <p:spPr>
          <a:xfrm>
            <a:off x="3492459" y="1986111"/>
            <a:ext cx="2527350" cy="3011372"/>
          </a:xfrm>
          <a:custGeom>
            <a:avLst/>
            <a:gdLst/>
            <a:ahLst/>
            <a:cxnLst/>
            <a:rect l="l" t="t" r="r" b="b"/>
            <a:pathLst>
              <a:path w="2527350" h="3011372">
                <a:moveTo>
                  <a:pt x="0" y="0"/>
                </a:moveTo>
                <a:lnTo>
                  <a:pt x="2527350" y="0"/>
                </a:lnTo>
                <a:lnTo>
                  <a:pt x="2527350" y="2922472"/>
                </a:lnTo>
                <a:arcTo hR="88900" wR="88900" stAng="0" swAng="5400000"/>
                <a:lnTo>
                  <a:pt x="88900" y="3011372"/>
                </a:lnTo>
                <a:arcTo hR="88900" wR="88900" stAng="5400000" swAng="5400000"/>
                <a:lnTo>
                  <a:pt x="0" y="0"/>
                </a:lnTo>
                <a:close/>
              </a:path>
            </a:pathLst>
          </a:custGeom>
          <a:solidFill>
            <a:srgbClr val="FBFAF7"/>
          </a:solidFill>
          <a:ln/>
        </p:spPr>
      </p:sp>
      <p:sp>
        <p:nvSpPr>
          <p:cNvPr id="15" name="Shape 12"/>
          <p:cNvSpPr/>
          <p:nvPr/>
        </p:nvSpPr>
        <p:spPr>
          <a:xfrm>
            <a:off x="3492459" y="1986111"/>
            <a:ext cx="2527350" cy="3011372"/>
          </a:xfrm>
          <a:custGeom>
            <a:avLst/>
            <a:gdLst/>
            <a:ahLst/>
            <a:cxnLst/>
            <a:rect l="l" t="t" r="r" b="b"/>
            <a:pathLst>
              <a:path w="2527350" h="3011372">
                <a:moveTo>
                  <a:pt x="0" y="38100"/>
                </a:moveTo>
                <a:lnTo>
                  <a:pt x="0" y="0"/>
                </a:lnTo>
                <a:lnTo>
                  <a:pt x="2527350" y="0"/>
                </a:lnTo>
                <a:lnTo>
                  <a:pt x="2527350" y="38100"/>
                </a:lnTo>
                <a:lnTo>
                  <a:pt x="0" y="38100"/>
                </a:lnTo>
                <a:close/>
              </a:path>
            </a:pathLst>
          </a:custGeom>
          <a:solidFill>
            <a:srgbClr val="E0701F"/>
          </a:solidFill>
          <a:ln/>
        </p:spPr>
      </p:sp>
      <p:sp>
        <p:nvSpPr>
          <p:cNvPr id="16" name="Text 13"/>
          <p:cNvSpPr/>
          <p:nvPr/>
        </p:nvSpPr>
        <p:spPr>
          <a:xfrm>
            <a:off x="3670226" y="2200920"/>
            <a:ext cx="22369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Sprint 2 · sem. 3–4</a:t>
            </a:r>
            <a:endParaRPr lang="en-US" sz="1200" dirty="0"/>
          </a:p>
        </p:txBody>
      </p:sp>
      <p:sp>
        <p:nvSpPr>
          <p:cNvPr id="17" name="Text 14"/>
          <p:cNvSpPr/>
          <p:nvPr/>
        </p:nvSpPr>
        <p:spPr>
          <a:xfrm>
            <a:off x="3670226" y="2477740"/>
            <a:ext cx="22369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E"/>
                </a:solidFill>
                <a:latin typeface="Space Grotesk" pitchFamily="34" charset="0"/>
                <a:ea typeface="Space Grotesk" pitchFamily="34" charset="-122"/>
                <a:cs typeface="Space Grotesk" pitchFamily="34" charset="-120"/>
              </a:rPr>
              <a:t>El sistema razona</a:t>
            </a:r>
            <a:endParaRPr lang="en-US" sz="1600" dirty="0"/>
          </a:p>
        </p:txBody>
      </p:sp>
      <p:sp>
        <p:nvSpPr>
          <p:cNvPr id="18" name="Text 15"/>
          <p:cNvSpPr/>
          <p:nvPr/>
        </p:nvSpPr>
        <p:spPr>
          <a:xfrm>
            <a:off x="3670226" y="2785070"/>
            <a:ext cx="22369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US-02 · US-03 · US-04</a:t>
            </a:r>
            <a:endParaRPr lang="en-US" sz="1200" dirty="0"/>
          </a:p>
        </p:txBody>
      </p:sp>
      <p:pic>
        <p:nvPicPr>
          <p:cNvPr id="19" name="Image 1" descr="line">    </p:cNvPr>
          <p:cNvPicPr>
            <a:picLocks noChangeAspect="1"/>
          </p:cNvPicPr>
          <p:nvPr/>
        </p:nvPicPr>
        <p:blipFill>
          <a:blip r:embed="rId2"/>
          <a:srcRect l="-10007" r="-10007" t="0" b="0"/>
          <a:stretch/>
        </p:blipFill>
        <p:spPr>
          <a:xfrm>
            <a:off x="3670226" y="3061891"/>
            <a:ext cx="2171816" cy="10583"/>
          </a:xfrm>
          <a:prstGeom prst="rect">
            <a:avLst/>
          </a:prstGeom>
        </p:spPr>
      </p:pic>
      <p:sp>
        <p:nvSpPr>
          <p:cNvPr id="20" name="Text 16"/>
          <p:cNvSpPr/>
          <p:nvPr/>
        </p:nvSpPr>
        <p:spPr>
          <a:xfrm>
            <a:off x="3670226" y="3135970"/>
            <a:ext cx="22369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181E"/>
                </a:solidFill>
                <a:latin typeface="IBM Plex Sans" pitchFamily="34" charset="0"/>
                <a:ea typeface="IBM Plex Sans" pitchFamily="34" charset="-122"/>
                <a:cs typeface="IBM Plex Sans" pitchFamily="34" charset="-120"/>
              </a:rPr>
              <a:t>Entregable</a:t>
            </a:r>
            <a:endParaRPr lang="en-US" sz="1200" dirty="0"/>
          </a:p>
        </p:txBody>
      </p:sp>
      <p:sp>
        <p:nvSpPr>
          <p:cNvPr id="21" name="Text 17"/>
          <p:cNvSpPr/>
          <p:nvPr/>
        </p:nvSpPr>
        <p:spPr>
          <a:xfrm>
            <a:off x="3670226" y="3412790"/>
            <a:ext cx="22369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Tracking + zona + regla con evento local deduplicado.</a:t>
            </a:r>
            <a:endParaRPr lang="en-US" sz="1200" dirty="0"/>
          </a:p>
        </p:txBody>
      </p:sp>
      <p:sp>
        <p:nvSpPr>
          <p:cNvPr id="22" name="Text 18"/>
          <p:cNvSpPr/>
          <p:nvPr/>
        </p:nvSpPr>
        <p:spPr>
          <a:xfrm>
            <a:off x="3670226" y="3902931"/>
            <a:ext cx="22369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181E"/>
                </a:solidFill>
                <a:latin typeface="IBM Plex Sans" pitchFamily="34" charset="0"/>
                <a:ea typeface="IBM Plex Sans" pitchFamily="34" charset="-122"/>
                <a:cs typeface="IBM Plex Sans" pitchFamily="34" charset="-120"/>
              </a:rPr>
              <a:t>Se valida con</a:t>
            </a:r>
            <a:endParaRPr lang="en-US" sz="1200" dirty="0"/>
          </a:p>
        </p:txBody>
      </p:sp>
      <p:sp>
        <p:nvSpPr>
          <p:cNvPr id="23" name="Text 19"/>
          <p:cNvSpPr/>
          <p:nvPr/>
        </p:nvSpPr>
        <p:spPr>
          <a:xfrm>
            <a:off x="3670226" y="4179751"/>
            <a:ext cx="22369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5–10 eventos de prueba revisados por el usuario.</a:t>
            </a:r>
            <a:endParaRPr lang="en-US" sz="1200" dirty="0"/>
          </a:p>
        </p:txBody>
      </p:sp>
      <p:sp>
        <p:nvSpPr>
          <p:cNvPr id="24" name="Shape 20"/>
          <p:cNvSpPr/>
          <p:nvPr/>
        </p:nvSpPr>
        <p:spPr>
          <a:xfrm>
            <a:off x="6172191" y="1986111"/>
            <a:ext cx="2527308" cy="3011372"/>
          </a:xfrm>
          <a:custGeom>
            <a:avLst/>
            <a:gdLst/>
            <a:ahLst/>
            <a:cxnLst/>
            <a:rect l="l" t="t" r="r" b="b"/>
            <a:pathLst>
              <a:path w="2527308" h="3011372">
                <a:moveTo>
                  <a:pt x="0" y="0"/>
                </a:moveTo>
                <a:lnTo>
                  <a:pt x="2527308" y="0"/>
                </a:lnTo>
                <a:lnTo>
                  <a:pt x="2527308" y="2922472"/>
                </a:lnTo>
                <a:arcTo hR="88900" wR="88900" stAng="0" swAng="5400000"/>
                <a:lnTo>
                  <a:pt x="88900" y="3011372"/>
                </a:lnTo>
                <a:arcTo hR="88900" wR="88900" stAng="5400000" swAng="5400000"/>
                <a:lnTo>
                  <a:pt x="0" y="0"/>
                </a:lnTo>
                <a:close/>
              </a:path>
            </a:pathLst>
          </a:custGeom>
          <a:solidFill>
            <a:srgbClr val="FBFAF7"/>
          </a:solidFill>
          <a:ln/>
        </p:spPr>
      </p:sp>
      <p:sp>
        <p:nvSpPr>
          <p:cNvPr id="25" name="Shape 21"/>
          <p:cNvSpPr/>
          <p:nvPr/>
        </p:nvSpPr>
        <p:spPr>
          <a:xfrm>
            <a:off x="6172191" y="1986111"/>
            <a:ext cx="2527308" cy="3011372"/>
          </a:xfrm>
          <a:custGeom>
            <a:avLst/>
            <a:gdLst/>
            <a:ahLst/>
            <a:cxnLst/>
            <a:rect l="l" t="t" r="r" b="b"/>
            <a:pathLst>
              <a:path w="2527308" h="3011372">
                <a:moveTo>
                  <a:pt x="0" y="38100"/>
                </a:moveTo>
                <a:lnTo>
                  <a:pt x="0" y="0"/>
                </a:lnTo>
                <a:lnTo>
                  <a:pt x="2527308" y="0"/>
                </a:lnTo>
                <a:lnTo>
                  <a:pt x="2527308" y="38100"/>
                </a:lnTo>
                <a:lnTo>
                  <a:pt x="0" y="38100"/>
                </a:lnTo>
                <a:close/>
              </a:path>
            </a:pathLst>
          </a:custGeom>
          <a:solidFill>
            <a:srgbClr val="E0701F"/>
          </a:solidFill>
          <a:ln/>
        </p:spPr>
      </p:sp>
      <p:sp>
        <p:nvSpPr>
          <p:cNvPr id="26" name="Text 22"/>
          <p:cNvSpPr/>
          <p:nvPr/>
        </p:nvSpPr>
        <p:spPr>
          <a:xfrm>
            <a:off x="6349959" y="2200920"/>
            <a:ext cx="22369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A0C"/>
                </a:solidFill>
                <a:latin typeface="IBM Plex Mono" pitchFamily="34" charset="0"/>
                <a:ea typeface="IBM Plex Mono" pitchFamily="34" charset="-122"/>
                <a:cs typeface="IBM Plex Mono" pitchFamily="34" charset="-120"/>
              </a:rPr>
              <a:t>Sprint 3 · sem. 5–6</a:t>
            </a:r>
            <a:endParaRPr lang="en-US" sz="1200" dirty="0"/>
          </a:p>
        </p:txBody>
      </p:sp>
      <p:sp>
        <p:nvSpPr>
          <p:cNvPr id="27" name="Text 23"/>
          <p:cNvSpPr/>
          <p:nvPr/>
        </p:nvSpPr>
        <p:spPr>
          <a:xfrm>
            <a:off x="6349959" y="2477740"/>
            <a:ext cx="223692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E"/>
                </a:solidFill>
                <a:latin typeface="Space Grotesk" pitchFamily="34" charset="0"/>
                <a:ea typeface="Space Grotesk" pitchFamily="34" charset="-122"/>
                <a:cs typeface="Space Grotesk" pitchFamily="34" charset="-120"/>
              </a:rPr>
              <a:t>El evento persiste</a:t>
            </a:r>
            <a:endParaRPr lang="en-US" sz="1600" dirty="0"/>
          </a:p>
        </p:txBody>
      </p:sp>
      <p:sp>
        <p:nvSpPr>
          <p:cNvPr id="28" name="Text 24"/>
          <p:cNvSpPr/>
          <p:nvPr/>
        </p:nvSpPr>
        <p:spPr>
          <a:xfrm>
            <a:off x="6349959" y="2785070"/>
            <a:ext cx="22369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US-04</a:t>
            </a:r>
            <a:endParaRPr lang="en-US" sz="1200" dirty="0"/>
          </a:p>
        </p:txBody>
      </p:sp>
      <p:pic>
        <p:nvPicPr>
          <p:cNvPr id="29" name="Image 2" descr="line">    </p:cNvPr>
          <p:cNvPicPr>
            <a:picLocks noChangeAspect="1"/>
          </p:cNvPicPr>
          <p:nvPr/>
        </p:nvPicPr>
        <p:blipFill>
          <a:blip r:embed="rId3"/>
          <a:srcRect l="-10002" r="-10002" t="0" b="0"/>
          <a:stretch/>
        </p:blipFill>
        <p:spPr>
          <a:xfrm>
            <a:off x="6349959" y="3061891"/>
            <a:ext cx="2171774" cy="10583"/>
          </a:xfrm>
          <a:prstGeom prst="rect">
            <a:avLst/>
          </a:prstGeom>
        </p:spPr>
      </p:pic>
      <p:sp>
        <p:nvSpPr>
          <p:cNvPr id="30" name="Text 25"/>
          <p:cNvSpPr/>
          <p:nvPr/>
        </p:nvSpPr>
        <p:spPr>
          <a:xfrm>
            <a:off x="6349959" y="3135970"/>
            <a:ext cx="223692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181E"/>
                </a:solidFill>
                <a:latin typeface="IBM Plex Sans" pitchFamily="34" charset="0"/>
                <a:ea typeface="IBM Plex Sans" pitchFamily="34" charset="-122"/>
                <a:cs typeface="IBM Plex Sans" pitchFamily="34" charset="-120"/>
              </a:rPr>
              <a:t>Entregable</a:t>
            </a:r>
            <a:endParaRPr lang="en-US" sz="1200" dirty="0"/>
          </a:p>
        </p:txBody>
      </p:sp>
      <p:sp>
        <p:nvSpPr>
          <p:cNvPr id="31" name="Text 26"/>
          <p:cNvSpPr/>
          <p:nvPr/>
        </p:nvSpPr>
        <p:spPr>
          <a:xfrm>
            <a:off x="6349959" y="3412790"/>
            <a:ext cx="223692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FastAPI + PostgreSQL + snapshot y contrato de evento.</a:t>
            </a:r>
            <a:endParaRPr lang="en-US" sz="1200" dirty="0"/>
          </a:p>
        </p:txBody>
      </p:sp>
      <p:sp>
        <p:nvSpPr>
          <p:cNvPr id="32" name="Text 27"/>
          <p:cNvSpPr/>
          <p:nvPr/>
        </p:nvSpPr>
        <p:spPr>
          <a:xfrm>
            <a:off x="6349959" y="3902931"/>
            <a:ext cx="223692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181E"/>
                </a:solidFill>
                <a:latin typeface="IBM Plex Sans" pitchFamily="34" charset="0"/>
                <a:ea typeface="IBM Plex Sans" pitchFamily="34" charset="-122"/>
                <a:cs typeface="IBM Plex Sans" pitchFamily="34" charset="-120"/>
              </a:rPr>
              <a:t>Se valida con</a:t>
            </a:r>
            <a:endParaRPr lang="en-US" sz="1200" dirty="0"/>
          </a:p>
        </p:txBody>
      </p:sp>
      <p:sp>
        <p:nvSpPr>
          <p:cNvPr id="33" name="Text 28"/>
          <p:cNvSpPr/>
          <p:nvPr/>
        </p:nvSpPr>
        <p:spPr>
          <a:xfrm>
            <a:off x="6349959" y="4179751"/>
            <a:ext cx="223692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8"/>
                </a:solidFill>
                <a:latin typeface="IBM Plex Sans" pitchFamily="34" charset="0"/>
                <a:ea typeface="IBM Plex Sans" pitchFamily="34" charset="-122"/>
                <a:cs typeface="IBM Plex Sans" pitchFamily="34" charset="-120"/>
              </a:rPr>
              <a:t>Evento consultable vía API en ≤ 5 s.</a:t>
            </a:r>
            <a:endParaRPr lang="en-US" sz="1200" dirty="0"/>
          </a:p>
        </p:txBody>
      </p:sp>
      <p:sp>
        <p:nvSpPr>
          <p:cNvPr id="34" name="Shape 29"/>
          <p:cNvSpPr/>
          <p:nvPr/>
        </p:nvSpPr>
        <p:spPr>
          <a:xfrm>
            <a:off x="8851883" y="1986111"/>
            <a:ext cx="2527350" cy="3011372"/>
          </a:xfrm>
          <a:custGeom>
            <a:avLst/>
            <a:gdLst/>
            <a:ahLst/>
            <a:cxnLst/>
            <a:rect l="l" t="t" r="r" b="b"/>
            <a:pathLst>
              <a:path w="2527350" h="3011372">
                <a:moveTo>
                  <a:pt x="0" y="0"/>
                </a:moveTo>
                <a:lnTo>
                  <a:pt x="2527350" y="0"/>
                </a:lnTo>
                <a:lnTo>
                  <a:pt x="2527350" y="2922472"/>
                </a:lnTo>
                <a:arcTo hR="88900" wR="88900" stAng="0" swAng="5400000"/>
                <a:lnTo>
                  <a:pt x="88900" y="3011372"/>
                </a:lnTo>
                <a:arcTo hR="88900" wR="88900" stAng="5400000" swAng="5400000"/>
                <a:lnTo>
                  <a:pt x="0" y="0"/>
                </a:lnTo>
                <a:close/>
              </a:path>
            </a:pathLst>
          </a:custGeom>
          <a:solidFill>
            <a:srgbClr val="15181E"/>
          </a:solidFill>
          <a:ln/>
        </p:spPr>
      </p:sp>
      <p:sp>
        <p:nvSpPr>
          <p:cNvPr id="35" name="Shape 30"/>
          <p:cNvSpPr/>
          <p:nvPr/>
        </p:nvSpPr>
        <p:spPr>
          <a:xfrm>
            <a:off x="8851883" y="1986111"/>
            <a:ext cx="2527350" cy="3011372"/>
          </a:xfrm>
          <a:custGeom>
            <a:avLst/>
            <a:gdLst/>
            <a:ahLst/>
            <a:cxnLst/>
            <a:rect l="l" t="t" r="r" b="b"/>
            <a:pathLst>
              <a:path w="2527350" h="3011372">
                <a:moveTo>
                  <a:pt x="0" y="38100"/>
                </a:moveTo>
                <a:lnTo>
                  <a:pt x="0" y="0"/>
                </a:lnTo>
                <a:lnTo>
                  <a:pt x="2527350" y="0"/>
                </a:lnTo>
                <a:lnTo>
                  <a:pt x="2527350" y="38100"/>
                </a:lnTo>
                <a:lnTo>
                  <a:pt x="0" y="38100"/>
                </a:lnTo>
                <a:close/>
              </a:path>
            </a:pathLst>
          </a:custGeom>
          <a:solidFill>
            <a:srgbClr val="E0701F"/>
          </a:solidFill>
          <a:ln/>
        </p:spPr>
      </p:sp>
      <p:sp>
        <p:nvSpPr>
          <p:cNvPr id="36" name="Text 31"/>
          <p:cNvSpPr/>
          <p:nvPr/>
        </p:nvSpPr>
        <p:spPr>
          <a:xfrm>
            <a:off x="9029650" y="2200920"/>
            <a:ext cx="22369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8A3C"/>
                </a:solidFill>
                <a:latin typeface="IBM Plex Mono" pitchFamily="34" charset="0"/>
                <a:ea typeface="IBM Plex Mono" pitchFamily="34" charset="-122"/>
                <a:cs typeface="IBM Plex Mono" pitchFamily="34" charset="-120"/>
              </a:rPr>
              <a:t>Sprint 4 · sem. 7–8</a:t>
            </a:r>
            <a:endParaRPr lang="en-US" sz="1200" dirty="0"/>
          </a:p>
        </p:txBody>
      </p:sp>
      <p:sp>
        <p:nvSpPr>
          <p:cNvPr id="37" name="Text 32"/>
          <p:cNvSpPr/>
          <p:nvPr/>
        </p:nvSpPr>
        <p:spPr>
          <a:xfrm>
            <a:off x="9029650" y="2477740"/>
            <a:ext cx="22369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2EE"/>
                </a:solidFill>
                <a:latin typeface="Space Grotesk" pitchFamily="34" charset="0"/>
                <a:ea typeface="Space Grotesk" pitchFamily="34" charset="-122"/>
                <a:cs typeface="Space Grotesk" pitchFamily="34" charset="-120"/>
              </a:rPr>
              <a:t>El supervisor decide</a:t>
            </a:r>
            <a:endParaRPr lang="en-US" sz="1600" dirty="0"/>
          </a:p>
        </p:txBody>
      </p:sp>
      <p:sp>
        <p:nvSpPr>
          <p:cNvPr id="38" name="Text 33"/>
          <p:cNvSpPr/>
          <p:nvPr/>
        </p:nvSpPr>
        <p:spPr>
          <a:xfrm>
            <a:off x="9029650" y="2785070"/>
            <a:ext cx="22369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EA3AC"/>
                </a:solidFill>
                <a:latin typeface="IBM Plex Mono" pitchFamily="34" charset="0"/>
                <a:ea typeface="IBM Plex Mono" pitchFamily="34" charset="-122"/>
                <a:cs typeface="IBM Plex Mono" pitchFamily="34" charset="-120"/>
              </a:rPr>
              <a:t>US-05 · US-06</a:t>
            </a:r>
            <a:endParaRPr lang="en-US" sz="1200" dirty="0"/>
          </a:p>
        </p:txBody>
      </p:sp>
      <p:pic>
        <p:nvPicPr>
          <p:cNvPr id="39" name="Image 3" descr="line">    </p:cNvPr>
          <p:cNvPicPr>
            <a:picLocks noChangeAspect="1"/>
          </p:cNvPicPr>
          <p:nvPr/>
        </p:nvPicPr>
        <p:blipFill>
          <a:blip r:embed="rId4"/>
          <a:srcRect l="-10007" r="-10007" t="0" b="0"/>
          <a:stretch/>
        </p:blipFill>
        <p:spPr>
          <a:xfrm>
            <a:off x="9029650" y="3061891"/>
            <a:ext cx="2171816" cy="10583"/>
          </a:xfrm>
          <a:prstGeom prst="rect">
            <a:avLst/>
          </a:prstGeom>
        </p:spPr>
      </p:pic>
      <p:sp>
        <p:nvSpPr>
          <p:cNvPr id="40" name="Text 34"/>
          <p:cNvSpPr/>
          <p:nvPr/>
        </p:nvSpPr>
        <p:spPr>
          <a:xfrm>
            <a:off x="9029650" y="3135970"/>
            <a:ext cx="22369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3F2EE"/>
                </a:solidFill>
                <a:latin typeface="IBM Plex Sans" pitchFamily="34" charset="0"/>
                <a:ea typeface="IBM Plex Sans" pitchFamily="34" charset="-122"/>
                <a:cs typeface="IBM Plex Sans" pitchFamily="34" charset="-120"/>
              </a:rPr>
              <a:t>Entregable</a:t>
            </a:r>
            <a:endParaRPr lang="en-US" sz="1200" dirty="0"/>
          </a:p>
        </p:txBody>
      </p:sp>
      <p:sp>
        <p:nvSpPr>
          <p:cNvPr id="41" name="Text 35"/>
          <p:cNvSpPr/>
          <p:nvPr/>
        </p:nvSpPr>
        <p:spPr>
          <a:xfrm>
            <a:off x="9029650" y="3412790"/>
            <a:ext cx="22369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2"/>
                </a:solidFill>
                <a:latin typeface="IBM Plex Sans" pitchFamily="34" charset="0"/>
                <a:ea typeface="IBM Plex Sans" pitchFamily="34" charset="-122"/>
                <a:cs typeface="IBM Plex Sans" pitchFamily="34" charset="-120"/>
              </a:rPr>
              <a:t>Dashboard, pruebas end-to-end y reporte de métricas.</a:t>
            </a:r>
            <a:endParaRPr lang="en-US" sz="1200" dirty="0"/>
          </a:p>
        </p:txBody>
      </p:sp>
      <p:sp>
        <p:nvSpPr>
          <p:cNvPr id="42" name="Text 36"/>
          <p:cNvSpPr/>
          <p:nvPr/>
        </p:nvSpPr>
        <p:spPr>
          <a:xfrm>
            <a:off x="9029650" y="3902931"/>
            <a:ext cx="22369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3F2EE"/>
                </a:solidFill>
                <a:latin typeface="IBM Plex Sans" pitchFamily="34" charset="0"/>
                <a:ea typeface="IBM Plex Sans" pitchFamily="34" charset="-122"/>
                <a:cs typeface="IBM Plex Sans" pitchFamily="34" charset="-120"/>
              </a:rPr>
              <a:t>Se valida con</a:t>
            </a:r>
            <a:endParaRPr lang="en-US" sz="1200" dirty="0"/>
          </a:p>
        </p:txBody>
      </p:sp>
      <p:sp>
        <p:nvSpPr>
          <p:cNvPr id="43" name="Text 37"/>
          <p:cNvSpPr/>
          <p:nvPr/>
        </p:nvSpPr>
        <p:spPr>
          <a:xfrm>
            <a:off x="9029650" y="4179751"/>
            <a:ext cx="22369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2"/>
                </a:solidFill>
                <a:latin typeface="IBM Plex Sans" pitchFamily="34" charset="0"/>
                <a:ea typeface="IBM Plex Sans" pitchFamily="34" charset="-122"/>
                <a:cs typeface="IBM Plex Sans" pitchFamily="34" charset="-120"/>
              </a:rPr>
              <a:t>≥ 30 escenarios, 30 min estables y feedback.</a:t>
            </a:r>
            <a:endParaRPr lang="en-US" sz="1200" dirty="0"/>
          </a:p>
        </p:txBody>
      </p:sp>
      <p:sp>
        <p:nvSpPr>
          <p:cNvPr id="44" name="Text 38"/>
          <p:cNvSpPr/>
          <p:nvPr/>
        </p:nvSpPr>
        <p:spPr>
          <a:xfrm>
            <a:off x="812767" y="6238292"/>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Cada Review alimenta el siguiente Planning · semanas contadas tras el discovery</a:t>
            </a:r>
            <a:endParaRPr lang="en-US" sz="1200" dirty="0"/>
          </a:p>
        </p:txBody>
      </p:sp>
      <p:sp>
        <p:nvSpPr>
          <p:cNvPr id="45" name="Text 39"/>
          <p:cNvSpPr/>
          <p:nvPr/>
        </p:nvSpPr>
        <p:spPr>
          <a:xfrm>
            <a:off x="10312433" y="6238292"/>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46D"/>
                </a:solidFill>
                <a:latin typeface="IBM Plex Mono" pitchFamily="34" charset="0"/>
                <a:ea typeface="IBM Plex Mono" pitchFamily="34" charset="-122"/>
                <a:cs typeface="IBM Plex Mono"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5181E"/>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08A3C"/>
                </a:solidFill>
                <a:latin typeface="IBM Plex Mono" pitchFamily="34" charset="0"/>
                <a:ea typeface="IBM Plex Mono" pitchFamily="34" charset="-122"/>
                <a:cs typeface="IBM Plex Mono" pitchFamily="34" charset="-120"/>
              </a:rPr>
              <a:t>CONCLUSIÓN</a:t>
            </a:r>
            <a:endParaRPr lang="en-US" sz="1200" dirty="0"/>
          </a:p>
        </p:txBody>
      </p:sp>
      <p:sp>
        <p:nvSpPr>
          <p:cNvPr id="3" name="Text 1"/>
          <p:cNvSpPr/>
          <p:nvPr/>
        </p:nvSpPr>
        <p:spPr>
          <a:xfrm>
            <a:off x="812767" y="1804665"/>
            <a:ext cx="10883460" cy="2311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F3F2EE"/>
                </a:solidFill>
                <a:latin typeface="Space Grotesk" pitchFamily="34" charset="0"/>
                <a:ea typeface="Space Grotesk" pitchFamily="34" charset="-122"/>
                <a:cs typeface="Space Grotesk" pitchFamily="34" charset="-120"/>
              </a:rPr>
              <a:t>Evento correcto.</a:t>
            </a:r>
            <a:endParaRPr lang="en-US" sz="6000" dirty="0"/>
          </a:p>
          <a:p>
            <a:pPr algn="l" indent="0" marL="0">
              <a:lnSpc>
                <a:spcPts val="6000"/>
              </a:lnSpc>
              <a:buNone/>
            </a:pPr>
            <a:r>
              <a:rPr lang="en-US" sz="6000" b="1" spc="-150" kern="0" dirty="0">
                <a:solidFill>
                  <a:srgbClr val="F3F2EE"/>
                </a:solidFill>
                <a:latin typeface="Space Grotesk" pitchFamily="34" charset="0"/>
                <a:ea typeface="Space Grotesk" pitchFamily="34" charset="-122"/>
                <a:cs typeface="Space Grotesk" pitchFamily="34" charset="-120"/>
              </a:rPr>
              <a:t>A tiempo.</a:t>
            </a:r>
            <a:endParaRPr lang="en-US" sz="6000" dirty="0"/>
          </a:p>
          <a:p>
            <a:pPr algn="l" indent="0" marL="0">
              <a:lnSpc>
                <a:spcPts val="6000"/>
              </a:lnSpc>
              <a:buNone/>
            </a:pPr>
            <a:r>
              <a:rPr lang="en-US" sz="6000" b="1" spc="-150" kern="0" dirty="0">
                <a:solidFill>
                  <a:srgbClr val="F08A3C"/>
                </a:solidFill>
                <a:latin typeface="Space Grotesk" pitchFamily="34" charset="0"/>
                <a:ea typeface="Space Grotesk" pitchFamily="34" charset="-122"/>
                <a:cs typeface="Space Grotesk" pitchFamily="34" charset="-120"/>
              </a:rPr>
              <a:t>Accionable.</a:t>
            </a:r>
            <a:endParaRPr lang="en-US" sz="6000" dirty="0"/>
          </a:p>
        </p:txBody>
      </p:sp>
      <p:sp>
        <p:nvSpPr>
          <p:cNvPr id="4" name="Text 2"/>
          <p:cNvSpPr/>
          <p:nvPr/>
        </p:nvSpPr>
        <p:spPr>
          <a:xfrm>
            <a:off x="812767" y="4395428"/>
            <a:ext cx="7194550" cy="665526"/>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CD2"/>
                </a:solidFill>
                <a:latin typeface="IBM Plex Sans" pitchFamily="34" charset="0"/>
                <a:ea typeface="IBM Plex Sans" pitchFamily="34" charset="-122"/>
                <a:cs typeface="IBM Plex Sans" pitchFamily="34" charset="-120"/>
              </a:rPr>
              <a:t>Todo feature que no mejore una de estas tres propiedades queda fuera del MVP.</a:t>
            </a:r>
            <a:endParaRPr lang="en-US" sz="1800" dirty="0"/>
          </a:p>
        </p:txBody>
      </p:sp>
      <p:sp>
        <p:nvSpPr>
          <p:cNvPr id="5" name="Text 3"/>
          <p:cNvSpPr/>
          <p:nvPr/>
        </p:nvSpPr>
        <p:spPr>
          <a:xfrm>
            <a:off x="812767" y="5814095"/>
            <a:ext cx="10883460" cy="25653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EA3AC"/>
                </a:solidFill>
                <a:latin typeface="IBM Plex Mono" pitchFamily="34" charset="0"/>
                <a:ea typeface="IBM Plex Mono" pitchFamily="34" charset="-122"/>
                <a:cs typeface="IBM Plex Mono" pitchFamily="34" charset="-120"/>
              </a:rPr>
              <a:t>Gracias · ¿Preguntas?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VisionOps Industrial</dc:title>
  <dc:subject>PptxGenJS Presentation</dc:subject>
  <dc:creator>PptxGenJS</dc:creator>
  <cp:lastModifiedBy>PptxGenJS</cp:lastModifiedBy>
  <cp:revision>1</cp:revision>
  <dcterms:created xsi:type="dcterms:W3CDTF">2026-09-28T20:23:57Z</dcterms:created>
  <dcterms:modified xsi:type="dcterms:W3CDTF">2026-09-28T20:23:57Z</dcterms:modified>
</cp:coreProperties>
</file>