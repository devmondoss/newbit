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NEWBIT  |  COMPUTER VISION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26680" y="1645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 · Lean + Kanban + Scrum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7453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NEWBIT · Arquitectura y plan de construcción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594360"/>
            <a:ext cx="475488" cy="475488"/>
          </a:xfrm>
          <a:prstGeom prst="rect">
            <a:avLst/>
          </a:prstGeom>
          <a:solidFill>
            <a:srgbClr val="153B5D">
              <a:alpha val="85000"/>
            </a:srgbClr>
          </a:solidFill>
          <a:ln w="12700">
            <a:solidFill>
              <a:srgbClr val="1D4E6D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9288" y="941832"/>
            <a:ext cx="475488" cy="475488"/>
          </a:xfrm>
          <a:prstGeom prst="rect">
            <a:avLst/>
          </a:prstGeom>
          <a:solidFill>
            <a:srgbClr val="12304A">
              <a:alpha val="85000"/>
            </a:srgbClr>
          </a:solidFill>
          <a:ln w="12700">
            <a:solidFill>
              <a:srgbClr val="1D4E6D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7656" y="594360"/>
            <a:ext cx="475488" cy="475488"/>
          </a:xfrm>
          <a:prstGeom prst="rect">
            <a:avLst/>
          </a:prstGeom>
          <a:solidFill>
            <a:srgbClr val="153B5D">
              <a:alpha val="85000"/>
            </a:srgbClr>
          </a:solidFill>
          <a:ln w="12700">
            <a:solidFill>
              <a:srgbClr val="1D4E6D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36024" y="941832"/>
            <a:ext cx="475488" cy="475488"/>
          </a:xfrm>
          <a:prstGeom prst="rect">
            <a:avLst/>
          </a:prstGeom>
          <a:solidFill>
            <a:srgbClr val="12304A">
              <a:alpha val="85000"/>
            </a:srgbClr>
          </a:solidFill>
          <a:ln w="12700">
            <a:solidFill>
              <a:srgbClr val="1D4E6D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94392" y="594360"/>
            <a:ext cx="475488" cy="475488"/>
          </a:xfrm>
          <a:prstGeom prst="rect">
            <a:avLst/>
          </a:prstGeom>
          <a:solidFill>
            <a:srgbClr val="153B5D">
              <a:alpha val="85000"/>
            </a:srgbClr>
          </a:solidFill>
          <a:ln w="12700">
            <a:solidFill>
              <a:srgbClr val="1D4E6D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941832"/>
            <a:ext cx="475488" cy="475488"/>
          </a:xfrm>
          <a:prstGeom prst="rect">
            <a:avLst/>
          </a:prstGeom>
          <a:solidFill>
            <a:srgbClr val="12304A">
              <a:alpha val="85000"/>
            </a:srgbClr>
          </a:solidFill>
          <a:ln w="12700">
            <a:solidFill>
              <a:srgbClr val="1D4E6D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1874520"/>
            <a:ext cx="2560320" cy="2560320"/>
          </a:xfrm>
          <a:prstGeom prst="ellipse">
            <a:avLst/>
          </a:prstGeom>
          <a:solidFill>
            <a:srgbClr val="0F2840">
              <a:alpha val="95000"/>
            </a:srgbClr>
          </a:solidFill>
          <a:ln w="25400">
            <a:solidFill>
              <a:srgbClr val="00B8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9720" y="2651760"/>
            <a:ext cx="1005840" cy="1005840"/>
          </a:xfrm>
          <a:prstGeom prst="ellipse">
            <a:avLst/>
          </a:prstGeom>
          <a:solidFill>
            <a:srgbClr val="00B8A9">
              <a:alpha val="96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">
            <a:off x="7882128" y="1335024"/>
            <a:ext cx="3611880" cy="3611880"/>
          </a:xfrm>
          <a:prstGeom prst="arc">
            <a:avLst/>
          </a:prstGeom>
          <a:solidFill>
            <a:srgbClr val="0B132B">
              <a:alpha val="0"/>
            </a:srgbClr>
          </a:solidFill>
          <a:ln w="25400">
            <a:solidFill>
              <a:srgbClr val="48CAE4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914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NEWBIT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94944" y="1755648"/>
            <a:ext cx="5897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4E7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plataforma de Computer Vision que convierte cámaras existentes en sensores inteligentes configurables para operaciones industriales.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" y="38953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2B3"/>
                </a:solidFill>
              </a:rPr>
              <a:t>Arquitectura · MVP · Stack · Validación · Roadmap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45994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654296"/>
            <a:ext cx="1161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COMPUTER VISION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66544" y="4599432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4654296"/>
            <a:ext cx="886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INDUSTRIAL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45536" y="4599432"/>
            <a:ext cx="978408" cy="310896"/>
          </a:xfrm>
          <a:prstGeom prst="roundRect">
            <a:avLst>
              <a:gd name="adj" fmla="val 47059"/>
            </a:avLst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4654296"/>
            <a:ext cx="905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EVENT-DRIVEN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" y="5961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Proyecto de Software Engineering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Visión del producto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NEWBIT no es un “detector de cascos”: es una capa configurable entre cámaras y operaciones.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64008" cy="205740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22960" y="1956816"/>
            <a:ext cx="3072384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Cámaras existentes, webcam, archivos MP4 y posteriormente streams RTSP.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89120" y="1481328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81328"/>
            <a:ext cx="64008" cy="20574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53712" y="1956816"/>
            <a:ext cx="3072384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 + tracking + zonas + reglas convierten pixeles en contexto operativo.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19872" y="1481328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481328"/>
            <a:ext cx="64008" cy="20574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84464" y="1956816"/>
            <a:ext cx="3072384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únicos con evidencia, metadata y contexto listos para revisión humana.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188720" y="4160520"/>
            <a:ext cx="9802368" cy="1252728"/>
          </a:xfrm>
          <a:prstGeom prst="roundRect">
            <a:avLst>
              <a:gd name="adj" fmla="val 5839"/>
            </a:avLst>
          </a:prstGeom>
          <a:solidFill>
            <a:srgbClr val="ECFDF3"/>
          </a:solidFill>
          <a:ln w="13970">
            <a:solidFill>
              <a:srgbClr val="A6F4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389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TESIS CENTRAL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43159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5603A"/>
                </a:solidFill>
              </a:rPr>
              <a:t>El valor no está en “ver cajas de detección”, sino en transformar video en eventos correctos, a tiempo y accionables.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926080" y="48463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27A48"/>
                </a:solidFill>
              </a:rPr>
              <a:t>El EPP es el primer caso de uso; el producto completo es el motor configurable.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1–4.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Problema que NEWBIT resuelve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industria, tener CCTV no equivale a tener detección operacional continua.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2D20"/>
                </a:solidFill>
              </a:rPr>
              <a:t>BRECHA ACTUAL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011680" cy="658368"/>
          </a:xfrm>
          <a:prstGeom prst="roundRect">
            <a:avLst>
              <a:gd name="adj" fmla="val 6944"/>
            </a:avLst>
          </a:prstGeom>
          <a:solidFill>
            <a:srgbClr val="FEF3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Mundo real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(persona + zona)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828800"/>
            <a:ext cx="2011680" cy="658368"/>
          </a:xfrm>
          <a:prstGeom prst="roundRect">
            <a:avLst>
              <a:gd name="adj" fmla="val 694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8745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Cámara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(graba video)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2011680" cy="658368"/>
          </a:xfrm>
          <a:prstGeom prst="roundRect">
            <a:avLst>
              <a:gd name="adj" fmla="val 6944"/>
            </a:avLst>
          </a:prstGeom>
          <a:solidFill>
            <a:srgbClr val="FFFA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18745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Observación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humana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20116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8745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Hallazgo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1828"/>
                </a:solidFill>
              </a:rPr>
              <a:t>registrado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157984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157984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2157984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78992" y="2971800"/>
            <a:ext cx="10012680" cy="987552"/>
          </a:xfrm>
          <a:prstGeom prst="roundRect">
            <a:avLst>
              <a:gd name="adj" fmla="val 5556"/>
            </a:avLst>
          </a:prstGeom>
          <a:solidFill>
            <a:srgbClr val="F2F4F7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Problema: inspecciones, observación y reportes no pueden cubrir todos los puntos y momentos de forma continua. El video existe, pero por sí solo no produce un evento operativo listo para actuar.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389120"/>
            <a:ext cx="64008" cy="118872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potencial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298094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una brecha entre “lo que ocurrió” y “cuándo alguien se enteró”.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434840" y="43891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4389120"/>
            <a:ext cx="64008" cy="118872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Oportunidad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599432" y="4864608"/>
            <a:ext cx="298094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cámaras existentes como infraestructura sensorial sin reemplazar el sistema SST.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138160" y="43891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4389120"/>
            <a:ext cx="64008" cy="118872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4535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valor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8302752" y="4864608"/>
            <a:ext cx="298094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detección solo importa si termina en una acción útil para un supervisor.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2–4.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Usuarios y Jobs To Be Done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se diseña alrededor de quién configura, quién recibe eventos y quién analiza patrones.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94944" y="1417320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17320"/>
            <a:ext cx="82296" cy="841248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54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Supervisor SST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35808" y="1527048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Saber dónde y cuándo ocurre una condición insegura sin mirar video continuamente.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7973568" y="152704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Revisa evidencia y decide una acción.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" y="2532888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532888"/>
            <a:ext cx="82296" cy="84124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Supervisor operativo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2642616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Detectar una condición que requiere intervención en su zona.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973568" y="264261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Reduce el tiempo ocurrencia → conocimiento.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" y="3648456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648456"/>
            <a:ext cx="82296" cy="841248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85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Jefatura / analítica SST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35808" y="3758184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Entender recurrencia, zonas y tipos de desvío.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973568" y="375818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Trabaja con eventos estructurados, no horas de video.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" y="4764024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4764024"/>
            <a:ext cx="82296" cy="84124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90118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Administrador técnico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35808" y="4873752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Configurar cámaras, zonas y reglas sin reescribir el sistema.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973568" y="487375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Reutiliza el mismo núcleo para nuevos casos.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4.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Abstracción central del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núcleo debe entender objetos, tracks, zonas y reglas; no debe estar acoplado a “casco”.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EEF4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CAMERA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Fuente</a:t>
            </a:r>
            <a:endParaRPr lang="en-US" sz="1060" dirty="0"/>
          </a:p>
        </p:txBody>
      </p:sp>
      <p:sp>
        <p:nvSpPr>
          <p:cNvPr id="6" name="Shape 4"/>
          <p:cNvSpPr/>
          <p:nvPr/>
        </p:nvSpPr>
        <p:spPr>
          <a:xfrm>
            <a:off x="1792224" y="2432304"/>
            <a:ext cx="292608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E0F2F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DETECTOR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Objetos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328416" y="2432304"/>
            <a:ext cx="292608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39312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ECFDF3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TRACK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Identidad temporal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864608" y="2432304"/>
            <a:ext cx="292608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75504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ZONE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Contexto espacial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400800" y="2432304"/>
            <a:ext cx="292608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11696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FFFAE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RULE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Condición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7936992" y="2432304"/>
            <a:ext cx="292608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47888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F4F3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EVENT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Evidencia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473184" y="2432304"/>
            <a:ext cx="292608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2011680"/>
            <a:ext cx="1207008" cy="841248"/>
          </a:xfrm>
          <a:prstGeom prst="roundRect">
            <a:avLst>
              <a:gd name="adj" fmla="val 5435"/>
            </a:avLst>
          </a:prstGeom>
          <a:solidFill>
            <a:srgbClr val="FEF3F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2057400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ACTION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01828"/>
                </a:solidFill>
              </a:rPr>
              <a:t>Humano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051560" y="3703320"/>
            <a:ext cx="1010412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39776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</a:rPr>
              <a:t>Consecuencia arquitectónica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03320" y="3886200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</a:rPr>
              <a:t>Agregar un nuevo caso de uso debería significar configurar otra regla, otra zona o nuevas clases del detector — no rehacer backend, base de datos y dashboard.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703320" y="4599432"/>
            <a:ext cx="6720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467"/>
                </a:solidFill>
              </a:rPr>
              <a:t>Ejemplos previstos: EPP, zonas restringidas, persona–montacargas, permanencia y conteos.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4.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Arquitectura end-to-end de NEWBIT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versión reproduce el patrón de video analytics con herramientas simples y una sola fuente.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207008" cy="804672"/>
          </a:xfrm>
          <a:prstGeom prst="roundRect">
            <a:avLst>
              <a:gd name="adj" fmla="val 5682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011680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1828"/>
                </a:solidFill>
              </a:rPr>
              <a:t>Webcam / MP4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01828"/>
                </a:solidFill>
              </a:rPr>
              <a:t>RTSP después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1737360" y="2368296"/>
            <a:ext cx="109728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74520" y="1965960"/>
            <a:ext cx="1143000" cy="804672"/>
          </a:xfrm>
          <a:prstGeom prst="roundRect">
            <a:avLst>
              <a:gd name="adj" fmla="val 5682"/>
            </a:avLst>
          </a:prstGeom>
          <a:solidFill>
            <a:srgbClr val="EEF4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2011680"/>
            <a:ext cx="996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70EF"/>
                </a:solidFill>
              </a:rPr>
              <a:t>OpenCV /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570EF"/>
                </a:solidFill>
              </a:rPr>
              <a:t>FFmpeg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044952" y="2368296"/>
            <a:ext cx="109728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82112" y="1965960"/>
            <a:ext cx="1143000" cy="804672"/>
          </a:xfrm>
          <a:prstGeom prst="roundRect">
            <a:avLst>
              <a:gd name="adj" fmla="val 5682"/>
            </a:avLst>
          </a:prstGeom>
          <a:solidFill>
            <a:srgbClr val="E0F2F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2011680"/>
            <a:ext cx="996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369A1"/>
                </a:solidFill>
              </a:rPr>
              <a:t>YOLO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369A1"/>
                </a:solidFill>
              </a:rPr>
              <a:t>Detector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52544" y="2368296"/>
            <a:ext cx="109728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9704" y="1965960"/>
            <a:ext cx="1143000" cy="804672"/>
          </a:xfrm>
          <a:prstGeom prst="roundRect">
            <a:avLst>
              <a:gd name="adj" fmla="val 5682"/>
            </a:avLst>
          </a:prstGeom>
          <a:solidFill>
            <a:srgbClr val="ECFDF3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011680"/>
            <a:ext cx="996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27A48"/>
                </a:solidFill>
              </a:rPr>
              <a:t>ByteTrack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27A48"/>
                </a:solidFill>
              </a:rPr>
              <a:t>Tracking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660136" y="2368296"/>
            <a:ext cx="109728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97296" y="196596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AE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2011680"/>
            <a:ext cx="1179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54708"/>
                </a:solidFill>
              </a:rPr>
              <a:t>Zone +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B54708"/>
                </a:solidFill>
              </a:rPr>
              <a:t>Rule Engine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50608" y="2368296"/>
            <a:ext cx="137160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1965960"/>
            <a:ext cx="1280160" cy="804672"/>
          </a:xfrm>
          <a:prstGeom prst="roundRect">
            <a:avLst>
              <a:gd name="adj" fmla="val 5682"/>
            </a:avLst>
          </a:prstGeom>
          <a:solidFill>
            <a:srgbClr val="F4F3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201168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925DC"/>
                </a:solidFill>
              </a:rPr>
              <a:t>Event Engine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5925DC"/>
                </a:solidFill>
              </a:rPr>
              <a:t>+ Snapshot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622792" y="2368296"/>
            <a:ext cx="146304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96528" y="1965960"/>
            <a:ext cx="1078992" cy="804672"/>
          </a:xfrm>
          <a:prstGeom prst="roundRect">
            <a:avLst>
              <a:gd name="adj" fmla="val 5682"/>
            </a:avLst>
          </a:prstGeom>
          <a:solidFill>
            <a:srgbClr val="FEF3F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201168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2318"/>
                </a:solidFill>
              </a:rPr>
              <a:t>FastAPI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0104120" y="1490472"/>
            <a:ext cx="1600200" cy="694944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77272" y="1536192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1828"/>
                </a:solidFill>
              </a:rPr>
              <a:t>PostgreSQL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01828"/>
                </a:solidFill>
              </a:rPr>
              <a:t>Metadata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10104120" y="2395728"/>
            <a:ext cx="1600200" cy="694944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2441448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1828"/>
                </a:solidFill>
              </a:rPr>
              <a:t>Next.js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01828"/>
                </a:solidFill>
              </a:rPr>
              <a:t>Dashboard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875520" y="2121408"/>
            <a:ext cx="182880" cy="-292608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2212848"/>
            <a:ext cx="182880" cy="51206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</a:rPr>
              <a:t>FLUJO DE DATOS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703320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" y="37581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Capturar frames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32888" y="3703320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9464" y="37581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Inferir objetos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79976" y="3703320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37581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Mantener IDs temporales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27064" y="3703320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7581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4. Evaluar zona + condición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74152" y="3703320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37581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5. Deduplicar y emitir evento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21240" y="3703320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57816" y="37581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6. Persistir + visualizar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05840" y="4773168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Principio: una sola cadena funcional de extremo a extremo antes de introducir infraestructura distribuida.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5 y 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Responsabilidad de cada módulo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percepción, lógica y producto permite evolucionar cada capa sin romper el resto.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67512" y="1298448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408176"/>
            <a:ext cx="292608" cy="292608"/>
          </a:xfrm>
          <a:prstGeom prst="ellipse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45389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298448" y="13990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Video Ingestion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2971800" y="137160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Abre la fuente, normaliza frames y expone estado de la cámara.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32520" y="13716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OpenCV / FFmpeg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7512" y="1956816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066544"/>
            <a:ext cx="292608" cy="292608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11226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02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1298448" y="2057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Detection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971800" y="2029968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Detecta clases relevantes por frame.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32520" y="20299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YOLO nano o equivalente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" y="2615184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2724912"/>
            <a:ext cx="292608" cy="292608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77063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03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1298448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Tracking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2971800" y="2688336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Mantiene un ID temporal por objeto/persona.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32520" y="268833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ByteTrack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7512" y="3273552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3383280"/>
            <a:ext cx="292608" cy="292608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429000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04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1298448" y="33741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Zone Engine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2971800" y="3346704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Determina si un track entra, sale o permanece en una ROI.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32520" y="334670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Polígonos + geometría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" y="3931920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" y="4041648"/>
            <a:ext cx="292608" cy="29260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4087368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05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1298448" y="40325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Rule Engine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2971800" y="4005072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Combina clase, zona, tiempo y atributos para evaluar condiciones.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32520" y="40050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Python configurable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" y="4590288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" y="4700016"/>
            <a:ext cx="292608" cy="292608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4745736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06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1298448" y="4690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Event Engine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2971800" y="466344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Aplica persistencia, deduplicación y cooldown; crea evidencia.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32520" y="46634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Contrato de evento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7512" y="5248656"/>
            <a:ext cx="108813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" y="5358384"/>
            <a:ext cx="292608" cy="292608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5404104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07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1298448" y="5349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API / Data / UI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2971800" y="5321808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Persiste, consulta y presenta eventos e historial.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32520" y="53218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FastAPI + PostgreSQL + Next.js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5 y 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Capa de ingestión de video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cámara es una fuente; NEWBIT debe abstraerla para que el resto del sistema no dependa del origen.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64008" cy="160020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17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50392" y="1847088"/>
            <a:ext cx="298094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Archivo MP4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Webcam 720p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Procesamiento local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Estado de la fuente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371600"/>
            <a:ext cx="64008" cy="16002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17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99432" y="1847088"/>
            <a:ext cx="298094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Cámara IP 1080p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RTSP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Ethernet estable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GStreamer / DeepStream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83880" y="137160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371600"/>
            <a:ext cx="64008" cy="16002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17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48472" y="1847088"/>
            <a:ext cx="298094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frames consistentes al detector y aislar reconexión, FPS, resolución y errores de cámara.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49808" y="3337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</a:rPr>
              <a:t>CONTRATO INTERNO PROPUESTO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12464"/>
            <a:ext cx="10744200" cy="1234440"/>
          </a:xfrm>
          <a:prstGeom prst="roundRect">
            <a:avLst>
              <a:gd name="adj" fmla="val 3704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08736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FramePacket = { camera_id, timestamp, frame, width, height, fps, source_status 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2303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Esto es una propuesta de diseño para desacoplar el pipeline; el documento base define las fuentes y el stack, no un contrato exacto.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Basado en Product Discovery v0.1, pp. 5, 7 y 8. El contrato interno es una propuesta de implementación.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Capa de detección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detector responde “qué hay en el frame”; todavía no decide si existe un incumplimiento.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74520"/>
            <a:ext cx="1728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70EF"/>
                </a:solidFill>
              </a:rPr>
              <a:t>FRAME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18288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1874520"/>
            <a:ext cx="1728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YOLO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828800"/>
            <a:ext cx="2514600" cy="749808"/>
          </a:xfrm>
          <a:prstGeom prst="roundRect">
            <a:avLst>
              <a:gd name="adj" fmla="val 6098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5232" y="1874520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DETECCIONES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(clase + bbox + confidence)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2834640" cy="749808"/>
          </a:xfrm>
          <a:prstGeom prst="roundRect">
            <a:avLst>
              <a:gd name="adj" fmla="val 6098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874520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318"/>
                </a:solidFill>
              </a:rPr>
              <a:t>NO ES UN EVENTO AÚN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2203704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2203704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2203704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" y="32461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46120"/>
            <a:ext cx="64008" cy="150876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3924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inicial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41832" y="3721608"/>
            <a:ext cx="302666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Ultralytics YOLO nano o equivalente para demo rápida; GPU dedicada no es obligatoria.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434840" y="32461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246120"/>
            <a:ext cx="64008" cy="150876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3924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de arranque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599432" y="3721608"/>
            <a:ext cx="302666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Construction-PPE: 1,416 imágenes y 11 clases. Sirve para acelerar, no para validar el entorno final.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092440" y="32461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3246120"/>
            <a:ext cx="64008" cy="150876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33924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real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257032" y="3721608"/>
            <a:ext cx="302666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Iluminación, oclusión, objetos pequeños y domain shift obligan a probar con imágenes representativas de la planta.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737360" y="52578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Regla de diseño: evaluar eventos, no frames aislados.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3, 7 y 8; ref. [10].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Tracking y consistencia temporal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ByteTrack permite mantener identidad temporal para no tratar cada frame como una persona nueva.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2D20"/>
                </a:solidFill>
              </a:rPr>
              <a:t>SIN TRACKING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Persona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?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1938528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Persona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?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3145536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Persona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?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352544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Persona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B42318"/>
                </a:solidFill>
              </a:rPr>
              <a:t>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822960" y="2688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Cada frame puede disparar lógica redundante.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CON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ID 42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Persona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653528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ID 42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Persona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3688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ID 42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Persona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10067544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0696" y="187452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ID 42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27A48"/>
                </a:solidFill>
              </a:rPr>
              <a:t>Persona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537960" y="2688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Un mismo track acumula contexto y tiempo.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7280" y="3730752"/>
            <a:ext cx="1001268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977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</a:rPr>
              <a:t>Tracking habilita tres controles clave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39502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</a:rPr>
              <a:t>persistencia temporal  ·  cooldown por track/regla  ·  deduplicación de alertas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508760" y="5184648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475467"/>
                </a:solidFill>
              </a:rPr>
              <a:t>El MVP exige un único evento por persona/regla durante el cooldown configurado.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5 y 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Zonas y Rule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NEWBIT deja de ser un detector y se convierte en una plataforma configurable.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64008" cy="146304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50392" y="1801368"/>
            <a:ext cx="293522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Polígono virtual asociado a una cámara. Define el contexto espacial donde una condición importa.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62272" y="13258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62272" y="1325880"/>
            <a:ext cx="64008" cy="14630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4721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26864" y="1801368"/>
            <a:ext cx="293522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objeto/atributo + zona + ventana temporal + condición + cooldown.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325880"/>
            <a:ext cx="64008" cy="14630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4721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94192" y="1801368"/>
            <a:ext cx="293522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/ false por track. Solo una condición persistente puede avanzar al Event Engine.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</a:rPr>
              <a:t>EJEMPLO DEL PRIMER EXPERIMENTO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118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657600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1828"/>
                </a:solidFill>
              </a:rPr>
              <a:t>track.class = person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2990088" y="36118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657600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1828"/>
                </a:solidFill>
              </a:rPr>
              <a:t>inside(zone_A)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202936" y="36118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3657600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1828"/>
                </a:solidFill>
              </a:rPr>
              <a:t>helmet = false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7415784" y="36118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3657600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1828"/>
                </a:solidFill>
              </a:rPr>
              <a:t>duration ≥ T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9628632" y="36118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01784" y="3657600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→ EVENT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3941064"/>
            <a:ext cx="292608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64608" y="3941064"/>
            <a:ext cx="292608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77456" y="3941064"/>
            <a:ext cx="292608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90304" y="3941064"/>
            <a:ext cx="292608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280160" y="4709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Persona entra en zona operacional sin casco requerido durante una ventana mínima.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2, 4 y 5.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Event Engine: de condición a evidencia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evento es la unidad de valor del producto; debe ser único, trazable y revisable.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804672" y="18288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AE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74520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B54708"/>
                </a:solidFill>
              </a:rPr>
              <a:t>Condición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B54708"/>
                </a:solidFill>
              </a:rPr>
              <a:t>activa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2432304" y="2249424"/>
            <a:ext cx="539496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18288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1874520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Ventana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temporal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645152" y="2249424"/>
            <a:ext cx="539496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30368" y="18288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74520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Cooldown /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dedup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858000" y="2249424"/>
            <a:ext cx="539496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43216" y="18288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4F3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1874520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5925DC"/>
                </a:solidFill>
              </a:rPr>
              <a:t>Snapshot +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5925DC"/>
                </a:solidFill>
              </a:rPr>
              <a:t>metadata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070848" y="2249424"/>
            <a:ext cx="539496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56064" y="182880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ECFDF3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1874520"/>
            <a:ext cx="1453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27A48"/>
                </a:solidFill>
              </a:rPr>
              <a:t>Evento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027A48"/>
                </a:solidFill>
              </a:rPr>
              <a:t>persistido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</a:rPr>
              <a:t>Contrato mínimo del evento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61188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66674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timestamp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61188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366674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camera_id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361188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43016" y="366674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zone_id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75320" y="361188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3666744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rule_id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" y="4123944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178808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track_id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4123944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4178808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confidence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06440" y="4123944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3016" y="4178808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snapshot_uri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75320" y="4123944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4178808"/>
            <a:ext cx="2075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207008" y="4864608"/>
            <a:ext cx="9738360" cy="749808"/>
          </a:xfrm>
          <a:prstGeom prst="roundRect">
            <a:avLst>
              <a:gd name="adj" fmla="val 7317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508406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849A9"/>
                </a:solidFill>
              </a:rPr>
              <a:t>Trazabilidad requerida: cada evento conserva cuándo ocurrió, dónde, qué regla lo produjo y qué evidencia visual lo respalda.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5. Campos track_id/status son propuestas de implementación.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Backend, API y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backend no procesa “inteligencia visual”: expone configuración, eventos, evidencia y consulta histórica.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057400" cy="749808"/>
          </a:xfrm>
          <a:prstGeom prst="roundRect">
            <a:avLst>
              <a:gd name="adj" fmla="val 6098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0020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CV / Rule Engine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554480"/>
            <a:ext cx="2057400" cy="749808"/>
          </a:xfrm>
          <a:prstGeom prst="roundRect">
            <a:avLst>
              <a:gd name="adj" fmla="val 6098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60020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318"/>
                </a:solidFill>
              </a:rPr>
              <a:t>FastAPI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2057400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160020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9A9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5320" y="1554480"/>
            <a:ext cx="2057400" cy="749808"/>
          </a:xfrm>
          <a:prstGeom prst="roundRect">
            <a:avLst>
              <a:gd name="adj" fmla="val 6098"/>
            </a:avLst>
          </a:prstGeom>
          <a:solidFill>
            <a:srgbClr val="F4F3FF"/>
          </a:solidFill>
          <a:ln w="12700">
            <a:solidFill>
              <a:srgbClr val="D9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160020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25DC"/>
                </a:solidFill>
              </a:rPr>
              <a:t>Next.js 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1929384"/>
            <a:ext cx="41148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1929384"/>
            <a:ext cx="41148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1929384"/>
            <a:ext cx="41148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27889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788920"/>
            <a:ext cx="64008" cy="196596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9352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 principales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96112" y="3264408"/>
            <a:ext cx="2935224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462272" y="27889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2788920"/>
            <a:ext cx="64008" cy="196596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9352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Operaciones API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626864" y="3264408"/>
            <a:ext cx="2935224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fuente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Guardar/editar zona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Asociar regla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eventos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historial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183880" y="27889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83880" y="2788920"/>
            <a:ext cx="64008" cy="19659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29352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348472" y="3264408"/>
            <a:ext cx="2935224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en PostgreSQL. Snapshots separados del registro de evento cuando evolucione el almacenamiento.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467"/>
                </a:solidFill>
              </a:rPr>
              <a:t>El documento base propone PostgreSQL + object storage como evolución posterior.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5 y 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Dashboard: la capa operacional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frontend debe ayudar a revisar eventos y configurar el sistema; no convertirse en un “demo de IA”.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75895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463040" cy="443484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NEWBIT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Eventos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98A2B3"/>
                </a:solidFill>
              </a:rPr>
              <a:t>Cámaras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914400" y="33741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98A2B3"/>
                </a:solidFill>
              </a:rPr>
              <a:t>Zonas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98A2B3"/>
                </a:solidFill>
              </a:rPr>
              <a:t>Reglas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914400" y="45079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98A2B3"/>
                </a:solidFill>
              </a:rPr>
              <a:t>Historial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42316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Eventos recientes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95728" y="2148840"/>
            <a:ext cx="5394960" cy="713232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276856"/>
            <a:ext cx="868680" cy="457200"/>
          </a:xfrm>
          <a:prstGeom prst="rect">
            <a:avLst/>
          </a:prstGeom>
          <a:solidFill>
            <a:srgbClr val="D1FAD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2585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Zona A · Sin casco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3611880" y="25237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467"/>
                </a:solidFill>
              </a:rPr>
              <a:t>Regla EPP-01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29400" y="2331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467"/>
                </a:solidFill>
              </a:rPr>
              <a:t>14:32:08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95728" y="3081528"/>
            <a:ext cx="5394960" cy="713232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209544"/>
            <a:ext cx="868680" cy="457200"/>
          </a:xfrm>
          <a:prstGeom prst="rect">
            <a:avLst/>
          </a:prstGeom>
          <a:solidFill>
            <a:srgbClr val="D1FAD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1912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Zona A · Sin casco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3611880" y="3456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467"/>
                </a:solidFill>
              </a:rPr>
              <a:t>Regla EPP-01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29400" y="3264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467"/>
                </a:solidFill>
              </a:rPr>
              <a:t>14:28:55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95728" y="4014216"/>
            <a:ext cx="5394960" cy="713232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4142232"/>
            <a:ext cx="868680" cy="457200"/>
          </a:xfrm>
          <a:prstGeom prst="rect">
            <a:avLst/>
          </a:prstGeom>
          <a:solidFill>
            <a:srgbClr val="FEF0C7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41239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01828"/>
                </a:solidFill>
              </a:rPr>
              <a:t>Zona B · Permanencia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3611880" y="4389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467"/>
                </a:solidFill>
              </a:rPr>
              <a:t>Regla OPS-02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29400" y="419709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75467"/>
                </a:solidFill>
              </a:rPr>
              <a:t>14:17:10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41080" y="14173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41080" y="1417320"/>
            <a:ext cx="64008" cy="114300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5672" y="1563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805672" y="1892808"/>
            <a:ext cx="243230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Crear/editar zonas y asociar EPP o reglas.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641080" y="2761488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41080" y="2761488"/>
            <a:ext cx="64008" cy="11430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05672" y="2907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805672" y="3236976"/>
            <a:ext cx="243230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evidencia y contexto de cada evento.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641080" y="4105656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41080" y="4105656"/>
            <a:ext cx="64008" cy="11430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05672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805672" y="4581144"/>
            <a:ext cx="243230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por fecha, cámara, zona y tipo de regla.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5 y 7. Mockup conceptual, no interfaz final.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Arquitectura de despliegue del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Primero: sistema local, una cámara, una regla y una cadena completa demostrable.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011680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65960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8"/>
                </a:solidFill>
              </a:rPr>
              <a:t>Webcam / MP4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508760"/>
            <a:ext cx="3703320" cy="1627632"/>
          </a:xfrm>
          <a:prstGeom prst="roundRect">
            <a:avLst>
              <a:gd name="adj" fmla="val 2809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1554480"/>
            <a:ext cx="35570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9A9"/>
                </a:solidFill>
              </a:rPr>
              <a:t>LAPTOP / DESKTOP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49A9"/>
                </a:solidFill>
              </a:rPr>
              <a:t>Docker Compose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49A9"/>
                </a:solidFill>
              </a:rPr>
              <a:t>CV Engine + FastAPI + PostgreSQL + Next.js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2011680" cy="804672"/>
          </a:xfrm>
          <a:prstGeom prst="roundRect">
            <a:avLst>
              <a:gd name="adj" fmla="val 5682"/>
            </a:avLst>
          </a:prstGeom>
          <a:solidFill>
            <a:srgbClr val="F4F3FF"/>
          </a:solidFill>
          <a:ln w="12700">
            <a:solidFill>
              <a:srgbClr val="D9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42632" y="1965960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25DC"/>
                </a:solidFill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925DC"/>
                </a:solidFill>
              </a:rPr>
              <a:t>local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46920" y="1920240"/>
            <a:ext cx="1828800" cy="804672"/>
          </a:xfrm>
          <a:prstGeom prst="roundRect">
            <a:avLst>
              <a:gd name="adj" fmla="val 5682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20072" y="196596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322576"/>
            <a:ext cx="36576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2322576"/>
            <a:ext cx="36576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81160" y="2322576"/>
            <a:ext cx="320040" cy="0"/>
          </a:xfrm>
          <a:prstGeom prst="line">
            <a:avLst/>
          </a:prstGeom>
          <a:noFill/>
          <a:ln w="2286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9808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</a:rPr>
              <a:t>Hardware mínimo sugerido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24528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24528"/>
            <a:ext cx="64008" cy="1024128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370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96112" y="4700016"/>
            <a:ext cx="21122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Laptop/desktop moderno; 16 GB RAM sugeridos.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383280" y="4224528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4224528"/>
            <a:ext cx="64008" cy="102412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4370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3547872" y="4700016"/>
            <a:ext cx="21122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 720p o archivo MP4.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224528"/>
            <a:ext cx="64008" cy="1024128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4370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199632" y="4700016"/>
            <a:ext cx="21122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obligatoria para un modelo nano.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686800" y="4224528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4224528"/>
            <a:ext cx="64008" cy="102412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51392" y="4370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851392" y="4700016"/>
            <a:ext cx="21122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crítica si todo corre local.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8.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Evolución de arquitectura para producción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ruta de escalado ya está planteada: optimizar video, inferencia, almacenamiento y despliegue edge/cloud.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70EF"/>
                </a:solidFill>
              </a:rPr>
              <a:t>MVP UNIVERSITARIO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</a:rPr>
              <a:t>ESCALADO POSTERIOR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Video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1874520" y="1709928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75564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OpenCV / FFmpeg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0" y="1709928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5564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GStreamer / DeepStream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3682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Detector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1874520" y="2276856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2322576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YOLO nano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2276856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32257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TensorRT / modelo optimizado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2935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Tracking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1874520" y="2843784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2889504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ByteTrack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843784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8895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DeepStream tracker / ByteTrack / BoT-SORT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3502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Reglas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1874520" y="3410712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3456432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Python local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3410712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45643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Servicio de reglas configurable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40690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API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1874520" y="3977640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47672" y="4023360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FastAPI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977640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402336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API + event bus si el volumen lo exige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4636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Datos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1874520" y="4544568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459028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PostgreSQL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4544568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45902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PostgreSQL + object storage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" y="5202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475467"/>
                </a:solidFill>
              </a:rPr>
              <a:t>Deploy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1874520" y="5111496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47672" y="5157216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8"/>
                </a:solidFill>
              </a:rPr>
              <a:t>Docker Compose local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5111496"/>
            <a:ext cx="4617720" cy="420624"/>
          </a:xfrm>
          <a:prstGeom prst="roundRect">
            <a:avLst>
              <a:gd name="adj" fmla="val 10870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51572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27A48"/>
                </a:solidFill>
              </a:rPr>
              <a:t>Edge node + cloud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325880" y="5715000"/>
            <a:ext cx="9601200" cy="438912"/>
          </a:xfrm>
          <a:prstGeom prst="roundRect">
            <a:avLst>
              <a:gd name="adj" fmla="val 10417"/>
            </a:avLst>
          </a:prstGeom>
          <a:solidFill>
            <a:srgbClr val="F4F3FF"/>
          </a:solidFill>
          <a:ln w="12700">
            <a:solidFill>
              <a:srgbClr val="D9D6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582472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5925DC"/>
                </a:solidFill>
              </a:rPr>
              <a:t>Principio de escalado: mover complejidad solo cuando el volumen de cámaras/eventos lo justifique.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MVP: qué se construye y qué se excluye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validar una cadena completa, no acumular features.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48"/>
                </a:solidFill>
              </a:rPr>
              <a:t>SÍ ENTRA EN EL MVP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83794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37360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Registrar una fuente MP4 o webcam.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43230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331720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Detectar persona y casco con un modelo ligero.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02666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26080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Mantener un ID temporal por persona.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20440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Definir zona virtual + regla de cumplimiento.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114800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Generar un único evento con ventana temporal y cooldown.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80974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709160"/>
            <a:ext cx="4590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</a:rPr>
              <a:t>Guardar metadata + evidencia y mostrar historial.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2D20"/>
                </a:solidFill>
              </a:rPr>
              <a:t>NO ENTRA POR AHORA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6208" y="1837944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37360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Reconocimiento facial o biometría.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36208" y="2347395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246811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Chat con IA / copiloto.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236208" y="2856847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56263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Heatmaps sin decisión operacional.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236208" y="3366298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265714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Aplicación móvil nativa.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6236208" y="3875750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775166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15 clases de EPP desde el primer Sprint.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6236208" y="4385201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284617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Kafka, Kubernetes o microservicios distribuidos.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236208" y="4894653"/>
            <a:ext cx="91440" cy="91440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794069"/>
            <a:ext cx="4818888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75467"/>
                </a:solidFill>
              </a:rPr>
              <a:t>Decisiones disciplinarias automáticas.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1143000" y="5532120"/>
            <a:ext cx="9921240" cy="475488"/>
          </a:xfrm>
          <a:prstGeom prst="roundRect">
            <a:avLst>
              <a:gd name="adj" fmla="val 9615"/>
            </a:avLst>
          </a:prstGeom>
          <a:solidFill>
            <a:srgbClr val="FFFA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5660136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B54708"/>
                </a:solidFill>
              </a:rPr>
              <a:t>Criterio: todo feature debe mejorar la corrección, oportunidad o accionabilidad del evento.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5.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Caso piloto: seguridad industrial / EPP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piloto demuestra la arquitectura completa con una sola regla operacional.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31520" y="1389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</a:rPr>
              <a:t>Regla piloto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789920" cy="786384"/>
          </a:xfrm>
          <a:prstGeom prst="roundRect">
            <a:avLst>
              <a:gd name="adj" fmla="val 581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84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70" b="1" dirty="0">
                <a:solidFill>
                  <a:srgbClr val="05603A"/>
                </a:solidFill>
              </a:rPr>
              <a:t>“Persona entra en una zona operacional sin casco requerido y la condición persiste durante la ventana mínima.”</a:t>
            </a:r>
            <a:endParaRPr lang="en-US" sz="1670" dirty="0"/>
          </a:p>
        </p:txBody>
      </p:sp>
      <p:sp>
        <p:nvSpPr>
          <p:cNvPr id="7" name="Shape 5"/>
          <p:cNvSpPr/>
          <p:nvPr/>
        </p:nvSpPr>
        <p:spPr>
          <a:xfrm>
            <a:off x="1051560" y="3090672"/>
            <a:ext cx="502920" cy="50292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Cámara observa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1600200" y="3337560"/>
            <a:ext cx="54864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79192" y="3090672"/>
            <a:ext cx="502920" cy="50292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67712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YOLO detecta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3227832" y="3337560"/>
            <a:ext cx="54864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06824" y="3090672"/>
            <a:ext cx="502920" cy="50292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ByteTrack asigna ID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855464" y="3337560"/>
            <a:ext cx="54864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34456" y="3090672"/>
            <a:ext cx="502920" cy="50292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4456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22976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Zone Engine ubica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483096" y="3337560"/>
            <a:ext cx="54864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62088" y="3090672"/>
            <a:ext cx="502920" cy="50292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0608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Rule Engine valida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110728" y="3337560"/>
            <a:ext cx="54864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3090672"/>
            <a:ext cx="502920" cy="50292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0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Event Engine deduplica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9738360" y="3337560"/>
            <a:ext cx="548640" cy="0"/>
          </a:xfrm>
          <a:prstGeom prst="line">
            <a:avLst/>
          </a:prstGeom>
          <a:noFill/>
          <a:ln w="1397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817352" y="3090672"/>
            <a:ext cx="502920" cy="50292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17352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05872" y="37307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1828"/>
                </a:solidFill>
              </a:rPr>
              <a:t>Supervisor revisa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1051560" y="516636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92D20"/>
                </a:solidFill>
              </a:rPr>
              <a:t>Si este evento no genera una acción útil para el supervisor, no existe razón para escalar el producto.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2 y 5.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Cómo se valida técnicamente el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métrica principal no es el mAP del modelo, sino el desempeño del evento completo.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81328"/>
            <a:ext cx="73152" cy="141732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467"/>
                </a:solidFill>
              </a:rPr>
              <a:t>Valor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≥ 80%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48840" y="177393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467"/>
                </a:solidFill>
              </a:rPr>
              <a:t>Eventos de prueba considerados “accionables”.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481328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81328"/>
            <a:ext cx="73152" cy="141732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467"/>
                </a:solidFill>
              </a:rPr>
              <a:t>Latencia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≤ 5 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177393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467"/>
                </a:solidFill>
              </a:rPr>
              <a:t>Desde cumplirse la regla hasta verse en dashboard.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138160" y="1481328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81328"/>
            <a:ext cx="73152" cy="14173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467"/>
                </a:solidFill>
              </a:rPr>
              <a:t>Duplicados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9328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≤ 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55480" y="177393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467"/>
                </a:solidFill>
              </a:rPr>
              <a:t>Evento por persona/regla durante cooldown.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31520" y="3328416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328416"/>
            <a:ext cx="73152" cy="141732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467"/>
                </a:solidFill>
              </a:rPr>
              <a:t>Precisión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7673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≥ 90%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48840" y="36210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467"/>
                </a:solidFill>
              </a:rPr>
              <a:t>En al menos 30 escenarios controlados.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434840" y="3328416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328416"/>
            <a:ext cx="73152" cy="14173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467"/>
                </a:solidFill>
              </a:rPr>
              <a:t>Recall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36008" y="37673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≥ 85%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52160" y="36210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467"/>
                </a:solidFill>
              </a:rPr>
              <a:t>En el mismo set de prueba.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138160" y="3328416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328416"/>
            <a:ext cx="73152" cy="141732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467"/>
                </a:solidFill>
              </a:rPr>
              <a:t>Estabilidad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39328" y="37673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30 min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555480" y="3621024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467"/>
                </a:solidFill>
              </a:rPr>
              <a:t>Ejecución continua sin caída para una fuente.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960120" y="5394960"/>
            <a:ext cx="1024128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55138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01828"/>
                </a:solidFill>
              </a:rPr>
              <a:t>Además: cada evento debe conservar timestamp, cámara, zona, regla y evidencia para permitir trazabilidad.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5.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Riesgos técnicos que pueden matar el producto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incorpora controles contra los fallos más probables en un entorno industrial real.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77240" y="1490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D92D20"/>
                </a:solidFill>
              </a:rPr>
              <a:t>Falsos positivos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2816352" y="1408176"/>
            <a:ext cx="0" cy="47548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463040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Ventana temporal + tracking + N frames + cooldown.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1828"/>
                </a:solidFill>
              </a:rPr>
              <a:t>Oclusión / distancia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816352" y="2121408"/>
            <a:ext cx="0" cy="47548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17627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ROI, cámara adecuada, threshold por clase y modelo adaptado.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77240" y="29169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1828"/>
                </a:solidFill>
              </a:rPr>
              <a:t>Iluminación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816352" y="2834640"/>
            <a:ext cx="0" cy="47548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889504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Muestras locales y pruebas por condición; iluminación/IR si corresponde.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1828"/>
                </a:solidFill>
              </a:rPr>
              <a:t>Domain shift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816352" y="3547872"/>
            <a:ext cx="0" cy="47548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3602736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Fine-tuning con datos representativos y evaluación por zona.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1828"/>
                </a:solidFill>
              </a:rPr>
              <a:t>Alert fatigue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2816352" y="4261104"/>
            <a:ext cx="0" cy="47548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4315968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Solo eventos accionables, severidad, deduplicación y rate limits.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77240" y="5056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1828"/>
                </a:solidFill>
              </a:rPr>
              <a:t>Cámara inadecuada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816352" y="4974336"/>
            <a:ext cx="0" cy="47548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5029200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467"/>
                </a:solidFill>
              </a:rPr>
              <a:t>Auditar ángulo/resolución antes de culpar al modelo.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1051560" y="5715000"/>
            <a:ext cx="10012680" cy="402336"/>
          </a:xfrm>
          <a:prstGeom prst="roundRect">
            <a:avLst>
              <a:gd name="adj" fmla="val 9091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5815584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2318"/>
                </a:solidFill>
              </a:rPr>
              <a:t>Diseño clave: evaluar eventos persistentes y contextualizados, no detecciones aisladas por frame.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8.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Privacidad y gobernanza desde el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videovigilancia con personas identificables implica tratamiento de datos personales.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" cy="132588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17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biometría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96112" y="1847088"/>
            <a:ext cx="2935224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usar reconocimiento facial en el MVP.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62272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62272" y="1371600"/>
            <a:ext cx="64008" cy="13258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517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Minimización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26864" y="1847088"/>
            <a:ext cx="2935224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preferentemente snapshots de eventos, no video continuo.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83880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371600"/>
            <a:ext cx="64008" cy="1325880"/>
          </a:xfrm>
          <a:prstGeom prst="rect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17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48472" y="1847088"/>
            <a:ext cx="2935224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/ prevención; no monitoreo general de productividad.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063240"/>
            <a:ext cx="64008" cy="13258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09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96112" y="3538728"/>
            <a:ext cx="2935224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logs de acceso y retención configurable.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62272" y="30632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62272" y="3063240"/>
            <a:ext cx="64008" cy="132588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209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Transparencia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626864" y="3538728"/>
            <a:ext cx="2935224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Aviso de videovigilancia y documentación de tratamiento.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183880" y="30632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sx="100000" sy="100000" kx="0" ky="0" algn="bl" rotWithShape="0" blurRad="15240" dist="50800" dir="2700000">
              <a:srgbClr val="D0D5DD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3063240"/>
            <a:ext cx="64008" cy="132588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3209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Humano en el loop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48472" y="3538728"/>
            <a:ext cx="2935224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detección nunca debe convertirse automáticamente en sanción.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En Perú, la ANPD cuenta con una directiva específica para tratamiento de datos mediante videovigilancia.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p. 8; refs. [12] y [13].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Plan de construcción: Lean + Kanban + Scrum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valida el problema; Scrum organiza la entrega del incremento funcional.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1325880" y="1536192"/>
            <a:ext cx="658368" cy="65836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7556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84248" y="1865376"/>
            <a:ext cx="83210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76656" y="23957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Discovery / inception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194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467"/>
                </a:solidFill>
              </a:rPr>
              <a:t>Mapa del proceso, 2+ entrevistas, pain priorizado y criterio de éxito.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611880" y="1536192"/>
            <a:ext cx="658368" cy="658368"/>
          </a:xfrm>
          <a:prstGeom prst="ellipse">
            <a:avLst/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556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1865376"/>
            <a:ext cx="83210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62656" y="23957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Sprint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0" y="2971800"/>
            <a:ext cx="194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467"/>
                </a:solidFill>
              </a:rPr>
              <a:t>Video → detección persona/casco con dataset/demo controlada.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897880" y="1536192"/>
            <a:ext cx="658368" cy="658368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7556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56248" y="1865376"/>
            <a:ext cx="83210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248656" y="23957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Sprint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57800" y="2971800"/>
            <a:ext cx="194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467"/>
                </a:solidFill>
              </a:rPr>
              <a:t>Tracking + zona + regla + evento local + deduplicación.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183880" y="1536192"/>
            <a:ext cx="658368" cy="658368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7556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42248" y="1865376"/>
            <a:ext cx="83210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34656" y="23957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Sprint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2971800"/>
            <a:ext cx="194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467"/>
                </a:solidFill>
              </a:rPr>
              <a:t>FastAPI + PostgreSQL + evidencia + contrato de evento.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0469880" y="1536192"/>
            <a:ext cx="658368" cy="658368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9880" y="17556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0656" y="23957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Sprint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2971800"/>
            <a:ext cx="1947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75467"/>
                </a:solidFill>
              </a:rPr>
              <a:t>Dashboard + pruebas end-to-end + métricas + feedback.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68680" y="4681728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9011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B8A9"/>
                </a:solidFill>
              </a:rPr>
              <a:t>Definition of Done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2743200" y="4828032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1828"/>
                </a:solidFill>
              </a:rPr>
              <a:t>criterios de aceptación cumplidos · prueba reproducible · código integrado · demo end-to-end · limitaciones documentadas · evidencia de valor o aprendizaje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base: Product Discovery v0.1, pp. 6–7.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Roadmap y visión de plataforma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primer objetivo no es “tener muchas features”, sino demostrar que el motor puede reutilizarse.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841248" y="1417320"/>
            <a:ext cx="10515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545336"/>
            <a:ext cx="914400" cy="457200"/>
          </a:xfrm>
          <a:prstGeom prst="roundRect">
            <a:avLst>
              <a:gd name="adj" fmla="val 36000"/>
            </a:avLst>
          </a:prstGeom>
          <a:solidFill>
            <a:srgbClr val="1570EF"/>
          </a:solidFill>
          <a:ln w="12700">
            <a:solidFill>
              <a:srgbClr val="157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82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MVP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2176272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01828"/>
                </a:solidFill>
              </a:rPr>
              <a:t>1 cámara · 1 zona · 1 regla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5532120" y="15544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Validar el loop completo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841248" y="2377440"/>
            <a:ext cx="10515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505456"/>
            <a:ext cx="914400" cy="457200"/>
          </a:xfrm>
          <a:prstGeom prst="roundRect">
            <a:avLst>
              <a:gd name="adj" fmla="val 36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6426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v2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176272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01828"/>
                </a:solidFill>
              </a:rPr>
              <a:t>Múltiples cámaras · múltiples reglas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5532120" y="2514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Probar configuración reutilizable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41248" y="3337560"/>
            <a:ext cx="10515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3465576"/>
            <a:ext cx="914400" cy="457200"/>
          </a:xfrm>
          <a:prstGeom prst="roundRect">
            <a:avLst>
              <a:gd name="adj" fmla="val 36000"/>
            </a:avLst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6027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v3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176272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01828"/>
                </a:solidFill>
              </a:rPr>
              <a:t>Edge node + almacenamiento de evidencia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5532120" y="3474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Escalar procesamiento y retención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41248" y="4297680"/>
            <a:ext cx="10515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425696"/>
            <a:ext cx="914400" cy="457200"/>
          </a:xfrm>
          <a:prstGeom prst="roundRect">
            <a:avLst>
              <a:gd name="adj" fmla="val 36000"/>
            </a:avLst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5628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v4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2176272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01828"/>
                </a:solidFill>
              </a:rPr>
              <a:t>Multi-site / multi-tenant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5532120" y="44348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75467"/>
                </a:solidFill>
              </a:rPr>
              <a:t>Operar múltiples plantas desde una misma plataforma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1097280" y="5413248"/>
            <a:ext cx="10012680" cy="603504"/>
          </a:xfrm>
          <a:prstGeom prst="roundRect">
            <a:avLst>
              <a:gd name="adj" fmla="val 757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559612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NEWBIT convierte video en eventos operativos confiables: correctos, oportunos y accionables.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566928" y="62362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i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sintetizado a partir de la arquitectura y escalado posterior descritos en Product Discovery v0.1.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Fuentes y referencias del documento 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referencias técnicas y regulatorias que respaldan el discovery original.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[1] Congreso de la República del Perú. Ley N.° 29783, Ley de Seguridad y Salud en el Trabajo.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1965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[2] Diario Oficial El Peruano. Obligación de entregar y verificar el uso efectivo de EPP (2022).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[3] SIDERPERU. Reporte de Sostenibilidad 2023: SSMA, inspecciones, auditorías, investigación e IPER.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32461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[4] SIDERPERU. Reporte de Sostenibilidad 2024: cobertura y resultados de seguridad.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3886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[5] SIDERPERU. Transformación Digital: procesos, tecnología y data/analítica.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45262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[6] Procedia Computer Science (2024). Real-time PPE compliance using YOLOv5.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51663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[7] Artificial Intelligence Review (2024/2025). Systematic review of CV-based PPE compliance.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36792" y="1325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[8] Computers 14(8), 312 (2025). User-Centered Design of a CV PPE monitoring system.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36792" y="1965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[9] NVIDIA DeepStream Reference Application (docs 2026).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36792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[10] Ultralytics Construction-PPE Dataset: 1,416 imágenes, 11 clases.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36792" y="32461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[11] NVIDIA Jetson Orin Nano Super: hasta 67 INT8 TOPS.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36792" y="3886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[12] ANPD. Directiva N.° 01-2020-JUS/DGTAIPD sobre videovigilancia.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36792" y="45262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[13] ANPD / MINJUSDH. Criterios sobre información, carteles y proporcionalidad.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5870448"/>
            <a:ext cx="1019556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5961888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1828"/>
                </a:solidFill>
              </a:rPr>
              <a:t>Documento base: “VISIONOPS INDUSTRIAL | Product Discovery v0.1” — renombrado en el proyecto actual como NEWBIT.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NEWBIT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NEWBIT - Una plataforma de Computer Vision que convierte cámaras existentes en sensores inteligentes configurables para operaciones industriales</dc:title>
  <dc:subject>NEWBIT - Arquitectura de plataforma Computer Vision industrial</dc:subject>
  <dc:creator>OpenAI</dc:creator>
  <cp:lastModifiedBy>OpenAI</cp:lastModifiedBy>
  <cp:revision>1</cp:revision>
  <dcterms:created xsi:type="dcterms:W3CDTF">2026-09-28T20:00:30Z</dcterms:created>
  <dcterms:modified xsi:type="dcterms:W3CDTF">2026-09-28T20:00:30Z</dcterms:modified>
</cp:coreProperties>
</file>