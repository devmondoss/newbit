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30002b8-6e26-9b1a-4403-a6ebd378f031}">
          <p14:sldIdLst>
            <p14:sldId id="256"/>
          </p14:sldIdLst>
        </p14:section>
        <p14:section name="Problema y solución" id="{c3209fe6-2d0e-6486-5172-e3fbdaaa6930}">
          <p14:sldIdLst>
            <p14:sldId id="257"/>
            <p14:sldId id="258"/>
          </p14:sldIdLst>
        </p14:section>
        <p14:section name="Cómo funciona" id="{1ab91a79-0b6f-2937-f871-dabdc46ec4af}">
          <p14:sldIdLst>
            <p14:sldId id="259"/>
            <p14:sldId id="260"/>
            <p14:sldId id="261"/>
          </p14:sldIdLst>
        </p14:section>
        <p14:section name="Usuarios y equipo" id="{6168432f-98d7-c19a-af5b-bb4d302b0648}">
          <p14:sldIdLst>
            <p14:sldId id="262"/>
            <p14:sldId id="263"/>
          </p14:sldIdLst>
        </p14:section>
        <p14:section name="Viabilidad y cierre" id="{214a4bcd-dd8a-5630-8c8c-5ce3e8dfa20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NewBit, nuestra plataforma de Computer Vision para operaciones industriales. Somos tres: Albert es el Product Owner, Anthony es Scrum Master y Developer, y Luis es Developer. El proyecto se desarrolla con Scrum en cuatro sprints.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cámaras: las plantas ya las tienen. El problema es que graban sin avisar. Las inspecciones son puntuales y las conductas inseguras duran segundos, así que se detectan tarde o nunca.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NewBit aprovecha las cámaras existentes. Hace tres cosas: detecta la conducta en el video, alerta con evidencia y registra todo para que la gerencia pueda decidir. Una persona siempre valida la alerta.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técnico. El video entra, YOLOv4 detecta personas y objetos en cada frame, descartamos los frames sin actividad, armamos secuencias y el ConvLSTM reconoce la conducta. Si es insegura, se genera la alerta con evidencia y una persona la valida. Cada etapa corresponde a un requisito del 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Empezamos con dos conductas visualmente distintas que se pueden entrenar en cuatro sprints. El modelo también aprende los casos seguros de contraste. La plataforma queda lista para sumar más conductas.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operar, NewBit aprende con un dataset público de video industrial con licencia abierta. Anotamos frames, entrenamos YOLOv4 y ConvLSTM, evaluamos con métricas por clase y versionamos los modelos. No prometemos cifras: las metas salen de la línea base del Sprint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Diseñamos NewBit para cinco perfiles. Cada uno tiene una necesidad distinta: el administrador configura, la supervisora de SST y la operadora atienden alertas, el supervisor de turno corrige y el gerente decide con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tres. Albert es el Product Owner, Anthony combina Scrum Master y Developer, y Luis es Developer; los dos Developers se revisan el código entre sí. Trabajamos en cuatro sprints de dos semanas, del 19 de octubre al 11 de diciembre.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presupuesto total es de 20 768 soles, el mismo del Acta. Casi todo es la dedicación valorizada del equipo; el gasto real en efectivo es de unos 280 soles más la contingencia, porque el dataset y las herramientas son abiertos. No afirmamos ahorros: se medirán con la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los principios de NewBit: evaluamos conductas y no frames, una persona valida cada alerta, protegemos la privacidad y todo es reproducible. Gracias;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 · Ingeniería de Software II · UNS 2026-II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1732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6596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974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Computer Vision que convierte cámaras existentes en sensores inteligentes configurables para operaciones industriales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406908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D3A66"/>
          </a:solidFill>
          <a:ln w="9525">
            <a:solidFill>
              <a:srgbClr val="3A5A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PY-NB-001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88920" y="406908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D3A66"/>
          </a:solidFill>
          <a:ln w="9525">
            <a:solidFill>
              <a:srgbClr val="3A5A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8892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· 4 sprints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46320" y="406908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1D3A66"/>
          </a:solidFill>
          <a:ln w="9525">
            <a:solidFill>
              <a:srgbClr val="3A5A8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 · 2026-II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Sebastian Chumacero Chávarry (Product Owner) · Anthony Gabriel Lopez Yrribarren (Scrum Master y Developer) · Luis Fernando Salazar Diaz (Developer)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852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· Dr. Alfredo Daza Vergaray · Universidad Nacional del Santa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cámaras graban, pero no avisan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22960" cy="82296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66055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4447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puntuales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874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supervisión de seguridad no cubre todo el turno ni todas las zonas.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3123590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9077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video sin revisar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337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cámaras graban de forma continua, pero nadie puede verlo todo a tiempo.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389120"/>
            <a:ext cx="822960" cy="82296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58663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43708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conducta se detecta tarde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4800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fuera de la vía peatonal o dejar un panel abierto pasa inadvertido.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040880" y="1417320"/>
            <a:ext cx="4572000" cy="438912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0664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72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2331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conducta insegura dura segundos. El video la guarda por días, pero nadie la ve a tiempo.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42519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29783 exige identificar y controlar los riesgos laborales; hoy esa vigilancia depende casi por completo de la observación humana.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 convierte cada cámara en un sensor inteligente</a:t>
            </a:r>
            <a:endParaRPr lang="en-US" sz="3200" dirty="0"/>
          </a:p>
        </p:txBody>
      </p:sp>
      <p:sp>
        <p:nvSpPr>
          <p:cNvPr id="3" name="sol0"/>
          <p:cNvSpPr/>
          <p:nvPr/>
        </p:nvSpPr>
        <p:spPr>
          <a:xfrm>
            <a:off x="548640" y="150876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28800"/>
            <a:ext cx="1005840" cy="100584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20702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la conducta, no solo el objeto: detección con YOLOv4 y análisis de la secuencia con ConvLSTM.</a:t>
            </a:r>
            <a:endParaRPr lang="en-US" sz="1600" dirty="0"/>
          </a:p>
        </p:txBody>
      </p:sp>
      <p:sp>
        <p:nvSpPr>
          <p:cNvPr id="8" name="sol1"/>
          <p:cNvSpPr/>
          <p:nvPr/>
        </p:nvSpPr>
        <p:spPr>
          <a:xfrm>
            <a:off x="4297680" y="150876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828800"/>
            <a:ext cx="1005840" cy="100584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42" y="2070202"/>
            <a:ext cx="523037" cy="523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6576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una alerta visual y sonora con el clip de evidencia para intervenir a tiempo.</a:t>
            </a:r>
            <a:endParaRPr lang="en-US" sz="1600" dirty="0"/>
          </a:p>
        </p:txBody>
      </p:sp>
      <p:sp>
        <p:nvSpPr>
          <p:cNvPr id="13" name="sol2"/>
          <p:cNvSpPr/>
          <p:nvPr/>
        </p:nvSpPr>
        <p:spPr>
          <a:xfrm>
            <a:off x="8046720" y="150876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12480" y="1828800"/>
            <a:ext cx="1005840" cy="1005840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882" y="2070202"/>
            <a:ext cx="523037" cy="5230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6576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cada evento validado y genera reportes por tipo, zona y semana para decidir.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video a la alerta en 7 etapas</a:t>
            </a:r>
            <a:endParaRPr lang="en-US" sz="3200" dirty="0"/>
          </a:p>
        </p:txBody>
      </p:sp>
      <p:sp>
        <p:nvSpPr>
          <p:cNvPr id="3" name="etapa1"/>
          <p:cNvSpPr/>
          <p:nvPr/>
        </p:nvSpPr>
        <p:spPr>
          <a:xfrm>
            <a:off x="548640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415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MP4 de las cámaras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47672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2" name="etapa2"/>
          <p:cNvSpPr/>
          <p:nvPr/>
        </p:nvSpPr>
        <p:spPr>
          <a:xfrm>
            <a:off x="2167128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304288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87168" y="1965960"/>
            <a:ext cx="731520" cy="73152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733" y="2141525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58568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YOLOv4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258568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montacargas y paneles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532888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532888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566160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1" name="etapa3"/>
          <p:cNvSpPr/>
          <p:nvPr/>
        </p:nvSpPr>
        <p:spPr>
          <a:xfrm>
            <a:off x="3785616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3922776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105656" y="1965960"/>
            <a:ext cx="731520" cy="73152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221" y="2141525"/>
            <a:ext cx="380390" cy="38039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877056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frames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3877056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lo irrelevante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151376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151376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184648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0" name="etapa4"/>
          <p:cNvSpPr/>
          <p:nvPr/>
        </p:nvSpPr>
        <p:spPr>
          <a:xfrm>
            <a:off x="5404104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5541264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724144" y="1965960"/>
            <a:ext cx="731520" cy="73152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709" y="2141525"/>
            <a:ext cx="380390" cy="38039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95544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5495544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acción por clip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769864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769864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803136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9" name="etapa5"/>
          <p:cNvSpPr/>
          <p:nvPr/>
        </p:nvSpPr>
        <p:spPr>
          <a:xfrm>
            <a:off x="7022592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7159752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7342632" y="1965960"/>
            <a:ext cx="731520" cy="731520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197" y="2141525"/>
            <a:ext cx="380390" cy="38039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114032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7114032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la conducta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7388352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7388352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8421624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8" name="etapa6"/>
          <p:cNvSpPr/>
          <p:nvPr/>
        </p:nvSpPr>
        <p:spPr>
          <a:xfrm>
            <a:off x="8641080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49" name="Text 42"/>
          <p:cNvSpPr txBox="1"/>
          <p:nvPr/>
        </p:nvSpPr>
        <p:spPr>
          <a:xfrm>
            <a:off x="877824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8961120" y="1965960"/>
            <a:ext cx="731520" cy="73152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6685" y="2141525"/>
            <a:ext cx="380390" cy="38039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732520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8732520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y sonora, con evidencia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9006840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9006840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10040112" y="2240280"/>
            <a:ext cx="192024" cy="201168"/>
          </a:xfrm>
          <a:prstGeom prst="rightArrow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57" name="etapa7"/>
          <p:cNvSpPr/>
          <p:nvPr/>
        </p:nvSpPr>
        <p:spPr>
          <a:xfrm>
            <a:off x="10259568" y="1554480"/>
            <a:ext cx="1371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58" name="Text 50"/>
          <p:cNvSpPr txBox="1"/>
          <p:nvPr/>
        </p:nvSpPr>
        <p:spPr>
          <a:xfrm>
            <a:off x="10396728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9" name="Shape 51"/>
          <p:cNvSpPr/>
          <p:nvPr/>
        </p:nvSpPr>
        <p:spPr>
          <a:xfrm>
            <a:off x="10579608" y="1965960"/>
            <a:ext cx="731520" cy="731520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5173" y="2141525"/>
            <a:ext cx="380390" cy="380390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10351008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registro</a:t>
            </a:r>
            <a:endParaRPr lang="en-US" sz="1400" dirty="0"/>
          </a:p>
        </p:txBody>
      </p:sp>
      <p:sp>
        <p:nvSpPr>
          <p:cNvPr id="62" name="Text 53"/>
          <p:cNvSpPr txBox="1"/>
          <p:nvPr/>
        </p:nvSpPr>
        <p:spPr>
          <a:xfrm>
            <a:off x="10351008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confirma</a:t>
            </a:r>
            <a:endParaRPr lang="en-US" sz="1200" dirty="0"/>
          </a:p>
        </p:txBody>
      </p:sp>
      <p:sp>
        <p:nvSpPr>
          <p:cNvPr id="63" name="Shape 54"/>
          <p:cNvSpPr/>
          <p:nvPr/>
        </p:nvSpPr>
        <p:spPr>
          <a:xfrm>
            <a:off x="10625328" y="42976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10625328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000" dirty="0"/>
          </a:p>
        </p:txBody>
      </p:sp>
      <p:sp>
        <p:nvSpPr>
          <p:cNvPr id="65" name="Shape 56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4DC"/>
          </a:solidFill>
          <a:ln w="12700">
            <a:solidFill>
              <a:srgbClr val="F5A623"/>
            </a:solidFill>
            <a:prstDash val="dash"/>
          </a:ln>
        </p:spPr>
      </p:sp>
      <p:pic>
        <p:nvPicPr>
          <p:cNvPr id="6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257800"/>
            <a:ext cx="502920" cy="502920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1463040" y="5120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entrenados y versionados </a:t>
            </a:r>
            <a:pPr indent="0" marL="0">
              <a:buNone/>
            </a:pPr>
            <a:r>
              <a:rPr lang="en-US" sz="1500" dirty="0">
                <a:solidFill>
                  <a:srgbClr val="5A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alimentan las etapas 2 (YOLOv4) y 5 (ConvLSTM). La detección dice qué hay en cada frame; el modelo temporal entiende qué está pasando.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versión: dos conductas de alto riesgo</a:t>
            </a:r>
            <a:endParaRPr lang="en-US" sz="3200" dirty="0"/>
          </a:p>
        </p:txBody>
      </p:sp>
      <p:sp>
        <p:nvSpPr>
          <p:cNvPr id="3" name="conducta0"/>
          <p:cNvSpPr/>
          <p:nvPr/>
        </p:nvSpPr>
        <p:spPr>
          <a:xfrm>
            <a:off x="548640" y="15087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28800"/>
            <a:ext cx="1005840" cy="100584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2070202"/>
            <a:ext cx="523037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30175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 INSEGURA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Tránsito fuera de la vía peatonal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60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camina fuera de la zona marcada, por donde circulan montacargas.</a:t>
            </a:r>
            <a:endParaRPr lang="en-US" sz="1400" dirty="0"/>
          </a:p>
        </p:txBody>
      </p:sp>
      <p:sp>
        <p:nvSpPr>
          <p:cNvPr id="10" name="conducta1"/>
          <p:cNvSpPr/>
          <p:nvPr/>
        </p:nvSpPr>
        <p:spPr>
          <a:xfrm>
            <a:off x="4343400" y="15087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828800"/>
            <a:ext cx="1005840" cy="1005840"/>
          </a:xfrm>
          <a:prstGeom prst="ellipse">
            <a:avLst/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562" y="2070202"/>
            <a:ext cx="523037" cy="52303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09160" y="30175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09160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 INSEGURA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eléctrico abierto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4160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eléctrico queda abierto después de una intervención.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38160" y="150876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28800"/>
            <a:ext cx="822960" cy="8229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contraste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5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ve los casos seguros: caminar por la vía peatonal y el panel cerrado. Así distingue lo correcto de lo inseguro.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queda preparada para incorporar nuevas conductas en siguientes versiones.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aprende NewBit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377440"/>
            <a:ext cx="969264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214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video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industrial público, licencia CC BY 4.0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70048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36" y="212140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04288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Anotación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304288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etiquetados con LabelImg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08576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212140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42816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YOLOv4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242816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personas, montacargas y paneles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47104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12140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81344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ConvLSTM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181344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de conductas en secuencias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485632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2121408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119872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119872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clase: directa vs. pipeline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424160" y="18745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048" y="2121408"/>
            <a:ext cx="512064" cy="51206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058400" y="3108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1005840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configuración reproducibles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4F6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822960" y="5120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</a:t>
            </a:r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oficial entre entrenamiento y prueba, configuración versionada y métricas por clase. Las metas de desempeño se fijan con la línea base del Sprint 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perfiles, una misma plataforma</a:t>
            </a:r>
            <a:endParaRPr lang="en-US" sz="3200" dirty="0"/>
          </a:p>
        </p:txBody>
      </p:sp>
      <p:sp>
        <p:nvSpPr>
          <p:cNvPr id="3" name="perfil0"/>
          <p:cNvSpPr/>
          <p:nvPr/>
        </p:nvSpPr>
        <p:spPr>
          <a:xfrm>
            <a:off x="548640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783080"/>
            <a:ext cx="960120" cy="960120"/>
          </a:xfrm>
          <a:prstGeom prst="ellipse">
            <a:avLst/>
          </a:prstGeom>
          <a:solidFill>
            <a:srgbClr val="2F6FE4"/>
          </a:solidFill>
          <a:ln w="12700">
            <a:solidFill>
              <a:srgbClr val="2F6F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Ponce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videos, configura umbrales y gestiona usuarios sin tocar código.</a:t>
            </a:r>
            <a:endParaRPr lang="en-US" sz="1300" dirty="0"/>
          </a:p>
        </p:txBody>
      </p:sp>
      <p:sp>
        <p:nvSpPr>
          <p:cNvPr id="9" name="perfil1"/>
          <p:cNvSpPr/>
          <p:nvPr/>
        </p:nvSpPr>
        <p:spPr>
          <a:xfrm>
            <a:off x="2807208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783080"/>
            <a:ext cx="960120" cy="96012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55848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Supervisora de SST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Torres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alertas y evidencia, y prioriza inspecciones.</a:t>
            </a:r>
            <a:endParaRPr lang="en-US" sz="1300" dirty="0"/>
          </a:p>
        </p:txBody>
      </p:sp>
      <p:sp>
        <p:nvSpPr>
          <p:cNvPr id="15" name="perfil2"/>
          <p:cNvSpPr/>
          <p:nvPr/>
        </p:nvSpPr>
        <p:spPr>
          <a:xfrm>
            <a:off x="5065776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14416" y="1783080"/>
            <a:ext cx="960120" cy="9601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14416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 turno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 Vásquez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las alertas de su área y corrige en el momento.</a:t>
            </a:r>
            <a:endParaRPr lang="en-US" sz="1300" dirty="0"/>
          </a:p>
        </p:txBody>
      </p:sp>
      <p:sp>
        <p:nvSpPr>
          <p:cNvPr id="21" name="perfil3"/>
          <p:cNvSpPr/>
          <p:nvPr/>
        </p:nvSpPr>
        <p:spPr>
          <a:xfrm>
            <a:off x="7324344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72984" y="1783080"/>
            <a:ext cx="960120" cy="960120"/>
          </a:xfrm>
          <a:prstGeom prst="ellipse">
            <a:avLst/>
          </a:prstGeom>
          <a:solidFill>
            <a:srgbClr val="E0483E"/>
          </a:solidFill>
          <a:ln w="12700">
            <a:solidFill>
              <a:srgbClr val="E048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72984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461504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Operadora de monitoreo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Lucía Ramos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cada alerta y marca las falsas alarmas.</a:t>
            </a:r>
            <a:endParaRPr lang="en-US" sz="1300" dirty="0"/>
          </a:p>
        </p:txBody>
      </p:sp>
      <p:sp>
        <p:nvSpPr>
          <p:cNvPr id="27" name="perfil4"/>
          <p:cNvSpPr/>
          <p:nvPr/>
        </p:nvSpPr>
        <p:spPr>
          <a:xfrm>
            <a:off x="9582912" y="1508760"/>
            <a:ext cx="2057400" cy="3429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31552" y="1783080"/>
            <a:ext cx="960120" cy="96012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31552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720072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operaciones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Salcedo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20072" y="3977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reportes breves y decide dónde invertir.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ficticias del caso académico (SIDERPERU como caso propuesto), definidas en Roles y Prototipos (FGAP030).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Scrum y plan en 4 sprints</a:t>
            </a:r>
            <a:endParaRPr lang="en-US" sz="3200" dirty="0"/>
          </a:p>
        </p:txBody>
      </p:sp>
      <p:sp>
        <p:nvSpPr>
          <p:cNvPr id="3" name="integrante0"/>
          <p:cNvSpPr/>
          <p:nvPr/>
        </p:nvSpPr>
        <p:spPr>
          <a:xfrm>
            <a:off x="548640" y="146304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09928"/>
            <a:ext cx="786384" cy="786384"/>
          </a:xfrm>
          <a:prstGeom prst="ellipse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972" y="1898660"/>
            <a:ext cx="408920" cy="408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Sebastian Chumacero Chávarry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el backlog y acepta los incrementos.</a:t>
            </a:r>
            <a:endParaRPr lang="en-US" sz="1300" dirty="0"/>
          </a:p>
        </p:txBody>
      </p:sp>
      <p:sp>
        <p:nvSpPr>
          <p:cNvPr id="9" name="integrante1"/>
          <p:cNvSpPr/>
          <p:nvPr/>
        </p:nvSpPr>
        <p:spPr>
          <a:xfrm>
            <a:off x="548640" y="292608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172968"/>
            <a:ext cx="786384" cy="786384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972" y="3361700"/>
            <a:ext cx="408920" cy="408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Y DEVELOPER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78308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Gabriel Lopez Yrribarren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8308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Scrum; interfaz, integración y pruebas.</a:t>
            </a:r>
            <a:endParaRPr lang="en-US" sz="1300" dirty="0"/>
          </a:p>
        </p:txBody>
      </p:sp>
      <p:sp>
        <p:nvSpPr>
          <p:cNvPr id="15" name="integrante2"/>
          <p:cNvSpPr/>
          <p:nvPr/>
        </p:nvSpPr>
        <p:spPr>
          <a:xfrm>
            <a:off x="548640" y="438912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636008"/>
            <a:ext cx="786384" cy="786384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72" y="4824740"/>
            <a:ext cx="408920" cy="408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4800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Fernando Salazar Diaz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5166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YOLOv4 y ConvLSTM.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17920" y="1463040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217920" y="14630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722376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conductas, entorno y anotación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223760" y="1901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– 30/10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217920" y="2450592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217920" y="245059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7223760" y="24963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YOLOv4, selección de frames y secuencias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7223760" y="2889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02/11 – 13/11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217920" y="3438144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217920" y="3438144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7223760" y="34838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ConvLSTM, pipeline completo y evaluación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7223760" y="3877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16/11 – 27/11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217920" y="4425696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217920" y="44256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2000" dirty="0"/>
          </a:p>
        </p:txBody>
      </p:sp>
      <p:sp>
        <p:nvSpPr>
          <p:cNvPr id="35" name="Text 30"/>
          <p:cNvSpPr txBox="1"/>
          <p:nvPr/>
        </p:nvSpPr>
        <p:spPr>
          <a:xfrm>
            <a:off x="7223760" y="4471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Interfaz, alertas, registro y pruebas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7223760" y="4864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 – 11/12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6217920" y="5486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</a:t>
            </a:r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05–16/10 · </a:t>
            </a:r>
            <a:pPr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</a:t>
            </a:r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14–18/12/2026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con un presupuesto acotado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20,768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estimado total (igual al Acta de Constitución)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18,600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3063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Dedicación valorizada del equipo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280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3840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en efectivo (GPU, almacenamiento, impresión)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1,888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Contingencia del 10 %</a:t>
            </a:r>
            <a:endParaRPr lang="en-US" sz="1400" dirty="0"/>
          </a:p>
        </p:txBody>
      </p:sp>
      <p:sp>
        <p:nvSpPr>
          <p:cNvPr id="11" name="viabilidad"/>
          <p:cNvSpPr/>
          <p:nvPr/>
        </p:nvSpPr>
        <p:spPr>
          <a:xfrm>
            <a:off x="6675120" y="1463040"/>
            <a:ext cx="49377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2D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9516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viable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95160" y="2331720"/>
            <a:ext cx="566928" cy="566928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1223" y="2467783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726680" y="23317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público de video industrial con licencia CC BY 4.0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95160" y="3200400"/>
            <a:ext cx="566928" cy="566928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23" y="3336463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726680" y="32004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abiertas y GPU bajo demanda (Colab o local)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995160" y="4069080"/>
            <a:ext cx="566928" cy="566928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223" y="420514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726680" y="4069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disponible y roles de usuario definidos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995160" y="4937760"/>
            <a:ext cx="566928" cy="566928"/>
          </a:xfrm>
          <a:prstGeom prst="ellipse">
            <a:avLst/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223" y="507382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26680" y="49377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por diseño: sin reconocimiento facial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guía a NewBit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476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la conducta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frame aislado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0" y="173736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9476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747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valida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 apoya, no reemplaza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17920" y="173736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94767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por diseño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2179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reconocimiento facial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961120" y="1737360"/>
            <a:ext cx="868680" cy="8686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2" y="194767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11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9611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configuración versionados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NewBit – Presentación del proyecto</dc:title>
  <dc:subject>PptxGenJS Presentation</dc:subject>
  <dc:creator>Equipo NewBit</dc:creator>
  <cp:lastModifiedBy>Equipo NewBit</cp:lastModifiedBy>
  <cp:revision>1</cp:revision>
  <dcterms:created xsi:type="dcterms:W3CDTF">2026-10-12T19:39:21Z</dcterms:created>
  <dcterms:modified xsi:type="dcterms:W3CDTF">2026-10-12T19:39:21Z</dcterms:modified>
</cp:coreProperties>
</file>