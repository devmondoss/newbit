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Albert (PO). Presenta al Grupo D3 (laboratorio D, equipo 3) y el tema: una técnica de estimación del SBOK que se hace con una sola mano. Duración total: unos 10 minutos más una votación con el aula.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Anthony. Es una técnica del SBOK dentro del proceso 9.2 Estimar historias de usuario. Tiene dos usos: estimar el tamaño relativo de una historia y medir el acuerdo del equipo en una decisión. Vota el Equipo Scrum; el Product Owner no estima, solo aclara dudas. Solo se estiman historias que cumplen la definición de listo.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Anthony. Estos son los cinco niveles tal como los define el SBOK cuando la técnica se usa para formar consenso. Con 1 o 2 la persona no está de acuerdo; con 3 tiene dudas pero acompaña al grupo; con 4 o 5 está de acuerdo. La sugerencia final es del equipo, no del libro.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Luis. 1) El PO presenta la historia. 2) Todos votan al mismo tiempo para que nadie se deje llevar por el voto del otro. 3) Los votos más alto y más bajo explican su razón: ahí aparece la información que faltaba. 4) Se vuelve a votar o se toma la decisión. El SBOK destaca que el valor está en el debate, no solo en el consenso.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Luis. Simulación con una historia real del FGAP040 (épica EP03). Izquierda: estimación. Anthony vota 2 porque creía que solo era mostrar el resultado; Luis vota 5 porque hay que armar secuencias de frames y entrenar el ConvLSTM. Tras explicarse, los dos votan 4: historia grande. Derecha: decisión con los tres. Hay dos votos de 2, así que no se cierra: se decide dividir HU12. Opcional: repetir la votación con el aula.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Albert. Comparación con las otras tres técnicas de estimación del SBOK. El puño de cinco es la más rápida y además sirve para decidir; Planning Poker da más precisión. Cierre: lo importante es que los votos extremos expliquen su razón.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1F2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Puño de cinco · Grupo D3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1"/>
          <p:cNvSpPr txBox="1"/>
          <p:nvPr/>
        </p:nvSpPr>
        <p:spPr>
          <a:xfrm>
            <a:off x="640080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26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II · ESTIMACIÓN EN SCRUM</a:t>
            </a:r>
            <a:endParaRPr lang="en-US" sz="1100" dirty="0"/>
          </a:p>
        </p:txBody>
      </p:sp>
      <p:sp>
        <p:nvSpPr>
          <p:cNvPr id="3" name="obj2"/>
          <p:cNvSpPr txBox="1"/>
          <p:nvPr/>
        </p:nvSpPr>
        <p:spPr>
          <a:xfrm>
            <a:off x="640080" y="11887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Puño de cinco</a:t>
            </a:r>
            <a:endParaRPr lang="en-US" sz="5400" dirty="0"/>
          </a:p>
        </p:txBody>
      </p:sp>
      <p:sp>
        <p:nvSpPr>
          <p:cNvPr id="4" name="obj3"/>
          <p:cNvSpPr txBox="1"/>
          <p:nvPr/>
        </p:nvSpPr>
        <p:spPr>
          <a:xfrm>
            <a:off x="640080" y="21031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D9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Fist of Five</a:t>
            </a:r>
            <a:pPr algn="l" indent="0" marL="0">
              <a:buNone/>
            </a:pPr>
            <a:r>
              <a:rPr lang="en-US" sz="2000" dirty="0">
                <a:solidFill>
                  <a:srgbClr val="D9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estimar y decidir en equipo con una sola mano</a:t>
            </a:r>
            <a:endParaRPr lang="en-US" sz="2000" dirty="0"/>
          </a:p>
        </p:txBody>
      </p:sp>
      <p:sp>
        <p:nvSpPr>
          <p:cNvPr id="5" name="obj4"/>
          <p:cNvSpPr/>
          <p:nvPr/>
        </p:nvSpPr>
        <p:spPr>
          <a:xfrm>
            <a:off x="6494069" y="1254923"/>
            <a:ext cx="281635" cy="965606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6" name="obj5"/>
          <p:cNvSpPr/>
          <p:nvPr/>
        </p:nvSpPr>
        <p:spPr>
          <a:xfrm>
            <a:off x="6856171" y="1158362"/>
            <a:ext cx="281635" cy="1062167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7" name="obj6"/>
          <p:cNvSpPr/>
          <p:nvPr/>
        </p:nvSpPr>
        <p:spPr>
          <a:xfrm>
            <a:off x="7218274" y="1254923"/>
            <a:ext cx="281635" cy="965606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8" name="obj7"/>
          <p:cNvSpPr/>
          <p:nvPr/>
        </p:nvSpPr>
        <p:spPr>
          <a:xfrm>
            <a:off x="7580376" y="1448044"/>
            <a:ext cx="281635" cy="772485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9" name="obj8"/>
          <p:cNvSpPr/>
          <p:nvPr/>
        </p:nvSpPr>
        <p:spPr>
          <a:xfrm rot="-1920000">
            <a:off x="6212434" y="1882567"/>
            <a:ext cx="301752" cy="820765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10" name="obj9"/>
          <p:cNvSpPr/>
          <p:nvPr/>
        </p:nvSpPr>
        <p:spPr>
          <a:xfrm>
            <a:off x="6453835" y="2075688"/>
            <a:ext cx="1448410" cy="1110447"/>
          </a:xfrm>
          <a:prstGeom prst="roundRect">
            <a:avLst>
              <a:gd name="adj" fmla="val 28986"/>
            </a:avLst>
          </a:prstGeom>
          <a:solidFill>
            <a:srgbClr val="F2643D"/>
          </a:solidFill>
          <a:ln/>
        </p:spPr>
      </p:sp>
      <p:sp>
        <p:nvSpPr>
          <p:cNvPr id="11" name="obj10"/>
          <p:cNvSpPr txBox="1"/>
          <p:nvPr/>
        </p:nvSpPr>
        <p:spPr>
          <a:xfrm>
            <a:off x="640080" y="331012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F26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D3</a:t>
            </a:r>
            <a:pPr algn="l" indent="0" marL="0">
              <a:buNone/>
            </a:pPr>
            <a:r>
              <a:rPr lang="en-US" sz="1100" spc="100" kern="0" dirty="0">
                <a:solidFill>
                  <a:srgbClr val="F26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Laboratorio D · Equipo 3 · Proyecto NewBit</a:t>
            </a:r>
            <a:endParaRPr lang="en-US" sz="1100" dirty="0"/>
          </a:p>
        </p:txBody>
      </p:sp>
      <p:sp>
        <p:nvSpPr>
          <p:cNvPr id="12" name="obj11"/>
          <p:cNvSpPr/>
          <p:nvPr/>
        </p:nvSpPr>
        <p:spPr>
          <a:xfrm>
            <a:off x="640080" y="37033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43A36"/>
          </a:solidFill>
          <a:ln/>
        </p:spPr>
      </p:sp>
      <p:sp>
        <p:nvSpPr>
          <p:cNvPr id="13" name="obj12"/>
          <p:cNvSpPr txBox="1"/>
          <p:nvPr/>
        </p:nvSpPr>
        <p:spPr>
          <a:xfrm>
            <a:off x="64008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6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</a:t>
            </a:r>
            <a:endParaRPr lang="en-US" sz="1300" dirty="0"/>
          </a:p>
        </p:txBody>
      </p:sp>
      <p:sp>
        <p:nvSpPr>
          <p:cNvPr id="14" name="obj13"/>
          <p:cNvSpPr txBox="1"/>
          <p:nvPr/>
        </p:nvSpPr>
        <p:spPr>
          <a:xfrm>
            <a:off x="1207008" y="36941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Albert Chumacero</a:t>
            </a:r>
            <a:endParaRPr lang="en-US" sz="1400" dirty="0"/>
          </a:p>
        </p:txBody>
      </p:sp>
      <p:sp>
        <p:nvSpPr>
          <p:cNvPr id="15" name="obj14"/>
          <p:cNvSpPr txBox="1"/>
          <p:nvPr/>
        </p:nvSpPr>
        <p:spPr>
          <a:xfrm>
            <a:off x="1207008" y="39502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</a:t>
            </a:r>
            <a:endParaRPr lang="en-US" sz="1100" dirty="0"/>
          </a:p>
        </p:txBody>
      </p:sp>
      <p:sp>
        <p:nvSpPr>
          <p:cNvPr id="16" name="obj15"/>
          <p:cNvSpPr/>
          <p:nvPr/>
        </p:nvSpPr>
        <p:spPr>
          <a:xfrm>
            <a:off x="3291840" y="37033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43A36"/>
          </a:solidFill>
          <a:ln/>
        </p:spPr>
      </p:sp>
      <p:sp>
        <p:nvSpPr>
          <p:cNvPr id="17" name="obj16"/>
          <p:cNvSpPr txBox="1"/>
          <p:nvPr/>
        </p:nvSpPr>
        <p:spPr>
          <a:xfrm>
            <a:off x="329184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6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</a:t>
            </a:r>
            <a:endParaRPr lang="en-US" sz="1300" dirty="0"/>
          </a:p>
        </p:txBody>
      </p:sp>
      <p:sp>
        <p:nvSpPr>
          <p:cNvPr id="18" name="obj17"/>
          <p:cNvSpPr txBox="1"/>
          <p:nvPr/>
        </p:nvSpPr>
        <p:spPr>
          <a:xfrm>
            <a:off x="3858768" y="36941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Anthony Lopez</a:t>
            </a:r>
            <a:endParaRPr lang="en-US" sz="1400" dirty="0"/>
          </a:p>
        </p:txBody>
      </p:sp>
      <p:sp>
        <p:nvSpPr>
          <p:cNvPr id="19" name="obj18"/>
          <p:cNvSpPr txBox="1"/>
          <p:nvPr/>
        </p:nvSpPr>
        <p:spPr>
          <a:xfrm>
            <a:off x="3858768" y="39502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 · Developer</a:t>
            </a:r>
            <a:endParaRPr lang="en-US" sz="1100" dirty="0"/>
          </a:p>
        </p:txBody>
      </p:sp>
      <p:sp>
        <p:nvSpPr>
          <p:cNvPr id="20" name="obj19"/>
          <p:cNvSpPr/>
          <p:nvPr/>
        </p:nvSpPr>
        <p:spPr>
          <a:xfrm>
            <a:off x="5943600" y="37033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43A36"/>
          </a:solidFill>
          <a:ln/>
        </p:spPr>
      </p:sp>
      <p:sp>
        <p:nvSpPr>
          <p:cNvPr id="21" name="obj20"/>
          <p:cNvSpPr txBox="1"/>
          <p:nvPr/>
        </p:nvSpPr>
        <p:spPr>
          <a:xfrm>
            <a:off x="594360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6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</a:t>
            </a:r>
            <a:endParaRPr lang="en-US" sz="1300" dirty="0"/>
          </a:p>
        </p:txBody>
      </p:sp>
      <p:sp>
        <p:nvSpPr>
          <p:cNvPr id="22" name="obj21"/>
          <p:cNvSpPr txBox="1"/>
          <p:nvPr/>
        </p:nvSpPr>
        <p:spPr>
          <a:xfrm>
            <a:off x="6510528" y="36941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 Salazar</a:t>
            </a:r>
            <a:endParaRPr lang="en-US" sz="1400" dirty="0"/>
          </a:p>
        </p:txBody>
      </p:sp>
      <p:sp>
        <p:nvSpPr>
          <p:cNvPr id="23" name="obj22"/>
          <p:cNvSpPr txBox="1"/>
          <p:nvPr/>
        </p:nvSpPr>
        <p:spPr>
          <a:xfrm>
            <a:off x="6510528" y="39502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100" dirty="0"/>
          </a:p>
        </p:txBody>
      </p:sp>
      <p:sp>
        <p:nvSpPr>
          <p:cNvPr id="24" name="obj23"/>
          <p:cNvSpPr txBox="1"/>
          <p:nvPr/>
        </p:nvSpPr>
        <p:spPr>
          <a:xfrm>
            <a:off x="640080" y="452628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Dr. Ing. Alfredo Daza Vergaray · Ingeniería de Software II · UNS · 2026-II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Votar a la vez, con los dedos, del 1 al 5</a:t>
            </a:r>
            <a:endParaRPr lang="en-US" sz="3000" dirty="0"/>
          </a:p>
        </p:txBody>
      </p:sp>
      <p:sp>
        <p:nvSpPr>
          <p:cNvPr id="3" name="obj24"/>
          <p:cNvSpPr txBox="1"/>
          <p:nvPr/>
        </p:nvSpPr>
        <p:spPr>
          <a:xfrm>
            <a:off x="548640" y="1143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del SBOK (proceso 9.2 Estimar historias de usuario). Sencilla, rápida y sin materiales.</a:t>
            </a:r>
            <a:endParaRPr lang="en-US" sz="1500" dirty="0"/>
          </a:p>
        </p:txBody>
      </p:sp>
      <p:sp>
        <p:nvSpPr>
          <p:cNvPr id="4" name="obj25"/>
          <p:cNvSpPr/>
          <p:nvPr/>
        </p:nvSpPr>
        <p:spPr>
          <a:xfrm>
            <a:off x="548640" y="1737360"/>
            <a:ext cx="3886200" cy="2331720"/>
          </a:xfrm>
          <a:prstGeom prst="roundRect">
            <a:avLst>
              <a:gd name="adj" fmla="val 7059"/>
            </a:avLst>
          </a:prstGeom>
          <a:solidFill>
            <a:srgbClr val="F4F4F2"/>
          </a:solidFill>
          <a:ln/>
        </p:spPr>
      </p:sp>
      <p:sp>
        <p:nvSpPr>
          <p:cNvPr id="5" name="obj26"/>
          <p:cNvSpPr/>
          <p:nvPr/>
        </p:nvSpPr>
        <p:spPr>
          <a:xfrm>
            <a:off x="993038" y="2160910"/>
            <a:ext cx="108814" cy="373075"/>
          </a:xfrm>
          <a:prstGeom prst="roundRect">
            <a:avLst>
              <a:gd name="adj" fmla="val 50000"/>
            </a:avLst>
          </a:prstGeom>
          <a:solidFill>
            <a:srgbClr val="1F2421"/>
          </a:solidFill>
          <a:ln/>
        </p:spPr>
      </p:sp>
      <p:sp>
        <p:nvSpPr>
          <p:cNvPr id="6" name="obj27"/>
          <p:cNvSpPr/>
          <p:nvPr/>
        </p:nvSpPr>
        <p:spPr>
          <a:xfrm>
            <a:off x="1132942" y="2123603"/>
            <a:ext cx="108814" cy="410383"/>
          </a:xfrm>
          <a:prstGeom prst="roundRect">
            <a:avLst>
              <a:gd name="adj" fmla="val 50000"/>
            </a:avLst>
          </a:prstGeom>
          <a:solidFill>
            <a:srgbClr val="1F2421"/>
          </a:solidFill>
          <a:ln/>
        </p:spPr>
      </p:sp>
      <p:sp>
        <p:nvSpPr>
          <p:cNvPr id="7" name="obj28"/>
          <p:cNvSpPr/>
          <p:nvPr/>
        </p:nvSpPr>
        <p:spPr>
          <a:xfrm>
            <a:off x="1272845" y="2160910"/>
            <a:ext cx="108814" cy="373075"/>
          </a:xfrm>
          <a:prstGeom prst="roundRect">
            <a:avLst>
              <a:gd name="adj" fmla="val 50000"/>
            </a:avLst>
          </a:prstGeom>
          <a:solidFill>
            <a:srgbClr val="1F2421"/>
          </a:solidFill>
          <a:ln/>
        </p:spPr>
      </p:sp>
      <p:sp>
        <p:nvSpPr>
          <p:cNvPr id="8" name="obj29"/>
          <p:cNvSpPr/>
          <p:nvPr/>
        </p:nvSpPr>
        <p:spPr>
          <a:xfrm>
            <a:off x="1412748" y="2431390"/>
            <a:ext cx="108814" cy="102596"/>
          </a:xfrm>
          <a:prstGeom prst="roundRect">
            <a:avLst>
              <a:gd name="adj" fmla="val 50000"/>
            </a:avLst>
          </a:prstGeom>
          <a:solidFill>
            <a:srgbClr val="1F2421">
              <a:alpha val="40000"/>
            </a:srgbClr>
          </a:solidFill>
          <a:ln/>
        </p:spPr>
      </p:sp>
      <p:sp>
        <p:nvSpPr>
          <p:cNvPr id="9" name="obj30"/>
          <p:cNvSpPr/>
          <p:nvPr/>
        </p:nvSpPr>
        <p:spPr>
          <a:xfrm>
            <a:off x="977494" y="2478024"/>
            <a:ext cx="559613" cy="429036"/>
          </a:xfrm>
          <a:prstGeom prst="roundRect">
            <a:avLst>
              <a:gd name="adj" fmla="val 28986"/>
            </a:avLst>
          </a:prstGeom>
          <a:solidFill>
            <a:srgbClr val="1F2421"/>
          </a:solidFill>
          <a:ln/>
        </p:spPr>
      </p:sp>
      <p:sp>
        <p:nvSpPr>
          <p:cNvPr id="10" name="obj31"/>
          <p:cNvSpPr txBox="1"/>
          <p:nvPr/>
        </p:nvSpPr>
        <p:spPr>
          <a:xfrm>
            <a:off x="1874520" y="2057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estimar</a:t>
            </a:r>
            <a:endParaRPr lang="en-US" sz="2000" dirty="0"/>
          </a:p>
        </p:txBody>
      </p:sp>
      <p:sp>
        <p:nvSpPr>
          <p:cNvPr id="11" name="obj32"/>
          <p:cNvSpPr txBox="1"/>
          <p:nvPr/>
        </p:nvSpPr>
        <p:spPr>
          <a:xfrm>
            <a:off x="1874520" y="24688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dedos indican el tamaño relativo de una historia de usuario.</a:t>
            </a:r>
            <a:endParaRPr lang="en-US" sz="1400" dirty="0"/>
          </a:p>
        </p:txBody>
      </p:sp>
      <p:sp>
        <p:nvSpPr>
          <p:cNvPr id="12" name="obj33"/>
          <p:cNvSpPr txBox="1"/>
          <p:nvPr/>
        </p:nvSpPr>
        <p:spPr>
          <a:xfrm>
            <a:off x="868680" y="34747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Ej.: </a:t>
            </a:r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= muy pequeña · 5 = muy grande</a:t>
            </a:r>
            <a:endParaRPr lang="en-US" sz="1200" dirty="0"/>
          </a:p>
        </p:txBody>
      </p:sp>
      <p:sp>
        <p:nvSpPr>
          <p:cNvPr id="13" name="obj34"/>
          <p:cNvSpPr/>
          <p:nvPr/>
        </p:nvSpPr>
        <p:spPr>
          <a:xfrm>
            <a:off x="4709160" y="1737360"/>
            <a:ext cx="3886200" cy="2331720"/>
          </a:xfrm>
          <a:prstGeom prst="roundRect">
            <a:avLst>
              <a:gd name="adj" fmla="val 7059"/>
            </a:avLst>
          </a:prstGeom>
          <a:solidFill>
            <a:srgbClr val="F4F4F2"/>
          </a:solidFill>
          <a:ln/>
        </p:spPr>
      </p:sp>
      <p:sp>
        <p:nvSpPr>
          <p:cNvPr id="14" name="obj35"/>
          <p:cNvSpPr/>
          <p:nvPr/>
        </p:nvSpPr>
        <p:spPr>
          <a:xfrm>
            <a:off x="5153558" y="2160910"/>
            <a:ext cx="108814" cy="373075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/>
        </p:spPr>
      </p:sp>
      <p:sp>
        <p:nvSpPr>
          <p:cNvPr id="15" name="obj36"/>
          <p:cNvSpPr/>
          <p:nvPr/>
        </p:nvSpPr>
        <p:spPr>
          <a:xfrm>
            <a:off x="5293462" y="2123603"/>
            <a:ext cx="108814" cy="410383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/>
        </p:spPr>
      </p:sp>
      <p:sp>
        <p:nvSpPr>
          <p:cNvPr id="16" name="obj37"/>
          <p:cNvSpPr/>
          <p:nvPr/>
        </p:nvSpPr>
        <p:spPr>
          <a:xfrm>
            <a:off x="5433365" y="2160910"/>
            <a:ext cx="108814" cy="373075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/>
        </p:spPr>
      </p:sp>
      <p:sp>
        <p:nvSpPr>
          <p:cNvPr id="17" name="obj38"/>
          <p:cNvSpPr/>
          <p:nvPr/>
        </p:nvSpPr>
        <p:spPr>
          <a:xfrm>
            <a:off x="5573268" y="2235525"/>
            <a:ext cx="108814" cy="298460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/>
        </p:spPr>
      </p:sp>
      <p:sp>
        <p:nvSpPr>
          <p:cNvPr id="18" name="obj39"/>
          <p:cNvSpPr/>
          <p:nvPr/>
        </p:nvSpPr>
        <p:spPr>
          <a:xfrm rot="-1920000">
            <a:off x="5044745" y="2403409"/>
            <a:ext cx="116586" cy="317114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/>
        </p:spPr>
      </p:sp>
      <p:sp>
        <p:nvSpPr>
          <p:cNvPr id="19" name="obj40"/>
          <p:cNvSpPr/>
          <p:nvPr/>
        </p:nvSpPr>
        <p:spPr>
          <a:xfrm>
            <a:off x="5138014" y="2478024"/>
            <a:ext cx="559613" cy="429036"/>
          </a:xfrm>
          <a:prstGeom prst="roundRect">
            <a:avLst>
              <a:gd name="adj" fmla="val 28986"/>
            </a:avLst>
          </a:prstGeom>
          <a:solidFill>
            <a:srgbClr val="2F9E6E"/>
          </a:solidFill>
          <a:ln/>
        </p:spPr>
      </p:sp>
      <p:sp>
        <p:nvSpPr>
          <p:cNvPr id="20" name="obj41"/>
          <p:cNvSpPr txBox="1"/>
          <p:nvPr/>
        </p:nvSpPr>
        <p:spPr>
          <a:xfrm>
            <a:off x="6035040" y="2057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decidir</a:t>
            </a:r>
            <a:endParaRPr lang="en-US" sz="2000" dirty="0"/>
          </a:p>
        </p:txBody>
      </p:sp>
      <p:sp>
        <p:nvSpPr>
          <p:cNvPr id="21" name="obj42"/>
          <p:cNvSpPr txBox="1"/>
          <p:nvPr/>
        </p:nvSpPr>
        <p:spPr>
          <a:xfrm>
            <a:off x="6035040" y="24688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dedos indican cuánto estoy de acuerdo con la propuesta.</a:t>
            </a:r>
            <a:endParaRPr lang="en-US" sz="1400" dirty="0"/>
          </a:p>
        </p:txBody>
      </p:sp>
      <p:sp>
        <p:nvSpPr>
          <p:cNvPr id="22" name="obj43"/>
          <p:cNvSpPr txBox="1"/>
          <p:nvPr/>
        </p:nvSpPr>
        <p:spPr>
          <a:xfrm>
            <a:off x="5029200" y="34747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Ej.: </a:t>
            </a:r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¿esta historia entra al sprint?</a:t>
            </a:r>
            <a:endParaRPr lang="en-US" sz="1200" dirty="0"/>
          </a:p>
        </p:txBody>
      </p:sp>
      <p:sp>
        <p:nvSpPr>
          <p:cNvPr id="23" name="obj44"/>
          <p:cNvSpPr txBox="1"/>
          <p:nvPr/>
        </p:nvSpPr>
        <p:spPr>
          <a:xfrm>
            <a:off x="548640" y="42519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Vota el Equipo Scrum · el Product Owner solo aclara dudas · solo se estiman historias que cumplen la definición de listo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significa cada dedo</a:t>
            </a:r>
            <a:endParaRPr lang="en-US" sz="3000" dirty="0"/>
          </a:p>
        </p:txBody>
      </p:sp>
      <p:sp>
        <p:nvSpPr>
          <p:cNvPr id="3" name="obj45"/>
          <p:cNvSpPr txBox="1"/>
          <p:nvPr/>
        </p:nvSpPr>
        <p:spPr>
          <a:xfrm>
            <a:off x="548640" y="1188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ESTOY DE ACUERDO</a:t>
            </a:r>
            <a:endParaRPr lang="en-US" sz="1100" dirty="0"/>
          </a:p>
        </p:txBody>
      </p:sp>
      <p:sp>
        <p:nvSpPr>
          <p:cNvPr id="4" name="obj46"/>
          <p:cNvSpPr txBox="1"/>
          <p:nvPr/>
        </p:nvSpPr>
        <p:spPr>
          <a:xfrm>
            <a:off x="3840480" y="1188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DUDA</a:t>
            </a:r>
            <a:endParaRPr lang="en-US" sz="1100" dirty="0"/>
          </a:p>
        </p:txBody>
      </p:sp>
      <p:sp>
        <p:nvSpPr>
          <p:cNvPr id="5" name="obj47"/>
          <p:cNvSpPr txBox="1"/>
          <p:nvPr/>
        </p:nvSpPr>
        <p:spPr>
          <a:xfrm>
            <a:off x="5486400" y="1188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F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ACUERDO</a:t>
            </a:r>
            <a:endParaRPr lang="en-US" sz="1100" dirty="0"/>
          </a:p>
        </p:txBody>
      </p:sp>
      <p:sp>
        <p:nvSpPr>
          <p:cNvPr id="6" name="obj48"/>
          <p:cNvSpPr/>
          <p:nvPr/>
        </p:nvSpPr>
        <p:spPr>
          <a:xfrm>
            <a:off x="1000354" y="1803928"/>
            <a:ext cx="115214" cy="395021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/>
        </p:spPr>
      </p:sp>
      <p:sp>
        <p:nvSpPr>
          <p:cNvPr id="7" name="obj49"/>
          <p:cNvSpPr/>
          <p:nvPr/>
        </p:nvSpPr>
        <p:spPr>
          <a:xfrm>
            <a:off x="1148486" y="2090318"/>
            <a:ext cx="115214" cy="108631"/>
          </a:xfrm>
          <a:prstGeom prst="roundRect">
            <a:avLst>
              <a:gd name="adj" fmla="val 50000"/>
            </a:avLst>
          </a:prstGeom>
          <a:solidFill>
            <a:srgbClr val="E5484D">
              <a:alpha val="40000"/>
            </a:srgbClr>
          </a:solidFill>
          <a:ln/>
        </p:spPr>
      </p:sp>
      <p:sp>
        <p:nvSpPr>
          <p:cNvPr id="8" name="obj50"/>
          <p:cNvSpPr/>
          <p:nvPr/>
        </p:nvSpPr>
        <p:spPr>
          <a:xfrm>
            <a:off x="1296619" y="2090318"/>
            <a:ext cx="115214" cy="108631"/>
          </a:xfrm>
          <a:prstGeom prst="roundRect">
            <a:avLst>
              <a:gd name="adj" fmla="val 50000"/>
            </a:avLst>
          </a:prstGeom>
          <a:solidFill>
            <a:srgbClr val="E5484D">
              <a:alpha val="40000"/>
            </a:srgbClr>
          </a:solidFill>
          <a:ln/>
        </p:spPr>
      </p:sp>
      <p:sp>
        <p:nvSpPr>
          <p:cNvPr id="9" name="obj51"/>
          <p:cNvSpPr/>
          <p:nvPr/>
        </p:nvSpPr>
        <p:spPr>
          <a:xfrm>
            <a:off x="1444752" y="2090318"/>
            <a:ext cx="115214" cy="108631"/>
          </a:xfrm>
          <a:prstGeom prst="roundRect">
            <a:avLst>
              <a:gd name="adj" fmla="val 50000"/>
            </a:avLst>
          </a:prstGeom>
          <a:solidFill>
            <a:srgbClr val="E5484D">
              <a:alpha val="40000"/>
            </a:srgbClr>
          </a:solidFill>
          <a:ln/>
        </p:spPr>
      </p:sp>
      <p:sp>
        <p:nvSpPr>
          <p:cNvPr id="10" name="obj52"/>
          <p:cNvSpPr/>
          <p:nvPr/>
        </p:nvSpPr>
        <p:spPr>
          <a:xfrm>
            <a:off x="983894" y="2139696"/>
            <a:ext cx="592531" cy="454274"/>
          </a:xfrm>
          <a:prstGeom prst="roundRect">
            <a:avLst>
              <a:gd name="adj" fmla="val 28986"/>
            </a:avLst>
          </a:prstGeom>
          <a:solidFill>
            <a:srgbClr val="E5484D"/>
          </a:solidFill>
          <a:ln/>
        </p:spPr>
      </p:sp>
      <p:sp>
        <p:nvSpPr>
          <p:cNvPr id="11" name="obj53"/>
          <p:cNvSpPr txBox="1"/>
          <p:nvPr/>
        </p:nvSpPr>
        <p:spPr>
          <a:xfrm>
            <a:off x="548640" y="26974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12" name="obj54"/>
          <p:cNvSpPr txBox="1"/>
          <p:nvPr/>
        </p:nvSpPr>
        <p:spPr>
          <a:xfrm>
            <a:off x="548640" y="320040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estoy de acuerdo y tengo grandes inquietudes</a:t>
            </a:r>
            <a:endParaRPr lang="en-US" sz="1300" dirty="0"/>
          </a:p>
        </p:txBody>
      </p:sp>
      <p:sp>
        <p:nvSpPr>
          <p:cNvPr id="13" name="obj55"/>
          <p:cNvSpPr/>
          <p:nvPr/>
        </p:nvSpPr>
        <p:spPr>
          <a:xfrm>
            <a:off x="2646274" y="1803928"/>
            <a:ext cx="115214" cy="395021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/>
        </p:spPr>
      </p:sp>
      <p:sp>
        <p:nvSpPr>
          <p:cNvPr id="14" name="obj56"/>
          <p:cNvSpPr/>
          <p:nvPr/>
        </p:nvSpPr>
        <p:spPr>
          <a:xfrm>
            <a:off x="2794406" y="1764426"/>
            <a:ext cx="115214" cy="434523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/>
        </p:spPr>
      </p:sp>
      <p:sp>
        <p:nvSpPr>
          <p:cNvPr id="15" name="obj57"/>
          <p:cNvSpPr/>
          <p:nvPr/>
        </p:nvSpPr>
        <p:spPr>
          <a:xfrm>
            <a:off x="2942539" y="2090318"/>
            <a:ext cx="115214" cy="108631"/>
          </a:xfrm>
          <a:prstGeom prst="roundRect">
            <a:avLst>
              <a:gd name="adj" fmla="val 50000"/>
            </a:avLst>
          </a:prstGeom>
          <a:solidFill>
            <a:srgbClr val="E5484D">
              <a:alpha val="40000"/>
            </a:srgbClr>
          </a:solidFill>
          <a:ln/>
        </p:spPr>
      </p:sp>
      <p:sp>
        <p:nvSpPr>
          <p:cNvPr id="16" name="obj58"/>
          <p:cNvSpPr/>
          <p:nvPr/>
        </p:nvSpPr>
        <p:spPr>
          <a:xfrm>
            <a:off x="3090672" y="2090318"/>
            <a:ext cx="115214" cy="108631"/>
          </a:xfrm>
          <a:prstGeom prst="roundRect">
            <a:avLst>
              <a:gd name="adj" fmla="val 50000"/>
            </a:avLst>
          </a:prstGeom>
          <a:solidFill>
            <a:srgbClr val="E5484D">
              <a:alpha val="40000"/>
            </a:srgbClr>
          </a:solidFill>
          <a:ln/>
        </p:spPr>
      </p:sp>
      <p:sp>
        <p:nvSpPr>
          <p:cNvPr id="17" name="obj59"/>
          <p:cNvSpPr/>
          <p:nvPr/>
        </p:nvSpPr>
        <p:spPr>
          <a:xfrm>
            <a:off x="2629814" y="2139696"/>
            <a:ext cx="592531" cy="454274"/>
          </a:xfrm>
          <a:prstGeom prst="roundRect">
            <a:avLst>
              <a:gd name="adj" fmla="val 28986"/>
            </a:avLst>
          </a:prstGeom>
          <a:solidFill>
            <a:srgbClr val="E5484D"/>
          </a:solidFill>
          <a:ln/>
        </p:spPr>
      </p:sp>
      <p:sp>
        <p:nvSpPr>
          <p:cNvPr id="18" name="obj60"/>
          <p:cNvSpPr txBox="1"/>
          <p:nvPr/>
        </p:nvSpPr>
        <p:spPr>
          <a:xfrm>
            <a:off x="2194560" y="26974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9" name="obj61"/>
          <p:cNvSpPr txBox="1"/>
          <p:nvPr/>
        </p:nvSpPr>
        <p:spPr>
          <a:xfrm>
            <a:off x="2194560" y="320040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estoy de acuerdo; quiero hablar de temas menores</a:t>
            </a:r>
            <a:endParaRPr lang="en-US" sz="1300" dirty="0"/>
          </a:p>
        </p:txBody>
      </p:sp>
      <p:sp>
        <p:nvSpPr>
          <p:cNvPr id="20" name="obj62"/>
          <p:cNvSpPr/>
          <p:nvPr/>
        </p:nvSpPr>
        <p:spPr>
          <a:xfrm>
            <a:off x="4292194" y="1803928"/>
            <a:ext cx="115214" cy="395021"/>
          </a:xfrm>
          <a:prstGeom prst="roundRect">
            <a:avLst>
              <a:gd name="adj" fmla="val 50000"/>
            </a:avLst>
          </a:prstGeom>
          <a:solidFill>
            <a:srgbClr val="F0A020"/>
          </a:solidFill>
          <a:ln/>
        </p:spPr>
      </p:sp>
      <p:sp>
        <p:nvSpPr>
          <p:cNvPr id="21" name="obj63"/>
          <p:cNvSpPr/>
          <p:nvPr/>
        </p:nvSpPr>
        <p:spPr>
          <a:xfrm>
            <a:off x="4440326" y="1764426"/>
            <a:ext cx="115214" cy="434523"/>
          </a:xfrm>
          <a:prstGeom prst="roundRect">
            <a:avLst>
              <a:gd name="adj" fmla="val 50000"/>
            </a:avLst>
          </a:prstGeom>
          <a:solidFill>
            <a:srgbClr val="F0A020"/>
          </a:solidFill>
          <a:ln/>
        </p:spPr>
      </p:sp>
      <p:sp>
        <p:nvSpPr>
          <p:cNvPr id="22" name="obj64"/>
          <p:cNvSpPr/>
          <p:nvPr/>
        </p:nvSpPr>
        <p:spPr>
          <a:xfrm>
            <a:off x="4588459" y="1803928"/>
            <a:ext cx="115214" cy="395021"/>
          </a:xfrm>
          <a:prstGeom prst="roundRect">
            <a:avLst>
              <a:gd name="adj" fmla="val 50000"/>
            </a:avLst>
          </a:prstGeom>
          <a:solidFill>
            <a:srgbClr val="F0A020"/>
          </a:solidFill>
          <a:ln/>
        </p:spPr>
      </p:sp>
      <p:sp>
        <p:nvSpPr>
          <p:cNvPr id="23" name="obj65"/>
          <p:cNvSpPr/>
          <p:nvPr/>
        </p:nvSpPr>
        <p:spPr>
          <a:xfrm>
            <a:off x="4736592" y="2090318"/>
            <a:ext cx="115214" cy="108631"/>
          </a:xfrm>
          <a:prstGeom prst="roundRect">
            <a:avLst>
              <a:gd name="adj" fmla="val 50000"/>
            </a:avLst>
          </a:prstGeom>
          <a:solidFill>
            <a:srgbClr val="F0A020">
              <a:alpha val="40000"/>
            </a:srgbClr>
          </a:solidFill>
          <a:ln/>
        </p:spPr>
      </p:sp>
      <p:sp>
        <p:nvSpPr>
          <p:cNvPr id="24" name="obj66"/>
          <p:cNvSpPr/>
          <p:nvPr/>
        </p:nvSpPr>
        <p:spPr>
          <a:xfrm>
            <a:off x="4275734" y="2139696"/>
            <a:ext cx="592531" cy="454274"/>
          </a:xfrm>
          <a:prstGeom prst="roundRect">
            <a:avLst>
              <a:gd name="adj" fmla="val 28986"/>
            </a:avLst>
          </a:prstGeom>
          <a:solidFill>
            <a:srgbClr val="F0A020"/>
          </a:solidFill>
          <a:ln/>
        </p:spPr>
      </p:sp>
      <p:sp>
        <p:nvSpPr>
          <p:cNvPr id="25" name="obj67"/>
          <p:cNvSpPr txBox="1"/>
          <p:nvPr/>
        </p:nvSpPr>
        <p:spPr>
          <a:xfrm>
            <a:off x="3840480" y="26974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26" name="obj68"/>
          <p:cNvSpPr txBox="1"/>
          <p:nvPr/>
        </p:nvSpPr>
        <p:spPr>
          <a:xfrm>
            <a:off x="3840480" y="320040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estoy seguro, pero me sumo al grupo</a:t>
            </a:r>
            <a:endParaRPr lang="en-US" sz="1300" dirty="0"/>
          </a:p>
        </p:txBody>
      </p:sp>
      <p:sp>
        <p:nvSpPr>
          <p:cNvPr id="27" name="obj69"/>
          <p:cNvSpPr/>
          <p:nvPr/>
        </p:nvSpPr>
        <p:spPr>
          <a:xfrm>
            <a:off x="5938114" y="1803928"/>
            <a:ext cx="115214" cy="395021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/>
        </p:spPr>
      </p:sp>
      <p:sp>
        <p:nvSpPr>
          <p:cNvPr id="28" name="obj70"/>
          <p:cNvSpPr/>
          <p:nvPr/>
        </p:nvSpPr>
        <p:spPr>
          <a:xfrm>
            <a:off x="6086246" y="1764426"/>
            <a:ext cx="115214" cy="434523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/>
        </p:spPr>
      </p:sp>
      <p:sp>
        <p:nvSpPr>
          <p:cNvPr id="29" name="obj71"/>
          <p:cNvSpPr/>
          <p:nvPr/>
        </p:nvSpPr>
        <p:spPr>
          <a:xfrm>
            <a:off x="6234379" y="1803928"/>
            <a:ext cx="115214" cy="395021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/>
        </p:spPr>
      </p:sp>
      <p:sp>
        <p:nvSpPr>
          <p:cNvPr id="30" name="obj72"/>
          <p:cNvSpPr/>
          <p:nvPr/>
        </p:nvSpPr>
        <p:spPr>
          <a:xfrm>
            <a:off x="6382512" y="1882932"/>
            <a:ext cx="115214" cy="316017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/>
        </p:spPr>
      </p:sp>
      <p:sp>
        <p:nvSpPr>
          <p:cNvPr id="31" name="obj73"/>
          <p:cNvSpPr/>
          <p:nvPr/>
        </p:nvSpPr>
        <p:spPr>
          <a:xfrm>
            <a:off x="5921654" y="2139696"/>
            <a:ext cx="592531" cy="454274"/>
          </a:xfrm>
          <a:prstGeom prst="roundRect">
            <a:avLst>
              <a:gd name="adj" fmla="val 28986"/>
            </a:avLst>
          </a:prstGeom>
          <a:solidFill>
            <a:srgbClr val="2F9E6E"/>
          </a:solidFill>
          <a:ln/>
        </p:spPr>
      </p:sp>
      <p:sp>
        <p:nvSpPr>
          <p:cNvPr id="32" name="obj74"/>
          <p:cNvSpPr txBox="1"/>
          <p:nvPr/>
        </p:nvSpPr>
        <p:spPr>
          <a:xfrm>
            <a:off x="5486400" y="26974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33" name="obj75"/>
          <p:cNvSpPr txBox="1"/>
          <p:nvPr/>
        </p:nvSpPr>
        <p:spPr>
          <a:xfrm>
            <a:off x="5486400" y="320040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Estoy de acuerdo; quiero comentar temas menores</a:t>
            </a:r>
            <a:endParaRPr lang="en-US" sz="1300" dirty="0"/>
          </a:p>
        </p:txBody>
      </p:sp>
      <p:sp>
        <p:nvSpPr>
          <p:cNvPr id="34" name="obj76"/>
          <p:cNvSpPr/>
          <p:nvPr/>
        </p:nvSpPr>
        <p:spPr>
          <a:xfrm>
            <a:off x="7584034" y="1803928"/>
            <a:ext cx="115214" cy="395021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/>
        </p:spPr>
      </p:sp>
      <p:sp>
        <p:nvSpPr>
          <p:cNvPr id="35" name="obj77"/>
          <p:cNvSpPr/>
          <p:nvPr/>
        </p:nvSpPr>
        <p:spPr>
          <a:xfrm>
            <a:off x="7732166" y="1764426"/>
            <a:ext cx="115214" cy="434523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/>
        </p:spPr>
      </p:sp>
      <p:sp>
        <p:nvSpPr>
          <p:cNvPr id="36" name="obj78"/>
          <p:cNvSpPr/>
          <p:nvPr/>
        </p:nvSpPr>
        <p:spPr>
          <a:xfrm>
            <a:off x="7880299" y="1803928"/>
            <a:ext cx="115214" cy="395021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/>
        </p:spPr>
      </p:sp>
      <p:sp>
        <p:nvSpPr>
          <p:cNvPr id="37" name="obj79"/>
          <p:cNvSpPr/>
          <p:nvPr/>
        </p:nvSpPr>
        <p:spPr>
          <a:xfrm>
            <a:off x="8028432" y="1882932"/>
            <a:ext cx="115214" cy="316017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/>
        </p:spPr>
      </p:sp>
      <p:sp>
        <p:nvSpPr>
          <p:cNvPr id="38" name="obj80"/>
          <p:cNvSpPr/>
          <p:nvPr/>
        </p:nvSpPr>
        <p:spPr>
          <a:xfrm rot="-1920000">
            <a:off x="7468819" y="2060692"/>
            <a:ext cx="123444" cy="335768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/>
        </p:spPr>
      </p:sp>
      <p:sp>
        <p:nvSpPr>
          <p:cNvPr id="39" name="obj81"/>
          <p:cNvSpPr/>
          <p:nvPr/>
        </p:nvSpPr>
        <p:spPr>
          <a:xfrm>
            <a:off x="7567574" y="2139696"/>
            <a:ext cx="592531" cy="454274"/>
          </a:xfrm>
          <a:prstGeom prst="roundRect">
            <a:avLst>
              <a:gd name="adj" fmla="val 28986"/>
            </a:avLst>
          </a:prstGeom>
          <a:solidFill>
            <a:srgbClr val="2F9E6E"/>
          </a:solidFill>
          <a:ln/>
        </p:spPr>
      </p:sp>
      <p:sp>
        <p:nvSpPr>
          <p:cNvPr id="40" name="obj82"/>
          <p:cNvSpPr txBox="1"/>
          <p:nvPr/>
        </p:nvSpPr>
        <p:spPr>
          <a:xfrm>
            <a:off x="7132320" y="26974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</p:txBody>
      </p:sp>
      <p:sp>
        <p:nvSpPr>
          <p:cNvPr id="41" name="obj83"/>
          <p:cNvSpPr txBox="1"/>
          <p:nvPr/>
        </p:nvSpPr>
        <p:spPr>
          <a:xfrm>
            <a:off x="7132320" y="320040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Estoy totalmente de acuerdo</a:t>
            </a:r>
            <a:endParaRPr lang="en-US" sz="1300" dirty="0"/>
          </a:p>
        </p:txBody>
      </p:sp>
      <p:sp>
        <p:nvSpPr>
          <p:cNvPr id="42" name="obj84"/>
          <p:cNvSpPr txBox="1"/>
          <p:nvPr/>
        </p:nvSpPr>
        <p:spPr>
          <a:xfrm>
            <a:off x="548640" y="42519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Sugerencia: </a:t>
            </a:r>
            <a:pPr algn="l" indent="0" marL="0">
              <a:buNone/>
            </a:pPr>
            <a:r>
              <a:rPr lang="en-US" sz="13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alguien muestra 1 o 2, se escucha su razón antes de cerrar.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usa, en 4 pasos</a:t>
            </a:r>
            <a:endParaRPr lang="en-US" sz="3000" dirty="0"/>
          </a:p>
        </p:txBody>
      </p:sp>
      <p:sp>
        <p:nvSpPr>
          <p:cNvPr id="3" name="obj85"/>
          <p:cNvSpPr/>
          <p:nvPr/>
        </p:nvSpPr>
        <p:spPr>
          <a:xfrm>
            <a:off x="548640" y="1234440"/>
            <a:ext cx="1828800" cy="2560320"/>
          </a:xfrm>
          <a:prstGeom prst="roundRect">
            <a:avLst>
              <a:gd name="adj" fmla="val 9000"/>
            </a:avLst>
          </a:prstGeom>
          <a:solidFill>
            <a:srgbClr val="F4F4F2"/>
          </a:solidFill>
          <a:ln/>
        </p:spPr>
      </p:sp>
      <p:sp>
        <p:nvSpPr>
          <p:cNvPr id="4" name="obj86"/>
          <p:cNvSpPr/>
          <p:nvPr/>
        </p:nvSpPr>
        <p:spPr>
          <a:xfrm>
            <a:off x="777240" y="146304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5" name="obj87"/>
          <p:cNvSpPr txBox="1"/>
          <p:nvPr/>
        </p:nvSpPr>
        <p:spPr>
          <a:xfrm>
            <a:off x="77724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obj88"/>
          <p:cNvSpPr txBox="1"/>
          <p:nvPr/>
        </p:nvSpPr>
        <p:spPr>
          <a:xfrm>
            <a:off x="777240" y="210312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Presentar</a:t>
            </a:r>
            <a:endParaRPr lang="en-US" sz="1700" dirty="0"/>
          </a:p>
        </p:txBody>
      </p:sp>
      <p:sp>
        <p:nvSpPr>
          <p:cNvPr id="7" name="obj89"/>
          <p:cNvSpPr txBox="1"/>
          <p:nvPr/>
        </p:nvSpPr>
        <p:spPr>
          <a:xfrm>
            <a:off x="777240" y="278892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PO lee la historia y sus criterios de aceptación. Se aclaran dudas.</a:t>
            </a:r>
            <a:endParaRPr lang="en-US" sz="1300" dirty="0"/>
          </a:p>
        </p:txBody>
      </p:sp>
      <p:sp>
        <p:nvSpPr>
          <p:cNvPr id="8" name="obj90"/>
          <p:cNvSpPr/>
          <p:nvPr/>
        </p:nvSpPr>
        <p:spPr>
          <a:xfrm>
            <a:off x="2624328" y="1234440"/>
            <a:ext cx="1828800" cy="2560320"/>
          </a:xfrm>
          <a:prstGeom prst="roundRect">
            <a:avLst>
              <a:gd name="adj" fmla="val 9000"/>
            </a:avLst>
          </a:prstGeom>
          <a:solidFill>
            <a:srgbClr val="F4F4F2"/>
          </a:solidFill>
          <a:ln/>
        </p:spPr>
      </p:sp>
      <p:sp>
        <p:nvSpPr>
          <p:cNvPr id="9" name="obj91"/>
          <p:cNvSpPr/>
          <p:nvPr/>
        </p:nvSpPr>
        <p:spPr>
          <a:xfrm>
            <a:off x="2852928" y="146304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10" name="obj92"/>
          <p:cNvSpPr txBox="1"/>
          <p:nvPr/>
        </p:nvSpPr>
        <p:spPr>
          <a:xfrm>
            <a:off x="2852928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obj93"/>
          <p:cNvSpPr txBox="1"/>
          <p:nvPr/>
        </p:nvSpPr>
        <p:spPr>
          <a:xfrm>
            <a:off x="2852928" y="210312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Votar a la vez</a:t>
            </a:r>
            <a:endParaRPr lang="en-US" sz="1700" dirty="0"/>
          </a:p>
        </p:txBody>
      </p:sp>
      <p:sp>
        <p:nvSpPr>
          <p:cNvPr id="12" name="obj94"/>
          <p:cNvSpPr txBox="1"/>
          <p:nvPr/>
        </p:nvSpPr>
        <p:spPr>
          <a:xfrm>
            <a:off x="2852928" y="278892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«3, 2, 1… ¡mano!» Todos muestran los dedos al mismo tiempo.</a:t>
            </a:r>
            <a:endParaRPr lang="en-US" sz="1300" dirty="0"/>
          </a:p>
        </p:txBody>
      </p:sp>
      <p:sp>
        <p:nvSpPr>
          <p:cNvPr id="13" name="obj95"/>
          <p:cNvSpPr/>
          <p:nvPr/>
        </p:nvSpPr>
        <p:spPr>
          <a:xfrm>
            <a:off x="4700016" y="1234440"/>
            <a:ext cx="1828800" cy="2560320"/>
          </a:xfrm>
          <a:prstGeom prst="roundRect">
            <a:avLst>
              <a:gd name="adj" fmla="val 9000"/>
            </a:avLst>
          </a:prstGeom>
          <a:solidFill>
            <a:srgbClr val="F4F4F2"/>
          </a:solidFill>
          <a:ln/>
        </p:spPr>
      </p:sp>
      <p:sp>
        <p:nvSpPr>
          <p:cNvPr id="14" name="obj96"/>
          <p:cNvSpPr/>
          <p:nvPr/>
        </p:nvSpPr>
        <p:spPr>
          <a:xfrm>
            <a:off x="4928616" y="146304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15" name="obj97"/>
          <p:cNvSpPr txBox="1"/>
          <p:nvPr/>
        </p:nvSpPr>
        <p:spPr>
          <a:xfrm>
            <a:off x="4928616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obj98"/>
          <p:cNvSpPr txBox="1"/>
          <p:nvPr/>
        </p:nvSpPr>
        <p:spPr>
          <a:xfrm>
            <a:off x="4928616" y="210312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extremos</a:t>
            </a:r>
            <a:endParaRPr lang="en-US" sz="1700" dirty="0"/>
          </a:p>
        </p:txBody>
      </p:sp>
      <p:sp>
        <p:nvSpPr>
          <p:cNvPr id="17" name="obj99"/>
          <p:cNvSpPr txBox="1"/>
          <p:nvPr/>
        </p:nvSpPr>
        <p:spPr>
          <a:xfrm>
            <a:off x="4928616" y="278892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Quien votó más alto y quien votó más bajo explican por qué.</a:t>
            </a:r>
            <a:endParaRPr lang="en-US" sz="1300" dirty="0"/>
          </a:p>
        </p:txBody>
      </p:sp>
      <p:sp>
        <p:nvSpPr>
          <p:cNvPr id="18" name="obj100"/>
          <p:cNvSpPr/>
          <p:nvPr/>
        </p:nvSpPr>
        <p:spPr>
          <a:xfrm>
            <a:off x="6775704" y="1234440"/>
            <a:ext cx="1828800" cy="2560320"/>
          </a:xfrm>
          <a:prstGeom prst="roundRect">
            <a:avLst>
              <a:gd name="adj" fmla="val 9000"/>
            </a:avLst>
          </a:prstGeom>
          <a:solidFill>
            <a:srgbClr val="F4F4F2"/>
          </a:solidFill>
          <a:ln/>
        </p:spPr>
      </p:sp>
      <p:sp>
        <p:nvSpPr>
          <p:cNvPr id="19" name="obj101"/>
          <p:cNvSpPr/>
          <p:nvPr/>
        </p:nvSpPr>
        <p:spPr>
          <a:xfrm>
            <a:off x="7004304" y="146304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20" name="obj102"/>
          <p:cNvSpPr txBox="1"/>
          <p:nvPr/>
        </p:nvSpPr>
        <p:spPr>
          <a:xfrm>
            <a:off x="7004304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obj103"/>
          <p:cNvSpPr txBox="1"/>
          <p:nvPr/>
        </p:nvSpPr>
        <p:spPr>
          <a:xfrm>
            <a:off x="7004304" y="210312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Re-votar o decidir</a:t>
            </a:r>
            <a:endParaRPr lang="en-US" sz="1700" dirty="0"/>
          </a:p>
        </p:txBody>
      </p:sp>
      <p:sp>
        <p:nvSpPr>
          <p:cNvPr id="22" name="obj104"/>
          <p:cNvSpPr txBox="1"/>
          <p:nvPr/>
        </p:nvSpPr>
        <p:spPr>
          <a:xfrm>
            <a:off x="7004304" y="278892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 ronda hasta acercarse. Se anota el valor acordado.</a:t>
            </a:r>
            <a:endParaRPr lang="en-US" sz="1300" dirty="0"/>
          </a:p>
        </p:txBody>
      </p:sp>
      <p:sp>
        <p:nvSpPr>
          <p:cNvPr id="23" name="obj105"/>
          <p:cNvSpPr/>
          <p:nvPr/>
        </p:nvSpPr>
        <p:spPr>
          <a:xfrm>
            <a:off x="548640" y="3977640"/>
            <a:ext cx="8046720" cy="566928"/>
          </a:xfrm>
          <a:prstGeom prst="roundRect">
            <a:avLst>
              <a:gd name="adj" fmla="val 19355"/>
            </a:avLst>
          </a:prstGeom>
          <a:solidFill>
            <a:srgbClr val="FDEDE7"/>
          </a:solidFill>
          <a:ln/>
        </p:spPr>
      </p:sp>
      <p:sp>
        <p:nvSpPr>
          <p:cNvPr id="24" name="obj106"/>
          <p:cNvSpPr txBox="1"/>
          <p:nvPr/>
        </p:nvSpPr>
        <p:spPr>
          <a:xfrm>
            <a:off x="777240" y="397764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valioso no es solo el número: es la conversación que abren los votos distintos.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HU12 «Clasificar la conducta»</a:t>
            </a:r>
            <a:endParaRPr lang="en-US" sz="3000" dirty="0"/>
          </a:p>
        </p:txBody>
      </p:sp>
      <p:sp>
        <p:nvSpPr>
          <p:cNvPr id="3" name="obj107"/>
          <p:cNvSpPr txBox="1"/>
          <p:nvPr/>
        </p:nvSpPr>
        <p:spPr>
          <a:xfrm>
            <a:off x="548640" y="10241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Épica EP03 · Detección de conductas inseguras · simulación del equipo NewBit</a:t>
            </a:r>
            <a:endParaRPr lang="en-US" sz="1200" dirty="0"/>
          </a:p>
        </p:txBody>
      </p:sp>
      <p:sp>
        <p:nvSpPr>
          <p:cNvPr id="4" name="obj108"/>
          <p:cNvSpPr/>
          <p:nvPr/>
        </p:nvSpPr>
        <p:spPr>
          <a:xfrm>
            <a:off x="548640" y="1417320"/>
            <a:ext cx="3931920" cy="3108960"/>
          </a:xfrm>
          <a:prstGeom prst="roundRect">
            <a:avLst>
              <a:gd name="adj" fmla="val 5294"/>
            </a:avLst>
          </a:prstGeom>
          <a:solidFill>
            <a:srgbClr val="F4F4F2"/>
          </a:solidFill>
          <a:ln/>
        </p:spPr>
      </p:sp>
      <p:sp>
        <p:nvSpPr>
          <p:cNvPr id="5" name="obj109"/>
          <p:cNvSpPr txBox="1"/>
          <p:nvPr/>
        </p:nvSpPr>
        <p:spPr>
          <a:xfrm>
            <a:off x="777240" y="1554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Estimar la historia</a:t>
            </a:r>
            <a:endParaRPr lang="en-US" sz="1600" dirty="0"/>
          </a:p>
        </p:txBody>
      </p:sp>
      <p:sp>
        <p:nvSpPr>
          <p:cNvPr id="6" name="obj110"/>
          <p:cNvSpPr txBox="1"/>
          <p:nvPr/>
        </p:nvSpPr>
        <p:spPr>
          <a:xfrm>
            <a:off x="777240" y="185623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Vota el equipo de desarrollo</a:t>
            </a:r>
            <a:endParaRPr lang="en-US" sz="1100" dirty="0"/>
          </a:p>
        </p:txBody>
      </p:sp>
      <p:sp>
        <p:nvSpPr>
          <p:cNvPr id="7" name="obj111"/>
          <p:cNvSpPr txBox="1"/>
          <p:nvPr/>
        </p:nvSpPr>
        <p:spPr>
          <a:xfrm>
            <a:off x="777240" y="23317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Ronda 1</a:t>
            </a:r>
            <a:endParaRPr lang="en-US" sz="1200" dirty="0"/>
          </a:p>
        </p:txBody>
      </p:sp>
      <p:sp>
        <p:nvSpPr>
          <p:cNvPr id="8" name="obj112"/>
          <p:cNvSpPr/>
          <p:nvPr/>
        </p:nvSpPr>
        <p:spPr>
          <a:xfrm>
            <a:off x="1661648" y="2268297"/>
            <a:ext cx="53767" cy="184343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/>
        </p:spPr>
      </p:sp>
      <p:sp>
        <p:nvSpPr>
          <p:cNvPr id="9" name="obj113"/>
          <p:cNvSpPr/>
          <p:nvPr/>
        </p:nvSpPr>
        <p:spPr>
          <a:xfrm>
            <a:off x="1730776" y="2249863"/>
            <a:ext cx="53767" cy="202777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/>
        </p:spPr>
      </p:sp>
      <p:sp>
        <p:nvSpPr>
          <p:cNvPr id="10" name="obj114"/>
          <p:cNvSpPr/>
          <p:nvPr/>
        </p:nvSpPr>
        <p:spPr>
          <a:xfrm>
            <a:off x="1799905" y="2401946"/>
            <a:ext cx="53767" cy="50694"/>
          </a:xfrm>
          <a:prstGeom prst="roundRect">
            <a:avLst>
              <a:gd name="adj" fmla="val 50000"/>
            </a:avLst>
          </a:prstGeom>
          <a:solidFill>
            <a:srgbClr val="E5484D">
              <a:alpha val="40000"/>
            </a:srgbClr>
          </a:solidFill>
          <a:ln/>
        </p:spPr>
      </p:sp>
      <p:sp>
        <p:nvSpPr>
          <p:cNvPr id="11" name="obj115"/>
          <p:cNvSpPr/>
          <p:nvPr/>
        </p:nvSpPr>
        <p:spPr>
          <a:xfrm>
            <a:off x="1869034" y="2401946"/>
            <a:ext cx="53767" cy="50694"/>
          </a:xfrm>
          <a:prstGeom prst="roundRect">
            <a:avLst>
              <a:gd name="adj" fmla="val 50000"/>
            </a:avLst>
          </a:prstGeom>
          <a:solidFill>
            <a:srgbClr val="E5484D">
              <a:alpha val="40000"/>
            </a:srgbClr>
          </a:solidFill>
          <a:ln/>
        </p:spPr>
      </p:sp>
      <p:sp>
        <p:nvSpPr>
          <p:cNvPr id="12" name="obj116"/>
          <p:cNvSpPr/>
          <p:nvPr/>
        </p:nvSpPr>
        <p:spPr>
          <a:xfrm>
            <a:off x="1653967" y="2424989"/>
            <a:ext cx="276515" cy="211994"/>
          </a:xfrm>
          <a:prstGeom prst="roundRect">
            <a:avLst>
              <a:gd name="adj" fmla="val 28986"/>
            </a:avLst>
          </a:prstGeom>
          <a:solidFill>
            <a:srgbClr val="E5484D"/>
          </a:solidFill>
          <a:ln/>
        </p:spPr>
      </p:sp>
      <p:sp>
        <p:nvSpPr>
          <p:cNvPr id="13" name="obj117"/>
          <p:cNvSpPr txBox="1"/>
          <p:nvPr/>
        </p:nvSpPr>
        <p:spPr>
          <a:xfrm>
            <a:off x="2039112" y="221284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obj118"/>
          <p:cNvSpPr txBox="1"/>
          <p:nvPr/>
        </p:nvSpPr>
        <p:spPr>
          <a:xfrm>
            <a:off x="1508760" y="26974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Anthony</a:t>
            </a:r>
            <a:endParaRPr lang="en-US" sz="1000" dirty="0"/>
          </a:p>
        </p:txBody>
      </p:sp>
      <p:sp>
        <p:nvSpPr>
          <p:cNvPr id="15" name="obj119"/>
          <p:cNvSpPr/>
          <p:nvPr/>
        </p:nvSpPr>
        <p:spPr>
          <a:xfrm>
            <a:off x="2576048" y="2268297"/>
            <a:ext cx="53767" cy="184343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/>
        </p:spPr>
      </p:sp>
      <p:sp>
        <p:nvSpPr>
          <p:cNvPr id="16" name="obj120"/>
          <p:cNvSpPr/>
          <p:nvPr/>
        </p:nvSpPr>
        <p:spPr>
          <a:xfrm>
            <a:off x="2645176" y="2249863"/>
            <a:ext cx="53767" cy="202777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/>
        </p:spPr>
      </p:sp>
      <p:sp>
        <p:nvSpPr>
          <p:cNvPr id="17" name="obj121"/>
          <p:cNvSpPr/>
          <p:nvPr/>
        </p:nvSpPr>
        <p:spPr>
          <a:xfrm>
            <a:off x="2714305" y="2268297"/>
            <a:ext cx="53767" cy="184343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/>
        </p:spPr>
      </p:sp>
      <p:sp>
        <p:nvSpPr>
          <p:cNvPr id="18" name="obj122"/>
          <p:cNvSpPr/>
          <p:nvPr/>
        </p:nvSpPr>
        <p:spPr>
          <a:xfrm>
            <a:off x="2783434" y="2305166"/>
            <a:ext cx="53767" cy="147474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/>
        </p:spPr>
      </p:sp>
      <p:sp>
        <p:nvSpPr>
          <p:cNvPr id="19" name="obj123"/>
          <p:cNvSpPr/>
          <p:nvPr/>
        </p:nvSpPr>
        <p:spPr>
          <a:xfrm rot="-1920000">
            <a:off x="2522281" y="2388120"/>
            <a:ext cx="57607" cy="156692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/>
        </p:spPr>
      </p:sp>
      <p:sp>
        <p:nvSpPr>
          <p:cNvPr id="20" name="obj124"/>
          <p:cNvSpPr/>
          <p:nvPr/>
        </p:nvSpPr>
        <p:spPr>
          <a:xfrm>
            <a:off x="2568367" y="2424989"/>
            <a:ext cx="276515" cy="211994"/>
          </a:xfrm>
          <a:prstGeom prst="roundRect">
            <a:avLst>
              <a:gd name="adj" fmla="val 28986"/>
            </a:avLst>
          </a:prstGeom>
          <a:solidFill>
            <a:srgbClr val="2F9E6E"/>
          </a:solidFill>
          <a:ln/>
        </p:spPr>
      </p:sp>
      <p:sp>
        <p:nvSpPr>
          <p:cNvPr id="21" name="obj125"/>
          <p:cNvSpPr txBox="1"/>
          <p:nvPr/>
        </p:nvSpPr>
        <p:spPr>
          <a:xfrm>
            <a:off x="2953512" y="221284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F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22" name="obj126"/>
          <p:cNvSpPr txBox="1"/>
          <p:nvPr/>
        </p:nvSpPr>
        <p:spPr>
          <a:xfrm>
            <a:off x="2423160" y="26974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</a:t>
            </a:r>
            <a:endParaRPr lang="en-US" sz="1000" dirty="0"/>
          </a:p>
        </p:txBody>
      </p:sp>
      <p:sp>
        <p:nvSpPr>
          <p:cNvPr id="23" name="obj127"/>
          <p:cNvSpPr txBox="1"/>
          <p:nvPr/>
        </p:nvSpPr>
        <p:spPr>
          <a:xfrm>
            <a:off x="3383280" y="22402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 distintos</a:t>
            </a:r>
            <a:endParaRPr lang="en-US" sz="1100" dirty="0"/>
          </a:p>
        </p:txBody>
      </p:sp>
      <p:sp>
        <p:nvSpPr>
          <p:cNvPr id="24" name="obj128"/>
          <p:cNvSpPr txBox="1"/>
          <p:nvPr/>
        </p:nvSpPr>
        <p:spPr>
          <a:xfrm>
            <a:off x="777240" y="29718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Luis: «Hay que armar secuencias y entrenar ConvLSTM».</a:t>
            </a:r>
            <a:endParaRPr lang="en-US" sz="1100" dirty="0"/>
          </a:p>
          <a:p>
            <a:pPr algn="l" indent="0" marL="0">
              <a:buNone/>
            </a:pPr>
            <a:r>
              <a:rPr lang="en-US" sz="1100" i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Anthony: «Creí que solo era mostrar el resultado».</a:t>
            </a:r>
            <a:endParaRPr lang="en-US" sz="1100" dirty="0"/>
          </a:p>
        </p:txBody>
      </p:sp>
      <p:sp>
        <p:nvSpPr>
          <p:cNvPr id="25" name="obj129"/>
          <p:cNvSpPr txBox="1"/>
          <p:nvPr/>
        </p:nvSpPr>
        <p:spPr>
          <a:xfrm>
            <a:off x="777240" y="3749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Ronda 2</a:t>
            </a:r>
            <a:endParaRPr lang="en-US" sz="1200" dirty="0"/>
          </a:p>
        </p:txBody>
      </p:sp>
      <p:sp>
        <p:nvSpPr>
          <p:cNvPr id="26" name="obj130"/>
          <p:cNvSpPr/>
          <p:nvPr/>
        </p:nvSpPr>
        <p:spPr>
          <a:xfrm>
            <a:off x="1661648" y="3685617"/>
            <a:ext cx="53767" cy="184343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/>
        </p:spPr>
      </p:sp>
      <p:sp>
        <p:nvSpPr>
          <p:cNvPr id="27" name="obj131"/>
          <p:cNvSpPr/>
          <p:nvPr/>
        </p:nvSpPr>
        <p:spPr>
          <a:xfrm>
            <a:off x="1730776" y="3667183"/>
            <a:ext cx="53767" cy="202777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/>
        </p:spPr>
      </p:sp>
      <p:sp>
        <p:nvSpPr>
          <p:cNvPr id="28" name="obj132"/>
          <p:cNvSpPr/>
          <p:nvPr/>
        </p:nvSpPr>
        <p:spPr>
          <a:xfrm>
            <a:off x="1799905" y="3685617"/>
            <a:ext cx="53767" cy="184343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/>
        </p:spPr>
      </p:sp>
      <p:sp>
        <p:nvSpPr>
          <p:cNvPr id="29" name="obj133"/>
          <p:cNvSpPr/>
          <p:nvPr/>
        </p:nvSpPr>
        <p:spPr>
          <a:xfrm>
            <a:off x="1869034" y="3722486"/>
            <a:ext cx="53767" cy="147474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/>
        </p:spPr>
      </p:sp>
      <p:sp>
        <p:nvSpPr>
          <p:cNvPr id="30" name="obj134"/>
          <p:cNvSpPr/>
          <p:nvPr/>
        </p:nvSpPr>
        <p:spPr>
          <a:xfrm>
            <a:off x="1653967" y="3842309"/>
            <a:ext cx="276515" cy="211994"/>
          </a:xfrm>
          <a:prstGeom prst="roundRect">
            <a:avLst>
              <a:gd name="adj" fmla="val 28986"/>
            </a:avLst>
          </a:prstGeom>
          <a:solidFill>
            <a:srgbClr val="2F9E6E"/>
          </a:solidFill>
          <a:ln/>
        </p:spPr>
      </p:sp>
      <p:sp>
        <p:nvSpPr>
          <p:cNvPr id="31" name="obj135"/>
          <p:cNvSpPr txBox="1"/>
          <p:nvPr/>
        </p:nvSpPr>
        <p:spPr>
          <a:xfrm>
            <a:off x="2039112" y="363016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F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32" name="obj136"/>
          <p:cNvSpPr txBox="1"/>
          <p:nvPr/>
        </p:nvSpPr>
        <p:spPr>
          <a:xfrm>
            <a:off x="1508760" y="41148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Anthony</a:t>
            </a:r>
            <a:endParaRPr lang="en-US" sz="1000" dirty="0"/>
          </a:p>
        </p:txBody>
      </p:sp>
      <p:sp>
        <p:nvSpPr>
          <p:cNvPr id="33" name="obj137"/>
          <p:cNvSpPr/>
          <p:nvPr/>
        </p:nvSpPr>
        <p:spPr>
          <a:xfrm>
            <a:off x="2576048" y="3685617"/>
            <a:ext cx="53767" cy="184343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/>
        </p:spPr>
      </p:sp>
      <p:sp>
        <p:nvSpPr>
          <p:cNvPr id="34" name="obj138"/>
          <p:cNvSpPr/>
          <p:nvPr/>
        </p:nvSpPr>
        <p:spPr>
          <a:xfrm>
            <a:off x="2645176" y="3667183"/>
            <a:ext cx="53767" cy="202777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/>
        </p:spPr>
      </p:sp>
      <p:sp>
        <p:nvSpPr>
          <p:cNvPr id="35" name="obj139"/>
          <p:cNvSpPr/>
          <p:nvPr/>
        </p:nvSpPr>
        <p:spPr>
          <a:xfrm>
            <a:off x="2714305" y="3685617"/>
            <a:ext cx="53767" cy="184343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/>
        </p:spPr>
      </p:sp>
      <p:sp>
        <p:nvSpPr>
          <p:cNvPr id="36" name="obj140"/>
          <p:cNvSpPr/>
          <p:nvPr/>
        </p:nvSpPr>
        <p:spPr>
          <a:xfrm>
            <a:off x="2783434" y="3722486"/>
            <a:ext cx="53767" cy="147474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/>
        </p:spPr>
      </p:sp>
      <p:sp>
        <p:nvSpPr>
          <p:cNvPr id="37" name="obj141"/>
          <p:cNvSpPr/>
          <p:nvPr/>
        </p:nvSpPr>
        <p:spPr>
          <a:xfrm>
            <a:off x="2568367" y="3842309"/>
            <a:ext cx="276515" cy="211994"/>
          </a:xfrm>
          <a:prstGeom prst="roundRect">
            <a:avLst>
              <a:gd name="adj" fmla="val 28986"/>
            </a:avLst>
          </a:prstGeom>
          <a:solidFill>
            <a:srgbClr val="2F9E6E"/>
          </a:solidFill>
          <a:ln/>
        </p:spPr>
      </p:sp>
      <p:sp>
        <p:nvSpPr>
          <p:cNvPr id="38" name="obj142"/>
          <p:cNvSpPr txBox="1"/>
          <p:nvPr/>
        </p:nvSpPr>
        <p:spPr>
          <a:xfrm>
            <a:off x="2953512" y="363016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F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39" name="obj143"/>
          <p:cNvSpPr txBox="1"/>
          <p:nvPr/>
        </p:nvSpPr>
        <p:spPr>
          <a:xfrm>
            <a:off x="2423160" y="41148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</a:t>
            </a:r>
            <a:endParaRPr lang="en-US" sz="1000" dirty="0"/>
          </a:p>
        </p:txBody>
      </p:sp>
      <p:sp>
        <p:nvSpPr>
          <p:cNvPr id="40" name="obj144"/>
          <p:cNvSpPr txBox="1"/>
          <p:nvPr/>
        </p:nvSpPr>
        <p:spPr>
          <a:xfrm>
            <a:off x="3383280" y="36576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F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Acuerdo: 4 (grande)</a:t>
            </a:r>
            <a:endParaRPr lang="en-US" sz="1100" dirty="0"/>
          </a:p>
        </p:txBody>
      </p:sp>
      <p:sp>
        <p:nvSpPr>
          <p:cNvPr id="41" name="obj145"/>
          <p:cNvSpPr/>
          <p:nvPr/>
        </p:nvSpPr>
        <p:spPr>
          <a:xfrm>
            <a:off x="4663440" y="1417320"/>
            <a:ext cx="3931920" cy="3108960"/>
          </a:xfrm>
          <a:prstGeom prst="roundRect">
            <a:avLst>
              <a:gd name="adj" fmla="val 5294"/>
            </a:avLst>
          </a:prstGeom>
          <a:solidFill>
            <a:srgbClr val="F4F4F2"/>
          </a:solidFill>
          <a:ln/>
        </p:spPr>
      </p:sp>
      <p:sp>
        <p:nvSpPr>
          <p:cNvPr id="42" name="obj146"/>
          <p:cNvSpPr txBox="1"/>
          <p:nvPr/>
        </p:nvSpPr>
        <p:spPr>
          <a:xfrm>
            <a:off x="4892040" y="1554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Decidir en equipo</a:t>
            </a:r>
            <a:endParaRPr lang="en-US" sz="1600" dirty="0"/>
          </a:p>
        </p:txBody>
      </p:sp>
      <p:sp>
        <p:nvSpPr>
          <p:cNvPr id="43" name="obj147"/>
          <p:cNvSpPr txBox="1"/>
          <p:nvPr/>
        </p:nvSpPr>
        <p:spPr>
          <a:xfrm>
            <a:off x="4892040" y="185623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Votan los tres</a:t>
            </a:r>
            <a:endParaRPr lang="en-US" sz="1100" dirty="0"/>
          </a:p>
        </p:txBody>
      </p:sp>
      <p:sp>
        <p:nvSpPr>
          <p:cNvPr id="44" name="obj148"/>
          <p:cNvSpPr/>
          <p:nvPr/>
        </p:nvSpPr>
        <p:spPr>
          <a:xfrm>
            <a:off x="4892040" y="2194560"/>
            <a:ext cx="34747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45" name="obj149"/>
          <p:cNvSpPr txBox="1"/>
          <p:nvPr/>
        </p:nvSpPr>
        <p:spPr>
          <a:xfrm>
            <a:off x="5029200" y="21945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¿HU12 entra completa al Sprint 1?</a:t>
            </a:r>
            <a:endParaRPr lang="en-US" sz="1400" dirty="0"/>
          </a:p>
        </p:txBody>
      </p:sp>
      <p:sp>
        <p:nvSpPr>
          <p:cNvPr id="46" name="obj150"/>
          <p:cNvSpPr/>
          <p:nvPr/>
        </p:nvSpPr>
        <p:spPr>
          <a:xfrm>
            <a:off x="5136368" y="2908377"/>
            <a:ext cx="53767" cy="184343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/>
        </p:spPr>
      </p:sp>
      <p:sp>
        <p:nvSpPr>
          <p:cNvPr id="47" name="obj151"/>
          <p:cNvSpPr/>
          <p:nvPr/>
        </p:nvSpPr>
        <p:spPr>
          <a:xfrm>
            <a:off x="5205496" y="2889943"/>
            <a:ext cx="53767" cy="202777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/>
        </p:spPr>
      </p:sp>
      <p:sp>
        <p:nvSpPr>
          <p:cNvPr id="48" name="obj152"/>
          <p:cNvSpPr/>
          <p:nvPr/>
        </p:nvSpPr>
        <p:spPr>
          <a:xfrm>
            <a:off x="5274625" y="3042026"/>
            <a:ext cx="53767" cy="50694"/>
          </a:xfrm>
          <a:prstGeom prst="roundRect">
            <a:avLst>
              <a:gd name="adj" fmla="val 50000"/>
            </a:avLst>
          </a:prstGeom>
          <a:solidFill>
            <a:srgbClr val="E5484D">
              <a:alpha val="40000"/>
            </a:srgbClr>
          </a:solidFill>
          <a:ln/>
        </p:spPr>
      </p:sp>
      <p:sp>
        <p:nvSpPr>
          <p:cNvPr id="49" name="obj153"/>
          <p:cNvSpPr/>
          <p:nvPr/>
        </p:nvSpPr>
        <p:spPr>
          <a:xfrm>
            <a:off x="5343754" y="3042026"/>
            <a:ext cx="53767" cy="50694"/>
          </a:xfrm>
          <a:prstGeom prst="roundRect">
            <a:avLst>
              <a:gd name="adj" fmla="val 50000"/>
            </a:avLst>
          </a:prstGeom>
          <a:solidFill>
            <a:srgbClr val="E5484D">
              <a:alpha val="40000"/>
            </a:srgbClr>
          </a:solidFill>
          <a:ln/>
        </p:spPr>
      </p:sp>
      <p:sp>
        <p:nvSpPr>
          <p:cNvPr id="50" name="obj154"/>
          <p:cNvSpPr/>
          <p:nvPr/>
        </p:nvSpPr>
        <p:spPr>
          <a:xfrm>
            <a:off x="5128687" y="3065069"/>
            <a:ext cx="276515" cy="211994"/>
          </a:xfrm>
          <a:prstGeom prst="roundRect">
            <a:avLst>
              <a:gd name="adj" fmla="val 28986"/>
            </a:avLst>
          </a:prstGeom>
          <a:solidFill>
            <a:srgbClr val="E5484D"/>
          </a:solidFill>
          <a:ln/>
        </p:spPr>
      </p:sp>
      <p:sp>
        <p:nvSpPr>
          <p:cNvPr id="51" name="obj155"/>
          <p:cNvSpPr txBox="1"/>
          <p:nvPr/>
        </p:nvSpPr>
        <p:spPr>
          <a:xfrm>
            <a:off x="5513832" y="285292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52" name="obj156"/>
          <p:cNvSpPr txBox="1"/>
          <p:nvPr/>
        </p:nvSpPr>
        <p:spPr>
          <a:xfrm>
            <a:off x="4983480" y="33375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Albert</a:t>
            </a:r>
            <a:endParaRPr lang="en-US" sz="1000" dirty="0"/>
          </a:p>
        </p:txBody>
      </p:sp>
      <p:sp>
        <p:nvSpPr>
          <p:cNvPr id="53" name="obj157"/>
          <p:cNvSpPr/>
          <p:nvPr/>
        </p:nvSpPr>
        <p:spPr>
          <a:xfrm>
            <a:off x="6233648" y="2908377"/>
            <a:ext cx="53767" cy="184343"/>
          </a:xfrm>
          <a:prstGeom prst="roundRect">
            <a:avLst>
              <a:gd name="adj" fmla="val 50000"/>
            </a:avLst>
          </a:prstGeom>
          <a:solidFill>
            <a:srgbClr val="F0A020"/>
          </a:solidFill>
          <a:ln/>
        </p:spPr>
      </p:sp>
      <p:sp>
        <p:nvSpPr>
          <p:cNvPr id="54" name="obj158"/>
          <p:cNvSpPr/>
          <p:nvPr/>
        </p:nvSpPr>
        <p:spPr>
          <a:xfrm>
            <a:off x="6302776" y="2889943"/>
            <a:ext cx="53767" cy="202777"/>
          </a:xfrm>
          <a:prstGeom prst="roundRect">
            <a:avLst>
              <a:gd name="adj" fmla="val 50000"/>
            </a:avLst>
          </a:prstGeom>
          <a:solidFill>
            <a:srgbClr val="F0A020"/>
          </a:solidFill>
          <a:ln/>
        </p:spPr>
      </p:sp>
      <p:sp>
        <p:nvSpPr>
          <p:cNvPr id="55" name="obj159"/>
          <p:cNvSpPr/>
          <p:nvPr/>
        </p:nvSpPr>
        <p:spPr>
          <a:xfrm>
            <a:off x="6371905" y="2908377"/>
            <a:ext cx="53767" cy="184343"/>
          </a:xfrm>
          <a:prstGeom prst="roundRect">
            <a:avLst>
              <a:gd name="adj" fmla="val 50000"/>
            </a:avLst>
          </a:prstGeom>
          <a:solidFill>
            <a:srgbClr val="F0A020"/>
          </a:solidFill>
          <a:ln/>
        </p:spPr>
      </p:sp>
      <p:sp>
        <p:nvSpPr>
          <p:cNvPr id="56" name="obj160"/>
          <p:cNvSpPr/>
          <p:nvPr/>
        </p:nvSpPr>
        <p:spPr>
          <a:xfrm>
            <a:off x="6441034" y="3042026"/>
            <a:ext cx="53767" cy="50694"/>
          </a:xfrm>
          <a:prstGeom prst="roundRect">
            <a:avLst>
              <a:gd name="adj" fmla="val 50000"/>
            </a:avLst>
          </a:prstGeom>
          <a:solidFill>
            <a:srgbClr val="F0A020">
              <a:alpha val="40000"/>
            </a:srgbClr>
          </a:solidFill>
          <a:ln/>
        </p:spPr>
      </p:sp>
      <p:sp>
        <p:nvSpPr>
          <p:cNvPr id="57" name="obj161"/>
          <p:cNvSpPr/>
          <p:nvPr/>
        </p:nvSpPr>
        <p:spPr>
          <a:xfrm>
            <a:off x="6225967" y="3065069"/>
            <a:ext cx="276515" cy="211994"/>
          </a:xfrm>
          <a:prstGeom prst="roundRect">
            <a:avLst>
              <a:gd name="adj" fmla="val 28986"/>
            </a:avLst>
          </a:prstGeom>
          <a:solidFill>
            <a:srgbClr val="F0A020"/>
          </a:solidFill>
          <a:ln/>
        </p:spPr>
      </p:sp>
      <p:sp>
        <p:nvSpPr>
          <p:cNvPr id="58" name="obj162"/>
          <p:cNvSpPr txBox="1"/>
          <p:nvPr/>
        </p:nvSpPr>
        <p:spPr>
          <a:xfrm>
            <a:off x="6611112" y="285292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59" name="obj163"/>
          <p:cNvSpPr txBox="1"/>
          <p:nvPr/>
        </p:nvSpPr>
        <p:spPr>
          <a:xfrm>
            <a:off x="6080760" y="33375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Anthony</a:t>
            </a:r>
            <a:endParaRPr lang="en-US" sz="1000" dirty="0"/>
          </a:p>
        </p:txBody>
      </p:sp>
      <p:sp>
        <p:nvSpPr>
          <p:cNvPr id="60" name="obj164"/>
          <p:cNvSpPr/>
          <p:nvPr/>
        </p:nvSpPr>
        <p:spPr>
          <a:xfrm>
            <a:off x="7330928" y="2908377"/>
            <a:ext cx="53767" cy="184343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/>
        </p:spPr>
      </p:sp>
      <p:sp>
        <p:nvSpPr>
          <p:cNvPr id="61" name="obj165"/>
          <p:cNvSpPr/>
          <p:nvPr/>
        </p:nvSpPr>
        <p:spPr>
          <a:xfrm>
            <a:off x="7400056" y="2889943"/>
            <a:ext cx="53767" cy="202777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/>
        </p:spPr>
      </p:sp>
      <p:sp>
        <p:nvSpPr>
          <p:cNvPr id="62" name="obj166"/>
          <p:cNvSpPr/>
          <p:nvPr/>
        </p:nvSpPr>
        <p:spPr>
          <a:xfrm>
            <a:off x="7469185" y="3042026"/>
            <a:ext cx="53767" cy="50694"/>
          </a:xfrm>
          <a:prstGeom prst="roundRect">
            <a:avLst>
              <a:gd name="adj" fmla="val 50000"/>
            </a:avLst>
          </a:prstGeom>
          <a:solidFill>
            <a:srgbClr val="E5484D">
              <a:alpha val="40000"/>
            </a:srgbClr>
          </a:solidFill>
          <a:ln/>
        </p:spPr>
      </p:sp>
      <p:sp>
        <p:nvSpPr>
          <p:cNvPr id="63" name="obj167"/>
          <p:cNvSpPr/>
          <p:nvPr/>
        </p:nvSpPr>
        <p:spPr>
          <a:xfrm>
            <a:off x="7538314" y="3042026"/>
            <a:ext cx="53767" cy="50694"/>
          </a:xfrm>
          <a:prstGeom prst="roundRect">
            <a:avLst>
              <a:gd name="adj" fmla="val 50000"/>
            </a:avLst>
          </a:prstGeom>
          <a:solidFill>
            <a:srgbClr val="E5484D">
              <a:alpha val="40000"/>
            </a:srgbClr>
          </a:solidFill>
          <a:ln/>
        </p:spPr>
      </p:sp>
      <p:sp>
        <p:nvSpPr>
          <p:cNvPr id="64" name="obj168"/>
          <p:cNvSpPr/>
          <p:nvPr/>
        </p:nvSpPr>
        <p:spPr>
          <a:xfrm>
            <a:off x="7323247" y="3065069"/>
            <a:ext cx="276515" cy="211994"/>
          </a:xfrm>
          <a:prstGeom prst="roundRect">
            <a:avLst>
              <a:gd name="adj" fmla="val 28986"/>
            </a:avLst>
          </a:prstGeom>
          <a:solidFill>
            <a:srgbClr val="E5484D"/>
          </a:solidFill>
          <a:ln/>
        </p:spPr>
      </p:sp>
      <p:sp>
        <p:nvSpPr>
          <p:cNvPr id="65" name="obj169"/>
          <p:cNvSpPr txBox="1"/>
          <p:nvPr/>
        </p:nvSpPr>
        <p:spPr>
          <a:xfrm>
            <a:off x="7708392" y="285292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66" name="obj170"/>
          <p:cNvSpPr txBox="1"/>
          <p:nvPr/>
        </p:nvSpPr>
        <p:spPr>
          <a:xfrm>
            <a:off x="7178040" y="33375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</a:t>
            </a:r>
            <a:endParaRPr lang="en-US" sz="1000" dirty="0"/>
          </a:p>
        </p:txBody>
      </p:sp>
      <p:sp>
        <p:nvSpPr>
          <p:cNvPr id="67" name="obj171"/>
          <p:cNvSpPr txBox="1"/>
          <p:nvPr/>
        </p:nvSpPr>
        <p:spPr>
          <a:xfrm>
            <a:off x="4892040" y="365760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votos de 2: hay dudas serias.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Decisión: dividir HU12 en dos historias.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usar el puño de cinco?</a:t>
            </a:r>
            <a:endParaRPr lang="en-US" sz="3000" dirty="0"/>
          </a:p>
        </p:txBody>
      </p:sp>
      <p:graphicFrame>
        <p:nvGraphicFramePr>
          <p:cNvPr id="7" name="obj1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91840"/>
                <a:gridCol w="29260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Técnica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Cómo se vota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Mejor para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Puño de cinco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Dedos del 1 al 5, todos a la vez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Estimar rápido y decidir por consenso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Planning Poker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Cartas numeradas; se repite hasta el consenso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Estimar en puntos con más precisión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Wideband Delphi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Estimaciones anónimas en rondas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Evitar que unos influyan en otros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Afinidad (tallas)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Ordenar historias en la pared por tamaño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Estimar muchas historias a la vez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obj173"/>
          <p:cNvSpPr/>
          <p:nvPr/>
        </p:nvSpPr>
        <p:spPr>
          <a:xfrm>
            <a:off x="548640" y="3429000"/>
            <a:ext cx="8046720" cy="731520"/>
          </a:xfrm>
          <a:prstGeom prst="roundRect">
            <a:avLst>
              <a:gd name="adj" fmla="val 15000"/>
            </a:avLst>
          </a:prstGeom>
          <a:solidFill>
            <a:srgbClr val="FDEDE7"/>
          </a:solidFill>
          <a:ln/>
        </p:spPr>
      </p:sp>
      <p:sp>
        <p:nvSpPr>
          <p:cNvPr id="5" name="obj174"/>
          <p:cNvSpPr/>
          <p:nvPr/>
        </p:nvSpPr>
        <p:spPr>
          <a:xfrm>
            <a:off x="854781" y="3595201"/>
            <a:ext cx="67848" cy="232623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6" name="obj175"/>
          <p:cNvSpPr/>
          <p:nvPr/>
        </p:nvSpPr>
        <p:spPr>
          <a:xfrm>
            <a:off x="942015" y="3571939"/>
            <a:ext cx="67848" cy="255886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7" name="obj176"/>
          <p:cNvSpPr/>
          <p:nvPr/>
        </p:nvSpPr>
        <p:spPr>
          <a:xfrm>
            <a:off x="1029249" y="3595201"/>
            <a:ext cx="67848" cy="232623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8" name="obj177"/>
          <p:cNvSpPr/>
          <p:nvPr/>
        </p:nvSpPr>
        <p:spPr>
          <a:xfrm>
            <a:off x="1116482" y="3641726"/>
            <a:ext cx="67848" cy="186099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9" name="obj178"/>
          <p:cNvSpPr/>
          <p:nvPr/>
        </p:nvSpPr>
        <p:spPr>
          <a:xfrm rot="-1920000">
            <a:off x="786933" y="3746407"/>
            <a:ext cx="72695" cy="197730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10" name="obj179"/>
          <p:cNvSpPr/>
          <p:nvPr/>
        </p:nvSpPr>
        <p:spPr>
          <a:xfrm>
            <a:off x="845088" y="3792931"/>
            <a:ext cx="348935" cy="267517"/>
          </a:xfrm>
          <a:prstGeom prst="roundRect">
            <a:avLst>
              <a:gd name="adj" fmla="val 28985"/>
            </a:avLst>
          </a:prstGeom>
          <a:solidFill>
            <a:srgbClr val="F2643D"/>
          </a:solidFill>
          <a:ln/>
        </p:spPr>
      </p:sp>
      <p:sp>
        <p:nvSpPr>
          <p:cNvPr id="11" name="obj180"/>
          <p:cNvSpPr txBox="1"/>
          <p:nvPr/>
        </p:nvSpPr>
        <p:spPr>
          <a:xfrm>
            <a:off x="1463040" y="342900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rápido y sin materiales. La clave: que los votos extremos expliquen su razón.</a:t>
            </a:r>
            <a:endParaRPr lang="en-US" sz="1500" dirty="0"/>
          </a:p>
        </p:txBody>
      </p:sp>
      <p:sp>
        <p:nvSpPr>
          <p:cNvPr id="12" name="obj181"/>
          <p:cNvSpPr txBox="1"/>
          <p:nvPr/>
        </p:nvSpPr>
        <p:spPr>
          <a:xfrm>
            <a:off x="548640" y="4297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SCRUMstudy. (2022). </a:t>
            </a:r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los fundamentos de Scrum (Guía del SBOK®)</a:t>
            </a:r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(4.ª ed.), 9.2.2.1, pp. 193–195.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Puño de cinco (Fist of Five)</dc:title>
  <dc:subject>PptxGenJS Presentation</dc:subject>
  <dc:creator>Grupo D3 (Laboratorio D · Equipo 3)</dc:creator>
  <cp:lastModifiedBy>Grupo D3 (Laboratorio D · Equipo 3)</cp:lastModifiedBy>
  <cp:revision>1</cp:revision>
  <dcterms:created xsi:type="dcterms:W3CDTF">2026-10-12T20:33:22Z</dcterms:created>
  <dcterms:modified xsi:type="dcterms:W3CDTF">2026-10-12T20:33:22Z</dcterms:modified>
</cp:coreProperties>
</file>