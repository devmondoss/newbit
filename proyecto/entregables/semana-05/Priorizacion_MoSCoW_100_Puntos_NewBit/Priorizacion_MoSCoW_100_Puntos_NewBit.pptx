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Presenta al Grupo D3 y la actividad: priorizar el Product Backlog de NewBit con dos métodos de la Guía del SBOK, MoSCoW y los 100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MoSCoW clasifica cada historia en cuatro grupos: debe, debería, podría y no tendrá. Los 100 puntos son una votación: cada integrante reparte 100 puntos y se suman. MoSCoW dice en qué grupo va cada historia; los 100 puntos, cuál va primero dentro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Para cada historia preguntamos: ¿qué pasa con NewBit si no la hacemos? Ocho son Must: sin ellas no hay detección. Tres son Should: la alerta, el log de tiempos y descartar clips cortos. HU11, ajustar el umbral, es Could. En Won't van tres cosas que el Acta dejó fuera de alcance: cámaras en vivo, alertas físicas y reconocimiento facial.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Cada uno repartió 100 puntos sin ver los votos de los demás. La más votada es HU07, el modelo ConvLSTM, con 47 puntos; luego HU08 y HU03. La menos votada es HU11, ajustar el umbral, con 8. Albert, como PO, dio más puntos a lo que ve el usuario (la GUI y la alerta); los developers, al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Combinamos los dos métodos: MoSCoW decide el grupo, los 100 puntos ordenan dentro del grupo y las dependencias deciden cuándo se puede hacer. Por eso las Must van en el orden del flujo: no se puede clasificar un clip sin antes cargar el video y armar los clips. Este orden es el que usamos en el tablero Kanban.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Tres ideas: HU07 es la más valorada; ocho historias son imprescindibles; y los votos distintos entre PO y developers son útiles porque abren la conversación. MoSCoW separa lo esencial rápido; los 100 puntos ordenan con más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· NewBit · Grupo D3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1"/>
          <p:cNvSpPr txBox="1"/>
          <p:nvPr/>
        </p:nvSpPr>
        <p:spPr>
          <a:xfrm>
            <a:off x="64008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PRIORIZACIÓN EN SCRUM</a:t>
            </a:r>
            <a:endParaRPr lang="en-US" sz="1100" dirty="0"/>
          </a:p>
        </p:txBody>
      </p:sp>
      <p:sp>
        <p:nvSpPr>
          <p:cNvPr id="3" name="obj2"/>
          <p:cNvSpPr txBox="1"/>
          <p:nvPr/>
        </p:nvSpPr>
        <p:spPr>
          <a:xfrm>
            <a:off x="640080" y="1188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5000" dirty="0"/>
          </a:p>
        </p:txBody>
      </p:sp>
      <p:sp>
        <p:nvSpPr>
          <p:cNvPr id="4" name="obj3"/>
          <p:cNvSpPr txBox="1"/>
          <p:nvPr/>
        </p:nvSpPr>
        <p:spPr>
          <a:xfrm>
            <a:off x="640080" y="2057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MoSCoW y de los 100 puntos aplicados a las historias de NewBit</a:t>
            </a:r>
            <a:endParaRPr lang="en-US" sz="1900" dirty="0"/>
          </a:p>
        </p:txBody>
      </p:sp>
      <p:sp>
        <p:nvSpPr>
          <p:cNvPr id="5" name="obj4"/>
          <p:cNvSpPr/>
          <p:nvPr/>
        </p:nvSpPr>
        <p:spPr>
          <a:xfrm>
            <a:off x="5760720" y="10515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2643D"/>
          </a:solidFill>
          <a:ln/>
        </p:spPr>
      </p:sp>
      <p:sp>
        <p:nvSpPr>
          <p:cNvPr id="6" name="obj5"/>
          <p:cNvSpPr txBox="1"/>
          <p:nvPr/>
        </p:nvSpPr>
        <p:spPr>
          <a:xfrm>
            <a:off x="5870448" y="10515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obj6"/>
          <p:cNvSpPr/>
          <p:nvPr/>
        </p:nvSpPr>
        <p:spPr>
          <a:xfrm>
            <a:off x="5760720" y="158191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6B7280"/>
          </a:solidFill>
          <a:ln/>
        </p:spPr>
      </p:sp>
      <p:sp>
        <p:nvSpPr>
          <p:cNvPr id="8" name="obj7"/>
          <p:cNvSpPr txBox="1"/>
          <p:nvPr/>
        </p:nvSpPr>
        <p:spPr>
          <a:xfrm>
            <a:off x="5870448" y="15819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obj8"/>
          <p:cNvSpPr/>
          <p:nvPr/>
        </p:nvSpPr>
        <p:spPr>
          <a:xfrm>
            <a:off x="5760720" y="2112264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4A514C"/>
          </a:solidFill>
          <a:ln/>
        </p:spPr>
      </p:sp>
      <p:sp>
        <p:nvSpPr>
          <p:cNvPr id="10" name="obj9"/>
          <p:cNvSpPr txBox="1"/>
          <p:nvPr/>
        </p:nvSpPr>
        <p:spPr>
          <a:xfrm>
            <a:off x="5870448" y="21122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1" name="obj10"/>
          <p:cNvSpPr/>
          <p:nvPr/>
        </p:nvSpPr>
        <p:spPr>
          <a:xfrm>
            <a:off x="5760720" y="2642616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343A36"/>
          </a:solidFill>
          <a:ln/>
        </p:spPr>
      </p:sp>
      <p:sp>
        <p:nvSpPr>
          <p:cNvPr id="12" name="obj11"/>
          <p:cNvSpPr txBox="1"/>
          <p:nvPr/>
        </p:nvSpPr>
        <p:spPr>
          <a:xfrm>
            <a:off x="5870448" y="264261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3" name="obj12"/>
          <p:cNvSpPr txBox="1"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D3</a:t>
            </a:r>
            <a:pPr algn="l" indent="0" marL="0">
              <a:buNone/>
            </a:pPr>
            <a:r>
              <a:rPr lang="en-US" sz="1100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Laboratorio D · Equipo 3 · Proyecto NewBit</a:t>
            </a:r>
            <a:endParaRPr lang="en-US" sz="1100" dirty="0"/>
          </a:p>
        </p:txBody>
      </p:sp>
      <p:sp>
        <p:nvSpPr>
          <p:cNvPr id="14" name="obj13"/>
          <p:cNvSpPr/>
          <p:nvPr/>
        </p:nvSpPr>
        <p:spPr>
          <a:xfrm>
            <a:off x="6400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5" name="obj14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16" name="obj15"/>
          <p:cNvSpPr txBox="1"/>
          <p:nvPr/>
        </p:nvSpPr>
        <p:spPr>
          <a:xfrm>
            <a:off x="120700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</a:t>
            </a:r>
            <a:endParaRPr lang="en-US" sz="1400" dirty="0"/>
          </a:p>
        </p:txBody>
      </p:sp>
      <p:sp>
        <p:nvSpPr>
          <p:cNvPr id="17" name="obj16"/>
          <p:cNvSpPr txBox="1"/>
          <p:nvPr/>
        </p:nvSpPr>
        <p:spPr>
          <a:xfrm>
            <a:off x="120700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18" name="obj17"/>
          <p:cNvSpPr/>
          <p:nvPr/>
        </p:nvSpPr>
        <p:spPr>
          <a:xfrm>
            <a:off x="329184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9" name="obj18"/>
          <p:cNvSpPr txBox="1"/>
          <p:nvPr/>
        </p:nvSpPr>
        <p:spPr>
          <a:xfrm>
            <a:off x="32918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300" dirty="0"/>
          </a:p>
        </p:txBody>
      </p:sp>
      <p:sp>
        <p:nvSpPr>
          <p:cNvPr id="20" name="obj19"/>
          <p:cNvSpPr txBox="1"/>
          <p:nvPr/>
        </p:nvSpPr>
        <p:spPr>
          <a:xfrm>
            <a:off x="385876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Lopez</a:t>
            </a:r>
            <a:endParaRPr lang="en-US" sz="1400" dirty="0"/>
          </a:p>
        </p:txBody>
      </p:sp>
      <p:sp>
        <p:nvSpPr>
          <p:cNvPr id="21" name="obj20"/>
          <p:cNvSpPr txBox="1"/>
          <p:nvPr/>
        </p:nvSpPr>
        <p:spPr>
          <a:xfrm>
            <a:off x="385876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Developer</a:t>
            </a:r>
            <a:endParaRPr lang="en-US" sz="1100" dirty="0"/>
          </a:p>
        </p:txBody>
      </p:sp>
      <p:sp>
        <p:nvSpPr>
          <p:cNvPr id="22" name="obj21"/>
          <p:cNvSpPr/>
          <p:nvPr/>
        </p:nvSpPr>
        <p:spPr>
          <a:xfrm>
            <a:off x="594360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3" name="obj22"/>
          <p:cNvSpPr txBox="1"/>
          <p:nvPr/>
        </p:nvSpPr>
        <p:spPr>
          <a:xfrm>
            <a:off x="5943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300" dirty="0"/>
          </a:p>
        </p:txBody>
      </p:sp>
      <p:sp>
        <p:nvSpPr>
          <p:cNvPr id="24" name="obj23"/>
          <p:cNvSpPr txBox="1"/>
          <p:nvPr/>
        </p:nvSpPr>
        <p:spPr>
          <a:xfrm>
            <a:off x="651052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Salazar</a:t>
            </a:r>
            <a:endParaRPr lang="en-US" sz="1400" dirty="0"/>
          </a:p>
        </p:txBody>
      </p:sp>
      <p:sp>
        <p:nvSpPr>
          <p:cNvPr id="25" name="obj24"/>
          <p:cNvSpPr txBox="1"/>
          <p:nvPr/>
        </p:nvSpPr>
        <p:spPr>
          <a:xfrm>
            <a:off x="651052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6" name="obj25"/>
          <p:cNvSpPr txBox="1"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Dr. Ing. Alfredo Daza Vergaray · Ingeniería de Software II · UNS · 2026-II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métodos del SBOK para priorizar</a:t>
            </a:r>
            <a:endParaRPr lang="en-US" sz="3000" dirty="0"/>
          </a:p>
        </p:txBody>
      </p:sp>
      <p:sp>
        <p:nvSpPr>
          <p:cNvPr id="3" name="obj26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prioridad combina valor, riesgo y dependencias (SBOK 8.5). Estos dos métodos miden el valor de cada historia.</a:t>
            </a:r>
            <a:endParaRPr lang="en-US" sz="1200" dirty="0"/>
          </a:p>
        </p:txBody>
      </p:sp>
      <p:sp>
        <p:nvSpPr>
          <p:cNvPr id="4" name="obj27"/>
          <p:cNvSpPr/>
          <p:nvPr/>
        </p:nvSpPr>
        <p:spPr>
          <a:xfrm>
            <a:off x="548640" y="1371600"/>
            <a:ext cx="3931920" cy="3154680"/>
          </a:xfrm>
          <a:prstGeom prst="roundRect">
            <a:avLst>
              <a:gd name="adj" fmla="val 4058"/>
            </a:avLst>
          </a:prstGeom>
          <a:solidFill>
            <a:srgbClr val="F4F4F2"/>
          </a:solidFill>
          <a:ln/>
        </p:spPr>
      </p:sp>
      <p:sp>
        <p:nvSpPr>
          <p:cNvPr id="5" name="obj28"/>
          <p:cNvSpPr txBox="1"/>
          <p:nvPr/>
        </p:nvSpPr>
        <p:spPr>
          <a:xfrm>
            <a:off x="7772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MoSCoW</a:t>
            </a:r>
            <a:endParaRPr lang="en-US" sz="1800" dirty="0"/>
          </a:p>
        </p:txBody>
      </p:sp>
      <p:sp>
        <p:nvSpPr>
          <p:cNvPr id="6" name="obj29"/>
          <p:cNvSpPr txBox="1"/>
          <p:nvPr/>
        </p:nvSpPr>
        <p:spPr>
          <a:xfrm>
            <a:off x="77724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cada historia en 4 grupos, de mayor a menor prioridad.</a:t>
            </a:r>
            <a:endParaRPr lang="en-US" sz="1200" dirty="0"/>
          </a:p>
        </p:txBody>
      </p:sp>
      <p:sp>
        <p:nvSpPr>
          <p:cNvPr id="7" name="obj30"/>
          <p:cNvSpPr/>
          <p:nvPr/>
        </p:nvSpPr>
        <p:spPr>
          <a:xfrm>
            <a:off x="777240" y="24140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31"/>
          <p:cNvSpPr txBox="1"/>
          <p:nvPr/>
        </p:nvSpPr>
        <p:spPr>
          <a:xfrm>
            <a:off x="777240" y="24140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32"/>
          <p:cNvSpPr txBox="1"/>
          <p:nvPr/>
        </p:nvSpPr>
        <p:spPr>
          <a:xfrm>
            <a:off x="16002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tener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Sin ella el producto no tiene valor</a:t>
            </a:r>
            <a:endParaRPr lang="en-US" sz="1100" dirty="0"/>
          </a:p>
        </p:txBody>
      </p:sp>
      <p:sp>
        <p:nvSpPr>
          <p:cNvPr id="10" name="obj33"/>
          <p:cNvSpPr/>
          <p:nvPr/>
        </p:nvSpPr>
        <p:spPr>
          <a:xfrm>
            <a:off x="777240" y="28712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11" name="obj34"/>
          <p:cNvSpPr txBox="1"/>
          <p:nvPr/>
        </p:nvSpPr>
        <p:spPr>
          <a:xfrm>
            <a:off x="777240" y="28712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12" name="obj35"/>
          <p:cNvSpPr txBox="1"/>
          <p:nvPr/>
        </p:nvSpPr>
        <p:spPr>
          <a:xfrm>
            <a:off x="16002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 tener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Importante, pero puede esperar</a:t>
            </a:r>
            <a:endParaRPr lang="en-US" sz="1100" dirty="0"/>
          </a:p>
        </p:txBody>
      </p:sp>
      <p:sp>
        <p:nvSpPr>
          <p:cNvPr id="13" name="obj36"/>
          <p:cNvSpPr/>
          <p:nvPr/>
        </p:nvSpPr>
        <p:spPr>
          <a:xfrm>
            <a:off x="777240" y="33284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14" name="obj37"/>
          <p:cNvSpPr txBox="1"/>
          <p:nvPr/>
        </p:nvSpPr>
        <p:spPr>
          <a:xfrm>
            <a:off x="777240" y="33284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15" name="obj38"/>
          <p:cNvSpPr txBox="1"/>
          <p:nvPr/>
        </p:nvSpPr>
        <p:spPr>
          <a:xfrm>
            <a:off x="1600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tener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Sería bueno; no es necesaria</a:t>
            </a:r>
            <a:endParaRPr lang="en-US" sz="1100" dirty="0"/>
          </a:p>
        </p:txBody>
      </p:sp>
      <p:sp>
        <p:nvSpPr>
          <p:cNvPr id="16" name="obj39"/>
          <p:cNvSpPr/>
          <p:nvPr/>
        </p:nvSpPr>
        <p:spPr>
          <a:xfrm>
            <a:off x="777240" y="37856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9E0E0"/>
          </a:solidFill>
          <a:ln/>
        </p:spPr>
      </p:sp>
      <p:sp>
        <p:nvSpPr>
          <p:cNvPr id="17" name="obj40"/>
          <p:cNvSpPr txBox="1"/>
          <p:nvPr/>
        </p:nvSpPr>
        <p:spPr>
          <a:xfrm>
            <a:off x="777240" y="3785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800" dirty="0"/>
          </a:p>
        </p:txBody>
      </p:sp>
      <p:sp>
        <p:nvSpPr>
          <p:cNvPr id="18" name="obj41"/>
          <p:cNvSpPr txBox="1"/>
          <p:nvPr/>
        </p:nvSpPr>
        <p:spPr>
          <a:xfrm>
            <a:off x="1600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tendrá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Queda fuera de esta versión</a:t>
            </a:r>
            <a:endParaRPr lang="en-US" sz="1100" dirty="0"/>
          </a:p>
        </p:txBody>
      </p:sp>
      <p:sp>
        <p:nvSpPr>
          <p:cNvPr id="19" name="obj42"/>
          <p:cNvSpPr txBox="1"/>
          <p:nvPr/>
        </p:nvSpPr>
        <p:spPr>
          <a:xfrm>
            <a:off x="77724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SBOK 4.5.2 y 8.5.2.1 · pp. 77 y 169</a:t>
            </a:r>
            <a:endParaRPr lang="en-US" sz="1000" dirty="0"/>
          </a:p>
        </p:txBody>
      </p:sp>
      <p:sp>
        <p:nvSpPr>
          <p:cNvPr id="20" name="obj43"/>
          <p:cNvSpPr/>
          <p:nvPr/>
        </p:nvSpPr>
        <p:spPr>
          <a:xfrm>
            <a:off x="4663440" y="1371600"/>
            <a:ext cx="3931920" cy="3154680"/>
          </a:xfrm>
          <a:prstGeom prst="roundRect">
            <a:avLst>
              <a:gd name="adj" fmla="val 4058"/>
            </a:avLst>
          </a:prstGeom>
          <a:solidFill>
            <a:srgbClr val="F4F4F2"/>
          </a:solidFill>
          <a:ln/>
        </p:spPr>
      </p:sp>
      <p:sp>
        <p:nvSpPr>
          <p:cNvPr id="21" name="obj44"/>
          <p:cNvSpPr txBox="1"/>
          <p:nvPr/>
        </p:nvSpPr>
        <p:spPr>
          <a:xfrm>
            <a:off x="48920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los 100 puntos</a:t>
            </a:r>
            <a:endParaRPr lang="en-US" sz="1800" dirty="0"/>
          </a:p>
        </p:txBody>
      </p:sp>
      <p:sp>
        <p:nvSpPr>
          <p:cNvPr id="22" name="obj45"/>
          <p:cNvSpPr txBox="1"/>
          <p:nvPr/>
        </p:nvSpPr>
        <p:spPr>
          <a:xfrm>
            <a:off x="489204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Leffingwell y Widrig (2003): se vota con puntos el valor de cada historia.</a:t>
            </a:r>
            <a:endParaRPr lang="en-US" sz="1200" dirty="0"/>
          </a:p>
        </p:txBody>
      </p:sp>
      <p:sp>
        <p:nvSpPr>
          <p:cNvPr id="23" name="obj46"/>
          <p:cNvSpPr/>
          <p:nvPr/>
        </p:nvSpPr>
        <p:spPr>
          <a:xfrm>
            <a:off x="4892040" y="23865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4" name="obj47"/>
          <p:cNvSpPr txBox="1"/>
          <p:nvPr/>
        </p:nvSpPr>
        <p:spPr>
          <a:xfrm>
            <a:off x="4892040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obj48"/>
          <p:cNvSpPr txBox="1"/>
          <p:nvPr/>
        </p:nvSpPr>
        <p:spPr>
          <a:xfrm>
            <a:off x="5303520" y="2377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tiene 100 puntos.</a:t>
            </a:r>
            <a:endParaRPr lang="en-US" sz="1200" dirty="0"/>
          </a:p>
        </p:txBody>
      </p:sp>
      <p:sp>
        <p:nvSpPr>
          <p:cNvPr id="26" name="obj49"/>
          <p:cNvSpPr/>
          <p:nvPr/>
        </p:nvSpPr>
        <p:spPr>
          <a:xfrm>
            <a:off x="4892040" y="28437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7" name="obj50"/>
          <p:cNvSpPr txBox="1"/>
          <p:nvPr/>
        </p:nvSpPr>
        <p:spPr>
          <a:xfrm>
            <a:off x="489204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obj51"/>
          <p:cNvSpPr txBox="1"/>
          <p:nvPr/>
        </p:nvSpPr>
        <p:spPr>
          <a:xfrm>
            <a:off x="530352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reparte: más puntos a lo más importante.</a:t>
            </a:r>
            <a:endParaRPr lang="en-US" sz="1200" dirty="0"/>
          </a:p>
        </p:txBody>
      </p:sp>
      <p:sp>
        <p:nvSpPr>
          <p:cNvPr id="29" name="obj52"/>
          <p:cNvSpPr/>
          <p:nvPr/>
        </p:nvSpPr>
        <p:spPr>
          <a:xfrm>
            <a:off x="4892040" y="33009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0" name="obj53"/>
          <p:cNvSpPr txBox="1"/>
          <p:nvPr/>
        </p:nvSpPr>
        <p:spPr>
          <a:xfrm>
            <a:off x="489204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obj54"/>
          <p:cNvSpPr txBox="1"/>
          <p:nvPr/>
        </p:nvSpPr>
        <p:spPr>
          <a:xfrm>
            <a:off x="530352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suman los puntos de cada historia.</a:t>
            </a:r>
            <a:endParaRPr lang="en-US" sz="1200" dirty="0"/>
          </a:p>
        </p:txBody>
      </p:sp>
      <p:sp>
        <p:nvSpPr>
          <p:cNvPr id="32" name="obj55"/>
          <p:cNvSpPr/>
          <p:nvPr/>
        </p:nvSpPr>
        <p:spPr>
          <a:xfrm>
            <a:off x="4892040" y="37581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3" name="obj56"/>
          <p:cNvSpPr txBox="1"/>
          <p:nvPr/>
        </p:nvSpPr>
        <p:spPr>
          <a:xfrm>
            <a:off x="489204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obj57"/>
          <p:cNvSpPr txBox="1"/>
          <p:nvPr/>
        </p:nvSpPr>
        <p:spPr>
          <a:xfrm>
            <a:off x="5303520" y="3749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ordena de mayor a menor total.</a:t>
            </a:r>
            <a:endParaRPr lang="en-US" sz="1200" dirty="0"/>
          </a:p>
        </p:txBody>
      </p:sp>
      <p:sp>
        <p:nvSpPr>
          <p:cNvPr id="35" name="obj58"/>
          <p:cNvSpPr txBox="1"/>
          <p:nvPr/>
        </p:nvSpPr>
        <p:spPr>
          <a:xfrm>
            <a:off x="489204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SBOK 4.5.2 y 8.5.2.1 · pp. 77 y 169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MoSCoW: las historias en 4 grupos</a:t>
            </a:r>
            <a:endParaRPr lang="en-US" sz="3000" dirty="0"/>
          </a:p>
        </p:txBody>
      </p:sp>
      <p:sp>
        <p:nvSpPr>
          <p:cNvPr id="3" name="obj59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guía del PO para cada historia del FGAP040: ¿qué pasa con NewBit si no la hacemos?</a:t>
            </a:r>
            <a:endParaRPr lang="en-US" sz="1200" dirty="0"/>
          </a:p>
        </p:txBody>
      </p:sp>
      <p:sp>
        <p:nvSpPr>
          <p:cNvPr id="4" name="obj60"/>
          <p:cNvSpPr/>
          <p:nvPr/>
        </p:nvSpPr>
        <p:spPr>
          <a:xfrm>
            <a:off x="548640" y="1325880"/>
            <a:ext cx="2926080" cy="3291840"/>
          </a:xfrm>
          <a:prstGeom prst="roundRect">
            <a:avLst>
              <a:gd name="adj" fmla="val 4375"/>
            </a:avLst>
          </a:prstGeom>
          <a:solidFill>
            <a:srgbClr val="F4F4F2"/>
          </a:solidFill>
          <a:ln/>
        </p:spPr>
      </p:sp>
      <p:sp>
        <p:nvSpPr>
          <p:cNvPr id="5" name="obj61"/>
          <p:cNvSpPr/>
          <p:nvPr/>
        </p:nvSpPr>
        <p:spPr>
          <a:xfrm>
            <a:off x="658368" y="1435608"/>
            <a:ext cx="2706624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" name="obj62"/>
          <p:cNvSpPr txBox="1"/>
          <p:nvPr/>
        </p:nvSpPr>
        <p:spPr>
          <a:xfrm>
            <a:off x="658368" y="143560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TENER · 8</a:t>
            </a:r>
            <a:endParaRPr lang="en-US" sz="1000" dirty="0"/>
          </a:p>
        </p:txBody>
      </p:sp>
      <p:sp>
        <p:nvSpPr>
          <p:cNvPr id="7" name="obj63"/>
          <p:cNvSpPr txBox="1"/>
          <p:nvPr/>
        </p:nvSpPr>
        <p:spPr>
          <a:xfrm>
            <a:off x="676656" y="176479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ella, NewBit no detecta conductas inseguras</a:t>
            </a:r>
            <a:endParaRPr lang="en-US" sz="1000" dirty="0"/>
          </a:p>
        </p:txBody>
      </p:sp>
      <p:sp>
        <p:nvSpPr>
          <p:cNvPr id="8" name="obj64"/>
          <p:cNvSpPr/>
          <p:nvPr/>
        </p:nvSpPr>
        <p:spPr>
          <a:xfrm>
            <a:off x="658368" y="221284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9" name="obj65"/>
          <p:cNvSpPr/>
          <p:nvPr/>
        </p:nvSpPr>
        <p:spPr>
          <a:xfrm>
            <a:off x="768096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0" name="obj66"/>
          <p:cNvSpPr txBox="1"/>
          <p:nvPr/>
        </p:nvSpPr>
        <p:spPr>
          <a:xfrm>
            <a:off x="932688" y="225856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endParaRPr lang="en-US" sz="1000" dirty="0"/>
          </a:p>
        </p:txBody>
      </p:sp>
      <p:sp>
        <p:nvSpPr>
          <p:cNvPr id="11" name="obj67"/>
          <p:cNvSpPr txBox="1"/>
          <p:nvPr/>
        </p:nvSpPr>
        <p:spPr>
          <a:xfrm>
            <a:off x="768096" y="245059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000" dirty="0"/>
          </a:p>
        </p:txBody>
      </p:sp>
      <p:sp>
        <p:nvSpPr>
          <p:cNvPr id="12" name="obj68"/>
          <p:cNvSpPr/>
          <p:nvPr/>
        </p:nvSpPr>
        <p:spPr>
          <a:xfrm>
            <a:off x="2066544" y="221284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3" name="obj69"/>
          <p:cNvSpPr/>
          <p:nvPr/>
        </p:nvSpPr>
        <p:spPr>
          <a:xfrm>
            <a:off x="2176272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4" name="obj70"/>
          <p:cNvSpPr txBox="1"/>
          <p:nvPr/>
        </p:nvSpPr>
        <p:spPr>
          <a:xfrm>
            <a:off x="2340864" y="225856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15" name="obj71"/>
          <p:cNvSpPr txBox="1"/>
          <p:nvPr/>
        </p:nvSpPr>
        <p:spPr>
          <a:xfrm>
            <a:off x="2176272" y="245059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el clip</a:t>
            </a:r>
            <a:endParaRPr lang="en-US" sz="1000" dirty="0"/>
          </a:p>
        </p:txBody>
      </p:sp>
      <p:sp>
        <p:nvSpPr>
          <p:cNvPr id="16" name="obj72"/>
          <p:cNvSpPr/>
          <p:nvPr/>
        </p:nvSpPr>
        <p:spPr>
          <a:xfrm>
            <a:off x="658368" y="280720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7" name="obj73"/>
          <p:cNvSpPr/>
          <p:nvPr/>
        </p:nvSpPr>
        <p:spPr>
          <a:xfrm>
            <a:off x="768096" y="2898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18" name="obj74"/>
          <p:cNvSpPr txBox="1"/>
          <p:nvPr/>
        </p:nvSpPr>
        <p:spPr>
          <a:xfrm>
            <a:off x="932688" y="285292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19" name="obj75"/>
          <p:cNvSpPr txBox="1"/>
          <p:nvPr/>
        </p:nvSpPr>
        <p:spPr>
          <a:xfrm>
            <a:off x="768096" y="304495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trabajadores</a:t>
            </a:r>
            <a:endParaRPr lang="en-US" sz="1000" dirty="0"/>
          </a:p>
        </p:txBody>
      </p:sp>
      <p:sp>
        <p:nvSpPr>
          <p:cNvPr id="20" name="obj76"/>
          <p:cNvSpPr/>
          <p:nvPr/>
        </p:nvSpPr>
        <p:spPr>
          <a:xfrm>
            <a:off x="2066544" y="280720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1" name="obj77"/>
          <p:cNvSpPr/>
          <p:nvPr/>
        </p:nvSpPr>
        <p:spPr>
          <a:xfrm>
            <a:off x="2176272" y="2898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22" name="obj78"/>
          <p:cNvSpPr txBox="1"/>
          <p:nvPr/>
        </p:nvSpPr>
        <p:spPr>
          <a:xfrm>
            <a:off x="2340864" y="285292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</a:t>
            </a:r>
            <a:endParaRPr lang="en-US" sz="1000" dirty="0"/>
          </a:p>
        </p:txBody>
      </p:sp>
      <p:sp>
        <p:nvSpPr>
          <p:cNvPr id="23" name="obj79"/>
          <p:cNvSpPr txBox="1"/>
          <p:nvPr/>
        </p:nvSpPr>
        <p:spPr>
          <a:xfrm>
            <a:off x="2176272" y="304495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000" dirty="0"/>
          </a:p>
        </p:txBody>
      </p:sp>
      <p:sp>
        <p:nvSpPr>
          <p:cNvPr id="24" name="obj80"/>
          <p:cNvSpPr/>
          <p:nvPr/>
        </p:nvSpPr>
        <p:spPr>
          <a:xfrm>
            <a:off x="658368" y="340156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obj81"/>
          <p:cNvSpPr/>
          <p:nvPr/>
        </p:nvSpPr>
        <p:spPr>
          <a:xfrm>
            <a:off x="768096" y="3493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26" name="obj82"/>
          <p:cNvSpPr txBox="1"/>
          <p:nvPr/>
        </p:nvSpPr>
        <p:spPr>
          <a:xfrm>
            <a:off x="932688" y="344728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27" name="obj83"/>
          <p:cNvSpPr txBox="1"/>
          <p:nvPr/>
        </p:nvSpPr>
        <p:spPr>
          <a:xfrm>
            <a:off x="768096" y="36393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000" dirty="0"/>
          </a:p>
        </p:txBody>
      </p:sp>
      <p:sp>
        <p:nvSpPr>
          <p:cNvPr id="28" name="obj84"/>
          <p:cNvSpPr/>
          <p:nvPr/>
        </p:nvSpPr>
        <p:spPr>
          <a:xfrm>
            <a:off x="2066544" y="340156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9" name="obj85"/>
          <p:cNvSpPr/>
          <p:nvPr/>
        </p:nvSpPr>
        <p:spPr>
          <a:xfrm>
            <a:off x="2176272" y="3493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30" name="obj86"/>
          <p:cNvSpPr txBox="1"/>
          <p:nvPr/>
        </p:nvSpPr>
        <p:spPr>
          <a:xfrm>
            <a:off x="2340864" y="344728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31" name="obj87"/>
          <p:cNvSpPr txBox="1"/>
          <p:nvPr/>
        </p:nvSpPr>
        <p:spPr>
          <a:xfrm>
            <a:off x="2176272" y="36393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000" dirty="0"/>
          </a:p>
        </p:txBody>
      </p:sp>
      <p:sp>
        <p:nvSpPr>
          <p:cNvPr id="32" name="obj88"/>
          <p:cNvSpPr/>
          <p:nvPr/>
        </p:nvSpPr>
        <p:spPr>
          <a:xfrm>
            <a:off x="658368" y="399592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3" name="obj89"/>
          <p:cNvSpPr/>
          <p:nvPr/>
        </p:nvSpPr>
        <p:spPr>
          <a:xfrm>
            <a:off x="768096" y="4087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4" name="obj90"/>
          <p:cNvSpPr txBox="1"/>
          <p:nvPr/>
        </p:nvSpPr>
        <p:spPr>
          <a:xfrm>
            <a:off x="932688" y="404164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endParaRPr lang="en-US" sz="1000" dirty="0"/>
          </a:p>
        </p:txBody>
      </p:sp>
      <p:sp>
        <p:nvSpPr>
          <p:cNvPr id="35" name="obj91"/>
          <p:cNvSpPr txBox="1"/>
          <p:nvPr/>
        </p:nvSpPr>
        <p:spPr>
          <a:xfrm>
            <a:off x="768096" y="42336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36" name="obj92"/>
          <p:cNvSpPr/>
          <p:nvPr/>
        </p:nvSpPr>
        <p:spPr>
          <a:xfrm>
            <a:off x="2066544" y="399592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7" name="obj93"/>
          <p:cNvSpPr/>
          <p:nvPr/>
        </p:nvSpPr>
        <p:spPr>
          <a:xfrm>
            <a:off x="2176272" y="4087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8" name="obj94"/>
          <p:cNvSpPr txBox="1"/>
          <p:nvPr/>
        </p:nvSpPr>
        <p:spPr>
          <a:xfrm>
            <a:off x="2340864" y="404164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000" dirty="0"/>
          </a:p>
        </p:txBody>
      </p:sp>
      <p:sp>
        <p:nvSpPr>
          <p:cNvPr id="39" name="obj95"/>
          <p:cNvSpPr txBox="1"/>
          <p:nvPr/>
        </p:nvSpPr>
        <p:spPr>
          <a:xfrm>
            <a:off x="2176272" y="42336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000" dirty="0"/>
          </a:p>
        </p:txBody>
      </p:sp>
      <p:sp>
        <p:nvSpPr>
          <p:cNvPr id="40" name="obj96"/>
          <p:cNvSpPr/>
          <p:nvPr/>
        </p:nvSpPr>
        <p:spPr>
          <a:xfrm>
            <a:off x="3611880" y="1325880"/>
            <a:ext cx="1600200" cy="329184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/>
        </p:spPr>
      </p:sp>
      <p:sp>
        <p:nvSpPr>
          <p:cNvPr id="41" name="obj97"/>
          <p:cNvSpPr/>
          <p:nvPr/>
        </p:nvSpPr>
        <p:spPr>
          <a:xfrm>
            <a:off x="3721608" y="1435608"/>
            <a:ext cx="1380744" cy="2743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2" name="obj98"/>
          <p:cNvSpPr txBox="1"/>
          <p:nvPr/>
        </p:nvSpPr>
        <p:spPr>
          <a:xfrm>
            <a:off x="3721608" y="14356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 TENER · 3</a:t>
            </a:r>
            <a:endParaRPr lang="en-US" sz="1000" dirty="0"/>
          </a:p>
        </p:txBody>
      </p:sp>
      <p:sp>
        <p:nvSpPr>
          <p:cNvPr id="43" name="obj99"/>
          <p:cNvSpPr txBox="1"/>
          <p:nvPr/>
        </p:nvSpPr>
        <p:spPr>
          <a:xfrm>
            <a:off x="3739896" y="176479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Importante, pero NewBit funciona sin ella</a:t>
            </a:r>
            <a:endParaRPr lang="en-US" sz="1000" dirty="0"/>
          </a:p>
        </p:txBody>
      </p:sp>
      <p:sp>
        <p:nvSpPr>
          <p:cNvPr id="44" name="obj100"/>
          <p:cNvSpPr/>
          <p:nvPr/>
        </p:nvSpPr>
        <p:spPr>
          <a:xfrm>
            <a:off x="3721608" y="2212848"/>
            <a:ext cx="138074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5" name="obj101"/>
          <p:cNvSpPr/>
          <p:nvPr/>
        </p:nvSpPr>
        <p:spPr>
          <a:xfrm>
            <a:off x="3831336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46" name="obj102"/>
          <p:cNvSpPr txBox="1"/>
          <p:nvPr/>
        </p:nvSpPr>
        <p:spPr>
          <a:xfrm>
            <a:off x="3995928" y="225856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endParaRPr lang="en-US" sz="1000" dirty="0"/>
          </a:p>
        </p:txBody>
      </p:sp>
      <p:sp>
        <p:nvSpPr>
          <p:cNvPr id="47" name="obj103"/>
          <p:cNvSpPr txBox="1"/>
          <p:nvPr/>
        </p:nvSpPr>
        <p:spPr>
          <a:xfrm>
            <a:off x="3831336" y="245059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insegura</a:t>
            </a:r>
            <a:endParaRPr lang="en-US" sz="1000" dirty="0"/>
          </a:p>
        </p:txBody>
      </p:sp>
      <p:sp>
        <p:nvSpPr>
          <p:cNvPr id="48" name="obj104"/>
          <p:cNvSpPr/>
          <p:nvPr/>
        </p:nvSpPr>
        <p:spPr>
          <a:xfrm>
            <a:off x="3721608" y="2807208"/>
            <a:ext cx="138074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9" name="obj105"/>
          <p:cNvSpPr/>
          <p:nvPr/>
        </p:nvSpPr>
        <p:spPr>
          <a:xfrm>
            <a:off x="3831336" y="2898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50" name="obj106"/>
          <p:cNvSpPr txBox="1"/>
          <p:nvPr/>
        </p:nvSpPr>
        <p:spPr>
          <a:xfrm>
            <a:off x="3995928" y="285292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</a:t>
            </a:r>
            <a:endParaRPr lang="en-US" sz="1000" dirty="0"/>
          </a:p>
        </p:txBody>
      </p:sp>
      <p:sp>
        <p:nvSpPr>
          <p:cNvPr id="51" name="obj107"/>
          <p:cNvSpPr txBox="1"/>
          <p:nvPr/>
        </p:nvSpPr>
        <p:spPr>
          <a:xfrm>
            <a:off x="3831336" y="304495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000" dirty="0"/>
          </a:p>
        </p:txBody>
      </p:sp>
      <p:sp>
        <p:nvSpPr>
          <p:cNvPr id="52" name="obj108"/>
          <p:cNvSpPr/>
          <p:nvPr/>
        </p:nvSpPr>
        <p:spPr>
          <a:xfrm>
            <a:off x="3721608" y="3401568"/>
            <a:ext cx="138074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53" name="obj109"/>
          <p:cNvSpPr/>
          <p:nvPr/>
        </p:nvSpPr>
        <p:spPr>
          <a:xfrm>
            <a:off x="3831336" y="3493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54" name="obj110"/>
          <p:cNvSpPr txBox="1"/>
          <p:nvPr/>
        </p:nvSpPr>
        <p:spPr>
          <a:xfrm>
            <a:off x="3995928" y="344728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</a:t>
            </a:r>
            <a:endParaRPr lang="en-US" sz="1000" dirty="0"/>
          </a:p>
        </p:txBody>
      </p:sp>
      <p:sp>
        <p:nvSpPr>
          <p:cNvPr id="55" name="obj111"/>
          <p:cNvSpPr txBox="1"/>
          <p:nvPr/>
        </p:nvSpPr>
        <p:spPr>
          <a:xfrm>
            <a:off x="3831336" y="363931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000" dirty="0"/>
          </a:p>
        </p:txBody>
      </p:sp>
      <p:sp>
        <p:nvSpPr>
          <p:cNvPr id="56" name="obj112"/>
          <p:cNvSpPr/>
          <p:nvPr/>
        </p:nvSpPr>
        <p:spPr>
          <a:xfrm>
            <a:off x="5349240" y="1325880"/>
            <a:ext cx="1600200" cy="329184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/>
        </p:spPr>
      </p:sp>
      <p:sp>
        <p:nvSpPr>
          <p:cNvPr id="57" name="obj113"/>
          <p:cNvSpPr/>
          <p:nvPr/>
        </p:nvSpPr>
        <p:spPr>
          <a:xfrm>
            <a:off x="5458968" y="1435608"/>
            <a:ext cx="1380744" cy="274320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58" name="obj114"/>
          <p:cNvSpPr txBox="1"/>
          <p:nvPr/>
        </p:nvSpPr>
        <p:spPr>
          <a:xfrm>
            <a:off x="5458968" y="14356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TENER · 1</a:t>
            </a:r>
            <a:endParaRPr lang="en-US" sz="1000" dirty="0"/>
          </a:p>
        </p:txBody>
      </p:sp>
      <p:sp>
        <p:nvSpPr>
          <p:cNvPr id="59" name="obj115"/>
          <p:cNvSpPr txBox="1"/>
          <p:nvPr/>
        </p:nvSpPr>
        <p:spPr>
          <a:xfrm>
            <a:off x="5477256" y="176479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si sobra tiempo</a:t>
            </a:r>
            <a:endParaRPr lang="en-US" sz="1000" dirty="0"/>
          </a:p>
        </p:txBody>
      </p:sp>
      <p:sp>
        <p:nvSpPr>
          <p:cNvPr id="60" name="obj116"/>
          <p:cNvSpPr/>
          <p:nvPr/>
        </p:nvSpPr>
        <p:spPr>
          <a:xfrm>
            <a:off x="5458968" y="2212848"/>
            <a:ext cx="138074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61" name="obj117"/>
          <p:cNvSpPr/>
          <p:nvPr/>
        </p:nvSpPr>
        <p:spPr>
          <a:xfrm>
            <a:off x="5568696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62" name="obj118"/>
          <p:cNvSpPr txBox="1"/>
          <p:nvPr/>
        </p:nvSpPr>
        <p:spPr>
          <a:xfrm>
            <a:off x="5733288" y="225856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</a:t>
            </a:r>
            <a:endParaRPr lang="en-US" sz="1000" dirty="0"/>
          </a:p>
        </p:txBody>
      </p:sp>
      <p:sp>
        <p:nvSpPr>
          <p:cNvPr id="63" name="obj119"/>
          <p:cNvSpPr txBox="1"/>
          <p:nvPr/>
        </p:nvSpPr>
        <p:spPr>
          <a:xfrm>
            <a:off x="5568696" y="245059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umbral</a:t>
            </a:r>
            <a:endParaRPr lang="en-US" sz="1000" dirty="0"/>
          </a:p>
        </p:txBody>
      </p:sp>
      <p:sp>
        <p:nvSpPr>
          <p:cNvPr id="64" name="obj120"/>
          <p:cNvSpPr/>
          <p:nvPr/>
        </p:nvSpPr>
        <p:spPr>
          <a:xfrm>
            <a:off x="7086600" y="1325880"/>
            <a:ext cx="1508760" cy="3291840"/>
          </a:xfrm>
          <a:prstGeom prst="roundRect">
            <a:avLst>
              <a:gd name="adj" fmla="val 8485"/>
            </a:avLst>
          </a:prstGeom>
          <a:solidFill>
            <a:srgbClr val="F4F4F2"/>
          </a:solidFill>
          <a:ln/>
        </p:spPr>
      </p:sp>
      <p:sp>
        <p:nvSpPr>
          <p:cNvPr id="65" name="obj121"/>
          <p:cNvSpPr/>
          <p:nvPr/>
        </p:nvSpPr>
        <p:spPr>
          <a:xfrm>
            <a:off x="7196328" y="1435608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F9E0E0"/>
          </a:solidFill>
          <a:ln/>
        </p:spPr>
      </p:sp>
      <p:sp>
        <p:nvSpPr>
          <p:cNvPr id="66" name="obj122"/>
          <p:cNvSpPr txBox="1"/>
          <p:nvPr/>
        </p:nvSpPr>
        <p:spPr>
          <a:xfrm>
            <a:off x="7196328" y="143560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TENDRÁ · 3</a:t>
            </a:r>
            <a:endParaRPr lang="en-US" sz="1000" dirty="0"/>
          </a:p>
        </p:txBody>
      </p:sp>
      <p:sp>
        <p:nvSpPr>
          <p:cNvPr id="67" name="obj123"/>
          <p:cNvSpPr txBox="1"/>
          <p:nvPr/>
        </p:nvSpPr>
        <p:spPr>
          <a:xfrm>
            <a:off x="7214616" y="1764792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 del Acta</a:t>
            </a:r>
            <a:endParaRPr lang="en-US" sz="1000" dirty="0"/>
          </a:p>
        </p:txBody>
      </p:sp>
      <p:sp>
        <p:nvSpPr>
          <p:cNvPr id="68" name="obj124"/>
          <p:cNvSpPr/>
          <p:nvPr/>
        </p:nvSpPr>
        <p:spPr>
          <a:xfrm>
            <a:off x="7196328" y="2212848"/>
            <a:ext cx="128930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69" name="obj125"/>
          <p:cNvSpPr/>
          <p:nvPr/>
        </p:nvSpPr>
        <p:spPr>
          <a:xfrm>
            <a:off x="7306056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70" name="obj126"/>
          <p:cNvSpPr txBox="1"/>
          <p:nvPr/>
        </p:nvSpPr>
        <p:spPr>
          <a:xfrm>
            <a:off x="7470648" y="2258568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71" name="obj127"/>
          <p:cNvSpPr txBox="1"/>
          <p:nvPr/>
        </p:nvSpPr>
        <p:spPr>
          <a:xfrm>
            <a:off x="7306056" y="2450592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en vivo</a:t>
            </a:r>
            <a:endParaRPr lang="en-US" sz="1000" dirty="0"/>
          </a:p>
        </p:txBody>
      </p:sp>
      <p:sp>
        <p:nvSpPr>
          <p:cNvPr id="72" name="obj128"/>
          <p:cNvSpPr/>
          <p:nvPr/>
        </p:nvSpPr>
        <p:spPr>
          <a:xfrm>
            <a:off x="7196328" y="2807208"/>
            <a:ext cx="128930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73" name="obj129"/>
          <p:cNvSpPr/>
          <p:nvPr/>
        </p:nvSpPr>
        <p:spPr>
          <a:xfrm>
            <a:off x="7306056" y="2898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74" name="obj130"/>
          <p:cNvSpPr txBox="1"/>
          <p:nvPr/>
        </p:nvSpPr>
        <p:spPr>
          <a:xfrm>
            <a:off x="7470648" y="2852928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75" name="obj131"/>
          <p:cNvSpPr txBox="1"/>
          <p:nvPr/>
        </p:nvSpPr>
        <p:spPr>
          <a:xfrm>
            <a:off x="7306056" y="3044952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físicas en planta</a:t>
            </a:r>
            <a:endParaRPr lang="en-US" sz="1000" dirty="0"/>
          </a:p>
        </p:txBody>
      </p:sp>
      <p:sp>
        <p:nvSpPr>
          <p:cNvPr id="76" name="obj132"/>
          <p:cNvSpPr/>
          <p:nvPr/>
        </p:nvSpPr>
        <p:spPr>
          <a:xfrm>
            <a:off x="7196328" y="3401568"/>
            <a:ext cx="128930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77" name="obj133"/>
          <p:cNvSpPr/>
          <p:nvPr/>
        </p:nvSpPr>
        <p:spPr>
          <a:xfrm>
            <a:off x="7306056" y="3493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78" name="obj134"/>
          <p:cNvSpPr txBox="1"/>
          <p:nvPr/>
        </p:nvSpPr>
        <p:spPr>
          <a:xfrm>
            <a:off x="7470648" y="3447288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79" name="obj135"/>
          <p:cNvSpPr txBox="1"/>
          <p:nvPr/>
        </p:nvSpPr>
        <p:spPr>
          <a:xfrm>
            <a:off x="7306056" y="3639312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100 puntos por integrante</a:t>
            </a:r>
            <a:endParaRPr lang="en-US" sz="3000" dirty="0"/>
          </a:p>
        </p:txBody>
      </p:sp>
      <p:sp>
        <p:nvSpPr>
          <p:cNvPr id="3" name="obj136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Votación en clase (12/10): cada integrante repartió sus 100 puntos por separado y luego se sumaron.</a:t>
            </a:r>
            <a:endParaRPr lang="en-US" sz="1200" dirty="0"/>
          </a:p>
        </p:txBody>
      </p:sp>
      <p:sp>
        <p:nvSpPr>
          <p:cNvPr id="4" name="obj137"/>
          <p:cNvSpPr/>
          <p:nvPr/>
        </p:nvSpPr>
        <p:spPr>
          <a:xfrm>
            <a:off x="548640" y="1325880"/>
            <a:ext cx="8046720" cy="256032"/>
          </a:xfrm>
          <a:prstGeom prst="roundRect">
            <a:avLst>
              <a:gd name="adj" fmla="val 21429"/>
            </a:avLst>
          </a:prstGeom>
          <a:solidFill>
            <a:srgbClr val="1F2421"/>
          </a:solidFill>
          <a:ln/>
        </p:spPr>
      </p:sp>
      <p:sp>
        <p:nvSpPr>
          <p:cNvPr id="5" name="obj138"/>
          <p:cNvSpPr txBox="1"/>
          <p:nvPr/>
        </p:nvSpPr>
        <p:spPr>
          <a:xfrm>
            <a:off x="621792" y="13258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</a:t>
            </a:r>
            <a:endParaRPr lang="en-US" sz="1000" dirty="0"/>
          </a:p>
        </p:txBody>
      </p:sp>
      <p:sp>
        <p:nvSpPr>
          <p:cNvPr id="6" name="obj139"/>
          <p:cNvSpPr txBox="1"/>
          <p:nvPr/>
        </p:nvSpPr>
        <p:spPr>
          <a:xfrm>
            <a:off x="1188720" y="132588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000" dirty="0"/>
          </a:p>
        </p:txBody>
      </p:sp>
      <p:sp>
        <p:nvSpPr>
          <p:cNvPr id="7" name="obj140"/>
          <p:cNvSpPr txBox="1"/>
          <p:nvPr/>
        </p:nvSpPr>
        <p:spPr>
          <a:xfrm>
            <a:off x="3108960" y="13258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endParaRPr lang="en-US" sz="1000" dirty="0"/>
          </a:p>
        </p:txBody>
      </p:sp>
      <p:sp>
        <p:nvSpPr>
          <p:cNvPr id="8" name="obj141"/>
          <p:cNvSpPr txBox="1"/>
          <p:nvPr/>
        </p:nvSpPr>
        <p:spPr>
          <a:xfrm>
            <a:off x="3767328" y="13258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9" name="obj142"/>
          <p:cNvSpPr txBox="1"/>
          <p:nvPr/>
        </p:nvSpPr>
        <p:spPr>
          <a:xfrm>
            <a:off x="4517136" y="13258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10" name="obj143"/>
          <p:cNvSpPr txBox="1"/>
          <p:nvPr/>
        </p:nvSpPr>
        <p:spPr>
          <a:xfrm>
            <a:off x="5084064" y="13258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1" name="obj144"/>
          <p:cNvSpPr txBox="1"/>
          <p:nvPr/>
        </p:nvSpPr>
        <p:spPr>
          <a:xfrm>
            <a:off x="5650992" y="13258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totales</a:t>
            </a:r>
            <a:endParaRPr lang="en-US" sz="1000" dirty="0"/>
          </a:p>
        </p:txBody>
      </p:sp>
      <p:sp>
        <p:nvSpPr>
          <p:cNvPr id="12" name="obj145"/>
          <p:cNvSpPr/>
          <p:nvPr/>
        </p:nvSpPr>
        <p:spPr>
          <a:xfrm>
            <a:off x="548640" y="1618488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3" name="obj146"/>
          <p:cNvSpPr/>
          <p:nvPr/>
        </p:nvSpPr>
        <p:spPr>
          <a:xfrm>
            <a:off x="603504" y="16733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4" name="obj147"/>
          <p:cNvSpPr txBox="1"/>
          <p:nvPr/>
        </p:nvSpPr>
        <p:spPr>
          <a:xfrm>
            <a:off x="768096" y="16184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endParaRPr lang="en-US" sz="1000" dirty="0"/>
          </a:p>
        </p:txBody>
      </p:sp>
      <p:sp>
        <p:nvSpPr>
          <p:cNvPr id="15" name="obj148"/>
          <p:cNvSpPr txBox="1"/>
          <p:nvPr/>
        </p:nvSpPr>
        <p:spPr>
          <a:xfrm>
            <a:off x="1188720" y="161848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000" dirty="0"/>
          </a:p>
        </p:txBody>
      </p:sp>
      <p:sp>
        <p:nvSpPr>
          <p:cNvPr id="16" name="obj149"/>
          <p:cNvSpPr txBox="1"/>
          <p:nvPr/>
        </p:nvSpPr>
        <p:spPr>
          <a:xfrm>
            <a:off x="3108960" y="16184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obj150"/>
          <p:cNvSpPr txBox="1"/>
          <p:nvPr/>
        </p:nvSpPr>
        <p:spPr>
          <a:xfrm>
            <a:off x="3767328" y="161848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obj151"/>
          <p:cNvSpPr txBox="1"/>
          <p:nvPr/>
        </p:nvSpPr>
        <p:spPr>
          <a:xfrm>
            <a:off x="4517136" y="16184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9" name="obj152"/>
          <p:cNvSpPr txBox="1"/>
          <p:nvPr/>
        </p:nvSpPr>
        <p:spPr>
          <a:xfrm>
            <a:off x="5084064" y="16184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20" name="obj153"/>
          <p:cNvSpPr/>
          <p:nvPr/>
        </p:nvSpPr>
        <p:spPr>
          <a:xfrm>
            <a:off x="5650992" y="1664208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F2643D"/>
          </a:solidFill>
          <a:ln/>
        </p:spPr>
      </p:sp>
      <p:sp>
        <p:nvSpPr>
          <p:cNvPr id="21" name="obj154"/>
          <p:cNvSpPr/>
          <p:nvPr/>
        </p:nvSpPr>
        <p:spPr>
          <a:xfrm>
            <a:off x="603504" y="18928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22" name="obj155"/>
          <p:cNvSpPr txBox="1"/>
          <p:nvPr/>
        </p:nvSpPr>
        <p:spPr>
          <a:xfrm>
            <a:off x="768096" y="18379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23" name="obj156"/>
          <p:cNvSpPr txBox="1"/>
          <p:nvPr/>
        </p:nvSpPr>
        <p:spPr>
          <a:xfrm>
            <a:off x="1188720" y="183794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el clip</a:t>
            </a:r>
            <a:endParaRPr lang="en-US" sz="1000" dirty="0"/>
          </a:p>
        </p:txBody>
      </p:sp>
      <p:sp>
        <p:nvSpPr>
          <p:cNvPr id="24" name="obj157"/>
          <p:cNvSpPr txBox="1"/>
          <p:nvPr/>
        </p:nvSpPr>
        <p:spPr>
          <a:xfrm>
            <a:off x="3108960" y="183794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obj158"/>
          <p:cNvSpPr txBox="1"/>
          <p:nvPr/>
        </p:nvSpPr>
        <p:spPr>
          <a:xfrm>
            <a:off x="3767328" y="18379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obj159"/>
          <p:cNvSpPr txBox="1"/>
          <p:nvPr/>
        </p:nvSpPr>
        <p:spPr>
          <a:xfrm>
            <a:off x="4517136" y="18379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obj160"/>
          <p:cNvSpPr txBox="1"/>
          <p:nvPr/>
        </p:nvSpPr>
        <p:spPr>
          <a:xfrm>
            <a:off x="5084064" y="18379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28" name="obj161"/>
          <p:cNvSpPr/>
          <p:nvPr/>
        </p:nvSpPr>
        <p:spPr>
          <a:xfrm>
            <a:off x="5650992" y="1883664"/>
            <a:ext cx="1922186" cy="128016"/>
          </a:xfrm>
          <a:prstGeom prst="roundRect">
            <a:avLst>
              <a:gd name="adj" fmla="val 21429"/>
            </a:avLst>
          </a:prstGeom>
          <a:solidFill>
            <a:srgbClr val="F2643D"/>
          </a:solidFill>
          <a:ln/>
        </p:spPr>
      </p:sp>
      <p:sp>
        <p:nvSpPr>
          <p:cNvPr id="29" name="obj162"/>
          <p:cNvSpPr/>
          <p:nvPr/>
        </p:nvSpPr>
        <p:spPr>
          <a:xfrm>
            <a:off x="548640" y="2057400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30" name="obj163"/>
          <p:cNvSpPr/>
          <p:nvPr/>
        </p:nvSpPr>
        <p:spPr>
          <a:xfrm>
            <a:off x="603504" y="21122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31" name="obj164"/>
          <p:cNvSpPr txBox="1"/>
          <p:nvPr/>
        </p:nvSpPr>
        <p:spPr>
          <a:xfrm>
            <a:off x="768096" y="20574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32" name="obj165"/>
          <p:cNvSpPr txBox="1"/>
          <p:nvPr/>
        </p:nvSpPr>
        <p:spPr>
          <a:xfrm>
            <a:off x="1188720" y="205740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trabajadores</a:t>
            </a:r>
            <a:endParaRPr lang="en-US" sz="1000" dirty="0"/>
          </a:p>
        </p:txBody>
      </p:sp>
      <p:sp>
        <p:nvSpPr>
          <p:cNvPr id="33" name="obj166"/>
          <p:cNvSpPr txBox="1"/>
          <p:nvPr/>
        </p:nvSpPr>
        <p:spPr>
          <a:xfrm>
            <a:off x="3108960" y="20574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obj167"/>
          <p:cNvSpPr txBox="1"/>
          <p:nvPr/>
        </p:nvSpPr>
        <p:spPr>
          <a:xfrm>
            <a:off x="3767328" y="20574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obj168"/>
          <p:cNvSpPr txBox="1"/>
          <p:nvPr/>
        </p:nvSpPr>
        <p:spPr>
          <a:xfrm>
            <a:off x="4517136" y="20574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obj169"/>
          <p:cNvSpPr txBox="1"/>
          <p:nvPr/>
        </p:nvSpPr>
        <p:spPr>
          <a:xfrm>
            <a:off x="5084064" y="20574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37" name="obj170"/>
          <p:cNvSpPr/>
          <p:nvPr/>
        </p:nvSpPr>
        <p:spPr>
          <a:xfrm>
            <a:off x="5650992" y="2103120"/>
            <a:ext cx="1871602" cy="128016"/>
          </a:xfrm>
          <a:prstGeom prst="roundRect">
            <a:avLst>
              <a:gd name="adj" fmla="val 21429"/>
            </a:avLst>
          </a:prstGeom>
          <a:solidFill>
            <a:srgbClr val="F2643D"/>
          </a:solidFill>
          <a:ln/>
        </p:spPr>
      </p:sp>
      <p:sp>
        <p:nvSpPr>
          <p:cNvPr id="38" name="obj171"/>
          <p:cNvSpPr/>
          <p:nvPr/>
        </p:nvSpPr>
        <p:spPr>
          <a:xfrm>
            <a:off x="603504" y="23317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39" name="obj172"/>
          <p:cNvSpPr txBox="1"/>
          <p:nvPr/>
        </p:nvSpPr>
        <p:spPr>
          <a:xfrm>
            <a:off x="768096" y="22768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</a:t>
            </a:r>
            <a:endParaRPr lang="en-US" sz="1000" dirty="0"/>
          </a:p>
        </p:txBody>
      </p:sp>
      <p:sp>
        <p:nvSpPr>
          <p:cNvPr id="40" name="obj173"/>
          <p:cNvSpPr txBox="1"/>
          <p:nvPr/>
        </p:nvSpPr>
        <p:spPr>
          <a:xfrm>
            <a:off x="1188720" y="227685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000" dirty="0"/>
          </a:p>
        </p:txBody>
      </p:sp>
      <p:sp>
        <p:nvSpPr>
          <p:cNvPr id="41" name="obj174"/>
          <p:cNvSpPr txBox="1"/>
          <p:nvPr/>
        </p:nvSpPr>
        <p:spPr>
          <a:xfrm>
            <a:off x="3108960" y="22768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obj175"/>
          <p:cNvSpPr txBox="1"/>
          <p:nvPr/>
        </p:nvSpPr>
        <p:spPr>
          <a:xfrm>
            <a:off x="3767328" y="22768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3" name="obj176"/>
          <p:cNvSpPr txBox="1"/>
          <p:nvPr/>
        </p:nvSpPr>
        <p:spPr>
          <a:xfrm>
            <a:off x="4517136" y="22768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obj177"/>
          <p:cNvSpPr txBox="1"/>
          <p:nvPr/>
        </p:nvSpPr>
        <p:spPr>
          <a:xfrm>
            <a:off x="5084064" y="22768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5" name="obj178"/>
          <p:cNvSpPr/>
          <p:nvPr/>
        </p:nvSpPr>
        <p:spPr>
          <a:xfrm>
            <a:off x="5650992" y="2322576"/>
            <a:ext cx="1517515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46" name="obj179"/>
          <p:cNvSpPr/>
          <p:nvPr/>
        </p:nvSpPr>
        <p:spPr>
          <a:xfrm>
            <a:off x="548640" y="2496312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47" name="obj180"/>
          <p:cNvSpPr/>
          <p:nvPr/>
        </p:nvSpPr>
        <p:spPr>
          <a:xfrm>
            <a:off x="603504" y="25511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48" name="obj181"/>
          <p:cNvSpPr txBox="1"/>
          <p:nvPr/>
        </p:nvSpPr>
        <p:spPr>
          <a:xfrm>
            <a:off x="768096" y="24963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49" name="obj182"/>
          <p:cNvSpPr txBox="1"/>
          <p:nvPr/>
        </p:nvSpPr>
        <p:spPr>
          <a:xfrm>
            <a:off x="1188720" y="249631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000" dirty="0"/>
          </a:p>
        </p:txBody>
      </p:sp>
      <p:sp>
        <p:nvSpPr>
          <p:cNvPr id="50" name="obj183"/>
          <p:cNvSpPr txBox="1"/>
          <p:nvPr/>
        </p:nvSpPr>
        <p:spPr>
          <a:xfrm>
            <a:off x="3108960" y="249631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obj184"/>
          <p:cNvSpPr txBox="1"/>
          <p:nvPr/>
        </p:nvSpPr>
        <p:spPr>
          <a:xfrm>
            <a:off x="3767328" y="249631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obj185"/>
          <p:cNvSpPr txBox="1"/>
          <p:nvPr/>
        </p:nvSpPr>
        <p:spPr>
          <a:xfrm>
            <a:off x="4517136" y="24963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obj186"/>
          <p:cNvSpPr txBox="1"/>
          <p:nvPr/>
        </p:nvSpPr>
        <p:spPr>
          <a:xfrm>
            <a:off x="5084064" y="24963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4" name="obj187"/>
          <p:cNvSpPr/>
          <p:nvPr/>
        </p:nvSpPr>
        <p:spPr>
          <a:xfrm>
            <a:off x="5650992" y="2542032"/>
            <a:ext cx="1416347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55" name="obj188"/>
          <p:cNvSpPr/>
          <p:nvPr/>
        </p:nvSpPr>
        <p:spPr>
          <a:xfrm>
            <a:off x="603504" y="27706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56" name="obj189"/>
          <p:cNvSpPr txBox="1"/>
          <p:nvPr/>
        </p:nvSpPr>
        <p:spPr>
          <a:xfrm>
            <a:off x="768096" y="27157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57" name="obj190"/>
          <p:cNvSpPr txBox="1"/>
          <p:nvPr/>
        </p:nvSpPr>
        <p:spPr>
          <a:xfrm>
            <a:off x="1188720" y="271576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000" dirty="0"/>
          </a:p>
        </p:txBody>
      </p:sp>
      <p:sp>
        <p:nvSpPr>
          <p:cNvPr id="58" name="obj191"/>
          <p:cNvSpPr txBox="1"/>
          <p:nvPr/>
        </p:nvSpPr>
        <p:spPr>
          <a:xfrm>
            <a:off x="3108960" y="271576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9" name="obj192"/>
          <p:cNvSpPr txBox="1"/>
          <p:nvPr/>
        </p:nvSpPr>
        <p:spPr>
          <a:xfrm>
            <a:off x="3767328" y="2715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0" name="obj193"/>
          <p:cNvSpPr txBox="1"/>
          <p:nvPr/>
        </p:nvSpPr>
        <p:spPr>
          <a:xfrm>
            <a:off x="4517136" y="27157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obj194"/>
          <p:cNvSpPr txBox="1"/>
          <p:nvPr/>
        </p:nvSpPr>
        <p:spPr>
          <a:xfrm>
            <a:off x="5084064" y="27157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2" name="obj195"/>
          <p:cNvSpPr/>
          <p:nvPr/>
        </p:nvSpPr>
        <p:spPr>
          <a:xfrm>
            <a:off x="5650992" y="2761488"/>
            <a:ext cx="1264596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63" name="obj196"/>
          <p:cNvSpPr/>
          <p:nvPr/>
        </p:nvSpPr>
        <p:spPr>
          <a:xfrm>
            <a:off x="548640" y="2935224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64" name="obj197"/>
          <p:cNvSpPr/>
          <p:nvPr/>
        </p:nvSpPr>
        <p:spPr>
          <a:xfrm>
            <a:off x="603504" y="29900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65" name="obj198"/>
          <p:cNvSpPr txBox="1"/>
          <p:nvPr/>
        </p:nvSpPr>
        <p:spPr>
          <a:xfrm>
            <a:off x="768096" y="2935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endParaRPr lang="en-US" sz="1000" dirty="0"/>
          </a:p>
        </p:txBody>
      </p:sp>
      <p:sp>
        <p:nvSpPr>
          <p:cNvPr id="66" name="obj199"/>
          <p:cNvSpPr txBox="1"/>
          <p:nvPr/>
        </p:nvSpPr>
        <p:spPr>
          <a:xfrm>
            <a:off x="1188720" y="29352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insegura</a:t>
            </a:r>
            <a:endParaRPr lang="en-US" sz="1000" dirty="0"/>
          </a:p>
        </p:txBody>
      </p:sp>
      <p:sp>
        <p:nvSpPr>
          <p:cNvPr id="67" name="obj200"/>
          <p:cNvSpPr txBox="1"/>
          <p:nvPr/>
        </p:nvSpPr>
        <p:spPr>
          <a:xfrm>
            <a:off x="3108960" y="29352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8" name="obj201"/>
          <p:cNvSpPr txBox="1"/>
          <p:nvPr/>
        </p:nvSpPr>
        <p:spPr>
          <a:xfrm>
            <a:off x="3767328" y="293522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obj202"/>
          <p:cNvSpPr txBox="1"/>
          <p:nvPr/>
        </p:nvSpPr>
        <p:spPr>
          <a:xfrm>
            <a:off x="4517136" y="293522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obj203"/>
          <p:cNvSpPr txBox="1"/>
          <p:nvPr/>
        </p:nvSpPr>
        <p:spPr>
          <a:xfrm>
            <a:off x="5084064" y="293522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1" name="obj204"/>
          <p:cNvSpPr/>
          <p:nvPr/>
        </p:nvSpPr>
        <p:spPr>
          <a:xfrm>
            <a:off x="5650992" y="2980944"/>
            <a:ext cx="1062260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72" name="obj205"/>
          <p:cNvSpPr/>
          <p:nvPr/>
        </p:nvSpPr>
        <p:spPr>
          <a:xfrm>
            <a:off x="603504" y="320954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73" name="obj206"/>
          <p:cNvSpPr txBox="1"/>
          <p:nvPr/>
        </p:nvSpPr>
        <p:spPr>
          <a:xfrm>
            <a:off x="768096" y="3154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endParaRPr lang="en-US" sz="1000" dirty="0"/>
          </a:p>
        </p:txBody>
      </p:sp>
      <p:sp>
        <p:nvSpPr>
          <p:cNvPr id="74" name="obj207"/>
          <p:cNvSpPr txBox="1"/>
          <p:nvPr/>
        </p:nvSpPr>
        <p:spPr>
          <a:xfrm>
            <a:off x="1188720" y="315468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75" name="obj208"/>
          <p:cNvSpPr txBox="1"/>
          <p:nvPr/>
        </p:nvSpPr>
        <p:spPr>
          <a:xfrm>
            <a:off x="3108960" y="315468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6" name="obj209"/>
          <p:cNvSpPr txBox="1"/>
          <p:nvPr/>
        </p:nvSpPr>
        <p:spPr>
          <a:xfrm>
            <a:off x="3767328" y="315468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7" name="obj210"/>
          <p:cNvSpPr txBox="1"/>
          <p:nvPr/>
        </p:nvSpPr>
        <p:spPr>
          <a:xfrm>
            <a:off x="4517136" y="31546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8" name="obj211"/>
          <p:cNvSpPr txBox="1"/>
          <p:nvPr/>
        </p:nvSpPr>
        <p:spPr>
          <a:xfrm>
            <a:off x="5084064" y="31546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9" name="obj212"/>
          <p:cNvSpPr/>
          <p:nvPr/>
        </p:nvSpPr>
        <p:spPr>
          <a:xfrm>
            <a:off x="5650992" y="3200400"/>
            <a:ext cx="1011677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80" name="obj213"/>
          <p:cNvSpPr/>
          <p:nvPr/>
        </p:nvSpPr>
        <p:spPr>
          <a:xfrm>
            <a:off x="548640" y="3374136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81" name="obj214"/>
          <p:cNvSpPr/>
          <p:nvPr/>
        </p:nvSpPr>
        <p:spPr>
          <a:xfrm>
            <a:off x="603504" y="3429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82" name="obj215"/>
          <p:cNvSpPr txBox="1"/>
          <p:nvPr/>
        </p:nvSpPr>
        <p:spPr>
          <a:xfrm>
            <a:off x="768096" y="33741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000" dirty="0"/>
          </a:p>
        </p:txBody>
      </p:sp>
      <p:sp>
        <p:nvSpPr>
          <p:cNvPr id="83" name="obj216"/>
          <p:cNvSpPr txBox="1"/>
          <p:nvPr/>
        </p:nvSpPr>
        <p:spPr>
          <a:xfrm>
            <a:off x="1188720" y="337413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000" dirty="0"/>
          </a:p>
        </p:txBody>
      </p:sp>
      <p:sp>
        <p:nvSpPr>
          <p:cNvPr id="84" name="obj217"/>
          <p:cNvSpPr txBox="1"/>
          <p:nvPr/>
        </p:nvSpPr>
        <p:spPr>
          <a:xfrm>
            <a:off x="3108960" y="337413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5" name="obj218"/>
          <p:cNvSpPr txBox="1"/>
          <p:nvPr/>
        </p:nvSpPr>
        <p:spPr>
          <a:xfrm>
            <a:off x="3767328" y="337413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6" name="obj219"/>
          <p:cNvSpPr txBox="1"/>
          <p:nvPr/>
        </p:nvSpPr>
        <p:spPr>
          <a:xfrm>
            <a:off x="4517136" y="33741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7" name="obj220"/>
          <p:cNvSpPr txBox="1"/>
          <p:nvPr/>
        </p:nvSpPr>
        <p:spPr>
          <a:xfrm>
            <a:off x="5084064" y="33741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8" name="obj221"/>
          <p:cNvSpPr/>
          <p:nvPr/>
        </p:nvSpPr>
        <p:spPr>
          <a:xfrm>
            <a:off x="5650992" y="3419856"/>
            <a:ext cx="961093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89" name="obj222"/>
          <p:cNvSpPr/>
          <p:nvPr/>
        </p:nvSpPr>
        <p:spPr>
          <a:xfrm>
            <a:off x="603504" y="36484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90" name="obj223"/>
          <p:cNvSpPr txBox="1"/>
          <p:nvPr/>
        </p:nvSpPr>
        <p:spPr>
          <a:xfrm>
            <a:off x="768096" y="3593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</a:t>
            </a:r>
            <a:endParaRPr lang="en-US" sz="1000" dirty="0"/>
          </a:p>
        </p:txBody>
      </p:sp>
      <p:sp>
        <p:nvSpPr>
          <p:cNvPr id="91" name="obj224"/>
          <p:cNvSpPr txBox="1"/>
          <p:nvPr/>
        </p:nvSpPr>
        <p:spPr>
          <a:xfrm>
            <a:off x="1188720" y="359359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000" dirty="0"/>
          </a:p>
        </p:txBody>
      </p:sp>
      <p:sp>
        <p:nvSpPr>
          <p:cNvPr id="92" name="obj225"/>
          <p:cNvSpPr txBox="1"/>
          <p:nvPr/>
        </p:nvSpPr>
        <p:spPr>
          <a:xfrm>
            <a:off x="3108960" y="35935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3" name="obj226"/>
          <p:cNvSpPr txBox="1"/>
          <p:nvPr/>
        </p:nvSpPr>
        <p:spPr>
          <a:xfrm>
            <a:off x="3767328" y="359359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4" name="obj227"/>
          <p:cNvSpPr txBox="1"/>
          <p:nvPr/>
        </p:nvSpPr>
        <p:spPr>
          <a:xfrm>
            <a:off x="4517136" y="359359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obj228"/>
          <p:cNvSpPr txBox="1"/>
          <p:nvPr/>
        </p:nvSpPr>
        <p:spPr>
          <a:xfrm>
            <a:off x="5084064" y="359359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6" name="obj229"/>
          <p:cNvSpPr/>
          <p:nvPr/>
        </p:nvSpPr>
        <p:spPr>
          <a:xfrm>
            <a:off x="5650992" y="3639312"/>
            <a:ext cx="758757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97" name="obj230"/>
          <p:cNvSpPr/>
          <p:nvPr/>
        </p:nvSpPr>
        <p:spPr>
          <a:xfrm>
            <a:off x="548640" y="3813048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98" name="obj231"/>
          <p:cNvSpPr/>
          <p:nvPr/>
        </p:nvSpPr>
        <p:spPr>
          <a:xfrm>
            <a:off x="603504" y="38679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99" name="obj232"/>
          <p:cNvSpPr txBox="1"/>
          <p:nvPr/>
        </p:nvSpPr>
        <p:spPr>
          <a:xfrm>
            <a:off x="768096" y="3813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</a:t>
            </a:r>
            <a:endParaRPr lang="en-US" sz="1000" dirty="0"/>
          </a:p>
        </p:txBody>
      </p:sp>
      <p:sp>
        <p:nvSpPr>
          <p:cNvPr id="100" name="obj233"/>
          <p:cNvSpPr txBox="1"/>
          <p:nvPr/>
        </p:nvSpPr>
        <p:spPr>
          <a:xfrm>
            <a:off x="1188720" y="381304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000" dirty="0"/>
          </a:p>
        </p:txBody>
      </p:sp>
      <p:sp>
        <p:nvSpPr>
          <p:cNvPr id="101" name="obj234"/>
          <p:cNvSpPr txBox="1"/>
          <p:nvPr/>
        </p:nvSpPr>
        <p:spPr>
          <a:xfrm>
            <a:off x="3108960" y="381304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2" name="obj235"/>
          <p:cNvSpPr txBox="1"/>
          <p:nvPr/>
        </p:nvSpPr>
        <p:spPr>
          <a:xfrm>
            <a:off x="3767328" y="381304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3" name="obj236"/>
          <p:cNvSpPr txBox="1"/>
          <p:nvPr/>
        </p:nvSpPr>
        <p:spPr>
          <a:xfrm>
            <a:off x="4517136" y="3813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4" name="obj237"/>
          <p:cNvSpPr txBox="1"/>
          <p:nvPr/>
        </p:nvSpPr>
        <p:spPr>
          <a:xfrm>
            <a:off x="5084064" y="3813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5" name="obj238"/>
          <p:cNvSpPr/>
          <p:nvPr/>
        </p:nvSpPr>
        <p:spPr>
          <a:xfrm>
            <a:off x="5650992" y="3858768"/>
            <a:ext cx="607006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106" name="obj239"/>
          <p:cNvSpPr/>
          <p:nvPr/>
        </p:nvSpPr>
        <p:spPr>
          <a:xfrm>
            <a:off x="603504" y="4087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107" name="obj240"/>
          <p:cNvSpPr txBox="1"/>
          <p:nvPr/>
        </p:nvSpPr>
        <p:spPr>
          <a:xfrm>
            <a:off x="768096" y="40325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</a:t>
            </a:r>
            <a:endParaRPr lang="en-US" sz="1000" dirty="0"/>
          </a:p>
        </p:txBody>
      </p:sp>
      <p:sp>
        <p:nvSpPr>
          <p:cNvPr id="108" name="obj241"/>
          <p:cNvSpPr txBox="1"/>
          <p:nvPr/>
        </p:nvSpPr>
        <p:spPr>
          <a:xfrm>
            <a:off x="1188720" y="403250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umbral</a:t>
            </a:r>
            <a:endParaRPr lang="en-US" sz="1000" dirty="0"/>
          </a:p>
        </p:txBody>
      </p:sp>
      <p:sp>
        <p:nvSpPr>
          <p:cNvPr id="109" name="obj242"/>
          <p:cNvSpPr txBox="1"/>
          <p:nvPr/>
        </p:nvSpPr>
        <p:spPr>
          <a:xfrm>
            <a:off x="3108960" y="403250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0" name="obj243"/>
          <p:cNvSpPr txBox="1"/>
          <p:nvPr/>
        </p:nvSpPr>
        <p:spPr>
          <a:xfrm>
            <a:off x="3767328" y="403250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1" name="obj244"/>
          <p:cNvSpPr txBox="1"/>
          <p:nvPr/>
        </p:nvSpPr>
        <p:spPr>
          <a:xfrm>
            <a:off x="4517136" y="403250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2" name="obj245"/>
          <p:cNvSpPr txBox="1"/>
          <p:nvPr/>
        </p:nvSpPr>
        <p:spPr>
          <a:xfrm>
            <a:off x="5084064" y="403250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3" name="obj246"/>
          <p:cNvSpPr/>
          <p:nvPr/>
        </p:nvSpPr>
        <p:spPr>
          <a:xfrm>
            <a:off x="5650992" y="4078224"/>
            <a:ext cx="404671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114" name="obj247"/>
          <p:cNvSpPr/>
          <p:nvPr/>
        </p:nvSpPr>
        <p:spPr>
          <a:xfrm>
            <a:off x="548640" y="4288536"/>
            <a:ext cx="8046720" cy="256032"/>
          </a:xfrm>
          <a:prstGeom prst="roundRect">
            <a:avLst>
              <a:gd name="adj" fmla="val 21429"/>
            </a:avLst>
          </a:prstGeom>
          <a:solidFill>
            <a:srgbClr val="FDEDE7"/>
          </a:solidFill>
          <a:ln/>
        </p:spPr>
      </p:sp>
      <p:sp>
        <p:nvSpPr>
          <p:cNvPr id="115" name="obj248"/>
          <p:cNvSpPr txBox="1"/>
          <p:nvPr/>
        </p:nvSpPr>
        <p:spPr>
          <a:xfrm>
            <a:off x="621792" y="428853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</a:t>
            </a:r>
            <a:endParaRPr lang="en-US" sz="1000" dirty="0"/>
          </a:p>
        </p:txBody>
      </p:sp>
      <p:sp>
        <p:nvSpPr>
          <p:cNvPr id="116" name="obj249"/>
          <p:cNvSpPr txBox="1"/>
          <p:nvPr/>
        </p:nvSpPr>
        <p:spPr>
          <a:xfrm>
            <a:off x="3108960" y="428853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17" name="obj250"/>
          <p:cNvSpPr txBox="1"/>
          <p:nvPr/>
        </p:nvSpPr>
        <p:spPr>
          <a:xfrm>
            <a:off x="3767328" y="428853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18" name="obj251"/>
          <p:cNvSpPr txBox="1"/>
          <p:nvPr/>
        </p:nvSpPr>
        <p:spPr>
          <a:xfrm>
            <a:off x="4517136" y="428853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19" name="obj252"/>
          <p:cNvSpPr txBox="1"/>
          <p:nvPr/>
        </p:nvSpPr>
        <p:spPr>
          <a:xfrm>
            <a:off x="5084064" y="428853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120" name="obj253"/>
          <p:cNvSpPr txBox="1"/>
          <p:nvPr/>
        </p:nvSpPr>
        <p:spPr>
          <a:xfrm>
            <a:off x="5650992" y="4288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reparte exactamente 100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Resultado: backlog priorizado</a:t>
            </a:r>
            <a:endParaRPr lang="en-US" sz="3000" dirty="0"/>
          </a:p>
        </p:txBody>
      </p:sp>
      <p:sp>
        <p:nvSpPr>
          <p:cNvPr id="3" name="obj254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MoSCoW define el grupo · 2) los 100 puntos ordenan dentro del grupo · 3) las dependencias fijan el orden de ejecución</a:t>
            </a:r>
            <a:endParaRPr lang="en-US" sz="1200" dirty="0"/>
          </a:p>
        </p:txBody>
      </p:sp>
      <p:sp>
        <p:nvSpPr>
          <p:cNvPr id="4" name="obj255"/>
          <p:cNvSpPr/>
          <p:nvPr/>
        </p:nvSpPr>
        <p:spPr>
          <a:xfrm>
            <a:off x="548640" y="1325880"/>
            <a:ext cx="8046720" cy="256032"/>
          </a:xfrm>
          <a:prstGeom prst="roundRect">
            <a:avLst>
              <a:gd name="adj" fmla="val 21429"/>
            </a:avLst>
          </a:prstGeom>
          <a:solidFill>
            <a:srgbClr val="1F2421"/>
          </a:solidFill>
          <a:ln/>
        </p:spPr>
      </p:sp>
      <p:sp>
        <p:nvSpPr>
          <p:cNvPr id="5" name="obj256"/>
          <p:cNvSpPr txBox="1"/>
          <p:nvPr/>
        </p:nvSpPr>
        <p:spPr>
          <a:xfrm>
            <a:off x="621792" y="1325880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obj257"/>
          <p:cNvSpPr txBox="1"/>
          <p:nvPr/>
        </p:nvSpPr>
        <p:spPr>
          <a:xfrm>
            <a:off x="1033272" y="13258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</a:t>
            </a:r>
            <a:endParaRPr lang="en-US" sz="1000" dirty="0"/>
          </a:p>
        </p:txBody>
      </p:sp>
      <p:sp>
        <p:nvSpPr>
          <p:cNvPr id="7" name="obj258"/>
          <p:cNvSpPr txBox="1"/>
          <p:nvPr/>
        </p:nvSpPr>
        <p:spPr>
          <a:xfrm>
            <a:off x="1655064" y="132588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000" dirty="0"/>
          </a:p>
        </p:txBody>
      </p:sp>
      <p:sp>
        <p:nvSpPr>
          <p:cNvPr id="8" name="obj259"/>
          <p:cNvSpPr txBox="1"/>
          <p:nvPr/>
        </p:nvSpPr>
        <p:spPr>
          <a:xfrm>
            <a:off x="3895344" y="132588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</a:t>
            </a:r>
            <a:endParaRPr lang="en-US" sz="1000" dirty="0"/>
          </a:p>
        </p:txBody>
      </p:sp>
      <p:sp>
        <p:nvSpPr>
          <p:cNvPr id="9" name="obj260"/>
          <p:cNvSpPr txBox="1"/>
          <p:nvPr/>
        </p:nvSpPr>
        <p:spPr>
          <a:xfrm>
            <a:off x="4809744" y="132588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</a:t>
            </a:r>
            <a:endParaRPr lang="en-US" sz="1000" dirty="0"/>
          </a:p>
        </p:txBody>
      </p:sp>
      <p:sp>
        <p:nvSpPr>
          <p:cNvPr id="10" name="obj261"/>
          <p:cNvSpPr txBox="1"/>
          <p:nvPr/>
        </p:nvSpPr>
        <p:spPr>
          <a:xfrm>
            <a:off x="5724144" y="132588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</a:t>
            </a:r>
            <a:endParaRPr lang="en-US" sz="1000" dirty="0"/>
          </a:p>
        </p:txBody>
      </p:sp>
      <p:sp>
        <p:nvSpPr>
          <p:cNvPr id="11" name="obj262"/>
          <p:cNvSpPr txBox="1"/>
          <p:nvPr/>
        </p:nvSpPr>
        <p:spPr>
          <a:xfrm>
            <a:off x="7004304" y="132588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00" dirty="0"/>
          </a:p>
        </p:txBody>
      </p:sp>
      <p:sp>
        <p:nvSpPr>
          <p:cNvPr id="12" name="obj263"/>
          <p:cNvSpPr/>
          <p:nvPr/>
        </p:nvSpPr>
        <p:spPr>
          <a:xfrm>
            <a:off x="548640" y="1618488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3" name="obj264"/>
          <p:cNvSpPr txBox="1"/>
          <p:nvPr/>
        </p:nvSpPr>
        <p:spPr>
          <a:xfrm>
            <a:off x="621792" y="1618488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obj265"/>
          <p:cNvSpPr txBox="1"/>
          <p:nvPr/>
        </p:nvSpPr>
        <p:spPr>
          <a:xfrm>
            <a:off x="1033272" y="16184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000" dirty="0"/>
          </a:p>
        </p:txBody>
      </p:sp>
      <p:sp>
        <p:nvSpPr>
          <p:cNvPr id="15" name="obj266"/>
          <p:cNvSpPr txBox="1"/>
          <p:nvPr/>
        </p:nvSpPr>
        <p:spPr>
          <a:xfrm>
            <a:off x="1655064" y="161848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000" dirty="0"/>
          </a:p>
        </p:txBody>
      </p:sp>
      <p:sp>
        <p:nvSpPr>
          <p:cNvPr id="16" name="obj267"/>
          <p:cNvSpPr txBox="1"/>
          <p:nvPr/>
        </p:nvSpPr>
        <p:spPr>
          <a:xfrm>
            <a:off x="4809744" y="16184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7" name="obj268"/>
          <p:cNvSpPr txBox="1"/>
          <p:nvPr/>
        </p:nvSpPr>
        <p:spPr>
          <a:xfrm>
            <a:off x="5724144" y="161848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obj269"/>
          <p:cNvSpPr txBox="1"/>
          <p:nvPr/>
        </p:nvSpPr>
        <p:spPr>
          <a:xfrm>
            <a:off x="7004304" y="161848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9" name="obj270"/>
          <p:cNvSpPr/>
          <p:nvPr/>
        </p:nvSpPr>
        <p:spPr>
          <a:xfrm>
            <a:off x="3977640" y="1636776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0" name="obj271"/>
          <p:cNvSpPr txBox="1"/>
          <p:nvPr/>
        </p:nvSpPr>
        <p:spPr>
          <a:xfrm>
            <a:off x="3977640" y="163677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1" name="obj272"/>
          <p:cNvSpPr txBox="1"/>
          <p:nvPr/>
        </p:nvSpPr>
        <p:spPr>
          <a:xfrm>
            <a:off x="621792" y="1837944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obj273"/>
          <p:cNvSpPr txBox="1"/>
          <p:nvPr/>
        </p:nvSpPr>
        <p:spPr>
          <a:xfrm>
            <a:off x="1033272" y="183794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endParaRPr lang="en-US" sz="1000" dirty="0"/>
          </a:p>
        </p:txBody>
      </p:sp>
      <p:sp>
        <p:nvSpPr>
          <p:cNvPr id="23" name="obj274"/>
          <p:cNvSpPr txBox="1"/>
          <p:nvPr/>
        </p:nvSpPr>
        <p:spPr>
          <a:xfrm>
            <a:off x="1655064" y="183794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24" name="obj275"/>
          <p:cNvSpPr txBox="1"/>
          <p:nvPr/>
        </p:nvSpPr>
        <p:spPr>
          <a:xfrm>
            <a:off x="4809744" y="18379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obj276"/>
          <p:cNvSpPr txBox="1"/>
          <p:nvPr/>
        </p:nvSpPr>
        <p:spPr>
          <a:xfrm>
            <a:off x="5724144" y="183794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000" dirty="0"/>
          </a:p>
        </p:txBody>
      </p:sp>
      <p:sp>
        <p:nvSpPr>
          <p:cNvPr id="26" name="obj277"/>
          <p:cNvSpPr txBox="1"/>
          <p:nvPr/>
        </p:nvSpPr>
        <p:spPr>
          <a:xfrm>
            <a:off x="7004304" y="183794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27" name="obj278"/>
          <p:cNvSpPr/>
          <p:nvPr/>
        </p:nvSpPr>
        <p:spPr>
          <a:xfrm>
            <a:off x="3977640" y="185623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8" name="obj279"/>
          <p:cNvSpPr txBox="1"/>
          <p:nvPr/>
        </p:nvSpPr>
        <p:spPr>
          <a:xfrm>
            <a:off x="3977640" y="18562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9" name="obj280"/>
          <p:cNvSpPr/>
          <p:nvPr/>
        </p:nvSpPr>
        <p:spPr>
          <a:xfrm>
            <a:off x="548640" y="2057400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30" name="obj281"/>
          <p:cNvSpPr txBox="1"/>
          <p:nvPr/>
        </p:nvSpPr>
        <p:spPr>
          <a:xfrm>
            <a:off x="621792" y="2057400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obj282"/>
          <p:cNvSpPr txBox="1"/>
          <p:nvPr/>
        </p:nvSpPr>
        <p:spPr>
          <a:xfrm>
            <a:off x="1033272" y="205740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32" name="obj283"/>
          <p:cNvSpPr txBox="1"/>
          <p:nvPr/>
        </p:nvSpPr>
        <p:spPr>
          <a:xfrm>
            <a:off x="1655064" y="2057400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trabajadores</a:t>
            </a:r>
            <a:endParaRPr lang="en-US" sz="1000" dirty="0"/>
          </a:p>
        </p:txBody>
      </p:sp>
      <p:sp>
        <p:nvSpPr>
          <p:cNvPr id="33" name="obj284"/>
          <p:cNvSpPr txBox="1"/>
          <p:nvPr/>
        </p:nvSpPr>
        <p:spPr>
          <a:xfrm>
            <a:off x="4809744" y="20574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34" name="obj285"/>
          <p:cNvSpPr txBox="1"/>
          <p:nvPr/>
        </p:nvSpPr>
        <p:spPr>
          <a:xfrm>
            <a:off x="5724144" y="205740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endParaRPr lang="en-US" sz="1000" dirty="0"/>
          </a:p>
        </p:txBody>
      </p:sp>
      <p:sp>
        <p:nvSpPr>
          <p:cNvPr id="35" name="obj286"/>
          <p:cNvSpPr txBox="1"/>
          <p:nvPr/>
        </p:nvSpPr>
        <p:spPr>
          <a:xfrm>
            <a:off x="7004304" y="20574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36" name="obj287"/>
          <p:cNvSpPr/>
          <p:nvPr/>
        </p:nvSpPr>
        <p:spPr>
          <a:xfrm>
            <a:off x="3977640" y="2075688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7" name="obj288"/>
          <p:cNvSpPr txBox="1"/>
          <p:nvPr/>
        </p:nvSpPr>
        <p:spPr>
          <a:xfrm>
            <a:off x="3977640" y="207568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8" name="obj289"/>
          <p:cNvSpPr txBox="1"/>
          <p:nvPr/>
        </p:nvSpPr>
        <p:spPr>
          <a:xfrm>
            <a:off x="621792" y="2276856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obj290"/>
          <p:cNvSpPr txBox="1"/>
          <p:nvPr/>
        </p:nvSpPr>
        <p:spPr>
          <a:xfrm>
            <a:off x="1033272" y="22768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40" name="obj291"/>
          <p:cNvSpPr txBox="1"/>
          <p:nvPr/>
        </p:nvSpPr>
        <p:spPr>
          <a:xfrm>
            <a:off x="1655064" y="227685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000" dirty="0"/>
          </a:p>
        </p:txBody>
      </p:sp>
      <p:sp>
        <p:nvSpPr>
          <p:cNvPr id="41" name="obj292"/>
          <p:cNvSpPr txBox="1"/>
          <p:nvPr/>
        </p:nvSpPr>
        <p:spPr>
          <a:xfrm>
            <a:off x="4809744" y="22768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2" name="obj293"/>
          <p:cNvSpPr txBox="1"/>
          <p:nvPr/>
        </p:nvSpPr>
        <p:spPr>
          <a:xfrm>
            <a:off x="5724144" y="227685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43" name="obj294"/>
          <p:cNvSpPr txBox="1"/>
          <p:nvPr/>
        </p:nvSpPr>
        <p:spPr>
          <a:xfrm>
            <a:off x="7004304" y="22768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44" name="obj295"/>
          <p:cNvSpPr/>
          <p:nvPr/>
        </p:nvSpPr>
        <p:spPr>
          <a:xfrm>
            <a:off x="3977640" y="229514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45" name="obj296"/>
          <p:cNvSpPr txBox="1"/>
          <p:nvPr/>
        </p:nvSpPr>
        <p:spPr>
          <a:xfrm>
            <a:off x="3977640" y="229514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46" name="obj297"/>
          <p:cNvSpPr/>
          <p:nvPr/>
        </p:nvSpPr>
        <p:spPr>
          <a:xfrm>
            <a:off x="548640" y="2496312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47" name="obj298"/>
          <p:cNvSpPr txBox="1"/>
          <p:nvPr/>
        </p:nvSpPr>
        <p:spPr>
          <a:xfrm>
            <a:off x="621792" y="249631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obj299"/>
          <p:cNvSpPr txBox="1"/>
          <p:nvPr/>
        </p:nvSpPr>
        <p:spPr>
          <a:xfrm>
            <a:off x="1033272" y="24963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49" name="obj300"/>
          <p:cNvSpPr txBox="1"/>
          <p:nvPr/>
        </p:nvSpPr>
        <p:spPr>
          <a:xfrm>
            <a:off x="1655064" y="249631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000" dirty="0"/>
          </a:p>
        </p:txBody>
      </p:sp>
      <p:sp>
        <p:nvSpPr>
          <p:cNvPr id="50" name="obj301"/>
          <p:cNvSpPr txBox="1"/>
          <p:nvPr/>
        </p:nvSpPr>
        <p:spPr>
          <a:xfrm>
            <a:off x="4809744" y="24963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1" name="obj302"/>
          <p:cNvSpPr txBox="1"/>
          <p:nvPr/>
        </p:nvSpPr>
        <p:spPr>
          <a:xfrm>
            <a:off x="5724144" y="249631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52" name="obj303"/>
          <p:cNvSpPr txBox="1"/>
          <p:nvPr/>
        </p:nvSpPr>
        <p:spPr>
          <a:xfrm>
            <a:off x="7004304" y="249631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53" name="obj304"/>
          <p:cNvSpPr/>
          <p:nvPr/>
        </p:nvSpPr>
        <p:spPr>
          <a:xfrm>
            <a:off x="3977640" y="2514600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54" name="obj305"/>
          <p:cNvSpPr txBox="1"/>
          <p:nvPr/>
        </p:nvSpPr>
        <p:spPr>
          <a:xfrm>
            <a:off x="3977640" y="251460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55" name="obj306"/>
          <p:cNvSpPr txBox="1"/>
          <p:nvPr/>
        </p:nvSpPr>
        <p:spPr>
          <a:xfrm>
            <a:off x="621792" y="2715768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obj307"/>
          <p:cNvSpPr txBox="1"/>
          <p:nvPr/>
        </p:nvSpPr>
        <p:spPr>
          <a:xfrm>
            <a:off x="1033272" y="27157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endParaRPr lang="en-US" sz="1000" dirty="0"/>
          </a:p>
        </p:txBody>
      </p:sp>
      <p:sp>
        <p:nvSpPr>
          <p:cNvPr id="57" name="obj308"/>
          <p:cNvSpPr txBox="1"/>
          <p:nvPr/>
        </p:nvSpPr>
        <p:spPr>
          <a:xfrm>
            <a:off x="1655064" y="271576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000" dirty="0"/>
          </a:p>
        </p:txBody>
      </p:sp>
      <p:sp>
        <p:nvSpPr>
          <p:cNvPr id="58" name="obj309"/>
          <p:cNvSpPr txBox="1"/>
          <p:nvPr/>
        </p:nvSpPr>
        <p:spPr>
          <a:xfrm>
            <a:off x="4809744" y="271576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59" name="obj310"/>
          <p:cNvSpPr txBox="1"/>
          <p:nvPr/>
        </p:nvSpPr>
        <p:spPr>
          <a:xfrm>
            <a:off x="5724144" y="271576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60" name="obj311"/>
          <p:cNvSpPr txBox="1"/>
          <p:nvPr/>
        </p:nvSpPr>
        <p:spPr>
          <a:xfrm>
            <a:off x="7004304" y="271576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61" name="obj312"/>
          <p:cNvSpPr/>
          <p:nvPr/>
        </p:nvSpPr>
        <p:spPr>
          <a:xfrm>
            <a:off x="3977640" y="2734056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2" name="obj313"/>
          <p:cNvSpPr txBox="1"/>
          <p:nvPr/>
        </p:nvSpPr>
        <p:spPr>
          <a:xfrm>
            <a:off x="3977640" y="273405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63" name="obj314"/>
          <p:cNvSpPr/>
          <p:nvPr/>
        </p:nvSpPr>
        <p:spPr>
          <a:xfrm>
            <a:off x="548640" y="2935224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64" name="obj315"/>
          <p:cNvSpPr txBox="1"/>
          <p:nvPr/>
        </p:nvSpPr>
        <p:spPr>
          <a:xfrm>
            <a:off x="621792" y="2935224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5" name="obj316"/>
          <p:cNvSpPr txBox="1"/>
          <p:nvPr/>
        </p:nvSpPr>
        <p:spPr>
          <a:xfrm>
            <a:off x="1033272" y="29352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66" name="obj317"/>
          <p:cNvSpPr txBox="1"/>
          <p:nvPr/>
        </p:nvSpPr>
        <p:spPr>
          <a:xfrm>
            <a:off x="1655064" y="293522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el clip</a:t>
            </a:r>
            <a:endParaRPr lang="en-US" sz="1000" dirty="0"/>
          </a:p>
        </p:txBody>
      </p:sp>
      <p:sp>
        <p:nvSpPr>
          <p:cNvPr id="67" name="obj318"/>
          <p:cNvSpPr txBox="1"/>
          <p:nvPr/>
        </p:nvSpPr>
        <p:spPr>
          <a:xfrm>
            <a:off x="4809744" y="29352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8" name="obj319"/>
          <p:cNvSpPr txBox="1"/>
          <p:nvPr/>
        </p:nvSpPr>
        <p:spPr>
          <a:xfrm>
            <a:off x="5724144" y="293522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endParaRPr lang="en-US" sz="1000" dirty="0"/>
          </a:p>
        </p:txBody>
      </p:sp>
      <p:sp>
        <p:nvSpPr>
          <p:cNvPr id="69" name="obj320"/>
          <p:cNvSpPr txBox="1"/>
          <p:nvPr/>
        </p:nvSpPr>
        <p:spPr>
          <a:xfrm>
            <a:off x="7004304" y="293522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70" name="obj321"/>
          <p:cNvSpPr/>
          <p:nvPr/>
        </p:nvSpPr>
        <p:spPr>
          <a:xfrm>
            <a:off x="3977640" y="295351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1" name="obj322"/>
          <p:cNvSpPr txBox="1"/>
          <p:nvPr/>
        </p:nvSpPr>
        <p:spPr>
          <a:xfrm>
            <a:off x="3977640" y="295351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72" name="obj323"/>
          <p:cNvSpPr txBox="1"/>
          <p:nvPr/>
        </p:nvSpPr>
        <p:spPr>
          <a:xfrm>
            <a:off x="621792" y="3154680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3" name="obj324"/>
          <p:cNvSpPr txBox="1"/>
          <p:nvPr/>
        </p:nvSpPr>
        <p:spPr>
          <a:xfrm>
            <a:off x="1033272" y="31546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</a:t>
            </a:r>
            <a:endParaRPr lang="en-US" sz="1000" dirty="0"/>
          </a:p>
        </p:txBody>
      </p:sp>
      <p:sp>
        <p:nvSpPr>
          <p:cNvPr id="74" name="obj325"/>
          <p:cNvSpPr txBox="1"/>
          <p:nvPr/>
        </p:nvSpPr>
        <p:spPr>
          <a:xfrm>
            <a:off x="1655064" y="3154680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000" dirty="0"/>
          </a:p>
        </p:txBody>
      </p:sp>
      <p:sp>
        <p:nvSpPr>
          <p:cNvPr id="75" name="obj326"/>
          <p:cNvSpPr txBox="1"/>
          <p:nvPr/>
        </p:nvSpPr>
        <p:spPr>
          <a:xfrm>
            <a:off x="4809744" y="315468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6" name="obj327"/>
          <p:cNvSpPr txBox="1"/>
          <p:nvPr/>
        </p:nvSpPr>
        <p:spPr>
          <a:xfrm>
            <a:off x="5724144" y="31546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77" name="obj328"/>
          <p:cNvSpPr txBox="1"/>
          <p:nvPr/>
        </p:nvSpPr>
        <p:spPr>
          <a:xfrm>
            <a:off x="7004304" y="31546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78" name="obj329"/>
          <p:cNvSpPr/>
          <p:nvPr/>
        </p:nvSpPr>
        <p:spPr>
          <a:xfrm>
            <a:off x="3977640" y="3172968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9" name="obj330"/>
          <p:cNvSpPr txBox="1"/>
          <p:nvPr/>
        </p:nvSpPr>
        <p:spPr>
          <a:xfrm>
            <a:off x="3977640" y="317296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80" name="obj331"/>
          <p:cNvSpPr/>
          <p:nvPr/>
        </p:nvSpPr>
        <p:spPr>
          <a:xfrm>
            <a:off x="548640" y="3374136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81" name="obj332"/>
          <p:cNvSpPr txBox="1"/>
          <p:nvPr/>
        </p:nvSpPr>
        <p:spPr>
          <a:xfrm>
            <a:off x="621792" y="3374136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2" name="obj333"/>
          <p:cNvSpPr txBox="1"/>
          <p:nvPr/>
        </p:nvSpPr>
        <p:spPr>
          <a:xfrm>
            <a:off x="1033272" y="33741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endParaRPr lang="en-US" sz="1000" dirty="0"/>
          </a:p>
        </p:txBody>
      </p:sp>
      <p:sp>
        <p:nvSpPr>
          <p:cNvPr id="83" name="obj334"/>
          <p:cNvSpPr txBox="1"/>
          <p:nvPr/>
        </p:nvSpPr>
        <p:spPr>
          <a:xfrm>
            <a:off x="1655064" y="337413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insegura</a:t>
            </a:r>
            <a:endParaRPr lang="en-US" sz="1000" dirty="0"/>
          </a:p>
        </p:txBody>
      </p:sp>
      <p:sp>
        <p:nvSpPr>
          <p:cNvPr id="84" name="obj335"/>
          <p:cNvSpPr txBox="1"/>
          <p:nvPr/>
        </p:nvSpPr>
        <p:spPr>
          <a:xfrm>
            <a:off x="4809744" y="33741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5" name="obj336"/>
          <p:cNvSpPr txBox="1"/>
          <p:nvPr/>
        </p:nvSpPr>
        <p:spPr>
          <a:xfrm>
            <a:off x="5724144" y="337413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86" name="obj337"/>
          <p:cNvSpPr txBox="1"/>
          <p:nvPr/>
        </p:nvSpPr>
        <p:spPr>
          <a:xfrm>
            <a:off x="7004304" y="337413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87" name="obj338"/>
          <p:cNvSpPr/>
          <p:nvPr/>
        </p:nvSpPr>
        <p:spPr>
          <a:xfrm>
            <a:off x="3977640" y="339242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88" name="obj339"/>
          <p:cNvSpPr txBox="1"/>
          <p:nvPr/>
        </p:nvSpPr>
        <p:spPr>
          <a:xfrm>
            <a:off x="3977640" y="339242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89" name="obj340"/>
          <p:cNvSpPr txBox="1"/>
          <p:nvPr/>
        </p:nvSpPr>
        <p:spPr>
          <a:xfrm>
            <a:off x="621792" y="359359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0" name="obj341"/>
          <p:cNvSpPr txBox="1"/>
          <p:nvPr/>
        </p:nvSpPr>
        <p:spPr>
          <a:xfrm>
            <a:off x="1033272" y="35935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</a:t>
            </a:r>
            <a:endParaRPr lang="en-US" sz="1000" dirty="0"/>
          </a:p>
        </p:txBody>
      </p:sp>
      <p:sp>
        <p:nvSpPr>
          <p:cNvPr id="91" name="obj342"/>
          <p:cNvSpPr txBox="1"/>
          <p:nvPr/>
        </p:nvSpPr>
        <p:spPr>
          <a:xfrm>
            <a:off x="1655064" y="359359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000" dirty="0"/>
          </a:p>
        </p:txBody>
      </p:sp>
      <p:sp>
        <p:nvSpPr>
          <p:cNvPr id="92" name="obj343"/>
          <p:cNvSpPr txBox="1"/>
          <p:nvPr/>
        </p:nvSpPr>
        <p:spPr>
          <a:xfrm>
            <a:off x="4809744" y="359359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3" name="obj344"/>
          <p:cNvSpPr txBox="1"/>
          <p:nvPr/>
        </p:nvSpPr>
        <p:spPr>
          <a:xfrm>
            <a:off x="5724144" y="35935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94" name="obj345"/>
          <p:cNvSpPr txBox="1"/>
          <p:nvPr/>
        </p:nvSpPr>
        <p:spPr>
          <a:xfrm>
            <a:off x="7004304" y="359359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95" name="obj346"/>
          <p:cNvSpPr/>
          <p:nvPr/>
        </p:nvSpPr>
        <p:spPr>
          <a:xfrm>
            <a:off x="3977640" y="3611880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96" name="obj347"/>
          <p:cNvSpPr txBox="1"/>
          <p:nvPr/>
        </p:nvSpPr>
        <p:spPr>
          <a:xfrm>
            <a:off x="3977640" y="361188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97" name="obj348"/>
          <p:cNvSpPr/>
          <p:nvPr/>
        </p:nvSpPr>
        <p:spPr>
          <a:xfrm>
            <a:off x="548640" y="3813048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98" name="obj349"/>
          <p:cNvSpPr txBox="1"/>
          <p:nvPr/>
        </p:nvSpPr>
        <p:spPr>
          <a:xfrm>
            <a:off x="621792" y="3813048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9" name="obj350"/>
          <p:cNvSpPr txBox="1"/>
          <p:nvPr/>
        </p:nvSpPr>
        <p:spPr>
          <a:xfrm>
            <a:off x="1033272" y="38130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</a:t>
            </a:r>
            <a:endParaRPr lang="en-US" sz="1000" dirty="0"/>
          </a:p>
        </p:txBody>
      </p:sp>
      <p:sp>
        <p:nvSpPr>
          <p:cNvPr id="100" name="obj351"/>
          <p:cNvSpPr txBox="1"/>
          <p:nvPr/>
        </p:nvSpPr>
        <p:spPr>
          <a:xfrm>
            <a:off x="1655064" y="38130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000" dirty="0"/>
          </a:p>
        </p:txBody>
      </p:sp>
      <p:sp>
        <p:nvSpPr>
          <p:cNvPr id="101" name="obj352"/>
          <p:cNvSpPr txBox="1"/>
          <p:nvPr/>
        </p:nvSpPr>
        <p:spPr>
          <a:xfrm>
            <a:off x="4809744" y="38130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2" name="obj353"/>
          <p:cNvSpPr txBox="1"/>
          <p:nvPr/>
        </p:nvSpPr>
        <p:spPr>
          <a:xfrm>
            <a:off x="5724144" y="381304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103" name="obj354"/>
          <p:cNvSpPr txBox="1"/>
          <p:nvPr/>
        </p:nvSpPr>
        <p:spPr>
          <a:xfrm>
            <a:off x="7004304" y="381304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04" name="obj355"/>
          <p:cNvSpPr/>
          <p:nvPr/>
        </p:nvSpPr>
        <p:spPr>
          <a:xfrm>
            <a:off x="3977640" y="3831336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105" name="obj356"/>
          <p:cNvSpPr txBox="1"/>
          <p:nvPr/>
        </p:nvSpPr>
        <p:spPr>
          <a:xfrm>
            <a:off x="3977640" y="383133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106" name="obj357"/>
          <p:cNvSpPr txBox="1"/>
          <p:nvPr/>
        </p:nvSpPr>
        <p:spPr>
          <a:xfrm>
            <a:off x="621792" y="4032504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7" name="obj358"/>
          <p:cNvSpPr txBox="1"/>
          <p:nvPr/>
        </p:nvSpPr>
        <p:spPr>
          <a:xfrm>
            <a:off x="1033272" y="40325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</a:t>
            </a:r>
            <a:endParaRPr lang="en-US" sz="1000" dirty="0"/>
          </a:p>
        </p:txBody>
      </p:sp>
      <p:sp>
        <p:nvSpPr>
          <p:cNvPr id="108" name="obj359"/>
          <p:cNvSpPr txBox="1"/>
          <p:nvPr/>
        </p:nvSpPr>
        <p:spPr>
          <a:xfrm>
            <a:off x="1655064" y="403250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umbral</a:t>
            </a:r>
            <a:endParaRPr lang="en-US" sz="1000" dirty="0"/>
          </a:p>
        </p:txBody>
      </p:sp>
      <p:sp>
        <p:nvSpPr>
          <p:cNvPr id="109" name="obj360"/>
          <p:cNvSpPr txBox="1"/>
          <p:nvPr/>
        </p:nvSpPr>
        <p:spPr>
          <a:xfrm>
            <a:off x="4809744" y="403250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0" name="obj361"/>
          <p:cNvSpPr txBox="1"/>
          <p:nvPr/>
        </p:nvSpPr>
        <p:spPr>
          <a:xfrm>
            <a:off x="5724144" y="403250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111" name="obj362"/>
          <p:cNvSpPr txBox="1"/>
          <p:nvPr/>
        </p:nvSpPr>
        <p:spPr>
          <a:xfrm>
            <a:off x="7004304" y="40325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12" name="obj363"/>
          <p:cNvSpPr/>
          <p:nvPr/>
        </p:nvSpPr>
        <p:spPr>
          <a:xfrm>
            <a:off x="3977640" y="40507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113" name="obj364"/>
          <p:cNvSpPr txBox="1"/>
          <p:nvPr/>
        </p:nvSpPr>
        <p:spPr>
          <a:xfrm>
            <a:off x="3977640" y="405079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114" name="obj365"/>
          <p:cNvSpPr/>
          <p:nvPr/>
        </p:nvSpPr>
        <p:spPr>
          <a:xfrm>
            <a:off x="548640" y="4325112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DEDE7"/>
          </a:solidFill>
          <a:ln/>
        </p:spPr>
      </p:sp>
      <p:sp>
        <p:nvSpPr>
          <p:cNvPr id="115" name="obj366"/>
          <p:cNvSpPr txBox="1"/>
          <p:nvPr/>
        </p:nvSpPr>
        <p:spPr>
          <a:xfrm>
            <a:off x="731520" y="432511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 (alerta) sacó 21 puntos, más que HU01 y HU02, pero va después: es Should y depende de HU08.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aprendimos</a:t>
            </a:r>
            <a:endParaRPr lang="en-US" sz="3000" dirty="0"/>
          </a:p>
        </p:txBody>
      </p:sp>
      <p:sp>
        <p:nvSpPr>
          <p:cNvPr id="3" name="obj367"/>
          <p:cNvSpPr/>
          <p:nvPr/>
        </p:nvSpPr>
        <p:spPr>
          <a:xfrm>
            <a:off x="548640" y="1234440"/>
            <a:ext cx="2560320" cy="2331720"/>
          </a:xfrm>
          <a:prstGeom prst="roundRect">
            <a:avLst>
              <a:gd name="adj" fmla="val 5490"/>
            </a:avLst>
          </a:prstGeom>
          <a:solidFill>
            <a:srgbClr val="F4F4F2"/>
          </a:solidFill>
          <a:ln/>
        </p:spPr>
      </p:sp>
      <p:sp>
        <p:nvSpPr>
          <p:cNvPr id="4" name="obj368"/>
          <p:cNvSpPr txBox="1"/>
          <p:nvPr/>
        </p:nvSpPr>
        <p:spPr>
          <a:xfrm>
            <a:off x="7772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400" dirty="0"/>
          </a:p>
        </p:txBody>
      </p:sp>
      <p:sp>
        <p:nvSpPr>
          <p:cNvPr id="5" name="obj369"/>
          <p:cNvSpPr txBox="1"/>
          <p:nvPr/>
        </p:nvSpPr>
        <p:spPr>
          <a:xfrm>
            <a:off x="7772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 · ConvLSTM</a:t>
            </a:r>
            <a:endParaRPr lang="en-US" sz="1300" dirty="0"/>
          </a:p>
        </p:txBody>
      </p:sp>
      <p:sp>
        <p:nvSpPr>
          <p:cNvPr id="6" name="obj370"/>
          <p:cNvSpPr txBox="1"/>
          <p:nvPr/>
        </p:nvSpPr>
        <p:spPr>
          <a:xfrm>
            <a:off x="777240" y="23774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historia más valorada por los tres: es el núcleo de NewBit.</a:t>
            </a:r>
            <a:endParaRPr lang="en-US" sz="1200" dirty="0"/>
          </a:p>
        </p:txBody>
      </p:sp>
      <p:sp>
        <p:nvSpPr>
          <p:cNvPr id="7" name="obj371"/>
          <p:cNvSpPr/>
          <p:nvPr/>
        </p:nvSpPr>
        <p:spPr>
          <a:xfrm>
            <a:off x="3291840" y="1234440"/>
            <a:ext cx="2560320" cy="2331720"/>
          </a:xfrm>
          <a:prstGeom prst="roundRect">
            <a:avLst>
              <a:gd name="adj" fmla="val 5490"/>
            </a:avLst>
          </a:prstGeom>
          <a:solidFill>
            <a:srgbClr val="F4F4F2"/>
          </a:solidFill>
          <a:ln/>
        </p:spPr>
      </p:sp>
      <p:sp>
        <p:nvSpPr>
          <p:cNvPr id="8" name="obj372"/>
          <p:cNvSpPr txBox="1"/>
          <p:nvPr/>
        </p:nvSpPr>
        <p:spPr>
          <a:xfrm>
            <a:off x="35204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 / 1</a:t>
            </a:r>
            <a:endParaRPr lang="en-US" sz="3400" dirty="0"/>
          </a:p>
        </p:txBody>
      </p:sp>
      <p:sp>
        <p:nvSpPr>
          <p:cNvPr id="9" name="obj373"/>
          <p:cNvSpPr txBox="1"/>
          <p:nvPr/>
        </p:nvSpPr>
        <p:spPr>
          <a:xfrm>
            <a:off x="35204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Could</a:t>
            </a:r>
            <a:endParaRPr lang="en-US" sz="1300" dirty="0"/>
          </a:p>
        </p:txBody>
      </p:sp>
      <p:sp>
        <p:nvSpPr>
          <p:cNvPr id="10" name="obj374"/>
          <p:cNvSpPr txBox="1"/>
          <p:nvPr/>
        </p:nvSpPr>
        <p:spPr>
          <a:xfrm>
            <a:off x="3520440" y="23774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historias son imprescindibles; HU11 es la única Could.</a:t>
            </a:r>
            <a:endParaRPr lang="en-US" sz="1200" dirty="0"/>
          </a:p>
        </p:txBody>
      </p:sp>
      <p:sp>
        <p:nvSpPr>
          <p:cNvPr id="11" name="obj375"/>
          <p:cNvSpPr/>
          <p:nvPr/>
        </p:nvSpPr>
        <p:spPr>
          <a:xfrm>
            <a:off x="6035040" y="1234440"/>
            <a:ext cx="2560320" cy="2331720"/>
          </a:xfrm>
          <a:prstGeom prst="roundRect">
            <a:avLst>
              <a:gd name="adj" fmla="val 5490"/>
            </a:avLst>
          </a:prstGeom>
          <a:solidFill>
            <a:srgbClr val="F4F4F2"/>
          </a:solidFill>
          <a:ln/>
        </p:spPr>
      </p:sp>
      <p:sp>
        <p:nvSpPr>
          <p:cNvPr id="12" name="obj376"/>
          <p:cNvSpPr txBox="1"/>
          <p:nvPr/>
        </p:nvSpPr>
        <p:spPr>
          <a:xfrm>
            <a:off x="62636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vs 8</a:t>
            </a:r>
            <a:endParaRPr lang="en-US" sz="3400" dirty="0"/>
          </a:p>
        </p:txBody>
      </p:sp>
      <p:sp>
        <p:nvSpPr>
          <p:cNvPr id="13" name="obj377"/>
          <p:cNvSpPr txBox="1"/>
          <p:nvPr/>
        </p:nvSpPr>
        <p:spPr>
          <a:xfrm>
            <a:off x="62636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 · Albert vs Luis</a:t>
            </a:r>
            <a:endParaRPr lang="en-US" sz="1300" dirty="0"/>
          </a:p>
        </p:txBody>
      </p:sp>
      <p:sp>
        <p:nvSpPr>
          <p:cNvPr id="14" name="obj378"/>
          <p:cNvSpPr txBox="1"/>
          <p:nvPr/>
        </p:nvSpPr>
        <p:spPr>
          <a:xfrm>
            <a:off x="6263640" y="23774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 valora lo que ve el usuario; los developers, el modelo. Los votos distintos abren la conversación.</a:t>
            </a:r>
            <a:endParaRPr lang="en-US" sz="1200" dirty="0"/>
          </a:p>
        </p:txBody>
      </p:sp>
      <p:sp>
        <p:nvSpPr>
          <p:cNvPr id="15" name="obj379"/>
          <p:cNvSpPr/>
          <p:nvPr/>
        </p:nvSpPr>
        <p:spPr>
          <a:xfrm>
            <a:off x="548640" y="3749040"/>
            <a:ext cx="8046720" cy="566928"/>
          </a:xfrm>
          <a:prstGeom prst="roundRect">
            <a:avLst>
              <a:gd name="adj" fmla="val 19355"/>
            </a:avLst>
          </a:prstGeom>
          <a:solidFill>
            <a:srgbClr val="FDEDE7"/>
          </a:solidFill>
          <a:ln/>
        </p:spPr>
      </p:sp>
      <p:sp>
        <p:nvSpPr>
          <p:cNvPr id="16" name="obj380"/>
          <p:cNvSpPr txBox="1"/>
          <p:nvPr/>
        </p:nvSpPr>
        <p:spPr>
          <a:xfrm>
            <a:off x="777240" y="37490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es rápido para separar lo esencial; los 100 puntos ordenan con más detalle. Juntos, más las dependencias, dan el backlog.</a:t>
            </a:r>
            <a:endParaRPr lang="en-US" sz="1300" dirty="0"/>
          </a:p>
        </p:txBody>
      </p:sp>
      <p:sp>
        <p:nvSpPr>
          <p:cNvPr id="17" name="obj381"/>
          <p:cNvSpPr txBox="1"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SCRUMstudy. (2022). 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los fundamentos de Scrum (Guía del SBOK®)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(4.ª ed.), 4.5.2 y 8.5.2.1, pp. 76–78 y 169.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Priorización MoSCoW y 100 puntos · NewBit</dc:title>
  <dc:subject>PptxGenJS Presentation</dc:subject>
  <dc:creator>Grupo D3 (Laboratorio D · Equipo 3)</dc:creator>
  <cp:lastModifiedBy>Grupo D3 (Laboratorio D · Equipo 3)</cp:lastModifiedBy>
  <cp:revision>1</cp:revision>
  <dcterms:created xsi:type="dcterms:W3CDTF">2026-10-12T22:27:28Z</dcterms:created>
  <dcterms:modified xsi:type="dcterms:W3CDTF">2026-10-12T22:27:28Z</dcterms:modified>
</cp:coreProperties>
</file>