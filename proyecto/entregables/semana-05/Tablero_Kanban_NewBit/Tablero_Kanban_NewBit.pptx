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Albert (PO). Presenta al Grupo D3 y el tema: el tablero de NewBit con las historias de usuario, sus criterios de aceptación, prioridad y estimación, siguiendo la Guía del SBOK (8.5 backlog priorizado, 9.1–9.2 historias y estimación, 9.3.3 Scrumboard).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Albert (PO). Las 12 historias del FGAP040 ordenadas por prioridad: MoSCoW, los 100 puntos y las dependencias (SBOK 8.5; ver la actividad de priorización). Cada una tiene su prioridad MoSCoW, su estimación en puntos y el sprint donde entra. Total 31 puntos en 4 sprints. La prioridad salió de MoSCoW y los 100 puntos; la estimación, del puño de cinco.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Anthony. Cada tarjeta es una historia: código y épica, prioridad y puntos arriba; la historia en formato «Como…, quiero…, para…»; y abajo sus criterios de aceptación, que son verificables. Aquí las épicas EP01 a EP03: ingestión, filtrado con YOLOv4 y segmentación.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Luis. Épicas EP04 a EP06: clasificación con ConvLSTM, la interfaz con la alerta y la administración. En HU08 el criterio es reportar las métricas, no alcanzar una cifra: no afirmamos resultados que aún no tenemos.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Luis. Es el Scrumboard de la Guía del SBOK (9.3.3, fig. 9-10): cada fila es una historia comprometida en el Sprint 1 y sus tareas son notas que avanzan de Por hacer a Terminada. Hoy, antes de empezar el sprint, todas están en Por hacer. La columna «En prueba» es la variante del libro para tareas terminadas que aún se están verificando.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Anthony. Prioridad: el PO ordena por valor, riesgo y dependencias; usamos MoSCoW: 8 Must, 3 Should y 1 Could. Estimación: los developers votan con el puño de cinco (1 = muy pequeña, 5 = muy grande). Total 31 puntos repartidos en 4 sprints de unos 8 puntos. Cierre: los criterios de aceptación son por historia; la definición de terminado (FGAP070) es común a todas.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 · NewBit · Grupo D3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1"/>
          <p:cNvSpPr txBox="1"/>
          <p:nvPr/>
        </p:nvSpPr>
        <p:spPr>
          <a:xfrm>
            <a:off x="640080" y="777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II · BACKLOG Y SCRUMBOARD</a:t>
            </a:r>
            <a:endParaRPr lang="en-US" sz="1100" dirty="0"/>
          </a:p>
        </p:txBody>
      </p:sp>
      <p:sp>
        <p:nvSpPr>
          <p:cNvPr id="3" name="obj2"/>
          <p:cNvSpPr txBox="1"/>
          <p:nvPr/>
        </p:nvSpPr>
        <p:spPr>
          <a:xfrm>
            <a:off x="640080" y="11887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</a:t>
            </a:r>
            <a:endParaRPr lang="en-US" sz="5000" dirty="0"/>
          </a:p>
        </p:txBody>
      </p:sp>
      <p:sp>
        <p:nvSpPr>
          <p:cNvPr id="4" name="obj3"/>
          <p:cNvSpPr txBox="1"/>
          <p:nvPr/>
        </p:nvSpPr>
        <p:spPr>
          <a:xfrm>
            <a:off x="640080" y="2057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de NewBit con criterios de aceptación, prioridad y estimación</a:t>
            </a:r>
            <a:endParaRPr lang="en-US" sz="1900" dirty="0"/>
          </a:p>
        </p:txBody>
      </p:sp>
      <p:sp>
        <p:nvSpPr>
          <p:cNvPr id="5" name="obj4"/>
          <p:cNvSpPr txBox="1"/>
          <p:nvPr/>
        </p:nvSpPr>
        <p:spPr>
          <a:xfrm>
            <a:off x="5806440" y="9144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hacer</a:t>
            </a:r>
            <a:endParaRPr lang="en-US" sz="900" dirty="0"/>
          </a:p>
        </p:txBody>
      </p:sp>
      <p:sp>
        <p:nvSpPr>
          <p:cNvPr id="6" name="obj5"/>
          <p:cNvSpPr/>
          <p:nvPr/>
        </p:nvSpPr>
        <p:spPr>
          <a:xfrm>
            <a:off x="5806440" y="1188720"/>
            <a:ext cx="804672" cy="2057400"/>
          </a:xfrm>
          <a:prstGeom prst="roundRect">
            <a:avLst>
              <a:gd name="adj" fmla="val 11364"/>
            </a:avLst>
          </a:prstGeom>
          <a:solidFill>
            <a:srgbClr val="2B302D"/>
          </a:solidFill>
          <a:ln/>
        </p:spPr>
      </p:sp>
      <p:sp>
        <p:nvSpPr>
          <p:cNvPr id="7" name="obj6"/>
          <p:cNvSpPr/>
          <p:nvPr/>
        </p:nvSpPr>
        <p:spPr>
          <a:xfrm>
            <a:off x="5897880" y="1298448"/>
            <a:ext cx="621792" cy="365760"/>
          </a:xfrm>
          <a:prstGeom prst="roundRect">
            <a:avLst>
              <a:gd name="adj" fmla="val 15000"/>
            </a:avLst>
          </a:prstGeom>
          <a:solidFill>
            <a:srgbClr val="4A514C"/>
          </a:solidFill>
          <a:ln/>
        </p:spPr>
      </p:sp>
      <p:sp>
        <p:nvSpPr>
          <p:cNvPr id="8" name="obj7"/>
          <p:cNvSpPr/>
          <p:nvPr/>
        </p:nvSpPr>
        <p:spPr>
          <a:xfrm>
            <a:off x="5897880" y="1755648"/>
            <a:ext cx="621792" cy="365760"/>
          </a:xfrm>
          <a:prstGeom prst="roundRect">
            <a:avLst>
              <a:gd name="adj" fmla="val 15000"/>
            </a:avLst>
          </a:prstGeom>
          <a:solidFill>
            <a:srgbClr val="4A514C"/>
          </a:solidFill>
          <a:ln/>
        </p:spPr>
      </p:sp>
      <p:sp>
        <p:nvSpPr>
          <p:cNvPr id="9" name="obj8"/>
          <p:cNvSpPr/>
          <p:nvPr/>
        </p:nvSpPr>
        <p:spPr>
          <a:xfrm>
            <a:off x="5897880" y="2212848"/>
            <a:ext cx="621792" cy="365760"/>
          </a:xfrm>
          <a:prstGeom prst="roundRect">
            <a:avLst>
              <a:gd name="adj" fmla="val 15000"/>
            </a:avLst>
          </a:prstGeom>
          <a:solidFill>
            <a:srgbClr val="4A514C"/>
          </a:solidFill>
          <a:ln/>
        </p:spPr>
      </p:sp>
      <p:sp>
        <p:nvSpPr>
          <p:cNvPr id="10" name="obj9"/>
          <p:cNvSpPr txBox="1"/>
          <p:nvPr/>
        </p:nvSpPr>
        <p:spPr>
          <a:xfrm>
            <a:off x="6720840" y="9144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900" dirty="0"/>
          </a:p>
        </p:txBody>
      </p:sp>
      <p:sp>
        <p:nvSpPr>
          <p:cNvPr id="11" name="obj10"/>
          <p:cNvSpPr/>
          <p:nvPr/>
        </p:nvSpPr>
        <p:spPr>
          <a:xfrm>
            <a:off x="6720840" y="1188720"/>
            <a:ext cx="804672" cy="2057400"/>
          </a:xfrm>
          <a:prstGeom prst="roundRect">
            <a:avLst>
              <a:gd name="adj" fmla="val 11364"/>
            </a:avLst>
          </a:prstGeom>
          <a:solidFill>
            <a:srgbClr val="2B302D"/>
          </a:solidFill>
          <a:ln/>
        </p:spPr>
      </p:sp>
      <p:sp>
        <p:nvSpPr>
          <p:cNvPr id="12" name="obj11"/>
          <p:cNvSpPr/>
          <p:nvPr/>
        </p:nvSpPr>
        <p:spPr>
          <a:xfrm>
            <a:off x="6812280" y="1298448"/>
            <a:ext cx="621792" cy="365760"/>
          </a:xfrm>
          <a:prstGeom prst="roundRect">
            <a:avLst>
              <a:gd name="adj" fmla="val 15000"/>
            </a:avLst>
          </a:prstGeom>
          <a:solidFill>
            <a:srgbClr val="F2643D"/>
          </a:solidFill>
          <a:ln/>
        </p:spPr>
      </p:sp>
      <p:sp>
        <p:nvSpPr>
          <p:cNvPr id="13" name="obj12"/>
          <p:cNvSpPr/>
          <p:nvPr/>
        </p:nvSpPr>
        <p:spPr>
          <a:xfrm>
            <a:off x="6812280" y="1755648"/>
            <a:ext cx="621792" cy="365760"/>
          </a:xfrm>
          <a:prstGeom prst="roundRect">
            <a:avLst>
              <a:gd name="adj" fmla="val 15000"/>
            </a:avLst>
          </a:prstGeom>
          <a:solidFill>
            <a:srgbClr val="4A514C"/>
          </a:solidFill>
          <a:ln/>
        </p:spPr>
      </p:sp>
      <p:sp>
        <p:nvSpPr>
          <p:cNvPr id="14" name="obj13"/>
          <p:cNvSpPr txBox="1"/>
          <p:nvPr/>
        </p:nvSpPr>
        <p:spPr>
          <a:xfrm>
            <a:off x="7635240" y="9144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Terminada</a:t>
            </a:r>
            <a:endParaRPr lang="en-US" sz="900" dirty="0"/>
          </a:p>
        </p:txBody>
      </p:sp>
      <p:sp>
        <p:nvSpPr>
          <p:cNvPr id="15" name="obj14"/>
          <p:cNvSpPr/>
          <p:nvPr/>
        </p:nvSpPr>
        <p:spPr>
          <a:xfrm>
            <a:off x="7635240" y="1188720"/>
            <a:ext cx="804672" cy="2057400"/>
          </a:xfrm>
          <a:prstGeom prst="roundRect">
            <a:avLst>
              <a:gd name="adj" fmla="val 11364"/>
            </a:avLst>
          </a:prstGeom>
          <a:solidFill>
            <a:srgbClr val="2B302D"/>
          </a:solidFill>
          <a:ln/>
        </p:spPr>
      </p:sp>
      <p:sp>
        <p:nvSpPr>
          <p:cNvPr id="16" name="obj15"/>
          <p:cNvSpPr/>
          <p:nvPr/>
        </p:nvSpPr>
        <p:spPr>
          <a:xfrm>
            <a:off x="7726680" y="1298448"/>
            <a:ext cx="621792" cy="365760"/>
          </a:xfrm>
          <a:prstGeom prst="roundRect">
            <a:avLst>
              <a:gd name="adj" fmla="val 15000"/>
            </a:avLst>
          </a:prstGeom>
          <a:solidFill>
            <a:srgbClr val="4A514C"/>
          </a:solidFill>
          <a:ln/>
        </p:spPr>
      </p:sp>
      <p:sp>
        <p:nvSpPr>
          <p:cNvPr id="17" name="obj16"/>
          <p:cNvSpPr txBox="1"/>
          <p:nvPr/>
        </p:nvSpPr>
        <p:spPr>
          <a:xfrm>
            <a:off x="640080" y="33101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D3</a:t>
            </a:r>
            <a:pPr algn="l" indent="0" marL="0">
              <a:buNone/>
            </a:pPr>
            <a:r>
              <a:rPr lang="en-US" sz="1100" spc="10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Laboratorio D · Equipo 3 · Proyecto NewBit</a:t>
            </a:r>
            <a:endParaRPr lang="en-US" sz="1100" dirty="0"/>
          </a:p>
        </p:txBody>
      </p:sp>
      <p:sp>
        <p:nvSpPr>
          <p:cNvPr id="18" name="obj17"/>
          <p:cNvSpPr/>
          <p:nvPr/>
        </p:nvSpPr>
        <p:spPr>
          <a:xfrm>
            <a:off x="64008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19" name="obj18"/>
          <p:cNvSpPr txBox="1"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300" dirty="0"/>
          </a:p>
        </p:txBody>
      </p:sp>
      <p:sp>
        <p:nvSpPr>
          <p:cNvPr id="20" name="obj19"/>
          <p:cNvSpPr txBox="1"/>
          <p:nvPr/>
        </p:nvSpPr>
        <p:spPr>
          <a:xfrm>
            <a:off x="120700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Chumacero</a:t>
            </a:r>
            <a:endParaRPr lang="en-US" sz="1400" dirty="0"/>
          </a:p>
        </p:txBody>
      </p:sp>
      <p:sp>
        <p:nvSpPr>
          <p:cNvPr id="21" name="obj20"/>
          <p:cNvSpPr txBox="1"/>
          <p:nvPr/>
        </p:nvSpPr>
        <p:spPr>
          <a:xfrm>
            <a:off x="120700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00" dirty="0"/>
          </a:p>
        </p:txBody>
      </p:sp>
      <p:sp>
        <p:nvSpPr>
          <p:cNvPr id="22" name="obj21"/>
          <p:cNvSpPr/>
          <p:nvPr/>
        </p:nvSpPr>
        <p:spPr>
          <a:xfrm>
            <a:off x="329184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23" name="obj22"/>
          <p:cNvSpPr txBox="1"/>
          <p:nvPr/>
        </p:nvSpPr>
        <p:spPr>
          <a:xfrm>
            <a:off x="32918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obj23"/>
          <p:cNvSpPr txBox="1"/>
          <p:nvPr/>
        </p:nvSpPr>
        <p:spPr>
          <a:xfrm>
            <a:off x="385876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Lopez</a:t>
            </a:r>
            <a:endParaRPr lang="en-US" sz="1400" dirty="0"/>
          </a:p>
        </p:txBody>
      </p:sp>
      <p:sp>
        <p:nvSpPr>
          <p:cNvPr id="25" name="obj24"/>
          <p:cNvSpPr txBox="1"/>
          <p:nvPr/>
        </p:nvSpPr>
        <p:spPr>
          <a:xfrm>
            <a:off x="385876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· Developer</a:t>
            </a:r>
            <a:endParaRPr lang="en-US" sz="1100" dirty="0"/>
          </a:p>
        </p:txBody>
      </p:sp>
      <p:sp>
        <p:nvSpPr>
          <p:cNvPr id="26" name="obj25"/>
          <p:cNvSpPr/>
          <p:nvPr/>
        </p:nvSpPr>
        <p:spPr>
          <a:xfrm>
            <a:off x="594360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27" name="obj26"/>
          <p:cNvSpPr txBox="1"/>
          <p:nvPr/>
        </p:nvSpPr>
        <p:spPr>
          <a:xfrm>
            <a:off x="59436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</a:t>
            </a:r>
            <a:endParaRPr lang="en-US" sz="1300" dirty="0"/>
          </a:p>
        </p:txBody>
      </p:sp>
      <p:sp>
        <p:nvSpPr>
          <p:cNvPr id="28" name="obj27"/>
          <p:cNvSpPr txBox="1"/>
          <p:nvPr/>
        </p:nvSpPr>
        <p:spPr>
          <a:xfrm>
            <a:off x="651052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Salazar</a:t>
            </a:r>
            <a:endParaRPr lang="en-US" sz="1400" dirty="0"/>
          </a:p>
        </p:txBody>
      </p:sp>
      <p:sp>
        <p:nvSpPr>
          <p:cNvPr id="29" name="obj28"/>
          <p:cNvSpPr txBox="1"/>
          <p:nvPr/>
        </p:nvSpPr>
        <p:spPr>
          <a:xfrm>
            <a:off x="651052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30" name="obj29"/>
          <p:cNvSpPr txBox="1"/>
          <p:nvPr/>
        </p:nvSpPr>
        <p:spPr>
          <a:xfrm>
            <a:off x="640080" y="45262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Dr. Ing. Alfredo Daza Vergaray · Ingeniería de Software II · UNS · 2026-II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priorizado</a:t>
            </a:r>
            <a:endParaRPr lang="en-US" sz="3000" dirty="0"/>
          </a:p>
        </p:txBody>
      </p:sp>
      <p:sp>
        <p:nvSpPr>
          <p:cNvPr id="3" name="obj30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historias · 31 puntos · 4 sprints de 2 semanas · priorizado con MoSCoW y 100 puntos · estimado con el puño de cinco</a:t>
            </a:r>
            <a:endParaRPr lang="en-US" sz="1200" dirty="0"/>
          </a:p>
        </p:txBody>
      </p:sp>
      <p:graphicFrame>
        <p:nvGraphicFramePr>
          <p:cNvPr id="3" name="obj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594360"/>
                <a:gridCol w="2514600"/>
                <a:gridCol w="2057400"/>
                <a:gridCol w="914400"/>
                <a:gridCol w="548640"/>
                <a:gridCol w="10058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Cargar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EP01 · Ingestión de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Extraer frames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EP01 · Ingestión de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Detectar trabajadores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EP02 · Filtrado YOLOv4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Descartar frames vacíos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EP02 · Filtrado YOLOv4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Agrupar en clips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EP03 · Segmentación temporal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Procesar con ConvLSTM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EP04 · Clasificación ConvLSTM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Etiquetar el clip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EP04 · Clasificación ConvLSTM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video con recuadro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EP05 · GUI y validación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 insegura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EP05 · GUI y validación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log de tiempos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EP06 · Administración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Descartar clips cortos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EP03 · Segmentación temporal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Ajustar umbral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EP06 · Administración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 (1/2)</a:t>
            </a:r>
            <a:endParaRPr lang="en-US" sz="3000" dirty="0"/>
          </a:p>
        </p:txBody>
      </p:sp>
      <p:sp>
        <p:nvSpPr>
          <p:cNvPr id="3" name="obj32"/>
          <p:cNvSpPr txBox="1"/>
          <p:nvPr/>
        </p:nvSpPr>
        <p:spPr>
          <a:xfrm>
            <a:off x="548640" y="9875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historia con sus criterios de aceptación: los define el PO y son los que se revisan al aceptar o rechazar la historia.</a:t>
            </a:r>
            <a:endParaRPr lang="en-US" sz="1100" dirty="0"/>
          </a:p>
        </p:txBody>
      </p:sp>
      <p:sp>
        <p:nvSpPr>
          <p:cNvPr id="4" name="obj33"/>
          <p:cNvSpPr/>
          <p:nvPr/>
        </p:nvSpPr>
        <p:spPr>
          <a:xfrm>
            <a:off x="548640" y="1298448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5" name="obj34"/>
          <p:cNvSpPr/>
          <p:nvPr/>
        </p:nvSpPr>
        <p:spPr>
          <a:xfrm>
            <a:off x="694944" y="14813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6" name="obj35"/>
          <p:cNvSpPr txBox="1"/>
          <p:nvPr/>
        </p:nvSpPr>
        <p:spPr>
          <a:xfrm>
            <a:off x="896112" y="14264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HU01 </a:t>
            </a:r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EP01</a:t>
            </a:r>
            <a:endParaRPr lang="en-US" sz="1100" dirty="0"/>
          </a:p>
        </p:txBody>
      </p:sp>
      <p:sp>
        <p:nvSpPr>
          <p:cNvPr id="7" name="obj36"/>
          <p:cNvSpPr/>
          <p:nvPr/>
        </p:nvSpPr>
        <p:spPr>
          <a:xfrm>
            <a:off x="1938528" y="14447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8" name="obj37"/>
          <p:cNvSpPr txBox="1"/>
          <p:nvPr/>
        </p:nvSpPr>
        <p:spPr>
          <a:xfrm>
            <a:off x="1938528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9" name="obj38"/>
          <p:cNvSpPr/>
          <p:nvPr/>
        </p:nvSpPr>
        <p:spPr>
          <a:xfrm>
            <a:off x="2560320" y="14447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0" name="obj39"/>
          <p:cNvSpPr txBox="1"/>
          <p:nvPr/>
        </p:nvSpPr>
        <p:spPr>
          <a:xfrm>
            <a:off x="2560320" y="14447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900" dirty="0"/>
          </a:p>
        </p:txBody>
      </p:sp>
      <p:sp>
        <p:nvSpPr>
          <p:cNvPr id="11" name="obj40"/>
          <p:cNvSpPr txBox="1"/>
          <p:nvPr/>
        </p:nvSpPr>
        <p:spPr>
          <a:xfrm>
            <a:off x="694944" y="16824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video</a:t>
            </a:r>
            <a:endParaRPr lang="en-US" sz="1200" dirty="0"/>
          </a:p>
        </p:txBody>
      </p:sp>
      <p:sp>
        <p:nvSpPr>
          <p:cNvPr id="12" name="obj41"/>
          <p:cNvSpPr txBox="1"/>
          <p:nvPr/>
        </p:nvSpPr>
        <p:spPr>
          <a:xfrm>
            <a:off x="694944" y="19019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investigador, quiero cargar un video industrial, para iniciar el análisis.</a:t>
            </a:r>
            <a:endParaRPr lang="en-US" sz="1000" dirty="0"/>
          </a:p>
        </p:txBody>
      </p:sp>
      <p:sp>
        <p:nvSpPr>
          <p:cNvPr id="13" name="obj42"/>
          <p:cNvSpPr/>
          <p:nvPr/>
        </p:nvSpPr>
        <p:spPr>
          <a:xfrm>
            <a:off x="713232" y="23225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4" name="obj43"/>
          <p:cNvSpPr txBox="1"/>
          <p:nvPr/>
        </p:nvSpPr>
        <p:spPr>
          <a:xfrm>
            <a:off x="841248" y="22677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.mp4 y .avi; otro formato muestra un mensaje de error.</a:t>
            </a:r>
            <a:endParaRPr lang="en-US" sz="1000" dirty="0"/>
          </a:p>
        </p:txBody>
      </p:sp>
      <p:sp>
        <p:nvSpPr>
          <p:cNvPr id="15" name="obj44"/>
          <p:cNvSpPr/>
          <p:nvPr/>
        </p:nvSpPr>
        <p:spPr>
          <a:xfrm>
            <a:off x="713232" y="26426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6" name="obj45"/>
          <p:cNvSpPr txBox="1"/>
          <p:nvPr/>
        </p:nvSpPr>
        <p:spPr>
          <a:xfrm>
            <a:off x="841248" y="258775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nombre, duración y resolución del video cargado.</a:t>
            </a:r>
            <a:endParaRPr lang="en-US" sz="1000" dirty="0"/>
          </a:p>
        </p:txBody>
      </p:sp>
      <p:sp>
        <p:nvSpPr>
          <p:cNvPr id="17" name="obj46"/>
          <p:cNvSpPr/>
          <p:nvPr/>
        </p:nvSpPr>
        <p:spPr>
          <a:xfrm>
            <a:off x="3291840" y="1298448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18" name="obj47"/>
          <p:cNvSpPr/>
          <p:nvPr/>
        </p:nvSpPr>
        <p:spPr>
          <a:xfrm>
            <a:off x="3438144" y="14813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19" name="obj48"/>
          <p:cNvSpPr txBox="1"/>
          <p:nvPr/>
        </p:nvSpPr>
        <p:spPr>
          <a:xfrm>
            <a:off x="3639312" y="14264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HU02 </a:t>
            </a:r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EP01</a:t>
            </a:r>
            <a:endParaRPr lang="en-US" sz="1100" dirty="0"/>
          </a:p>
        </p:txBody>
      </p:sp>
      <p:sp>
        <p:nvSpPr>
          <p:cNvPr id="20" name="obj49"/>
          <p:cNvSpPr/>
          <p:nvPr/>
        </p:nvSpPr>
        <p:spPr>
          <a:xfrm>
            <a:off x="4681728" y="14447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21" name="obj50"/>
          <p:cNvSpPr txBox="1"/>
          <p:nvPr/>
        </p:nvSpPr>
        <p:spPr>
          <a:xfrm>
            <a:off x="4681728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22" name="obj51"/>
          <p:cNvSpPr/>
          <p:nvPr/>
        </p:nvSpPr>
        <p:spPr>
          <a:xfrm>
            <a:off x="5303520" y="14447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3" name="obj52"/>
          <p:cNvSpPr txBox="1"/>
          <p:nvPr/>
        </p:nvSpPr>
        <p:spPr>
          <a:xfrm>
            <a:off x="5303520" y="14447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24" name="obj53"/>
          <p:cNvSpPr txBox="1"/>
          <p:nvPr/>
        </p:nvSpPr>
        <p:spPr>
          <a:xfrm>
            <a:off x="3438144" y="16824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frames</a:t>
            </a:r>
            <a:endParaRPr lang="en-US" sz="1200" dirty="0"/>
          </a:p>
        </p:txBody>
      </p:sp>
      <p:sp>
        <p:nvSpPr>
          <p:cNvPr id="25" name="obj54"/>
          <p:cNvSpPr txBox="1"/>
          <p:nvPr/>
        </p:nvSpPr>
        <p:spPr>
          <a:xfrm>
            <a:off x="3438144" y="19019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investigador, quiero fragmentar el video en frames, para la inferencia espacial.</a:t>
            </a:r>
            <a:endParaRPr lang="en-US" sz="1000" dirty="0"/>
          </a:p>
        </p:txBody>
      </p:sp>
      <p:sp>
        <p:nvSpPr>
          <p:cNvPr id="26" name="obj55"/>
          <p:cNvSpPr/>
          <p:nvPr/>
        </p:nvSpPr>
        <p:spPr>
          <a:xfrm>
            <a:off x="3456432" y="23225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7" name="obj56"/>
          <p:cNvSpPr txBox="1"/>
          <p:nvPr/>
        </p:nvSpPr>
        <p:spPr>
          <a:xfrm>
            <a:off x="3584448" y="22677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los frames numerados y en el orden del video.</a:t>
            </a:r>
            <a:endParaRPr lang="en-US" sz="1000" dirty="0"/>
          </a:p>
        </p:txBody>
      </p:sp>
      <p:sp>
        <p:nvSpPr>
          <p:cNvPr id="28" name="obj57"/>
          <p:cNvSpPr/>
          <p:nvPr/>
        </p:nvSpPr>
        <p:spPr>
          <a:xfrm>
            <a:off x="3456432" y="26426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9" name="obj58"/>
          <p:cNvSpPr txBox="1"/>
          <p:nvPr/>
        </p:nvSpPr>
        <p:spPr>
          <a:xfrm>
            <a:off x="3584448" y="258775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redimensiona al tamaño de entrada de YOLOv4.</a:t>
            </a:r>
            <a:endParaRPr lang="en-US" sz="1000" dirty="0"/>
          </a:p>
        </p:txBody>
      </p:sp>
      <p:sp>
        <p:nvSpPr>
          <p:cNvPr id="30" name="obj59"/>
          <p:cNvSpPr/>
          <p:nvPr/>
        </p:nvSpPr>
        <p:spPr>
          <a:xfrm>
            <a:off x="6035040" y="1298448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31" name="obj60"/>
          <p:cNvSpPr/>
          <p:nvPr/>
        </p:nvSpPr>
        <p:spPr>
          <a:xfrm>
            <a:off x="6181344" y="14813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</p:sp>
      <p:sp>
        <p:nvSpPr>
          <p:cNvPr id="32" name="obj61"/>
          <p:cNvSpPr txBox="1"/>
          <p:nvPr/>
        </p:nvSpPr>
        <p:spPr>
          <a:xfrm>
            <a:off x="6382512" y="14264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HU03 </a:t>
            </a:r>
            <a:pPr algn="l" indent="0" marL="0">
              <a:buNone/>
            </a:pPr>
            <a:r>
              <a:rPr lang="en-US" sz="11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EP02</a:t>
            </a:r>
            <a:endParaRPr lang="en-US" sz="1100" dirty="0"/>
          </a:p>
        </p:txBody>
      </p:sp>
      <p:sp>
        <p:nvSpPr>
          <p:cNvPr id="33" name="obj62"/>
          <p:cNvSpPr/>
          <p:nvPr/>
        </p:nvSpPr>
        <p:spPr>
          <a:xfrm>
            <a:off x="7424928" y="14447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34" name="obj63"/>
          <p:cNvSpPr txBox="1"/>
          <p:nvPr/>
        </p:nvSpPr>
        <p:spPr>
          <a:xfrm>
            <a:off x="7424928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35" name="obj64"/>
          <p:cNvSpPr/>
          <p:nvPr/>
        </p:nvSpPr>
        <p:spPr>
          <a:xfrm>
            <a:off x="8046720" y="14447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36" name="obj65"/>
          <p:cNvSpPr txBox="1"/>
          <p:nvPr/>
        </p:nvSpPr>
        <p:spPr>
          <a:xfrm>
            <a:off x="8046720" y="14447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pt</a:t>
            </a:r>
            <a:endParaRPr lang="en-US" sz="900" dirty="0"/>
          </a:p>
        </p:txBody>
      </p:sp>
      <p:sp>
        <p:nvSpPr>
          <p:cNvPr id="37" name="obj66"/>
          <p:cNvSpPr txBox="1"/>
          <p:nvPr/>
        </p:nvSpPr>
        <p:spPr>
          <a:xfrm>
            <a:off x="6181344" y="16824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trabajadores</a:t>
            </a:r>
            <a:endParaRPr lang="en-US" sz="1200" dirty="0"/>
          </a:p>
        </p:txBody>
      </p:sp>
      <p:sp>
        <p:nvSpPr>
          <p:cNvPr id="38" name="obj67"/>
          <p:cNvSpPr txBox="1"/>
          <p:nvPr/>
        </p:nvSpPr>
        <p:spPr>
          <a:xfrm>
            <a:off x="6181344" y="19019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investigador, quiero que YOLOv4 detecte trabajadores, para ubicar la acción.</a:t>
            </a:r>
            <a:endParaRPr lang="en-US" sz="1000" dirty="0"/>
          </a:p>
        </p:txBody>
      </p:sp>
      <p:sp>
        <p:nvSpPr>
          <p:cNvPr id="39" name="obj68"/>
          <p:cNvSpPr/>
          <p:nvPr/>
        </p:nvSpPr>
        <p:spPr>
          <a:xfrm>
            <a:off x="6199632" y="23225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40" name="obj69"/>
          <p:cNvSpPr txBox="1"/>
          <p:nvPr/>
        </p:nvSpPr>
        <p:spPr>
          <a:xfrm>
            <a:off x="6327648" y="22677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por frame las cajas de «persona» con su confianza.</a:t>
            </a:r>
            <a:endParaRPr lang="en-US" sz="1000" dirty="0"/>
          </a:p>
        </p:txBody>
      </p:sp>
      <p:sp>
        <p:nvSpPr>
          <p:cNvPr id="41" name="obj70"/>
          <p:cNvSpPr/>
          <p:nvPr/>
        </p:nvSpPr>
        <p:spPr>
          <a:xfrm>
            <a:off x="6199632" y="26426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42" name="obj71"/>
          <p:cNvSpPr txBox="1"/>
          <p:nvPr/>
        </p:nvSpPr>
        <p:spPr>
          <a:xfrm>
            <a:off x="6327648" y="258775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frame de prueba se ve con las cajas dibujadas.</a:t>
            </a:r>
            <a:endParaRPr lang="en-US" sz="1000" dirty="0"/>
          </a:p>
        </p:txBody>
      </p:sp>
      <p:sp>
        <p:nvSpPr>
          <p:cNvPr id="43" name="obj72"/>
          <p:cNvSpPr/>
          <p:nvPr/>
        </p:nvSpPr>
        <p:spPr>
          <a:xfrm>
            <a:off x="548640" y="2999232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44" name="obj73"/>
          <p:cNvSpPr/>
          <p:nvPr/>
        </p:nvSpPr>
        <p:spPr>
          <a:xfrm>
            <a:off x="694944" y="3182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</p:sp>
      <p:sp>
        <p:nvSpPr>
          <p:cNvPr id="45" name="obj74"/>
          <p:cNvSpPr txBox="1"/>
          <p:nvPr/>
        </p:nvSpPr>
        <p:spPr>
          <a:xfrm>
            <a:off x="896112" y="31272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HU04 </a:t>
            </a:r>
            <a:pPr algn="l" indent="0" marL="0">
              <a:buNone/>
            </a:pPr>
            <a:r>
              <a:rPr lang="en-US" sz="11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EP02</a:t>
            </a:r>
            <a:endParaRPr lang="en-US" sz="1100" dirty="0"/>
          </a:p>
        </p:txBody>
      </p:sp>
      <p:sp>
        <p:nvSpPr>
          <p:cNvPr id="46" name="obj75"/>
          <p:cNvSpPr/>
          <p:nvPr/>
        </p:nvSpPr>
        <p:spPr>
          <a:xfrm>
            <a:off x="1938528" y="314553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47" name="obj76"/>
          <p:cNvSpPr txBox="1"/>
          <p:nvPr/>
        </p:nvSpPr>
        <p:spPr>
          <a:xfrm>
            <a:off x="193852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48" name="obj77"/>
          <p:cNvSpPr/>
          <p:nvPr/>
        </p:nvSpPr>
        <p:spPr>
          <a:xfrm>
            <a:off x="2560320" y="31455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49" name="obj78"/>
          <p:cNvSpPr txBox="1"/>
          <p:nvPr/>
        </p:nvSpPr>
        <p:spPr>
          <a:xfrm>
            <a:off x="2560320" y="31455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50" name="obj79"/>
          <p:cNvSpPr txBox="1"/>
          <p:nvPr/>
        </p:nvSpPr>
        <p:spPr>
          <a:xfrm>
            <a:off x="694944" y="338328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frames vacíos</a:t>
            </a:r>
            <a:endParaRPr lang="en-US" sz="1200" dirty="0"/>
          </a:p>
        </p:txBody>
      </p:sp>
      <p:sp>
        <p:nvSpPr>
          <p:cNvPr id="51" name="obj80"/>
          <p:cNvSpPr txBox="1"/>
          <p:nvPr/>
        </p:nvSpPr>
        <p:spPr>
          <a:xfrm>
            <a:off x="694944" y="360273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investigador, quiero descartar frames sin trabajadores, para no saturar el modelo.</a:t>
            </a:r>
            <a:endParaRPr lang="en-US" sz="1000" dirty="0"/>
          </a:p>
        </p:txBody>
      </p:sp>
      <p:sp>
        <p:nvSpPr>
          <p:cNvPr id="52" name="obj81"/>
          <p:cNvSpPr/>
          <p:nvPr/>
        </p:nvSpPr>
        <p:spPr>
          <a:xfrm>
            <a:off x="713232" y="4023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3" name="obj82"/>
          <p:cNvSpPr txBox="1"/>
          <p:nvPr/>
        </p:nvSpPr>
        <p:spPr>
          <a:xfrm>
            <a:off x="841248" y="396849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frames sin personas no pasan a la siguiente etapa.</a:t>
            </a:r>
            <a:endParaRPr lang="en-US" sz="1000" dirty="0"/>
          </a:p>
        </p:txBody>
      </p:sp>
      <p:sp>
        <p:nvSpPr>
          <p:cNvPr id="54" name="obj83"/>
          <p:cNvSpPr/>
          <p:nvPr/>
        </p:nvSpPr>
        <p:spPr>
          <a:xfrm>
            <a:off x="713232" y="43434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5" name="obj84"/>
          <p:cNvSpPr txBox="1"/>
          <p:nvPr/>
        </p:nvSpPr>
        <p:spPr>
          <a:xfrm>
            <a:off x="841248" y="42885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cuántos frames entraron y cuántos se descartaron.</a:t>
            </a:r>
            <a:endParaRPr lang="en-US" sz="1000" dirty="0"/>
          </a:p>
        </p:txBody>
      </p:sp>
      <p:sp>
        <p:nvSpPr>
          <p:cNvPr id="56" name="obj85"/>
          <p:cNvSpPr/>
          <p:nvPr/>
        </p:nvSpPr>
        <p:spPr>
          <a:xfrm>
            <a:off x="3291840" y="2999232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57" name="obj86"/>
          <p:cNvSpPr/>
          <p:nvPr/>
        </p:nvSpPr>
        <p:spPr>
          <a:xfrm>
            <a:off x="3438144" y="3182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A5AB8"/>
          </a:solidFill>
          <a:ln/>
        </p:spPr>
      </p:sp>
      <p:sp>
        <p:nvSpPr>
          <p:cNvPr id="58" name="obj87"/>
          <p:cNvSpPr txBox="1"/>
          <p:nvPr/>
        </p:nvSpPr>
        <p:spPr>
          <a:xfrm>
            <a:off x="3639312" y="31272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HU05 </a:t>
            </a:r>
            <a:pPr algn="l" indent="0" marL="0">
              <a:buNone/>
            </a:pPr>
            <a:r>
              <a:rPr lang="en-US" sz="1100" dirty="0">
                <a:solidFill>
                  <a:srgbClr val="7A5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EP03</a:t>
            </a:r>
            <a:endParaRPr lang="en-US" sz="1100" dirty="0"/>
          </a:p>
        </p:txBody>
      </p:sp>
      <p:sp>
        <p:nvSpPr>
          <p:cNvPr id="59" name="obj88"/>
          <p:cNvSpPr/>
          <p:nvPr/>
        </p:nvSpPr>
        <p:spPr>
          <a:xfrm>
            <a:off x="4681728" y="314553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60" name="obj89"/>
          <p:cNvSpPr txBox="1"/>
          <p:nvPr/>
        </p:nvSpPr>
        <p:spPr>
          <a:xfrm>
            <a:off x="468172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61" name="obj90"/>
          <p:cNvSpPr/>
          <p:nvPr/>
        </p:nvSpPr>
        <p:spPr>
          <a:xfrm>
            <a:off x="5303520" y="31455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2" name="obj91"/>
          <p:cNvSpPr txBox="1"/>
          <p:nvPr/>
        </p:nvSpPr>
        <p:spPr>
          <a:xfrm>
            <a:off x="5303520" y="31455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</a:t>
            </a:r>
            <a:endParaRPr lang="en-US" sz="900" dirty="0"/>
          </a:p>
        </p:txBody>
      </p:sp>
      <p:sp>
        <p:nvSpPr>
          <p:cNvPr id="63" name="obj92"/>
          <p:cNvSpPr txBox="1"/>
          <p:nvPr/>
        </p:nvSpPr>
        <p:spPr>
          <a:xfrm>
            <a:off x="3438144" y="338328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en clips</a:t>
            </a:r>
            <a:endParaRPr lang="en-US" sz="1200" dirty="0"/>
          </a:p>
        </p:txBody>
      </p:sp>
      <p:sp>
        <p:nvSpPr>
          <p:cNvPr id="64" name="obj93"/>
          <p:cNvSpPr txBox="1"/>
          <p:nvPr/>
        </p:nvSpPr>
        <p:spPr>
          <a:xfrm>
            <a:off x="3438144" y="360273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investigador, quiero agrupar los frames en clips fijos, para la red temporal.</a:t>
            </a:r>
            <a:endParaRPr lang="en-US" sz="1000" dirty="0"/>
          </a:p>
        </p:txBody>
      </p:sp>
      <p:sp>
        <p:nvSpPr>
          <p:cNvPr id="65" name="obj94"/>
          <p:cNvSpPr/>
          <p:nvPr/>
        </p:nvSpPr>
        <p:spPr>
          <a:xfrm>
            <a:off x="3456432" y="4023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6" name="obj95"/>
          <p:cNvSpPr txBox="1"/>
          <p:nvPr/>
        </p:nvSpPr>
        <p:spPr>
          <a:xfrm>
            <a:off x="3584448" y="396849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clips tienen N frames consecutivos (N configurable).</a:t>
            </a:r>
            <a:endParaRPr lang="en-US" sz="1000" dirty="0"/>
          </a:p>
        </p:txBody>
      </p:sp>
      <p:sp>
        <p:nvSpPr>
          <p:cNvPr id="67" name="obj96"/>
          <p:cNvSpPr/>
          <p:nvPr/>
        </p:nvSpPr>
        <p:spPr>
          <a:xfrm>
            <a:off x="3456432" y="43434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8" name="obj97"/>
          <p:cNvSpPr txBox="1"/>
          <p:nvPr/>
        </p:nvSpPr>
        <p:spPr>
          <a:xfrm>
            <a:off x="3584448" y="42885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tiene la forma de entrada que espera ConvLSTM.</a:t>
            </a:r>
            <a:endParaRPr lang="en-US" sz="1000" dirty="0"/>
          </a:p>
        </p:txBody>
      </p:sp>
      <p:sp>
        <p:nvSpPr>
          <p:cNvPr id="69" name="obj98"/>
          <p:cNvSpPr/>
          <p:nvPr/>
        </p:nvSpPr>
        <p:spPr>
          <a:xfrm>
            <a:off x="6035040" y="2999232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70" name="obj99"/>
          <p:cNvSpPr/>
          <p:nvPr/>
        </p:nvSpPr>
        <p:spPr>
          <a:xfrm>
            <a:off x="6181344" y="3182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A5AB8"/>
          </a:solidFill>
          <a:ln/>
        </p:spPr>
      </p:sp>
      <p:sp>
        <p:nvSpPr>
          <p:cNvPr id="71" name="obj100"/>
          <p:cNvSpPr txBox="1"/>
          <p:nvPr/>
        </p:nvSpPr>
        <p:spPr>
          <a:xfrm>
            <a:off x="6382512" y="31272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HU06 </a:t>
            </a:r>
            <a:pPr algn="l" indent="0" marL="0">
              <a:buNone/>
            </a:pPr>
            <a:r>
              <a:rPr lang="en-US" sz="1100" dirty="0">
                <a:solidFill>
                  <a:srgbClr val="7A5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EP03</a:t>
            </a:r>
            <a:endParaRPr lang="en-US" sz="1100" dirty="0"/>
          </a:p>
        </p:txBody>
      </p:sp>
      <p:sp>
        <p:nvSpPr>
          <p:cNvPr id="72" name="obj101"/>
          <p:cNvSpPr/>
          <p:nvPr/>
        </p:nvSpPr>
        <p:spPr>
          <a:xfrm>
            <a:off x="7424928" y="314553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73" name="obj102"/>
          <p:cNvSpPr txBox="1"/>
          <p:nvPr/>
        </p:nvSpPr>
        <p:spPr>
          <a:xfrm>
            <a:off x="742492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74" name="obj103"/>
          <p:cNvSpPr/>
          <p:nvPr/>
        </p:nvSpPr>
        <p:spPr>
          <a:xfrm>
            <a:off x="8046720" y="31455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75" name="obj104"/>
          <p:cNvSpPr txBox="1"/>
          <p:nvPr/>
        </p:nvSpPr>
        <p:spPr>
          <a:xfrm>
            <a:off x="8046720" y="31455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76" name="obj105"/>
          <p:cNvSpPr txBox="1"/>
          <p:nvPr/>
        </p:nvSpPr>
        <p:spPr>
          <a:xfrm>
            <a:off x="6181344" y="338328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clips cortos</a:t>
            </a:r>
            <a:endParaRPr lang="en-US" sz="1200" dirty="0"/>
          </a:p>
        </p:txBody>
      </p:sp>
      <p:sp>
        <p:nvSpPr>
          <p:cNvPr id="77" name="obj106"/>
          <p:cNvSpPr txBox="1"/>
          <p:nvPr/>
        </p:nvSpPr>
        <p:spPr>
          <a:xfrm>
            <a:off x="6181344" y="360273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investigador, quiero descartar clips sin tiempo mínimo, para evitar falsos.</a:t>
            </a:r>
            <a:endParaRPr lang="en-US" sz="1000" dirty="0"/>
          </a:p>
        </p:txBody>
      </p:sp>
      <p:sp>
        <p:nvSpPr>
          <p:cNvPr id="78" name="obj107"/>
          <p:cNvSpPr/>
          <p:nvPr/>
        </p:nvSpPr>
        <p:spPr>
          <a:xfrm>
            <a:off x="6199632" y="4023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79" name="obj108"/>
          <p:cNvSpPr txBox="1"/>
          <p:nvPr/>
        </p:nvSpPr>
        <p:spPr>
          <a:xfrm>
            <a:off x="6327648" y="396849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clips con menos frames que el mínimo se descartan.</a:t>
            </a:r>
            <a:endParaRPr lang="en-US" sz="1000" dirty="0"/>
          </a:p>
        </p:txBody>
      </p:sp>
      <p:sp>
        <p:nvSpPr>
          <p:cNvPr id="80" name="obj109"/>
          <p:cNvSpPr/>
          <p:nvPr/>
        </p:nvSpPr>
        <p:spPr>
          <a:xfrm>
            <a:off x="6199632" y="43434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81" name="obj110"/>
          <p:cNvSpPr txBox="1"/>
          <p:nvPr/>
        </p:nvSpPr>
        <p:spPr>
          <a:xfrm>
            <a:off x="6327648" y="42885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cuántos clips se descartaron.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 (2/2)</a:t>
            </a:r>
            <a:endParaRPr lang="en-US" sz="3000" dirty="0"/>
          </a:p>
        </p:txBody>
      </p:sp>
      <p:sp>
        <p:nvSpPr>
          <p:cNvPr id="3" name="obj111"/>
          <p:cNvSpPr txBox="1"/>
          <p:nvPr/>
        </p:nvSpPr>
        <p:spPr>
          <a:xfrm>
            <a:off x="548640" y="9875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historia con sus criterios de aceptación: los define el PO y son los que se revisan al aceptar o rechazar la historia.</a:t>
            </a:r>
            <a:endParaRPr lang="en-US" sz="1100" dirty="0"/>
          </a:p>
        </p:txBody>
      </p:sp>
      <p:sp>
        <p:nvSpPr>
          <p:cNvPr id="4" name="obj112"/>
          <p:cNvSpPr/>
          <p:nvPr/>
        </p:nvSpPr>
        <p:spPr>
          <a:xfrm>
            <a:off x="548640" y="1298448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5" name="obj113"/>
          <p:cNvSpPr/>
          <p:nvPr/>
        </p:nvSpPr>
        <p:spPr>
          <a:xfrm>
            <a:off x="694944" y="14813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4235A"/>
          </a:solidFill>
          <a:ln/>
        </p:spPr>
      </p:sp>
      <p:sp>
        <p:nvSpPr>
          <p:cNvPr id="6" name="obj114"/>
          <p:cNvSpPr txBox="1"/>
          <p:nvPr/>
        </p:nvSpPr>
        <p:spPr>
          <a:xfrm>
            <a:off x="896112" y="14264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HU07 </a:t>
            </a:r>
            <a:pPr algn="l" indent="0" marL="0">
              <a:buNone/>
            </a:pPr>
            <a:r>
              <a:rPr lang="en-US" sz="1100" dirty="0">
                <a:solidFill>
                  <a:srgbClr val="B4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EP04</a:t>
            </a:r>
            <a:endParaRPr lang="en-US" sz="1100" dirty="0"/>
          </a:p>
        </p:txBody>
      </p:sp>
      <p:sp>
        <p:nvSpPr>
          <p:cNvPr id="7" name="obj115"/>
          <p:cNvSpPr/>
          <p:nvPr/>
        </p:nvSpPr>
        <p:spPr>
          <a:xfrm>
            <a:off x="1938528" y="14447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8" name="obj116"/>
          <p:cNvSpPr txBox="1"/>
          <p:nvPr/>
        </p:nvSpPr>
        <p:spPr>
          <a:xfrm>
            <a:off x="1938528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9" name="obj117"/>
          <p:cNvSpPr/>
          <p:nvPr/>
        </p:nvSpPr>
        <p:spPr>
          <a:xfrm>
            <a:off x="2560320" y="14447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0" name="obj118"/>
          <p:cNvSpPr txBox="1"/>
          <p:nvPr/>
        </p:nvSpPr>
        <p:spPr>
          <a:xfrm>
            <a:off x="2560320" y="14447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</a:t>
            </a:r>
            <a:endParaRPr lang="en-US" sz="900" dirty="0"/>
          </a:p>
        </p:txBody>
      </p:sp>
      <p:sp>
        <p:nvSpPr>
          <p:cNvPr id="11" name="obj119"/>
          <p:cNvSpPr txBox="1"/>
          <p:nvPr/>
        </p:nvSpPr>
        <p:spPr>
          <a:xfrm>
            <a:off x="694944" y="16824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 con ConvLSTM</a:t>
            </a:r>
            <a:endParaRPr lang="en-US" sz="1200" dirty="0"/>
          </a:p>
        </p:txBody>
      </p:sp>
      <p:sp>
        <p:nvSpPr>
          <p:cNvPr id="12" name="obj120"/>
          <p:cNvSpPr txBox="1"/>
          <p:nvPr/>
        </p:nvSpPr>
        <p:spPr>
          <a:xfrm>
            <a:off x="694944" y="19019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investigador, quiero procesar el clip con ConvLSTM, para extraer el movimiento.</a:t>
            </a:r>
            <a:endParaRPr lang="en-US" sz="1000" dirty="0"/>
          </a:p>
        </p:txBody>
      </p:sp>
      <p:sp>
        <p:nvSpPr>
          <p:cNvPr id="13" name="obj121"/>
          <p:cNvSpPr/>
          <p:nvPr/>
        </p:nvSpPr>
        <p:spPr>
          <a:xfrm>
            <a:off x="713232" y="23225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4" name="obj122"/>
          <p:cNvSpPr txBox="1"/>
          <p:nvPr/>
        </p:nvSpPr>
        <p:spPr>
          <a:xfrm>
            <a:off x="841248" y="22677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 con el split oficial y guarda pesos y métricas.</a:t>
            </a:r>
            <a:endParaRPr lang="en-US" sz="1000" dirty="0"/>
          </a:p>
        </p:txBody>
      </p:sp>
      <p:sp>
        <p:nvSpPr>
          <p:cNvPr id="15" name="obj123"/>
          <p:cNvSpPr/>
          <p:nvPr/>
        </p:nvSpPr>
        <p:spPr>
          <a:xfrm>
            <a:off x="713232" y="26426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6" name="obj124"/>
          <p:cNvSpPr txBox="1"/>
          <p:nvPr/>
        </p:nvSpPr>
        <p:spPr>
          <a:xfrm>
            <a:off x="841248" y="258775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 clip y devuelve una probabilidad por clase.</a:t>
            </a:r>
            <a:endParaRPr lang="en-US" sz="1000" dirty="0"/>
          </a:p>
        </p:txBody>
      </p:sp>
      <p:sp>
        <p:nvSpPr>
          <p:cNvPr id="17" name="obj125"/>
          <p:cNvSpPr/>
          <p:nvPr/>
        </p:nvSpPr>
        <p:spPr>
          <a:xfrm>
            <a:off x="3291840" y="1298448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18" name="obj126"/>
          <p:cNvSpPr/>
          <p:nvPr/>
        </p:nvSpPr>
        <p:spPr>
          <a:xfrm>
            <a:off x="3438144" y="14813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4235A"/>
          </a:solidFill>
          <a:ln/>
        </p:spPr>
      </p:sp>
      <p:sp>
        <p:nvSpPr>
          <p:cNvPr id="19" name="obj127"/>
          <p:cNvSpPr txBox="1"/>
          <p:nvPr/>
        </p:nvSpPr>
        <p:spPr>
          <a:xfrm>
            <a:off x="3639312" y="14264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HU08 </a:t>
            </a:r>
            <a:pPr algn="l" indent="0" marL="0">
              <a:buNone/>
            </a:pPr>
            <a:r>
              <a:rPr lang="en-US" sz="1100" dirty="0">
                <a:solidFill>
                  <a:srgbClr val="B4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EP04</a:t>
            </a:r>
            <a:endParaRPr lang="en-US" sz="1100" dirty="0"/>
          </a:p>
        </p:txBody>
      </p:sp>
      <p:sp>
        <p:nvSpPr>
          <p:cNvPr id="20" name="obj128"/>
          <p:cNvSpPr/>
          <p:nvPr/>
        </p:nvSpPr>
        <p:spPr>
          <a:xfrm>
            <a:off x="4681728" y="14447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21" name="obj129"/>
          <p:cNvSpPr txBox="1"/>
          <p:nvPr/>
        </p:nvSpPr>
        <p:spPr>
          <a:xfrm>
            <a:off x="4681728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22" name="obj130"/>
          <p:cNvSpPr/>
          <p:nvPr/>
        </p:nvSpPr>
        <p:spPr>
          <a:xfrm>
            <a:off x="5303520" y="14447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3" name="obj131"/>
          <p:cNvSpPr txBox="1"/>
          <p:nvPr/>
        </p:nvSpPr>
        <p:spPr>
          <a:xfrm>
            <a:off x="5303520" y="14447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</a:t>
            </a:r>
            <a:endParaRPr lang="en-US" sz="900" dirty="0"/>
          </a:p>
        </p:txBody>
      </p:sp>
      <p:sp>
        <p:nvSpPr>
          <p:cNvPr id="24" name="obj132"/>
          <p:cNvSpPr txBox="1"/>
          <p:nvPr/>
        </p:nvSpPr>
        <p:spPr>
          <a:xfrm>
            <a:off x="3438144" y="16824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Etiquetar el clip</a:t>
            </a:r>
            <a:endParaRPr lang="en-US" sz="1200" dirty="0"/>
          </a:p>
        </p:txBody>
      </p:sp>
      <p:sp>
        <p:nvSpPr>
          <p:cNvPr id="25" name="obj133"/>
          <p:cNvSpPr txBox="1"/>
          <p:nvPr/>
        </p:nvSpPr>
        <p:spPr>
          <a:xfrm>
            <a:off x="3438144" y="19019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investigador, quiero la etiqueta seguro/inseguro, para obtener el resultado.</a:t>
            </a:r>
            <a:endParaRPr lang="en-US" sz="1000" dirty="0"/>
          </a:p>
        </p:txBody>
      </p:sp>
      <p:sp>
        <p:nvSpPr>
          <p:cNvPr id="26" name="obj134"/>
          <p:cNvSpPr/>
          <p:nvPr/>
        </p:nvSpPr>
        <p:spPr>
          <a:xfrm>
            <a:off x="3456432" y="23225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7" name="obj135"/>
          <p:cNvSpPr txBox="1"/>
          <p:nvPr/>
        </p:nvSpPr>
        <p:spPr>
          <a:xfrm>
            <a:off x="3584448" y="22677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clip queda etiquetado con su probabilidad.</a:t>
            </a:r>
            <a:endParaRPr lang="en-US" sz="1000" dirty="0"/>
          </a:p>
        </p:txBody>
      </p:sp>
      <p:sp>
        <p:nvSpPr>
          <p:cNvPr id="28" name="obj136"/>
          <p:cNvSpPr/>
          <p:nvPr/>
        </p:nvSpPr>
        <p:spPr>
          <a:xfrm>
            <a:off x="3456432" y="26426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9" name="obj137"/>
          <p:cNvSpPr txBox="1"/>
          <p:nvPr/>
        </p:nvSpPr>
        <p:spPr>
          <a:xfrm>
            <a:off x="3584448" y="258775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accuracy, precision, recall y F1 del set de prueba.</a:t>
            </a:r>
            <a:endParaRPr lang="en-US" sz="1000" dirty="0"/>
          </a:p>
        </p:txBody>
      </p:sp>
      <p:sp>
        <p:nvSpPr>
          <p:cNvPr id="30" name="obj138"/>
          <p:cNvSpPr/>
          <p:nvPr/>
        </p:nvSpPr>
        <p:spPr>
          <a:xfrm>
            <a:off x="6035040" y="1298448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31" name="obj139"/>
          <p:cNvSpPr/>
          <p:nvPr/>
        </p:nvSpPr>
        <p:spPr>
          <a:xfrm>
            <a:off x="6181344" y="14813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/>
        </p:spPr>
      </p:sp>
      <p:sp>
        <p:nvSpPr>
          <p:cNvPr id="32" name="obj140"/>
          <p:cNvSpPr txBox="1"/>
          <p:nvPr/>
        </p:nvSpPr>
        <p:spPr>
          <a:xfrm>
            <a:off x="6382512" y="14264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HU09 </a:t>
            </a:r>
            <a:pPr algn="l" indent="0" marL="0">
              <a:buNone/>
            </a:pPr>
            <a:r>
              <a:rPr lang="en-US" sz="110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EP05</a:t>
            </a:r>
            <a:endParaRPr lang="en-US" sz="1100" dirty="0"/>
          </a:p>
        </p:txBody>
      </p:sp>
      <p:sp>
        <p:nvSpPr>
          <p:cNvPr id="33" name="obj141"/>
          <p:cNvSpPr/>
          <p:nvPr/>
        </p:nvSpPr>
        <p:spPr>
          <a:xfrm>
            <a:off x="7424928" y="14447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34" name="obj142"/>
          <p:cNvSpPr txBox="1"/>
          <p:nvPr/>
        </p:nvSpPr>
        <p:spPr>
          <a:xfrm>
            <a:off x="7424928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35" name="obj143"/>
          <p:cNvSpPr/>
          <p:nvPr/>
        </p:nvSpPr>
        <p:spPr>
          <a:xfrm>
            <a:off x="8046720" y="14447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36" name="obj144"/>
          <p:cNvSpPr txBox="1"/>
          <p:nvPr/>
        </p:nvSpPr>
        <p:spPr>
          <a:xfrm>
            <a:off x="8046720" y="14447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pt</a:t>
            </a:r>
            <a:endParaRPr lang="en-US" sz="900" dirty="0"/>
          </a:p>
        </p:txBody>
      </p:sp>
      <p:sp>
        <p:nvSpPr>
          <p:cNvPr id="37" name="obj145"/>
          <p:cNvSpPr txBox="1"/>
          <p:nvPr/>
        </p:nvSpPr>
        <p:spPr>
          <a:xfrm>
            <a:off x="6181344" y="16824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video con recuadro</a:t>
            </a:r>
            <a:endParaRPr lang="en-US" sz="1200" dirty="0"/>
          </a:p>
        </p:txBody>
      </p:sp>
      <p:sp>
        <p:nvSpPr>
          <p:cNvPr id="38" name="obj146"/>
          <p:cNvSpPr txBox="1"/>
          <p:nvPr/>
        </p:nvSpPr>
        <p:spPr>
          <a:xfrm>
            <a:off x="6181344" y="19019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evaluador, quiero ver el video con un recuadro de color, para validar la inferencia.</a:t>
            </a:r>
            <a:endParaRPr lang="en-US" sz="1000" dirty="0"/>
          </a:p>
        </p:txBody>
      </p:sp>
      <p:sp>
        <p:nvSpPr>
          <p:cNvPr id="39" name="obj147"/>
          <p:cNvSpPr/>
          <p:nvPr/>
        </p:nvSpPr>
        <p:spPr>
          <a:xfrm>
            <a:off x="6199632" y="23225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40" name="obj148"/>
          <p:cNvSpPr txBox="1"/>
          <p:nvPr/>
        </p:nvSpPr>
        <p:spPr>
          <a:xfrm>
            <a:off x="6327648" y="22677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recuadro es verde (seguro) o rojo (inseguro) por tramo.</a:t>
            </a:r>
            <a:endParaRPr lang="en-US" sz="1000" dirty="0"/>
          </a:p>
        </p:txBody>
      </p:sp>
      <p:sp>
        <p:nvSpPr>
          <p:cNvPr id="41" name="obj149"/>
          <p:cNvSpPr/>
          <p:nvPr/>
        </p:nvSpPr>
        <p:spPr>
          <a:xfrm>
            <a:off x="6199632" y="26426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42" name="obj150"/>
          <p:cNvSpPr txBox="1"/>
          <p:nvPr/>
        </p:nvSpPr>
        <p:spPr>
          <a:xfrm>
            <a:off x="6327648" y="258775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con los videos del conjunto de prueba.</a:t>
            </a:r>
            <a:endParaRPr lang="en-US" sz="1000" dirty="0"/>
          </a:p>
        </p:txBody>
      </p:sp>
      <p:sp>
        <p:nvSpPr>
          <p:cNvPr id="43" name="obj151"/>
          <p:cNvSpPr/>
          <p:nvPr/>
        </p:nvSpPr>
        <p:spPr>
          <a:xfrm>
            <a:off x="548640" y="2999232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44" name="obj152"/>
          <p:cNvSpPr/>
          <p:nvPr/>
        </p:nvSpPr>
        <p:spPr>
          <a:xfrm>
            <a:off x="694944" y="3182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/>
        </p:spPr>
      </p:sp>
      <p:sp>
        <p:nvSpPr>
          <p:cNvPr id="45" name="obj153"/>
          <p:cNvSpPr txBox="1"/>
          <p:nvPr/>
        </p:nvSpPr>
        <p:spPr>
          <a:xfrm>
            <a:off x="896112" y="31272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HU10 </a:t>
            </a:r>
            <a:pPr algn="l" indent="0" marL="0">
              <a:buNone/>
            </a:pPr>
            <a:r>
              <a:rPr lang="en-US" sz="110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EP05</a:t>
            </a:r>
            <a:endParaRPr lang="en-US" sz="1100" dirty="0"/>
          </a:p>
        </p:txBody>
      </p:sp>
      <p:sp>
        <p:nvSpPr>
          <p:cNvPr id="46" name="obj154"/>
          <p:cNvSpPr/>
          <p:nvPr/>
        </p:nvSpPr>
        <p:spPr>
          <a:xfrm>
            <a:off x="1938528" y="314553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47" name="obj155"/>
          <p:cNvSpPr txBox="1"/>
          <p:nvPr/>
        </p:nvSpPr>
        <p:spPr>
          <a:xfrm>
            <a:off x="193852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48" name="obj156"/>
          <p:cNvSpPr/>
          <p:nvPr/>
        </p:nvSpPr>
        <p:spPr>
          <a:xfrm>
            <a:off x="2560320" y="31455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49" name="obj157"/>
          <p:cNvSpPr txBox="1"/>
          <p:nvPr/>
        </p:nvSpPr>
        <p:spPr>
          <a:xfrm>
            <a:off x="2560320" y="31455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50" name="obj158"/>
          <p:cNvSpPr txBox="1"/>
          <p:nvPr/>
        </p:nvSpPr>
        <p:spPr>
          <a:xfrm>
            <a:off x="694944" y="338328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insegura</a:t>
            </a:r>
            <a:endParaRPr lang="en-US" sz="1200" dirty="0"/>
          </a:p>
        </p:txBody>
      </p:sp>
      <p:sp>
        <p:nvSpPr>
          <p:cNvPr id="51" name="obj159"/>
          <p:cNvSpPr txBox="1"/>
          <p:nvPr/>
        </p:nvSpPr>
        <p:spPr>
          <a:xfrm>
            <a:off x="694944" y="360273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evaluador, quiero una alerta ante un riesgo, para probar la respuesta.</a:t>
            </a:r>
            <a:endParaRPr lang="en-US" sz="1000" dirty="0"/>
          </a:p>
        </p:txBody>
      </p:sp>
      <p:sp>
        <p:nvSpPr>
          <p:cNvPr id="52" name="obj160"/>
          <p:cNvSpPr/>
          <p:nvPr/>
        </p:nvSpPr>
        <p:spPr>
          <a:xfrm>
            <a:off x="713232" y="4023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3" name="obj161"/>
          <p:cNvSpPr txBox="1"/>
          <p:nvPr/>
        </p:nvSpPr>
        <p:spPr>
          <a:xfrm>
            <a:off x="841248" y="396849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conducta insegura dispara un aviso visual y sonoro.</a:t>
            </a:r>
            <a:endParaRPr lang="en-US" sz="1000" dirty="0"/>
          </a:p>
        </p:txBody>
      </p:sp>
      <p:sp>
        <p:nvSpPr>
          <p:cNvPr id="54" name="obj162"/>
          <p:cNvSpPr/>
          <p:nvPr/>
        </p:nvSpPr>
        <p:spPr>
          <a:xfrm>
            <a:off x="713232" y="43434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5" name="obj163"/>
          <p:cNvSpPr txBox="1"/>
          <p:nvPr/>
        </p:nvSpPr>
        <p:spPr>
          <a:xfrm>
            <a:off x="841248" y="42885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alerta se guarda con hora, video y probabilidad.</a:t>
            </a:r>
            <a:endParaRPr lang="en-US" sz="1000" dirty="0"/>
          </a:p>
        </p:txBody>
      </p:sp>
      <p:sp>
        <p:nvSpPr>
          <p:cNvPr id="56" name="obj164"/>
          <p:cNvSpPr/>
          <p:nvPr/>
        </p:nvSpPr>
        <p:spPr>
          <a:xfrm>
            <a:off x="3291840" y="2999232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57" name="obj165"/>
          <p:cNvSpPr/>
          <p:nvPr/>
        </p:nvSpPr>
        <p:spPr>
          <a:xfrm>
            <a:off x="3438144" y="3182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/>
        </p:spPr>
      </p:sp>
      <p:sp>
        <p:nvSpPr>
          <p:cNvPr id="58" name="obj166"/>
          <p:cNvSpPr txBox="1"/>
          <p:nvPr/>
        </p:nvSpPr>
        <p:spPr>
          <a:xfrm>
            <a:off x="3639312" y="31272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HU11 </a:t>
            </a:r>
            <a:pPr algn="l" indent="0" marL="0">
              <a:buNone/>
            </a:pPr>
            <a:r>
              <a:rPr lang="en-US" sz="110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EP06</a:t>
            </a:r>
            <a:endParaRPr lang="en-US" sz="1100" dirty="0"/>
          </a:p>
        </p:txBody>
      </p:sp>
      <p:sp>
        <p:nvSpPr>
          <p:cNvPr id="59" name="obj167"/>
          <p:cNvSpPr/>
          <p:nvPr/>
        </p:nvSpPr>
        <p:spPr>
          <a:xfrm>
            <a:off x="4681728" y="314553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E5E5E2"/>
          </a:solidFill>
          <a:ln/>
        </p:spPr>
      </p:sp>
      <p:sp>
        <p:nvSpPr>
          <p:cNvPr id="60" name="obj168"/>
          <p:cNvSpPr txBox="1"/>
          <p:nvPr/>
        </p:nvSpPr>
        <p:spPr>
          <a:xfrm>
            <a:off x="468172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800" dirty="0"/>
          </a:p>
        </p:txBody>
      </p:sp>
      <p:sp>
        <p:nvSpPr>
          <p:cNvPr id="61" name="obj169"/>
          <p:cNvSpPr/>
          <p:nvPr/>
        </p:nvSpPr>
        <p:spPr>
          <a:xfrm>
            <a:off x="5303520" y="31455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2" name="obj170"/>
          <p:cNvSpPr txBox="1"/>
          <p:nvPr/>
        </p:nvSpPr>
        <p:spPr>
          <a:xfrm>
            <a:off x="5303520" y="31455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900" dirty="0"/>
          </a:p>
        </p:txBody>
      </p:sp>
      <p:sp>
        <p:nvSpPr>
          <p:cNvPr id="63" name="obj171"/>
          <p:cNvSpPr txBox="1"/>
          <p:nvPr/>
        </p:nvSpPr>
        <p:spPr>
          <a:xfrm>
            <a:off x="3438144" y="338328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umbral</a:t>
            </a:r>
            <a:endParaRPr lang="en-US" sz="1200" dirty="0"/>
          </a:p>
        </p:txBody>
      </p:sp>
      <p:sp>
        <p:nvSpPr>
          <p:cNvPr id="64" name="obj172"/>
          <p:cNvSpPr txBox="1"/>
          <p:nvPr/>
        </p:nvSpPr>
        <p:spPr>
          <a:xfrm>
            <a:off x="3438144" y="360273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administrador, quiero cambiar el umbral de YOLOv4, para calibrar el filtrado.</a:t>
            </a:r>
            <a:endParaRPr lang="en-US" sz="1000" dirty="0"/>
          </a:p>
        </p:txBody>
      </p:sp>
      <p:sp>
        <p:nvSpPr>
          <p:cNvPr id="65" name="obj173"/>
          <p:cNvSpPr/>
          <p:nvPr/>
        </p:nvSpPr>
        <p:spPr>
          <a:xfrm>
            <a:off x="3456432" y="4023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6" name="obj174"/>
          <p:cNvSpPr txBox="1"/>
          <p:nvPr/>
        </p:nvSpPr>
        <p:spPr>
          <a:xfrm>
            <a:off x="3584448" y="396849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se cambia en la configuración, sin tocar código.</a:t>
            </a:r>
            <a:endParaRPr lang="en-US" sz="1000" dirty="0"/>
          </a:p>
        </p:txBody>
      </p:sp>
      <p:sp>
        <p:nvSpPr>
          <p:cNvPr id="67" name="obj175"/>
          <p:cNvSpPr/>
          <p:nvPr/>
        </p:nvSpPr>
        <p:spPr>
          <a:xfrm>
            <a:off x="3456432" y="43434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8" name="obj176"/>
          <p:cNvSpPr txBox="1"/>
          <p:nvPr/>
        </p:nvSpPr>
        <p:spPr>
          <a:xfrm>
            <a:off x="3584448" y="42885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 valores fuera de 0–1 y anota el cambio en el log.</a:t>
            </a:r>
            <a:endParaRPr lang="en-US" sz="1000" dirty="0"/>
          </a:p>
        </p:txBody>
      </p:sp>
      <p:sp>
        <p:nvSpPr>
          <p:cNvPr id="69" name="obj177"/>
          <p:cNvSpPr/>
          <p:nvPr/>
        </p:nvSpPr>
        <p:spPr>
          <a:xfrm>
            <a:off x="6035040" y="2999232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70" name="obj178"/>
          <p:cNvSpPr/>
          <p:nvPr/>
        </p:nvSpPr>
        <p:spPr>
          <a:xfrm>
            <a:off x="6181344" y="3182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/>
        </p:spPr>
      </p:sp>
      <p:sp>
        <p:nvSpPr>
          <p:cNvPr id="71" name="obj179"/>
          <p:cNvSpPr txBox="1"/>
          <p:nvPr/>
        </p:nvSpPr>
        <p:spPr>
          <a:xfrm>
            <a:off x="6382512" y="31272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HU12 </a:t>
            </a:r>
            <a:pPr algn="l" indent="0" marL="0">
              <a:buNone/>
            </a:pPr>
            <a:r>
              <a:rPr lang="en-US" sz="110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EP06</a:t>
            </a:r>
            <a:endParaRPr lang="en-US" sz="1100" dirty="0"/>
          </a:p>
        </p:txBody>
      </p:sp>
      <p:sp>
        <p:nvSpPr>
          <p:cNvPr id="72" name="obj180"/>
          <p:cNvSpPr/>
          <p:nvPr/>
        </p:nvSpPr>
        <p:spPr>
          <a:xfrm>
            <a:off x="7424928" y="314553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73" name="obj181"/>
          <p:cNvSpPr txBox="1"/>
          <p:nvPr/>
        </p:nvSpPr>
        <p:spPr>
          <a:xfrm>
            <a:off x="742492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74" name="obj182"/>
          <p:cNvSpPr/>
          <p:nvPr/>
        </p:nvSpPr>
        <p:spPr>
          <a:xfrm>
            <a:off x="8046720" y="31455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75" name="obj183"/>
          <p:cNvSpPr txBox="1"/>
          <p:nvPr/>
        </p:nvSpPr>
        <p:spPr>
          <a:xfrm>
            <a:off x="8046720" y="31455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76" name="obj184"/>
          <p:cNvSpPr txBox="1"/>
          <p:nvPr/>
        </p:nvSpPr>
        <p:spPr>
          <a:xfrm>
            <a:off x="6181344" y="338328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log de tiempos</a:t>
            </a:r>
            <a:endParaRPr lang="en-US" sz="1200" dirty="0"/>
          </a:p>
        </p:txBody>
      </p:sp>
      <p:sp>
        <p:nvSpPr>
          <p:cNvPr id="77" name="obj185"/>
          <p:cNvSpPr txBox="1"/>
          <p:nvPr/>
        </p:nvSpPr>
        <p:spPr>
          <a:xfrm>
            <a:off x="6181344" y="360273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administrador, quiero ver el log de tiempos, para saber si el filtrado acelera.</a:t>
            </a:r>
            <a:endParaRPr lang="en-US" sz="1000" dirty="0"/>
          </a:p>
        </p:txBody>
      </p:sp>
      <p:sp>
        <p:nvSpPr>
          <p:cNvPr id="78" name="obj186"/>
          <p:cNvSpPr/>
          <p:nvPr/>
        </p:nvSpPr>
        <p:spPr>
          <a:xfrm>
            <a:off x="6199632" y="4023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79" name="obj187"/>
          <p:cNvSpPr txBox="1"/>
          <p:nvPr/>
        </p:nvSpPr>
        <p:spPr>
          <a:xfrm>
            <a:off x="6327648" y="396849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tiempo de cada etapa del procesamiento.</a:t>
            </a:r>
            <a:endParaRPr lang="en-US" sz="1000" dirty="0"/>
          </a:p>
        </p:txBody>
      </p:sp>
      <p:sp>
        <p:nvSpPr>
          <p:cNvPr id="80" name="obj188"/>
          <p:cNvSpPr/>
          <p:nvPr/>
        </p:nvSpPr>
        <p:spPr>
          <a:xfrm>
            <a:off x="6199632" y="43434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81" name="obj189"/>
          <p:cNvSpPr txBox="1"/>
          <p:nvPr/>
        </p:nvSpPr>
        <p:spPr>
          <a:xfrm>
            <a:off x="6327648" y="42885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el mismo video con y sin filtrado.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del Sprint 1 (Scrumboard)</a:t>
            </a:r>
            <a:endParaRPr lang="en-US" sz="3000" dirty="0"/>
          </a:p>
        </p:txBody>
      </p:sp>
      <p:sp>
        <p:nvSpPr>
          <p:cNvPr id="3" name="obj190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19/10 – 01/11 · 3 historias · 7 puntos · inicio del sprint · tareas propuestas por el equipo</a:t>
            </a:r>
            <a:endParaRPr lang="en-US" sz="1200" dirty="0"/>
          </a:p>
        </p:txBody>
      </p:sp>
      <p:sp>
        <p:nvSpPr>
          <p:cNvPr id="4" name="obj191"/>
          <p:cNvSpPr/>
          <p:nvPr/>
        </p:nvSpPr>
        <p:spPr>
          <a:xfrm>
            <a:off x="548640" y="132588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" name="obj192"/>
          <p:cNvSpPr txBox="1"/>
          <p:nvPr/>
        </p:nvSpPr>
        <p:spPr>
          <a:xfrm>
            <a:off x="548640" y="1325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</a:t>
            </a:r>
            <a:endParaRPr lang="en-US" sz="1100" dirty="0"/>
          </a:p>
        </p:txBody>
      </p:sp>
      <p:sp>
        <p:nvSpPr>
          <p:cNvPr id="6" name="obj193"/>
          <p:cNvSpPr/>
          <p:nvPr/>
        </p:nvSpPr>
        <p:spPr>
          <a:xfrm>
            <a:off x="2414016" y="1325880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7" name="obj194"/>
          <p:cNvSpPr txBox="1"/>
          <p:nvPr/>
        </p:nvSpPr>
        <p:spPr>
          <a:xfrm>
            <a:off x="2414016" y="13258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hacer</a:t>
            </a:r>
            <a:endParaRPr lang="en-US" sz="1100" dirty="0"/>
          </a:p>
        </p:txBody>
      </p:sp>
      <p:sp>
        <p:nvSpPr>
          <p:cNvPr id="8" name="obj195"/>
          <p:cNvSpPr/>
          <p:nvPr/>
        </p:nvSpPr>
        <p:spPr>
          <a:xfrm>
            <a:off x="3968496" y="1325880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9" name="obj196"/>
          <p:cNvSpPr txBox="1"/>
          <p:nvPr/>
        </p:nvSpPr>
        <p:spPr>
          <a:xfrm>
            <a:off x="3968496" y="13258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1100" dirty="0"/>
          </a:p>
        </p:txBody>
      </p:sp>
      <p:sp>
        <p:nvSpPr>
          <p:cNvPr id="10" name="obj197"/>
          <p:cNvSpPr/>
          <p:nvPr/>
        </p:nvSpPr>
        <p:spPr>
          <a:xfrm>
            <a:off x="5522976" y="1325880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11" name="obj198"/>
          <p:cNvSpPr txBox="1"/>
          <p:nvPr/>
        </p:nvSpPr>
        <p:spPr>
          <a:xfrm>
            <a:off x="5522976" y="13258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prueba</a:t>
            </a:r>
            <a:endParaRPr lang="en-US" sz="1100" dirty="0"/>
          </a:p>
        </p:txBody>
      </p:sp>
      <p:sp>
        <p:nvSpPr>
          <p:cNvPr id="12" name="obj199"/>
          <p:cNvSpPr/>
          <p:nvPr/>
        </p:nvSpPr>
        <p:spPr>
          <a:xfrm>
            <a:off x="7077456" y="1325880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13" name="obj200"/>
          <p:cNvSpPr txBox="1"/>
          <p:nvPr/>
        </p:nvSpPr>
        <p:spPr>
          <a:xfrm>
            <a:off x="7077456" y="13258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Terminada</a:t>
            </a:r>
            <a:endParaRPr lang="en-US" sz="1100" dirty="0"/>
          </a:p>
        </p:txBody>
      </p:sp>
      <p:sp>
        <p:nvSpPr>
          <p:cNvPr id="14" name="obj201"/>
          <p:cNvSpPr/>
          <p:nvPr/>
        </p:nvSpPr>
        <p:spPr>
          <a:xfrm>
            <a:off x="548640" y="1719072"/>
            <a:ext cx="1737360" cy="877824"/>
          </a:xfrm>
          <a:prstGeom prst="roundRect">
            <a:avLst>
              <a:gd name="adj" fmla="val 10417"/>
            </a:avLst>
          </a:prstGeom>
          <a:solidFill>
            <a:srgbClr val="F4F4F2"/>
          </a:solidFill>
          <a:ln/>
        </p:spPr>
      </p:sp>
      <p:sp>
        <p:nvSpPr>
          <p:cNvPr id="15" name="obj202"/>
          <p:cNvSpPr/>
          <p:nvPr/>
        </p:nvSpPr>
        <p:spPr>
          <a:xfrm>
            <a:off x="658368" y="184708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16" name="obj203"/>
          <p:cNvSpPr txBox="1"/>
          <p:nvPr/>
        </p:nvSpPr>
        <p:spPr>
          <a:xfrm>
            <a:off x="841248" y="17922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HU01 </a:t>
            </a:r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EP01</a:t>
            </a:r>
            <a:endParaRPr lang="en-US" sz="1100" dirty="0"/>
          </a:p>
        </p:txBody>
      </p:sp>
      <p:sp>
        <p:nvSpPr>
          <p:cNvPr id="17" name="obj204"/>
          <p:cNvSpPr txBox="1"/>
          <p:nvPr/>
        </p:nvSpPr>
        <p:spPr>
          <a:xfrm>
            <a:off x="658368" y="2048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video</a:t>
            </a:r>
            <a:endParaRPr lang="en-US" sz="1200" dirty="0"/>
          </a:p>
        </p:txBody>
      </p:sp>
      <p:sp>
        <p:nvSpPr>
          <p:cNvPr id="18" name="obj205"/>
          <p:cNvSpPr/>
          <p:nvPr/>
        </p:nvSpPr>
        <p:spPr>
          <a:xfrm>
            <a:off x="658368" y="2304288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19" name="obj206"/>
          <p:cNvSpPr txBox="1"/>
          <p:nvPr/>
        </p:nvSpPr>
        <p:spPr>
          <a:xfrm>
            <a:off x="658368" y="23042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20" name="obj207"/>
          <p:cNvSpPr/>
          <p:nvPr/>
        </p:nvSpPr>
        <p:spPr>
          <a:xfrm>
            <a:off x="1280160" y="230428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1" name="obj208"/>
          <p:cNvSpPr txBox="1"/>
          <p:nvPr/>
        </p:nvSpPr>
        <p:spPr>
          <a:xfrm>
            <a:off x="1280160" y="230428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900" dirty="0"/>
          </a:p>
        </p:txBody>
      </p:sp>
      <p:sp>
        <p:nvSpPr>
          <p:cNvPr id="22" name="obj209"/>
          <p:cNvSpPr/>
          <p:nvPr/>
        </p:nvSpPr>
        <p:spPr>
          <a:xfrm>
            <a:off x="2414016" y="1719072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23" name="obj210"/>
          <p:cNvSpPr/>
          <p:nvPr/>
        </p:nvSpPr>
        <p:spPr>
          <a:xfrm>
            <a:off x="3968496" y="1719072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24" name="obj211"/>
          <p:cNvSpPr/>
          <p:nvPr/>
        </p:nvSpPr>
        <p:spPr>
          <a:xfrm>
            <a:off x="5522976" y="1719072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25" name="obj212"/>
          <p:cNvSpPr/>
          <p:nvPr/>
        </p:nvSpPr>
        <p:spPr>
          <a:xfrm>
            <a:off x="7077456" y="1719072"/>
            <a:ext cx="1517904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26" name="obj213"/>
          <p:cNvSpPr/>
          <p:nvPr/>
        </p:nvSpPr>
        <p:spPr>
          <a:xfrm>
            <a:off x="2487168" y="1783080"/>
            <a:ext cx="1335024" cy="228600"/>
          </a:xfrm>
          <a:prstGeom prst="roundRect">
            <a:avLst>
              <a:gd name="adj" fmla="val 16000"/>
            </a:avLst>
          </a:prstGeom>
          <a:solidFill>
            <a:srgbClr val="FFE9A8"/>
          </a:solidFill>
          <a:ln/>
        </p:spPr>
      </p:sp>
      <p:sp>
        <p:nvSpPr>
          <p:cNvPr id="27" name="obj214"/>
          <p:cNvSpPr txBox="1"/>
          <p:nvPr/>
        </p:nvSpPr>
        <p:spPr>
          <a:xfrm>
            <a:off x="2560320" y="178308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carga</a:t>
            </a:r>
            <a:endParaRPr lang="en-US" sz="1000" dirty="0"/>
          </a:p>
        </p:txBody>
      </p:sp>
      <p:sp>
        <p:nvSpPr>
          <p:cNvPr id="28" name="obj215"/>
          <p:cNvSpPr/>
          <p:nvPr/>
        </p:nvSpPr>
        <p:spPr>
          <a:xfrm>
            <a:off x="2487168" y="2039112"/>
            <a:ext cx="1335024" cy="228600"/>
          </a:xfrm>
          <a:prstGeom prst="roundRect">
            <a:avLst>
              <a:gd name="adj" fmla="val 16000"/>
            </a:avLst>
          </a:prstGeom>
          <a:solidFill>
            <a:srgbClr val="FFE9A8"/>
          </a:solidFill>
          <a:ln/>
        </p:spPr>
      </p:sp>
      <p:sp>
        <p:nvSpPr>
          <p:cNvPr id="29" name="obj216"/>
          <p:cNvSpPr txBox="1"/>
          <p:nvPr/>
        </p:nvSpPr>
        <p:spPr>
          <a:xfrm>
            <a:off x="2560320" y="2039112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formato</a:t>
            </a:r>
            <a:endParaRPr lang="en-US" sz="1000" dirty="0"/>
          </a:p>
        </p:txBody>
      </p:sp>
      <p:sp>
        <p:nvSpPr>
          <p:cNvPr id="30" name="obj217"/>
          <p:cNvSpPr/>
          <p:nvPr/>
        </p:nvSpPr>
        <p:spPr>
          <a:xfrm>
            <a:off x="2487168" y="2295144"/>
            <a:ext cx="1335024" cy="228600"/>
          </a:xfrm>
          <a:prstGeom prst="roundRect">
            <a:avLst>
              <a:gd name="adj" fmla="val 16000"/>
            </a:avLst>
          </a:prstGeom>
          <a:solidFill>
            <a:srgbClr val="FFE9A8"/>
          </a:solidFill>
          <a:ln/>
        </p:spPr>
      </p:sp>
      <p:sp>
        <p:nvSpPr>
          <p:cNvPr id="31" name="obj218"/>
          <p:cNvSpPr txBox="1"/>
          <p:nvPr/>
        </p:nvSpPr>
        <p:spPr>
          <a:xfrm>
            <a:off x="2560320" y="2295144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datos del video</a:t>
            </a:r>
            <a:endParaRPr lang="en-US" sz="1000" dirty="0"/>
          </a:p>
        </p:txBody>
      </p:sp>
      <p:sp>
        <p:nvSpPr>
          <p:cNvPr id="32" name="obj219"/>
          <p:cNvSpPr/>
          <p:nvPr/>
        </p:nvSpPr>
        <p:spPr>
          <a:xfrm>
            <a:off x="548640" y="2688336"/>
            <a:ext cx="1737360" cy="877824"/>
          </a:xfrm>
          <a:prstGeom prst="roundRect">
            <a:avLst>
              <a:gd name="adj" fmla="val 10417"/>
            </a:avLst>
          </a:prstGeom>
          <a:solidFill>
            <a:srgbClr val="F4F4F2"/>
          </a:solidFill>
          <a:ln/>
        </p:spPr>
      </p:sp>
      <p:sp>
        <p:nvSpPr>
          <p:cNvPr id="33" name="obj220"/>
          <p:cNvSpPr/>
          <p:nvPr/>
        </p:nvSpPr>
        <p:spPr>
          <a:xfrm>
            <a:off x="658368" y="28163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34" name="obj221"/>
          <p:cNvSpPr txBox="1"/>
          <p:nvPr/>
        </p:nvSpPr>
        <p:spPr>
          <a:xfrm>
            <a:off x="841248" y="2761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HU02 </a:t>
            </a:r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EP01</a:t>
            </a:r>
            <a:endParaRPr lang="en-US" sz="1100" dirty="0"/>
          </a:p>
        </p:txBody>
      </p:sp>
      <p:sp>
        <p:nvSpPr>
          <p:cNvPr id="35" name="obj222"/>
          <p:cNvSpPr txBox="1"/>
          <p:nvPr/>
        </p:nvSpPr>
        <p:spPr>
          <a:xfrm>
            <a:off x="658368" y="30175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frames</a:t>
            </a:r>
            <a:endParaRPr lang="en-US" sz="1200" dirty="0"/>
          </a:p>
        </p:txBody>
      </p:sp>
      <p:sp>
        <p:nvSpPr>
          <p:cNvPr id="36" name="obj223"/>
          <p:cNvSpPr/>
          <p:nvPr/>
        </p:nvSpPr>
        <p:spPr>
          <a:xfrm>
            <a:off x="658368" y="32735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37" name="obj224"/>
          <p:cNvSpPr txBox="1"/>
          <p:nvPr/>
        </p:nvSpPr>
        <p:spPr>
          <a:xfrm>
            <a:off x="658368" y="32735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38" name="obj225"/>
          <p:cNvSpPr/>
          <p:nvPr/>
        </p:nvSpPr>
        <p:spPr>
          <a:xfrm>
            <a:off x="1280160" y="32735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39" name="obj226"/>
          <p:cNvSpPr txBox="1"/>
          <p:nvPr/>
        </p:nvSpPr>
        <p:spPr>
          <a:xfrm>
            <a:off x="1280160" y="32735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40" name="obj227"/>
          <p:cNvSpPr/>
          <p:nvPr/>
        </p:nvSpPr>
        <p:spPr>
          <a:xfrm>
            <a:off x="2414016" y="2688336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41" name="obj228"/>
          <p:cNvSpPr/>
          <p:nvPr/>
        </p:nvSpPr>
        <p:spPr>
          <a:xfrm>
            <a:off x="3968496" y="2688336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42" name="obj229"/>
          <p:cNvSpPr/>
          <p:nvPr/>
        </p:nvSpPr>
        <p:spPr>
          <a:xfrm>
            <a:off x="5522976" y="2688336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43" name="obj230"/>
          <p:cNvSpPr/>
          <p:nvPr/>
        </p:nvSpPr>
        <p:spPr>
          <a:xfrm>
            <a:off x="7077456" y="2688336"/>
            <a:ext cx="1517904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44" name="obj231"/>
          <p:cNvSpPr/>
          <p:nvPr/>
        </p:nvSpPr>
        <p:spPr>
          <a:xfrm>
            <a:off x="2487168" y="2752344"/>
            <a:ext cx="1335024" cy="228600"/>
          </a:xfrm>
          <a:prstGeom prst="roundRect">
            <a:avLst>
              <a:gd name="adj" fmla="val 16000"/>
            </a:avLst>
          </a:prstGeom>
          <a:solidFill>
            <a:srgbClr val="FFE9A8"/>
          </a:solidFill>
          <a:ln/>
        </p:spPr>
      </p:sp>
      <p:sp>
        <p:nvSpPr>
          <p:cNvPr id="45" name="obj232"/>
          <p:cNvSpPr txBox="1"/>
          <p:nvPr/>
        </p:nvSpPr>
        <p:spPr>
          <a:xfrm>
            <a:off x="2560320" y="2752344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frames</a:t>
            </a:r>
            <a:endParaRPr lang="en-US" sz="1000" dirty="0"/>
          </a:p>
        </p:txBody>
      </p:sp>
      <p:sp>
        <p:nvSpPr>
          <p:cNvPr id="46" name="obj233"/>
          <p:cNvSpPr/>
          <p:nvPr/>
        </p:nvSpPr>
        <p:spPr>
          <a:xfrm>
            <a:off x="2487168" y="3008376"/>
            <a:ext cx="1335024" cy="228600"/>
          </a:xfrm>
          <a:prstGeom prst="roundRect">
            <a:avLst>
              <a:gd name="adj" fmla="val 16000"/>
            </a:avLst>
          </a:prstGeom>
          <a:solidFill>
            <a:srgbClr val="FFE9A8"/>
          </a:solidFill>
          <a:ln/>
        </p:spPr>
      </p:sp>
      <p:sp>
        <p:nvSpPr>
          <p:cNvPr id="47" name="obj234"/>
          <p:cNvSpPr txBox="1"/>
          <p:nvPr/>
        </p:nvSpPr>
        <p:spPr>
          <a:xfrm>
            <a:off x="2560320" y="3008376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Redimensionar frames</a:t>
            </a:r>
            <a:endParaRPr lang="en-US" sz="1000" dirty="0"/>
          </a:p>
        </p:txBody>
      </p:sp>
      <p:sp>
        <p:nvSpPr>
          <p:cNvPr id="48" name="obj235"/>
          <p:cNvSpPr/>
          <p:nvPr/>
        </p:nvSpPr>
        <p:spPr>
          <a:xfrm>
            <a:off x="2487168" y="3264408"/>
            <a:ext cx="1335024" cy="228600"/>
          </a:xfrm>
          <a:prstGeom prst="roundRect">
            <a:avLst>
              <a:gd name="adj" fmla="val 16000"/>
            </a:avLst>
          </a:prstGeom>
          <a:solidFill>
            <a:srgbClr val="FFE9A8"/>
          </a:solidFill>
          <a:ln/>
        </p:spPr>
      </p:sp>
      <p:sp>
        <p:nvSpPr>
          <p:cNvPr id="49" name="obj236"/>
          <p:cNvSpPr txBox="1"/>
          <p:nvPr/>
        </p:nvSpPr>
        <p:spPr>
          <a:xfrm>
            <a:off x="2560320" y="326440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 orden</a:t>
            </a:r>
            <a:endParaRPr lang="en-US" sz="1000" dirty="0"/>
          </a:p>
        </p:txBody>
      </p:sp>
      <p:sp>
        <p:nvSpPr>
          <p:cNvPr id="50" name="obj237"/>
          <p:cNvSpPr/>
          <p:nvPr/>
        </p:nvSpPr>
        <p:spPr>
          <a:xfrm>
            <a:off x="548640" y="3657600"/>
            <a:ext cx="1737360" cy="877824"/>
          </a:xfrm>
          <a:prstGeom prst="roundRect">
            <a:avLst>
              <a:gd name="adj" fmla="val 10417"/>
            </a:avLst>
          </a:prstGeom>
          <a:solidFill>
            <a:srgbClr val="F4F4F2"/>
          </a:solidFill>
          <a:ln/>
        </p:spPr>
      </p:sp>
      <p:sp>
        <p:nvSpPr>
          <p:cNvPr id="51" name="obj238"/>
          <p:cNvSpPr/>
          <p:nvPr/>
        </p:nvSpPr>
        <p:spPr>
          <a:xfrm>
            <a:off x="658368" y="378561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</p:sp>
      <p:sp>
        <p:nvSpPr>
          <p:cNvPr id="52" name="obj239"/>
          <p:cNvSpPr txBox="1"/>
          <p:nvPr/>
        </p:nvSpPr>
        <p:spPr>
          <a:xfrm>
            <a:off x="841248" y="37307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HU03 </a:t>
            </a:r>
            <a:pPr algn="l" indent="0" marL="0">
              <a:buNone/>
            </a:pPr>
            <a:r>
              <a:rPr lang="en-US" sz="11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EP02</a:t>
            </a:r>
            <a:endParaRPr lang="en-US" sz="1100" dirty="0"/>
          </a:p>
        </p:txBody>
      </p:sp>
      <p:sp>
        <p:nvSpPr>
          <p:cNvPr id="53" name="obj240"/>
          <p:cNvSpPr txBox="1"/>
          <p:nvPr/>
        </p:nvSpPr>
        <p:spPr>
          <a:xfrm>
            <a:off x="658368" y="39867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trabajadores</a:t>
            </a:r>
            <a:endParaRPr lang="en-US" sz="1200" dirty="0"/>
          </a:p>
        </p:txBody>
      </p:sp>
      <p:sp>
        <p:nvSpPr>
          <p:cNvPr id="54" name="obj241"/>
          <p:cNvSpPr/>
          <p:nvPr/>
        </p:nvSpPr>
        <p:spPr>
          <a:xfrm>
            <a:off x="658368" y="424281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55" name="obj242"/>
          <p:cNvSpPr txBox="1"/>
          <p:nvPr/>
        </p:nvSpPr>
        <p:spPr>
          <a:xfrm>
            <a:off x="658368" y="42428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56" name="obj243"/>
          <p:cNvSpPr/>
          <p:nvPr/>
        </p:nvSpPr>
        <p:spPr>
          <a:xfrm>
            <a:off x="1280160" y="424281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7" name="obj244"/>
          <p:cNvSpPr txBox="1"/>
          <p:nvPr/>
        </p:nvSpPr>
        <p:spPr>
          <a:xfrm>
            <a:off x="1280160" y="424281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pt</a:t>
            </a:r>
            <a:endParaRPr lang="en-US" sz="900" dirty="0"/>
          </a:p>
        </p:txBody>
      </p:sp>
      <p:sp>
        <p:nvSpPr>
          <p:cNvPr id="58" name="obj245"/>
          <p:cNvSpPr/>
          <p:nvPr/>
        </p:nvSpPr>
        <p:spPr>
          <a:xfrm>
            <a:off x="2414016" y="3657600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59" name="obj246"/>
          <p:cNvSpPr/>
          <p:nvPr/>
        </p:nvSpPr>
        <p:spPr>
          <a:xfrm>
            <a:off x="3968496" y="3657600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60" name="obj247"/>
          <p:cNvSpPr/>
          <p:nvPr/>
        </p:nvSpPr>
        <p:spPr>
          <a:xfrm>
            <a:off x="5522976" y="3657600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61" name="obj248"/>
          <p:cNvSpPr/>
          <p:nvPr/>
        </p:nvSpPr>
        <p:spPr>
          <a:xfrm>
            <a:off x="7077456" y="3657600"/>
            <a:ext cx="1517904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62" name="obj249"/>
          <p:cNvSpPr/>
          <p:nvPr/>
        </p:nvSpPr>
        <p:spPr>
          <a:xfrm>
            <a:off x="2487168" y="3721608"/>
            <a:ext cx="1335024" cy="228600"/>
          </a:xfrm>
          <a:prstGeom prst="roundRect">
            <a:avLst>
              <a:gd name="adj" fmla="val 16000"/>
            </a:avLst>
          </a:prstGeom>
          <a:solidFill>
            <a:srgbClr val="FFE9A8"/>
          </a:solidFill>
          <a:ln/>
        </p:spPr>
      </p:sp>
      <p:sp>
        <p:nvSpPr>
          <p:cNvPr id="63" name="obj250"/>
          <p:cNvSpPr txBox="1"/>
          <p:nvPr/>
        </p:nvSpPr>
        <p:spPr>
          <a:xfrm>
            <a:off x="2560320" y="372160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YOLOv4</a:t>
            </a:r>
            <a:endParaRPr lang="en-US" sz="1000" dirty="0"/>
          </a:p>
        </p:txBody>
      </p:sp>
      <p:sp>
        <p:nvSpPr>
          <p:cNvPr id="64" name="obj251"/>
          <p:cNvSpPr/>
          <p:nvPr/>
        </p:nvSpPr>
        <p:spPr>
          <a:xfrm>
            <a:off x="2487168" y="3977640"/>
            <a:ext cx="1335024" cy="228600"/>
          </a:xfrm>
          <a:prstGeom prst="roundRect">
            <a:avLst>
              <a:gd name="adj" fmla="val 16000"/>
            </a:avLst>
          </a:prstGeom>
          <a:solidFill>
            <a:srgbClr val="FFE9A8"/>
          </a:solidFill>
          <a:ln/>
        </p:spPr>
      </p:sp>
      <p:sp>
        <p:nvSpPr>
          <p:cNvPr id="65" name="obj252"/>
          <p:cNvSpPr txBox="1"/>
          <p:nvPr/>
        </p:nvSpPr>
        <p:spPr>
          <a:xfrm>
            <a:off x="2560320" y="397764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personas</a:t>
            </a:r>
            <a:endParaRPr lang="en-US" sz="1000" dirty="0"/>
          </a:p>
        </p:txBody>
      </p:sp>
      <p:sp>
        <p:nvSpPr>
          <p:cNvPr id="66" name="obj253"/>
          <p:cNvSpPr/>
          <p:nvPr/>
        </p:nvSpPr>
        <p:spPr>
          <a:xfrm>
            <a:off x="2487168" y="4233672"/>
            <a:ext cx="1335024" cy="228600"/>
          </a:xfrm>
          <a:prstGeom prst="roundRect">
            <a:avLst>
              <a:gd name="adj" fmla="val 16000"/>
            </a:avLst>
          </a:prstGeom>
          <a:solidFill>
            <a:srgbClr val="FFE9A8"/>
          </a:solidFill>
          <a:ln/>
        </p:spPr>
      </p:sp>
      <p:sp>
        <p:nvSpPr>
          <p:cNvPr id="67" name="obj254"/>
          <p:cNvSpPr txBox="1"/>
          <p:nvPr/>
        </p:nvSpPr>
        <p:spPr>
          <a:xfrm>
            <a:off x="2560320" y="4233672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con 1 video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priorizamos y estimamos</a:t>
            </a:r>
            <a:endParaRPr lang="en-US" sz="3000" dirty="0"/>
          </a:p>
        </p:txBody>
      </p:sp>
      <p:sp>
        <p:nvSpPr>
          <p:cNvPr id="3" name="obj255"/>
          <p:cNvSpPr/>
          <p:nvPr/>
        </p:nvSpPr>
        <p:spPr>
          <a:xfrm>
            <a:off x="548640" y="1097280"/>
            <a:ext cx="3931920" cy="3337560"/>
          </a:xfrm>
          <a:prstGeom prst="roundRect">
            <a:avLst>
              <a:gd name="adj" fmla="val 3836"/>
            </a:avLst>
          </a:prstGeom>
          <a:solidFill>
            <a:srgbClr val="F4F4F2"/>
          </a:solidFill>
          <a:ln/>
        </p:spPr>
      </p:sp>
      <p:sp>
        <p:nvSpPr>
          <p:cNvPr id="4" name="obj256"/>
          <p:cNvSpPr txBox="1"/>
          <p:nvPr/>
        </p:nvSpPr>
        <p:spPr>
          <a:xfrm>
            <a:off x="77724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1800" dirty="0"/>
          </a:p>
        </p:txBody>
      </p:sp>
      <p:sp>
        <p:nvSpPr>
          <p:cNvPr id="5" name="obj257"/>
          <p:cNvSpPr txBox="1"/>
          <p:nvPr/>
        </p:nvSpPr>
        <p:spPr>
          <a:xfrm>
            <a:off x="777240" y="15727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+ riesgo + dependencias (SBOK 8.5), con la escala MoSCoW.</a:t>
            </a:r>
            <a:endParaRPr lang="en-US" sz="1200" dirty="0"/>
          </a:p>
        </p:txBody>
      </p:sp>
      <p:sp>
        <p:nvSpPr>
          <p:cNvPr id="6" name="obj258"/>
          <p:cNvSpPr txBox="1"/>
          <p:nvPr/>
        </p:nvSpPr>
        <p:spPr>
          <a:xfrm>
            <a:off x="777240" y="2103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7" name="obj259"/>
          <p:cNvSpPr/>
          <p:nvPr/>
        </p:nvSpPr>
        <p:spPr>
          <a:xfrm>
            <a:off x="777240" y="2761488"/>
            <a:ext cx="685800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8" name="obj260"/>
          <p:cNvSpPr txBox="1"/>
          <p:nvPr/>
        </p:nvSpPr>
        <p:spPr>
          <a:xfrm>
            <a:off x="777240" y="27614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9" name="obj261"/>
          <p:cNvSpPr txBox="1"/>
          <p:nvPr/>
        </p:nvSpPr>
        <p:spPr>
          <a:xfrm>
            <a:off x="777240" y="3017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tener</a:t>
            </a:r>
            <a:endParaRPr lang="en-US" sz="1100" dirty="0"/>
          </a:p>
        </p:txBody>
      </p:sp>
      <p:sp>
        <p:nvSpPr>
          <p:cNvPr id="10" name="obj262"/>
          <p:cNvSpPr txBox="1"/>
          <p:nvPr/>
        </p:nvSpPr>
        <p:spPr>
          <a:xfrm>
            <a:off x="1965960" y="2103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obj263"/>
          <p:cNvSpPr/>
          <p:nvPr/>
        </p:nvSpPr>
        <p:spPr>
          <a:xfrm>
            <a:off x="1965960" y="2761488"/>
            <a:ext cx="685800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12" name="obj264"/>
          <p:cNvSpPr txBox="1"/>
          <p:nvPr/>
        </p:nvSpPr>
        <p:spPr>
          <a:xfrm>
            <a:off x="1965960" y="27614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13" name="obj265"/>
          <p:cNvSpPr txBox="1"/>
          <p:nvPr/>
        </p:nvSpPr>
        <p:spPr>
          <a:xfrm>
            <a:off x="1965960" y="3017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Debería tener</a:t>
            </a:r>
            <a:endParaRPr lang="en-US" sz="1100" dirty="0"/>
          </a:p>
        </p:txBody>
      </p:sp>
      <p:sp>
        <p:nvSpPr>
          <p:cNvPr id="14" name="obj266"/>
          <p:cNvSpPr txBox="1"/>
          <p:nvPr/>
        </p:nvSpPr>
        <p:spPr>
          <a:xfrm>
            <a:off x="3154680" y="2103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obj267"/>
          <p:cNvSpPr/>
          <p:nvPr/>
        </p:nvSpPr>
        <p:spPr>
          <a:xfrm>
            <a:off x="3154680" y="2761488"/>
            <a:ext cx="685800" cy="201168"/>
          </a:xfrm>
          <a:prstGeom prst="roundRect">
            <a:avLst>
              <a:gd name="adj" fmla="val 50000"/>
            </a:avLst>
          </a:prstGeom>
          <a:solidFill>
            <a:srgbClr val="E5E5E2"/>
          </a:solidFill>
          <a:ln/>
        </p:spPr>
      </p:sp>
      <p:sp>
        <p:nvSpPr>
          <p:cNvPr id="16" name="obj268"/>
          <p:cNvSpPr txBox="1"/>
          <p:nvPr/>
        </p:nvSpPr>
        <p:spPr>
          <a:xfrm>
            <a:off x="3154680" y="27614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800" dirty="0"/>
          </a:p>
        </p:txBody>
      </p:sp>
      <p:sp>
        <p:nvSpPr>
          <p:cNvPr id="17" name="obj269"/>
          <p:cNvSpPr txBox="1"/>
          <p:nvPr/>
        </p:nvSpPr>
        <p:spPr>
          <a:xfrm>
            <a:off x="3154680" y="3017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Podría tener</a:t>
            </a:r>
            <a:endParaRPr lang="en-US" sz="1100" dirty="0"/>
          </a:p>
        </p:txBody>
      </p:sp>
      <p:sp>
        <p:nvSpPr>
          <p:cNvPr id="18" name="obj270"/>
          <p:cNvSpPr txBox="1"/>
          <p:nvPr/>
        </p:nvSpPr>
        <p:spPr>
          <a:xfrm>
            <a:off x="777240" y="34290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HU11 es Could pero entra en el Sprint 2: es pequeña y calibra el filtrado de HU03–HU04 (dependencia).</a:t>
            </a:r>
            <a:endParaRPr lang="en-US" sz="1100" dirty="0"/>
          </a:p>
        </p:txBody>
      </p:sp>
      <p:sp>
        <p:nvSpPr>
          <p:cNvPr id="19" name="obj271"/>
          <p:cNvSpPr/>
          <p:nvPr/>
        </p:nvSpPr>
        <p:spPr>
          <a:xfrm>
            <a:off x="4663440" y="1097280"/>
            <a:ext cx="3931920" cy="3337560"/>
          </a:xfrm>
          <a:prstGeom prst="roundRect">
            <a:avLst>
              <a:gd name="adj" fmla="val 3836"/>
            </a:avLst>
          </a:prstGeom>
          <a:solidFill>
            <a:srgbClr val="F4F4F2"/>
          </a:solidFill>
          <a:ln/>
        </p:spPr>
      </p:sp>
      <p:sp>
        <p:nvSpPr>
          <p:cNvPr id="20" name="obj272"/>
          <p:cNvSpPr txBox="1"/>
          <p:nvPr/>
        </p:nvSpPr>
        <p:spPr>
          <a:xfrm>
            <a:off x="489204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y plan</a:t>
            </a:r>
            <a:endParaRPr lang="en-US" sz="1800" dirty="0"/>
          </a:p>
        </p:txBody>
      </p:sp>
      <p:sp>
        <p:nvSpPr>
          <p:cNvPr id="21" name="obj273"/>
          <p:cNvSpPr txBox="1"/>
          <p:nvPr/>
        </p:nvSpPr>
        <p:spPr>
          <a:xfrm>
            <a:off x="4892040" y="15727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1–5 con el puño de cinco: votan Anthony y Luis; el PO aclara dudas.</a:t>
            </a:r>
            <a:endParaRPr lang="en-US" sz="1200" dirty="0"/>
          </a:p>
        </p:txBody>
      </p:sp>
      <p:sp>
        <p:nvSpPr>
          <p:cNvPr id="22" name="obj274"/>
          <p:cNvSpPr txBox="1"/>
          <p:nvPr/>
        </p:nvSpPr>
        <p:spPr>
          <a:xfrm>
            <a:off x="4892040" y="21031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23" name="obj275"/>
          <p:cNvSpPr/>
          <p:nvPr/>
        </p:nvSpPr>
        <p:spPr>
          <a:xfrm>
            <a:off x="5303520" y="2130552"/>
            <a:ext cx="2400300" cy="182880"/>
          </a:xfrm>
          <a:prstGeom prst="roundRect">
            <a:avLst>
              <a:gd name="adj" fmla="val 20000"/>
            </a:avLst>
          </a:prstGeom>
          <a:solidFill>
            <a:srgbClr val="F2643D"/>
          </a:solidFill>
          <a:ln/>
        </p:spPr>
      </p:sp>
      <p:sp>
        <p:nvSpPr>
          <p:cNvPr id="24" name="obj276"/>
          <p:cNvSpPr txBox="1"/>
          <p:nvPr/>
        </p:nvSpPr>
        <p:spPr>
          <a:xfrm>
            <a:off x="7776972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pts</a:t>
            </a:r>
            <a:endParaRPr lang="en-US" sz="1100" dirty="0"/>
          </a:p>
        </p:txBody>
      </p:sp>
      <p:sp>
        <p:nvSpPr>
          <p:cNvPr id="25" name="obj277"/>
          <p:cNvSpPr txBox="1"/>
          <p:nvPr/>
        </p:nvSpPr>
        <p:spPr>
          <a:xfrm>
            <a:off x="5303520" y="23408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19/10 – 01/11 · HU01 · HU02 · HU03</a:t>
            </a:r>
            <a:endParaRPr lang="en-US" sz="1000" dirty="0"/>
          </a:p>
        </p:txBody>
      </p:sp>
      <p:sp>
        <p:nvSpPr>
          <p:cNvPr id="26" name="obj278"/>
          <p:cNvSpPr txBox="1"/>
          <p:nvPr/>
        </p:nvSpPr>
        <p:spPr>
          <a:xfrm>
            <a:off x="4892040" y="26334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27" name="obj279"/>
          <p:cNvSpPr/>
          <p:nvPr/>
        </p:nvSpPr>
        <p:spPr>
          <a:xfrm>
            <a:off x="5303520" y="2660904"/>
            <a:ext cx="2743200" cy="182880"/>
          </a:xfrm>
          <a:prstGeom prst="roundRect">
            <a:avLst>
              <a:gd name="adj" fmla="val 20000"/>
            </a:avLst>
          </a:prstGeom>
          <a:solidFill>
            <a:srgbClr val="F2643D"/>
          </a:solidFill>
          <a:ln/>
        </p:spPr>
      </p:sp>
      <p:sp>
        <p:nvSpPr>
          <p:cNvPr id="28" name="obj280"/>
          <p:cNvSpPr txBox="1"/>
          <p:nvPr/>
        </p:nvSpPr>
        <p:spPr>
          <a:xfrm>
            <a:off x="8119872" y="2633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</a:t>
            </a:r>
            <a:endParaRPr lang="en-US" sz="1100" dirty="0"/>
          </a:p>
        </p:txBody>
      </p:sp>
      <p:sp>
        <p:nvSpPr>
          <p:cNvPr id="29" name="obj281"/>
          <p:cNvSpPr txBox="1"/>
          <p:nvPr/>
        </p:nvSpPr>
        <p:spPr>
          <a:xfrm>
            <a:off x="5303520" y="28712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02/11 – 15/11 · HU04 · HU05 · HU06 · HU11</a:t>
            </a:r>
            <a:endParaRPr lang="en-US" sz="1000" dirty="0"/>
          </a:p>
        </p:txBody>
      </p:sp>
      <p:sp>
        <p:nvSpPr>
          <p:cNvPr id="30" name="obj282"/>
          <p:cNvSpPr txBox="1"/>
          <p:nvPr/>
        </p:nvSpPr>
        <p:spPr>
          <a:xfrm>
            <a:off x="4892040" y="316382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31" name="obj283"/>
          <p:cNvSpPr/>
          <p:nvPr/>
        </p:nvSpPr>
        <p:spPr>
          <a:xfrm>
            <a:off x="5303520" y="3191256"/>
            <a:ext cx="2743200" cy="182880"/>
          </a:xfrm>
          <a:prstGeom prst="roundRect">
            <a:avLst>
              <a:gd name="adj" fmla="val 20000"/>
            </a:avLst>
          </a:prstGeom>
          <a:solidFill>
            <a:srgbClr val="F2643D"/>
          </a:solidFill>
          <a:ln/>
        </p:spPr>
      </p:sp>
      <p:sp>
        <p:nvSpPr>
          <p:cNvPr id="32" name="obj284"/>
          <p:cNvSpPr txBox="1"/>
          <p:nvPr/>
        </p:nvSpPr>
        <p:spPr>
          <a:xfrm>
            <a:off x="8119872" y="316382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</a:t>
            </a:r>
            <a:endParaRPr lang="en-US" sz="1100" dirty="0"/>
          </a:p>
        </p:txBody>
      </p:sp>
      <p:sp>
        <p:nvSpPr>
          <p:cNvPr id="33" name="obj285"/>
          <p:cNvSpPr txBox="1"/>
          <p:nvPr/>
        </p:nvSpPr>
        <p:spPr>
          <a:xfrm>
            <a:off x="5303520" y="34015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16/11 – 29/11 · HU07 · HU08</a:t>
            </a:r>
            <a:endParaRPr lang="en-US" sz="1000" dirty="0"/>
          </a:p>
        </p:txBody>
      </p:sp>
      <p:sp>
        <p:nvSpPr>
          <p:cNvPr id="34" name="obj286"/>
          <p:cNvSpPr txBox="1"/>
          <p:nvPr/>
        </p:nvSpPr>
        <p:spPr>
          <a:xfrm>
            <a:off x="4892040" y="369417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200" dirty="0"/>
          </a:p>
        </p:txBody>
      </p:sp>
      <p:sp>
        <p:nvSpPr>
          <p:cNvPr id="35" name="obj287"/>
          <p:cNvSpPr/>
          <p:nvPr/>
        </p:nvSpPr>
        <p:spPr>
          <a:xfrm>
            <a:off x="5303520" y="3721608"/>
            <a:ext cx="2743200" cy="182880"/>
          </a:xfrm>
          <a:prstGeom prst="roundRect">
            <a:avLst>
              <a:gd name="adj" fmla="val 20000"/>
            </a:avLst>
          </a:prstGeom>
          <a:solidFill>
            <a:srgbClr val="F2643D"/>
          </a:solidFill>
          <a:ln/>
        </p:spPr>
      </p:sp>
      <p:sp>
        <p:nvSpPr>
          <p:cNvPr id="36" name="obj288"/>
          <p:cNvSpPr txBox="1"/>
          <p:nvPr/>
        </p:nvSpPr>
        <p:spPr>
          <a:xfrm>
            <a:off x="8119872" y="36941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</a:t>
            </a:r>
            <a:endParaRPr lang="en-US" sz="1100" dirty="0"/>
          </a:p>
        </p:txBody>
      </p:sp>
      <p:sp>
        <p:nvSpPr>
          <p:cNvPr id="37" name="obj289"/>
          <p:cNvSpPr txBox="1"/>
          <p:nvPr/>
        </p:nvSpPr>
        <p:spPr>
          <a:xfrm>
            <a:off x="5303520" y="39319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30/11 – 11/12 · HU09 · HU10 · HU12</a:t>
            </a:r>
            <a:endParaRPr lang="en-US" sz="1000" dirty="0"/>
          </a:p>
        </p:txBody>
      </p:sp>
      <p:sp>
        <p:nvSpPr>
          <p:cNvPr id="38" name="obj290"/>
          <p:cNvSpPr txBox="1"/>
          <p:nvPr/>
        </p:nvSpPr>
        <p:spPr>
          <a:xfrm>
            <a:off x="4892040" y="41879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31 puntos · unos 8 por sprint</a:t>
            </a:r>
            <a:endParaRPr lang="en-US" sz="1100" dirty="0"/>
          </a:p>
        </p:txBody>
      </p:sp>
      <p:sp>
        <p:nvSpPr>
          <p:cNvPr id="39" name="obj291"/>
          <p:cNvSpPr txBox="1"/>
          <p:nvPr/>
        </p:nvSpPr>
        <p:spPr>
          <a:xfrm>
            <a:off x="548640" y="452628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 (por historia) ≠ Definición de terminado (común a todas, FGAP070)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Tablero Kanban de NewBit</dc:title>
  <dc:subject>PptxGenJS Presentation</dc:subject>
  <dc:creator>Grupo D3 (Laboratorio D · Equipo 3)</dc:creator>
  <cp:lastModifiedBy>Grupo D3 (Laboratorio D · Equipo 3)</cp:lastModifiedBy>
  <cp:revision>1</cp:revision>
  <dcterms:created xsi:type="dcterms:W3CDTF">2026-10-12T22:27:39Z</dcterms:created>
  <dcterms:modified xsi:type="dcterms:W3CDTF">2026-10-12T22:27:39Z</dcterms:modified>
</cp:coreProperties>
</file>