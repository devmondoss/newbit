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Presenta al Grupo D3 y el tema: el tablero de NewBit con las historias de usuario, sus criterios de aceptación, prioridad y estimación, siguiendo la Guía del SBOK (8.5 backlog priorizado, 9.1–9.2 historias y estimación, 9.3.3 Scrumboard).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Las 12 historias del FGAP040 ordenadas por prioridad: MoSCoW, los 100 puntos y las dependencias (SBOK 8.5; ver la actividad de priorización). Cada una tiene su prioridad MoSCoW, su estimación en puntos y el sprint donde entra. Total 31 puntos en 4 sprints. La prioridad salió de MoSCoW y los 100 puntos; la estimación, del puño de cinco.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Cada tarjeta es una historia: código y épica, prioridad y puntos arriba; la historia en formato «Como…, quiero…, para…»; y abajo sus criterios de aceptación, que son verificables. Aquí las épicas EP01 a EP03: ingestión, filtrado con YOLOv4 y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Épicas EP04 a EP06: clasificación con ConvLSTM, la interfaz con la alerta y la administración. En HU08 el criterio es reportar las métricas, no alcanzar una cifra: no afirmamos resultados que aún no tenemos.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Es el Scrumboard de la Guía del SBOK (9.3.3, fig. 9-10): cada fila es una historia comprometida en el Sprint 1 y sus tareas son notas que avanzan de Por hacer a Terminada. Hoy, antes de empezar el sprint, todas están en Por hacer. La columna «En prueba» es la variante del libro para tareas terminadas que aún se están verificando.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Prioridad: el PO ordena por valor, riesgo y dependencias; usamos MoSCoW: 8 Must, 3 Should y 1 Could. Estimación: los developers votan con el puño de cinco (1 = muy pequeña, 5 = muy grande). Total 31 puntos repartidos en 4 sprints de unos 8 puntos. Cierre: los criterios de aceptación son por historia; la definición de terminado (FGAP070) es común a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· NewBit · Grupo D3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BACKLOG Y SCRUMBOARD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</a:t>
            </a:r>
            <a:endParaRPr lang="en-US" sz="50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de NewBit con criterios de aceptación, prioridad y estimación</a:t>
            </a:r>
            <a:endParaRPr lang="en-US" sz="1900" dirty="0"/>
          </a:p>
        </p:txBody>
      </p:sp>
      <p:sp>
        <p:nvSpPr>
          <p:cNvPr id="5" name="obj4"/>
          <p:cNvSpPr txBox="1"/>
          <p:nvPr/>
        </p:nvSpPr>
        <p:spPr>
          <a:xfrm>
            <a:off x="58064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900" dirty="0"/>
          </a:p>
        </p:txBody>
      </p:sp>
      <p:sp>
        <p:nvSpPr>
          <p:cNvPr id="6" name="obj5"/>
          <p:cNvSpPr/>
          <p:nvPr/>
        </p:nvSpPr>
        <p:spPr>
          <a:xfrm>
            <a:off x="58064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7" name="obj6"/>
          <p:cNvSpPr/>
          <p:nvPr/>
        </p:nvSpPr>
        <p:spPr>
          <a:xfrm>
            <a:off x="58978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8" name="obj7"/>
          <p:cNvSpPr/>
          <p:nvPr/>
        </p:nvSpPr>
        <p:spPr>
          <a:xfrm>
            <a:off x="5897880" y="17556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9" name="obj8"/>
          <p:cNvSpPr/>
          <p:nvPr/>
        </p:nvSpPr>
        <p:spPr>
          <a:xfrm>
            <a:off x="5897880" y="22128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0" name="obj9"/>
          <p:cNvSpPr txBox="1"/>
          <p:nvPr/>
        </p:nvSpPr>
        <p:spPr>
          <a:xfrm>
            <a:off x="67208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11" name="obj10"/>
          <p:cNvSpPr/>
          <p:nvPr/>
        </p:nvSpPr>
        <p:spPr>
          <a:xfrm>
            <a:off x="67208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12" name="obj11"/>
          <p:cNvSpPr/>
          <p:nvPr/>
        </p:nvSpPr>
        <p:spPr>
          <a:xfrm>
            <a:off x="68122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F2643D"/>
          </a:solidFill>
          <a:ln/>
        </p:spPr>
      </p:sp>
      <p:sp>
        <p:nvSpPr>
          <p:cNvPr id="13" name="obj12"/>
          <p:cNvSpPr/>
          <p:nvPr/>
        </p:nvSpPr>
        <p:spPr>
          <a:xfrm>
            <a:off x="6812280" y="17556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4" name="obj13"/>
          <p:cNvSpPr txBox="1"/>
          <p:nvPr/>
        </p:nvSpPr>
        <p:spPr>
          <a:xfrm>
            <a:off x="76352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900" dirty="0"/>
          </a:p>
        </p:txBody>
      </p:sp>
      <p:sp>
        <p:nvSpPr>
          <p:cNvPr id="15" name="obj14"/>
          <p:cNvSpPr/>
          <p:nvPr/>
        </p:nvSpPr>
        <p:spPr>
          <a:xfrm>
            <a:off x="76352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16" name="obj15"/>
          <p:cNvSpPr/>
          <p:nvPr/>
        </p:nvSpPr>
        <p:spPr>
          <a:xfrm>
            <a:off x="77266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7" name="obj16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8" name="obj17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9" name="obj18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20" name="obj19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21" name="obj20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22" name="obj21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3" name="obj22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obj23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25" name="obj24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6" name="obj25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7" name="obj26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8" name="obj27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9" name="obj28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0" name="obj29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priorizado</a:t>
            </a:r>
            <a:endParaRPr lang="en-US" sz="3000" dirty="0"/>
          </a:p>
        </p:txBody>
      </p:sp>
      <p:sp>
        <p:nvSpPr>
          <p:cNvPr id="3" name="obj30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historias · 31 puntos · 4 sprints de 2 semanas · priorizado con MoSCoW y 100 puntos · estimado con el puño de cinco</a:t>
            </a:r>
            <a:endParaRPr lang="en-US" sz="1200" dirty="0"/>
          </a:p>
        </p:txBody>
      </p:sp>
      <p:graphicFrame>
        <p:nvGraphicFramePr>
          <p:cNvPr id="3" name="obj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94360"/>
                <a:gridCol w="2514600"/>
                <a:gridCol w="2057400"/>
                <a:gridCol w="914400"/>
                <a:gridCol w="54864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 · Ingestión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Extraer frames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 · Ingestión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operarios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EP02 · Detección YOLOv8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frames vacíos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EP02 · Detección YOLOv8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en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EP03 · Reducción y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 con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EP04 · Clasificación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Clasificar y tipificar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EP04 · Clasificación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video con recuadro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EP05 · Monitoreo y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de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EP05 · Monitoreo y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log de tiempos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 · Calibración y métricas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clips cortos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EP03 · Reducción y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umbral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 · Calibración y métricas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(1/2)</a:t>
            </a:r>
            <a:endParaRPr lang="en-US" sz="3000" dirty="0"/>
          </a:p>
        </p:txBody>
      </p:sp>
      <p:sp>
        <p:nvSpPr>
          <p:cNvPr id="3" name="obj32"/>
          <p:cNvSpPr txBox="1"/>
          <p:nvPr/>
        </p:nvSpPr>
        <p:spPr>
          <a:xfrm>
            <a:off x="548640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con sus criterios de aceptación: los define el PO y son los que se revisan al aceptar o rechazar la historia.</a:t>
            </a:r>
            <a:endParaRPr lang="en-US" sz="1100" dirty="0"/>
          </a:p>
        </p:txBody>
      </p:sp>
      <p:sp>
        <p:nvSpPr>
          <p:cNvPr id="4" name="obj33"/>
          <p:cNvSpPr/>
          <p:nvPr/>
        </p:nvSpPr>
        <p:spPr>
          <a:xfrm>
            <a:off x="5486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" name="obj34"/>
          <p:cNvSpPr/>
          <p:nvPr/>
        </p:nvSpPr>
        <p:spPr>
          <a:xfrm>
            <a:off x="6949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6" name="obj35"/>
          <p:cNvSpPr txBox="1"/>
          <p:nvPr/>
        </p:nvSpPr>
        <p:spPr>
          <a:xfrm>
            <a:off x="8961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7" name="obj36"/>
          <p:cNvSpPr/>
          <p:nvPr/>
        </p:nvSpPr>
        <p:spPr>
          <a:xfrm>
            <a:off x="19385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37"/>
          <p:cNvSpPr txBox="1"/>
          <p:nvPr/>
        </p:nvSpPr>
        <p:spPr>
          <a:xfrm>
            <a:off x="19385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38"/>
          <p:cNvSpPr/>
          <p:nvPr/>
        </p:nvSpPr>
        <p:spPr>
          <a:xfrm>
            <a:off x="25603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39"/>
          <p:cNvSpPr txBox="1"/>
          <p:nvPr/>
        </p:nvSpPr>
        <p:spPr>
          <a:xfrm>
            <a:off x="25603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11" name="obj40"/>
          <p:cNvSpPr txBox="1"/>
          <p:nvPr/>
        </p:nvSpPr>
        <p:spPr>
          <a:xfrm>
            <a:off x="6949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200" dirty="0"/>
          </a:p>
        </p:txBody>
      </p:sp>
      <p:sp>
        <p:nvSpPr>
          <p:cNvPr id="12" name="obj41"/>
          <p:cNvSpPr txBox="1"/>
          <p:nvPr/>
        </p:nvSpPr>
        <p:spPr>
          <a:xfrm>
            <a:off x="6949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cargar un video (.mp4/.avi), para iniciar el procesamiento.</a:t>
            </a:r>
            <a:endParaRPr lang="en-US" sz="1000" dirty="0"/>
          </a:p>
        </p:txBody>
      </p:sp>
      <p:sp>
        <p:nvSpPr>
          <p:cNvPr id="13" name="obj42"/>
          <p:cNvSpPr/>
          <p:nvPr/>
        </p:nvSpPr>
        <p:spPr>
          <a:xfrm>
            <a:off x="7132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4" name="obj43"/>
          <p:cNvSpPr txBox="1"/>
          <p:nvPr/>
        </p:nvSpPr>
        <p:spPr>
          <a:xfrm>
            <a:off x="8412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.mp4 y .avi; otro formato muestra un mensaje de error.</a:t>
            </a:r>
            <a:endParaRPr lang="en-US" sz="1000" dirty="0"/>
          </a:p>
        </p:txBody>
      </p:sp>
      <p:sp>
        <p:nvSpPr>
          <p:cNvPr id="15" name="obj44"/>
          <p:cNvSpPr/>
          <p:nvPr/>
        </p:nvSpPr>
        <p:spPr>
          <a:xfrm>
            <a:off x="7132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6" name="obj45"/>
          <p:cNvSpPr txBox="1"/>
          <p:nvPr/>
        </p:nvSpPr>
        <p:spPr>
          <a:xfrm>
            <a:off x="8412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nombre, duración y resolución del video cargado.</a:t>
            </a:r>
            <a:endParaRPr lang="en-US" sz="1000" dirty="0"/>
          </a:p>
        </p:txBody>
      </p:sp>
      <p:sp>
        <p:nvSpPr>
          <p:cNvPr id="17" name="obj46"/>
          <p:cNvSpPr/>
          <p:nvPr/>
        </p:nvSpPr>
        <p:spPr>
          <a:xfrm>
            <a:off x="32918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18" name="obj47"/>
          <p:cNvSpPr/>
          <p:nvPr/>
        </p:nvSpPr>
        <p:spPr>
          <a:xfrm>
            <a:off x="34381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9" name="obj48"/>
          <p:cNvSpPr txBox="1"/>
          <p:nvPr/>
        </p:nvSpPr>
        <p:spPr>
          <a:xfrm>
            <a:off x="36393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20" name="obj49"/>
          <p:cNvSpPr/>
          <p:nvPr/>
        </p:nvSpPr>
        <p:spPr>
          <a:xfrm>
            <a:off x="46817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1" name="obj50"/>
          <p:cNvSpPr txBox="1"/>
          <p:nvPr/>
        </p:nvSpPr>
        <p:spPr>
          <a:xfrm>
            <a:off x="46817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2" name="obj51"/>
          <p:cNvSpPr/>
          <p:nvPr/>
        </p:nvSpPr>
        <p:spPr>
          <a:xfrm>
            <a:off x="53035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3" name="obj52"/>
          <p:cNvSpPr txBox="1"/>
          <p:nvPr/>
        </p:nvSpPr>
        <p:spPr>
          <a:xfrm>
            <a:off x="53035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24" name="obj53"/>
          <p:cNvSpPr txBox="1"/>
          <p:nvPr/>
        </p:nvSpPr>
        <p:spPr>
          <a:xfrm>
            <a:off x="34381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200" dirty="0"/>
          </a:p>
        </p:txBody>
      </p:sp>
      <p:sp>
        <p:nvSpPr>
          <p:cNvPr id="25" name="obj54"/>
          <p:cNvSpPr txBox="1"/>
          <p:nvPr/>
        </p:nvSpPr>
        <p:spPr>
          <a:xfrm>
            <a:off x="34381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fragmentar el video en frames, para la inferencia espacial.</a:t>
            </a:r>
            <a:endParaRPr lang="en-US" sz="1000" dirty="0"/>
          </a:p>
        </p:txBody>
      </p:sp>
      <p:sp>
        <p:nvSpPr>
          <p:cNvPr id="26" name="obj55"/>
          <p:cNvSpPr/>
          <p:nvPr/>
        </p:nvSpPr>
        <p:spPr>
          <a:xfrm>
            <a:off x="34564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56"/>
          <p:cNvSpPr txBox="1"/>
          <p:nvPr/>
        </p:nvSpPr>
        <p:spPr>
          <a:xfrm>
            <a:off x="35844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frames numerados y en el orden del video.</a:t>
            </a:r>
            <a:endParaRPr lang="en-US" sz="1000" dirty="0"/>
          </a:p>
        </p:txBody>
      </p:sp>
      <p:sp>
        <p:nvSpPr>
          <p:cNvPr id="28" name="obj57"/>
          <p:cNvSpPr/>
          <p:nvPr/>
        </p:nvSpPr>
        <p:spPr>
          <a:xfrm>
            <a:off x="34564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9" name="obj58"/>
          <p:cNvSpPr txBox="1"/>
          <p:nvPr/>
        </p:nvSpPr>
        <p:spPr>
          <a:xfrm>
            <a:off x="35844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normaliza al tamaño de entrada del detector espacial.</a:t>
            </a:r>
            <a:endParaRPr lang="en-US" sz="1000" dirty="0"/>
          </a:p>
        </p:txBody>
      </p:sp>
      <p:sp>
        <p:nvSpPr>
          <p:cNvPr id="30" name="obj59"/>
          <p:cNvSpPr/>
          <p:nvPr/>
        </p:nvSpPr>
        <p:spPr>
          <a:xfrm>
            <a:off x="60350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31" name="obj60"/>
          <p:cNvSpPr/>
          <p:nvPr/>
        </p:nvSpPr>
        <p:spPr>
          <a:xfrm>
            <a:off x="61813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32" name="obj61"/>
          <p:cNvSpPr txBox="1"/>
          <p:nvPr/>
        </p:nvSpPr>
        <p:spPr>
          <a:xfrm>
            <a:off x="63825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33" name="obj62"/>
          <p:cNvSpPr/>
          <p:nvPr/>
        </p:nvSpPr>
        <p:spPr>
          <a:xfrm>
            <a:off x="74249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4" name="obj63"/>
          <p:cNvSpPr txBox="1"/>
          <p:nvPr/>
        </p:nvSpPr>
        <p:spPr>
          <a:xfrm>
            <a:off x="74249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5" name="obj64"/>
          <p:cNvSpPr/>
          <p:nvPr/>
        </p:nvSpPr>
        <p:spPr>
          <a:xfrm>
            <a:off x="80467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6" name="obj65"/>
          <p:cNvSpPr txBox="1"/>
          <p:nvPr/>
        </p:nvSpPr>
        <p:spPr>
          <a:xfrm>
            <a:off x="80467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37" name="obj66"/>
          <p:cNvSpPr txBox="1"/>
          <p:nvPr/>
        </p:nvSpPr>
        <p:spPr>
          <a:xfrm>
            <a:off x="61813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200" dirty="0"/>
          </a:p>
        </p:txBody>
      </p:sp>
      <p:sp>
        <p:nvSpPr>
          <p:cNvPr id="38" name="obj67"/>
          <p:cNvSpPr txBox="1"/>
          <p:nvPr/>
        </p:nvSpPr>
        <p:spPr>
          <a:xfrm>
            <a:off x="61813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que YOLOv8 detecte operarios, para ubicar la actividad.</a:t>
            </a:r>
            <a:endParaRPr lang="en-US" sz="1000" dirty="0"/>
          </a:p>
        </p:txBody>
      </p:sp>
      <p:sp>
        <p:nvSpPr>
          <p:cNvPr id="39" name="obj68"/>
          <p:cNvSpPr/>
          <p:nvPr/>
        </p:nvSpPr>
        <p:spPr>
          <a:xfrm>
            <a:off x="61996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0" name="obj69"/>
          <p:cNvSpPr txBox="1"/>
          <p:nvPr/>
        </p:nvSpPr>
        <p:spPr>
          <a:xfrm>
            <a:off x="63276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por frame las cajas de «persona» con su confianza.</a:t>
            </a:r>
            <a:endParaRPr lang="en-US" sz="1000" dirty="0"/>
          </a:p>
        </p:txBody>
      </p:sp>
      <p:sp>
        <p:nvSpPr>
          <p:cNvPr id="41" name="obj70"/>
          <p:cNvSpPr/>
          <p:nvPr/>
        </p:nvSpPr>
        <p:spPr>
          <a:xfrm>
            <a:off x="61996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2" name="obj71"/>
          <p:cNvSpPr txBox="1"/>
          <p:nvPr/>
        </p:nvSpPr>
        <p:spPr>
          <a:xfrm>
            <a:off x="63276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 de prueba se ve con las cajas dibujadas.</a:t>
            </a:r>
            <a:endParaRPr lang="en-US" sz="1000" dirty="0"/>
          </a:p>
        </p:txBody>
      </p:sp>
      <p:sp>
        <p:nvSpPr>
          <p:cNvPr id="43" name="obj72"/>
          <p:cNvSpPr/>
          <p:nvPr/>
        </p:nvSpPr>
        <p:spPr>
          <a:xfrm>
            <a:off x="5486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44" name="obj73"/>
          <p:cNvSpPr/>
          <p:nvPr/>
        </p:nvSpPr>
        <p:spPr>
          <a:xfrm>
            <a:off x="6949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45" name="obj74"/>
          <p:cNvSpPr txBox="1"/>
          <p:nvPr/>
        </p:nvSpPr>
        <p:spPr>
          <a:xfrm>
            <a:off x="8961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46" name="obj75"/>
          <p:cNvSpPr/>
          <p:nvPr/>
        </p:nvSpPr>
        <p:spPr>
          <a:xfrm>
            <a:off x="19385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47" name="obj76"/>
          <p:cNvSpPr txBox="1"/>
          <p:nvPr/>
        </p:nvSpPr>
        <p:spPr>
          <a:xfrm>
            <a:off x="19385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48" name="obj77"/>
          <p:cNvSpPr/>
          <p:nvPr/>
        </p:nvSpPr>
        <p:spPr>
          <a:xfrm>
            <a:off x="25603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9" name="obj78"/>
          <p:cNvSpPr txBox="1"/>
          <p:nvPr/>
        </p:nvSpPr>
        <p:spPr>
          <a:xfrm>
            <a:off x="25603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0" name="obj79"/>
          <p:cNvSpPr txBox="1"/>
          <p:nvPr/>
        </p:nvSpPr>
        <p:spPr>
          <a:xfrm>
            <a:off x="6949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200" dirty="0"/>
          </a:p>
        </p:txBody>
      </p:sp>
      <p:sp>
        <p:nvSpPr>
          <p:cNvPr id="51" name="obj80"/>
          <p:cNvSpPr txBox="1"/>
          <p:nvPr/>
        </p:nvSpPr>
        <p:spPr>
          <a:xfrm>
            <a:off x="6949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descartar frames sin trabajadores, para optimizar el cómputo.</a:t>
            </a:r>
            <a:endParaRPr lang="en-US" sz="1000" dirty="0"/>
          </a:p>
        </p:txBody>
      </p:sp>
      <p:sp>
        <p:nvSpPr>
          <p:cNvPr id="52" name="obj81"/>
          <p:cNvSpPr/>
          <p:nvPr/>
        </p:nvSpPr>
        <p:spPr>
          <a:xfrm>
            <a:off x="7132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3" name="obj82"/>
          <p:cNvSpPr txBox="1"/>
          <p:nvPr/>
        </p:nvSpPr>
        <p:spPr>
          <a:xfrm>
            <a:off x="8412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frames sin personas no pasan a la siguiente etapa.</a:t>
            </a:r>
            <a:endParaRPr lang="en-US" sz="1000" dirty="0"/>
          </a:p>
        </p:txBody>
      </p:sp>
      <p:sp>
        <p:nvSpPr>
          <p:cNvPr id="54" name="obj83"/>
          <p:cNvSpPr/>
          <p:nvPr/>
        </p:nvSpPr>
        <p:spPr>
          <a:xfrm>
            <a:off x="7132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5" name="obj84"/>
          <p:cNvSpPr txBox="1"/>
          <p:nvPr/>
        </p:nvSpPr>
        <p:spPr>
          <a:xfrm>
            <a:off x="8412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cuántos frames entraron y cuántos se descartaron.</a:t>
            </a:r>
            <a:endParaRPr lang="en-US" sz="1000" dirty="0"/>
          </a:p>
        </p:txBody>
      </p:sp>
      <p:sp>
        <p:nvSpPr>
          <p:cNvPr id="56" name="obj85"/>
          <p:cNvSpPr/>
          <p:nvPr/>
        </p:nvSpPr>
        <p:spPr>
          <a:xfrm>
            <a:off x="32918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7" name="obj86"/>
          <p:cNvSpPr/>
          <p:nvPr/>
        </p:nvSpPr>
        <p:spPr>
          <a:xfrm>
            <a:off x="34381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8" name="obj87"/>
          <p:cNvSpPr txBox="1"/>
          <p:nvPr/>
        </p:nvSpPr>
        <p:spPr>
          <a:xfrm>
            <a:off x="36393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59" name="obj88"/>
          <p:cNvSpPr/>
          <p:nvPr/>
        </p:nvSpPr>
        <p:spPr>
          <a:xfrm>
            <a:off x="46817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0" name="obj89"/>
          <p:cNvSpPr txBox="1"/>
          <p:nvPr/>
        </p:nvSpPr>
        <p:spPr>
          <a:xfrm>
            <a:off x="46817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61" name="obj90"/>
          <p:cNvSpPr/>
          <p:nvPr/>
        </p:nvSpPr>
        <p:spPr>
          <a:xfrm>
            <a:off x="53035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2" name="obj91"/>
          <p:cNvSpPr txBox="1"/>
          <p:nvPr/>
        </p:nvSpPr>
        <p:spPr>
          <a:xfrm>
            <a:off x="53035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63" name="obj92"/>
          <p:cNvSpPr txBox="1"/>
          <p:nvPr/>
        </p:nvSpPr>
        <p:spPr>
          <a:xfrm>
            <a:off x="34381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200" dirty="0"/>
          </a:p>
        </p:txBody>
      </p:sp>
      <p:sp>
        <p:nvSpPr>
          <p:cNvPr id="64" name="obj93"/>
          <p:cNvSpPr txBox="1"/>
          <p:nvPr/>
        </p:nvSpPr>
        <p:spPr>
          <a:xfrm>
            <a:off x="34381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agrupar los frames en clips fijos, para la red temporal.</a:t>
            </a:r>
            <a:endParaRPr lang="en-US" sz="1000" dirty="0"/>
          </a:p>
        </p:txBody>
      </p:sp>
      <p:sp>
        <p:nvSpPr>
          <p:cNvPr id="65" name="obj94"/>
          <p:cNvSpPr/>
          <p:nvPr/>
        </p:nvSpPr>
        <p:spPr>
          <a:xfrm>
            <a:off x="34564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6" name="obj95"/>
          <p:cNvSpPr txBox="1"/>
          <p:nvPr/>
        </p:nvSpPr>
        <p:spPr>
          <a:xfrm>
            <a:off x="35844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clips tienen N frames consecutivos (N configurable).</a:t>
            </a:r>
            <a:endParaRPr lang="en-US" sz="1000" dirty="0"/>
          </a:p>
        </p:txBody>
      </p:sp>
      <p:sp>
        <p:nvSpPr>
          <p:cNvPr id="67" name="obj96"/>
          <p:cNvSpPr/>
          <p:nvPr/>
        </p:nvSpPr>
        <p:spPr>
          <a:xfrm>
            <a:off x="34564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8" name="obj97"/>
          <p:cNvSpPr txBox="1"/>
          <p:nvPr/>
        </p:nvSpPr>
        <p:spPr>
          <a:xfrm>
            <a:off x="35844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tiene la forma de entrada que espera ConvLSTM.</a:t>
            </a:r>
            <a:endParaRPr lang="en-US" sz="1000" dirty="0"/>
          </a:p>
        </p:txBody>
      </p:sp>
      <p:sp>
        <p:nvSpPr>
          <p:cNvPr id="69" name="obj98"/>
          <p:cNvSpPr/>
          <p:nvPr/>
        </p:nvSpPr>
        <p:spPr>
          <a:xfrm>
            <a:off x="60350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70" name="obj99"/>
          <p:cNvSpPr/>
          <p:nvPr/>
        </p:nvSpPr>
        <p:spPr>
          <a:xfrm>
            <a:off x="61813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71" name="obj100"/>
          <p:cNvSpPr txBox="1"/>
          <p:nvPr/>
        </p:nvSpPr>
        <p:spPr>
          <a:xfrm>
            <a:off x="63825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72" name="obj101"/>
          <p:cNvSpPr/>
          <p:nvPr/>
        </p:nvSpPr>
        <p:spPr>
          <a:xfrm>
            <a:off x="74249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3" name="obj102"/>
          <p:cNvSpPr txBox="1"/>
          <p:nvPr/>
        </p:nvSpPr>
        <p:spPr>
          <a:xfrm>
            <a:off x="74249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74" name="obj103"/>
          <p:cNvSpPr/>
          <p:nvPr/>
        </p:nvSpPr>
        <p:spPr>
          <a:xfrm>
            <a:off x="80467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104"/>
          <p:cNvSpPr txBox="1"/>
          <p:nvPr/>
        </p:nvSpPr>
        <p:spPr>
          <a:xfrm>
            <a:off x="80467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76" name="obj105"/>
          <p:cNvSpPr txBox="1"/>
          <p:nvPr/>
        </p:nvSpPr>
        <p:spPr>
          <a:xfrm>
            <a:off x="61813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200" dirty="0"/>
          </a:p>
        </p:txBody>
      </p:sp>
      <p:sp>
        <p:nvSpPr>
          <p:cNvPr id="77" name="obj106"/>
          <p:cNvSpPr txBox="1"/>
          <p:nvPr/>
        </p:nvSpPr>
        <p:spPr>
          <a:xfrm>
            <a:off x="61813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descartar clips sin tiempo mínimo, para evitar falsos positivos.</a:t>
            </a:r>
            <a:endParaRPr lang="en-US" sz="1000" dirty="0"/>
          </a:p>
        </p:txBody>
      </p:sp>
      <p:sp>
        <p:nvSpPr>
          <p:cNvPr id="78" name="obj107"/>
          <p:cNvSpPr/>
          <p:nvPr/>
        </p:nvSpPr>
        <p:spPr>
          <a:xfrm>
            <a:off x="61996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9" name="obj108"/>
          <p:cNvSpPr txBox="1"/>
          <p:nvPr/>
        </p:nvSpPr>
        <p:spPr>
          <a:xfrm>
            <a:off x="63276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clips con menos frames que el mínimo se descartan.</a:t>
            </a:r>
            <a:endParaRPr lang="en-US" sz="1000" dirty="0"/>
          </a:p>
        </p:txBody>
      </p:sp>
      <p:sp>
        <p:nvSpPr>
          <p:cNvPr id="80" name="obj109"/>
          <p:cNvSpPr/>
          <p:nvPr/>
        </p:nvSpPr>
        <p:spPr>
          <a:xfrm>
            <a:off x="61996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1" name="obj110"/>
          <p:cNvSpPr txBox="1"/>
          <p:nvPr/>
        </p:nvSpPr>
        <p:spPr>
          <a:xfrm>
            <a:off x="63276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cuántos clips se descartaron.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(2/2)</a:t>
            </a:r>
            <a:endParaRPr lang="en-US" sz="3000" dirty="0"/>
          </a:p>
        </p:txBody>
      </p:sp>
      <p:sp>
        <p:nvSpPr>
          <p:cNvPr id="3" name="obj111"/>
          <p:cNvSpPr txBox="1"/>
          <p:nvPr/>
        </p:nvSpPr>
        <p:spPr>
          <a:xfrm>
            <a:off x="548640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con sus criterios de aceptación: los define el PO y son los que se revisan al aceptar o rechazar la historia.</a:t>
            </a:r>
            <a:endParaRPr lang="en-US" sz="1100" dirty="0"/>
          </a:p>
        </p:txBody>
      </p:sp>
      <p:sp>
        <p:nvSpPr>
          <p:cNvPr id="4" name="obj112"/>
          <p:cNvSpPr/>
          <p:nvPr/>
        </p:nvSpPr>
        <p:spPr>
          <a:xfrm>
            <a:off x="5486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" name="obj113"/>
          <p:cNvSpPr/>
          <p:nvPr/>
        </p:nvSpPr>
        <p:spPr>
          <a:xfrm>
            <a:off x="6949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6" name="obj114"/>
          <p:cNvSpPr txBox="1"/>
          <p:nvPr/>
        </p:nvSpPr>
        <p:spPr>
          <a:xfrm>
            <a:off x="8961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 </a:t>
            </a:r>
            <a:pPr algn="l" indent="0" marL="0">
              <a:buNone/>
            </a:pPr>
            <a:r>
              <a:rPr lang="en-US" sz="1100" dirty="0">
                <a:solidFill>
                  <a:srgbClr val="B4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100" dirty="0"/>
          </a:p>
        </p:txBody>
      </p:sp>
      <p:sp>
        <p:nvSpPr>
          <p:cNvPr id="7" name="obj115"/>
          <p:cNvSpPr/>
          <p:nvPr/>
        </p:nvSpPr>
        <p:spPr>
          <a:xfrm>
            <a:off x="19385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116"/>
          <p:cNvSpPr txBox="1"/>
          <p:nvPr/>
        </p:nvSpPr>
        <p:spPr>
          <a:xfrm>
            <a:off x="19385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117"/>
          <p:cNvSpPr/>
          <p:nvPr/>
        </p:nvSpPr>
        <p:spPr>
          <a:xfrm>
            <a:off x="25603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118"/>
          <p:cNvSpPr txBox="1"/>
          <p:nvPr/>
        </p:nvSpPr>
        <p:spPr>
          <a:xfrm>
            <a:off x="25603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900" dirty="0"/>
          </a:p>
        </p:txBody>
      </p:sp>
      <p:sp>
        <p:nvSpPr>
          <p:cNvPr id="11" name="obj119"/>
          <p:cNvSpPr txBox="1"/>
          <p:nvPr/>
        </p:nvSpPr>
        <p:spPr>
          <a:xfrm>
            <a:off x="6949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200" dirty="0"/>
          </a:p>
        </p:txBody>
      </p:sp>
      <p:sp>
        <p:nvSpPr>
          <p:cNvPr id="12" name="obj120"/>
          <p:cNvSpPr txBox="1"/>
          <p:nvPr/>
        </p:nvSpPr>
        <p:spPr>
          <a:xfrm>
            <a:off x="6949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procesar el clip con ConvLSTM, para extraer dependencias temporales.</a:t>
            </a:r>
            <a:endParaRPr lang="en-US" sz="1000" dirty="0"/>
          </a:p>
        </p:txBody>
      </p:sp>
      <p:sp>
        <p:nvSpPr>
          <p:cNvPr id="13" name="obj121"/>
          <p:cNvSpPr/>
          <p:nvPr/>
        </p:nvSpPr>
        <p:spPr>
          <a:xfrm>
            <a:off x="7132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4" name="obj122"/>
          <p:cNvSpPr txBox="1"/>
          <p:nvPr/>
        </p:nvSpPr>
        <p:spPr>
          <a:xfrm>
            <a:off x="8412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con el split oficial y guarda pesos y métricas.</a:t>
            </a:r>
            <a:endParaRPr lang="en-US" sz="1000" dirty="0"/>
          </a:p>
        </p:txBody>
      </p:sp>
      <p:sp>
        <p:nvSpPr>
          <p:cNvPr id="15" name="obj123"/>
          <p:cNvSpPr/>
          <p:nvPr/>
        </p:nvSpPr>
        <p:spPr>
          <a:xfrm>
            <a:off x="7132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6" name="obj124"/>
          <p:cNvSpPr txBox="1"/>
          <p:nvPr/>
        </p:nvSpPr>
        <p:spPr>
          <a:xfrm>
            <a:off x="8412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clip y devuelve una probabilidad por clase.</a:t>
            </a:r>
            <a:endParaRPr lang="en-US" sz="1000" dirty="0"/>
          </a:p>
        </p:txBody>
      </p:sp>
      <p:sp>
        <p:nvSpPr>
          <p:cNvPr id="17" name="obj125"/>
          <p:cNvSpPr/>
          <p:nvPr/>
        </p:nvSpPr>
        <p:spPr>
          <a:xfrm>
            <a:off x="32918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18" name="obj126"/>
          <p:cNvSpPr/>
          <p:nvPr/>
        </p:nvSpPr>
        <p:spPr>
          <a:xfrm>
            <a:off x="34381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9" name="obj127"/>
          <p:cNvSpPr txBox="1"/>
          <p:nvPr/>
        </p:nvSpPr>
        <p:spPr>
          <a:xfrm>
            <a:off x="36393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 </a:t>
            </a:r>
            <a:pPr algn="l" indent="0" marL="0">
              <a:buNone/>
            </a:pPr>
            <a:r>
              <a:rPr lang="en-US" sz="1100" dirty="0">
                <a:solidFill>
                  <a:srgbClr val="B4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100" dirty="0"/>
          </a:p>
        </p:txBody>
      </p:sp>
      <p:sp>
        <p:nvSpPr>
          <p:cNvPr id="20" name="obj128"/>
          <p:cNvSpPr/>
          <p:nvPr/>
        </p:nvSpPr>
        <p:spPr>
          <a:xfrm>
            <a:off x="46817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1" name="obj129"/>
          <p:cNvSpPr txBox="1"/>
          <p:nvPr/>
        </p:nvSpPr>
        <p:spPr>
          <a:xfrm>
            <a:off x="46817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2" name="obj130"/>
          <p:cNvSpPr/>
          <p:nvPr/>
        </p:nvSpPr>
        <p:spPr>
          <a:xfrm>
            <a:off x="53035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3" name="obj131"/>
          <p:cNvSpPr txBox="1"/>
          <p:nvPr/>
        </p:nvSpPr>
        <p:spPr>
          <a:xfrm>
            <a:off x="53035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24" name="obj132"/>
          <p:cNvSpPr txBox="1"/>
          <p:nvPr/>
        </p:nvSpPr>
        <p:spPr>
          <a:xfrm>
            <a:off x="34381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tipificar</a:t>
            </a:r>
            <a:endParaRPr lang="en-US" sz="1200" dirty="0"/>
          </a:p>
        </p:txBody>
      </p:sp>
      <p:sp>
        <p:nvSpPr>
          <p:cNvPr id="25" name="obj133"/>
          <p:cNvSpPr txBox="1"/>
          <p:nvPr/>
        </p:nvSpPr>
        <p:spPr>
          <a:xfrm>
            <a:off x="34381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clasificar y tipificar la conducta (vía/panel), para diagnosticar el acto.</a:t>
            </a:r>
            <a:endParaRPr lang="en-US" sz="1000" dirty="0"/>
          </a:p>
        </p:txBody>
      </p:sp>
      <p:sp>
        <p:nvSpPr>
          <p:cNvPr id="26" name="obj134"/>
          <p:cNvSpPr/>
          <p:nvPr/>
        </p:nvSpPr>
        <p:spPr>
          <a:xfrm>
            <a:off x="34564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135"/>
          <p:cNvSpPr txBox="1"/>
          <p:nvPr/>
        </p:nvSpPr>
        <p:spPr>
          <a:xfrm>
            <a:off x="35844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clip queda etiquetado con su riesgo y tipo de conducta.</a:t>
            </a:r>
            <a:endParaRPr lang="en-US" sz="1000" dirty="0"/>
          </a:p>
        </p:txBody>
      </p:sp>
      <p:sp>
        <p:nvSpPr>
          <p:cNvPr id="28" name="obj136"/>
          <p:cNvSpPr/>
          <p:nvPr/>
        </p:nvSpPr>
        <p:spPr>
          <a:xfrm>
            <a:off x="34564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9" name="obj137"/>
          <p:cNvSpPr txBox="1"/>
          <p:nvPr/>
        </p:nvSpPr>
        <p:spPr>
          <a:xfrm>
            <a:off x="35844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accuracy, precision, recall y F1 del set de prueba.</a:t>
            </a:r>
            <a:endParaRPr lang="en-US" sz="1000" dirty="0"/>
          </a:p>
        </p:txBody>
      </p:sp>
      <p:sp>
        <p:nvSpPr>
          <p:cNvPr id="30" name="obj138"/>
          <p:cNvSpPr/>
          <p:nvPr/>
        </p:nvSpPr>
        <p:spPr>
          <a:xfrm>
            <a:off x="60350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31" name="obj139"/>
          <p:cNvSpPr/>
          <p:nvPr/>
        </p:nvSpPr>
        <p:spPr>
          <a:xfrm>
            <a:off x="61813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32" name="obj140"/>
          <p:cNvSpPr txBox="1"/>
          <p:nvPr/>
        </p:nvSpPr>
        <p:spPr>
          <a:xfrm>
            <a:off x="63825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 </a:t>
            </a:r>
            <a:pPr algn="l" indent="0" marL="0">
              <a:buNone/>
            </a:pPr>
            <a:r>
              <a:rPr lang="en-US" sz="110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100" dirty="0"/>
          </a:p>
        </p:txBody>
      </p:sp>
      <p:sp>
        <p:nvSpPr>
          <p:cNvPr id="33" name="obj141"/>
          <p:cNvSpPr/>
          <p:nvPr/>
        </p:nvSpPr>
        <p:spPr>
          <a:xfrm>
            <a:off x="74249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4" name="obj142"/>
          <p:cNvSpPr txBox="1"/>
          <p:nvPr/>
        </p:nvSpPr>
        <p:spPr>
          <a:xfrm>
            <a:off x="74249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5" name="obj143"/>
          <p:cNvSpPr/>
          <p:nvPr/>
        </p:nvSpPr>
        <p:spPr>
          <a:xfrm>
            <a:off x="80467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6" name="obj144"/>
          <p:cNvSpPr txBox="1"/>
          <p:nvPr/>
        </p:nvSpPr>
        <p:spPr>
          <a:xfrm>
            <a:off x="80467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37" name="obj145"/>
          <p:cNvSpPr txBox="1"/>
          <p:nvPr/>
        </p:nvSpPr>
        <p:spPr>
          <a:xfrm>
            <a:off x="61813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200" dirty="0"/>
          </a:p>
        </p:txBody>
      </p:sp>
      <p:sp>
        <p:nvSpPr>
          <p:cNvPr id="38" name="obj146"/>
          <p:cNvSpPr txBox="1"/>
          <p:nvPr/>
        </p:nvSpPr>
        <p:spPr>
          <a:xfrm>
            <a:off x="61813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operadora (Lucía), quiero ver el video con recuadros de riesgo, para validar la inferencia.</a:t>
            </a:r>
            <a:endParaRPr lang="en-US" sz="1000" dirty="0"/>
          </a:p>
        </p:txBody>
      </p:sp>
      <p:sp>
        <p:nvSpPr>
          <p:cNvPr id="39" name="obj147"/>
          <p:cNvSpPr/>
          <p:nvPr/>
        </p:nvSpPr>
        <p:spPr>
          <a:xfrm>
            <a:off x="61996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0" name="obj148"/>
          <p:cNvSpPr txBox="1"/>
          <p:nvPr/>
        </p:nvSpPr>
        <p:spPr>
          <a:xfrm>
            <a:off x="63276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recuadro es verde (seguro) o rojo (inseguro) por tramo.</a:t>
            </a:r>
            <a:endParaRPr lang="en-US" sz="1000" dirty="0"/>
          </a:p>
        </p:txBody>
      </p:sp>
      <p:sp>
        <p:nvSpPr>
          <p:cNvPr id="41" name="obj149"/>
          <p:cNvSpPr/>
          <p:nvPr/>
        </p:nvSpPr>
        <p:spPr>
          <a:xfrm>
            <a:off x="61996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2" name="obj150"/>
          <p:cNvSpPr txBox="1"/>
          <p:nvPr/>
        </p:nvSpPr>
        <p:spPr>
          <a:xfrm>
            <a:off x="63276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los videos del conjunto de prueba.</a:t>
            </a:r>
            <a:endParaRPr lang="en-US" sz="1000" dirty="0"/>
          </a:p>
        </p:txBody>
      </p:sp>
      <p:sp>
        <p:nvSpPr>
          <p:cNvPr id="43" name="obj151"/>
          <p:cNvSpPr/>
          <p:nvPr/>
        </p:nvSpPr>
        <p:spPr>
          <a:xfrm>
            <a:off x="5486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44" name="obj152"/>
          <p:cNvSpPr/>
          <p:nvPr/>
        </p:nvSpPr>
        <p:spPr>
          <a:xfrm>
            <a:off x="6949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45" name="obj153"/>
          <p:cNvSpPr txBox="1"/>
          <p:nvPr/>
        </p:nvSpPr>
        <p:spPr>
          <a:xfrm>
            <a:off x="8961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 </a:t>
            </a:r>
            <a:pPr algn="l" indent="0" marL="0">
              <a:buNone/>
            </a:pPr>
            <a:r>
              <a:rPr lang="en-US" sz="110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100" dirty="0"/>
          </a:p>
        </p:txBody>
      </p:sp>
      <p:sp>
        <p:nvSpPr>
          <p:cNvPr id="46" name="obj154"/>
          <p:cNvSpPr/>
          <p:nvPr/>
        </p:nvSpPr>
        <p:spPr>
          <a:xfrm>
            <a:off x="19385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7" name="obj155"/>
          <p:cNvSpPr txBox="1"/>
          <p:nvPr/>
        </p:nvSpPr>
        <p:spPr>
          <a:xfrm>
            <a:off x="19385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48" name="obj156"/>
          <p:cNvSpPr/>
          <p:nvPr/>
        </p:nvSpPr>
        <p:spPr>
          <a:xfrm>
            <a:off x="25603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9" name="obj157"/>
          <p:cNvSpPr txBox="1"/>
          <p:nvPr/>
        </p:nvSpPr>
        <p:spPr>
          <a:xfrm>
            <a:off x="25603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0" name="obj158"/>
          <p:cNvSpPr txBox="1"/>
          <p:nvPr/>
        </p:nvSpPr>
        <p:spPr>
          <a:xfrm>
            <a:off x="6949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riesgo</a:t>
            </a:r>
            <a:endParaRPr lang="en-US" sz="1200" dirty="0"/>
          </a:p>
        </p:txBody>
      </p:sp>
      <p:sp>
        <p:nvSpPr>
          <p:cNvPr id="51" name="obj159"/>
          <p:cNvSpPr txBox="1"/>
          <p:nvPr/>
        </p:nvSpPr>
        <p:spPr>
          <a:xfrm>
            <a:off x="6949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operadora (Lucía), quiero alertas inmediatas ante conductas inseguras, para intervenir a tiempo.</a:t>
            </a:r>
            <a:endParaRPr lang="en-US" sz="1000" dirty="0"/>
          </a:p>
        </p:txBody>
      </p:sp>
      <p:sp>
        <p:nvSpPr>
          <p:cNvPr id="52" name="obj160"/>
          <p:cNvSpPr/>
          <p:nvPr/>
        </p:nvSpPr>
        <p:spPr>
          <a:xfrm>
            <a:off x="7132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3" name="obj161"/>
          <p:cNvSpPr txBox="1"/>
          <p:nvPr/>
        </p:nvSpPr>
        <p:spPr>
          <a:xfrm>
            <a:off x="8412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conducta insegura dispara un aviso visual y sonoro.</a:t>
            </a:r>
            <a:endParaRPr lang="en-US" sz="1000" dirty="0"/>
          </a:p>
        </p:txBody>
      </p:sp>
      <p:sp>
        <p:nvSpPr>
          <p:cNvPr id="54" name="obj162"/>
          <p:cNvSpPr/>
          <p:nvPr/>
        </p:nvSpPr>
        <p:spPr>
          <a:xfrm>
            <a:off x="7132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5" name="obj163"/>
          <p:cNvSpPr txBox="1"/>
          <p:nvPr/>
        </p:nvSpPr>
        <p:spPr>
          <a:xfrm>
            <a:off x="8412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se guarda con hora, video y probabilidad.</a:t>
            </a:r>
            <a:endParaRPr lang="en-US" sz="1000" dirty="0"/>
          </a:p>
        </p:txBody>
      </p:sp>
      <p:sp>
        <p:nvSpPr>
          <p:cNvPr id="56" name="obj164"/>
          <p:cNvSpPr/>
          <p:nvPr/>
        </p:nvSpPr>
        <p:spPr>
          <a:xfrm>
            <a:off x="32918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7" name="obj165"/>
          <p:cNvSpPr/>
          <p:nvPr/>
        </p:nvSpPr>
        <p:spPr>
          <a:xfrm>
            <a:off x="34381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58" name="obj166"/>
          <p:cNvSpPr txBox="1"/>
          <p:nvPr/>
        </p:nvSpPr>
        <p:spPr>
          <a:xfrm>
            <a:off x="36393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59" name="obj167"/>
          <p:cNvSpPr/>
          <p:nvPr/>
        </p:nvSpPr>
        <p:spPr>
          <a:xfrm>
            <a:off x="46817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60" name="obj168"/>
          <p:cNvSpPr txBox="1"/>
          <p:nvPr/>
        </p:nvSpPr>
        <p:spPr>
          <a:xfrm>
            <a:off x="46817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61" name="obj169"/>
          <p:cNvSpPr/>
          <p:nvPr/>
        </p:nvSpPr>
        <p:spPr>
          <a:xfrm>
            <a:off x="53035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2" name="obj170"/>
          <p:cNvSpPr txBox="1"/>
          <p:nvPr/>
        </p:nvSpPr>
        <p:spPr>
          <a:xfrm>
            <a:off x="53035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63" name="obj171"/>
          <p:cNvSpPr txBox="1"/>
          <p:nvPr/>
        </p:nvSpPr>
        <p:spPr>
          <a:xfrm>
            <a:off x="34381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200" dirty="0"/>
          </a:p>
        </p:txBody>
      </p:sp>
      <p:sp>
        <p:nvSpPr>
          <p:cNvPr id="64" name="obj172"/>
          <p:cNvSpPr txBox="1"/>
          <p:nvPr/>
        </p:nvSpPr>
        <p:spPr>
          <a:xfrm>
            <a:off x="34381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ajustar el umbral de YOLOv8, para calibrar la sensibilidad.</a:t>
            </a:r>
            <a:endParaRPr lang="en-US" sz="1000" dirty="0"/>
          </a:p>
        </p:txBody>
      </p:sp>
      <p:sp>
        <p:nvSpPr>
          <p:cNvPr id="65" name="obj173"/>
          <p:cNvSpPr/>
          <p:nvPr/>
        </p:nvSpPr>
        <p:spPr>
          <a:xfrm>
            <a:off x="34564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6" name="obj174"/>
          <p:cNvSpPr txBox="1"/>
          <p:nvPr/>
        </p:nvSpPr>
        <p:spPr>
          <a:xfrm>
            <a:off x="35844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se cambia en la configuración, sin tocar código.</a:t>
            </a:r>
            <a:endParaRPr lang="en-US" sz="1000" dirty="0"/>
          </a:p>
        </p:txBody>
      </p:sp>
      <p:sp>
        <p:nvSpPr>
          <p:cNvPr id="67" name="obj175"/>
          <p:cNvSpPr/>
          <p:nvPr/>
        </p:nvSpPr>
        <p:spPr>
          <a:xfrm>
            <a:off x="34564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8" name="obj176"/>
          <p:cNvSpPr txBox="1"/>
          <p:nvPr/>
        </p:nvSpPr>
        <p:spPr>
          <a:xfrm>
            <a:off x="35844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valores fuera de 0–1 y anota el cambio en el log.</a:t>
            </a:r>
            <a:endParaRPr lang="en-US" sz="1000" dirty="0"/>
          </a:p>
        </p:txBody>
      </p:sp>
      <p:sp>
        <p:nvSpPr>
          <p:cNvPr id="69" name="obj177"/>
          <p:cNvSpPr/>
          <p:nvPr/>
        </p:nvSpPr>
        <p:spPr>
          <a:xfrm>
            <a:off x="60350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70" name="obj178"/>
          <p:cNvSpPr/>
          <p:nvPr/>
        </p:nvSpPr>
        <p:spPr>
          <a:xfrm>
            <a:off x="61813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71" name="obj179"/>
          <p:cNvSpPr txBox="1"/>
          <p:nvPr/>
        </p:nvSpPr>
        <p:spPr>
          <a:xfrm>
            <a:off x="63825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72" name="obj180"/>
          <p:cNvSpPr/>
          <p:nvPr/>
        </p:nvSpPr>
        <p:spPr>
          <a:xfrm>
            <a:off x="74249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3" name="obj181"/>
          <p:cNvSpPr txBox="1"/>
          <p:nvPr/>
        </p:nvSpPr>
        <p:spPr>
          <a:xfrm>
            <a:off x="74249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74" name="obj182"/>
          <p:cNvSpPr/>
          <p:nvPr/>
        </p:nvSpPr>
        <p:spPr>
          <a:xfrm>
            <a:off x="80467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183"/>
          <p:cNvSpPr txBox="1"/>
          <p:nvPr/>
        </p:nvSpPr>
        <p:spPr>
          <a:xfrm>
            <a:off x="80467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76" name="obj184"/>
          <p:cNvSpPr txBox="1"/>
          <p:nvPr/>
        </p:nvSpPr>
        <p:spPr>
          <a:xfrm>
            <a:off x="61813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200" dirty="0"/>
          </a:p>
        </p:txBody>
      </p:sp>
      <p:sp>
        <p:nvSpPr>
          <p:cNvPr id="77" name="obj185"/>
          <p:cNvSpPr txBox="1"/>
          <p:nvPr/>
        </p:nvSpPr>
        <p:spPr>
          <a:xfrm>
            <a:off x="61813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gerente (Ricardo) y TI (Jorge), quiero ver el log de tiempos y aceleración, para evaluar la eficiencia.</a:t>
            </a:r>
            <a:endParaRPr lang="en-US" sz="1000" dirty="0"/>
          </a:p>
        </p:txBody>
      </p:sp>
      <p:sp>
        <p:nvSpPr>
          <p:cNvPr id="78" name="obj186"/>
          <p:cNvSpPr/>
          <p:nvPr/>
        </p:nvSpPr>
        <p:spPr>
          <a:xfrm>
            <a:off x="61996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9" name="obj187"/>
          <p:cNvSpPr txBox="1"/>
          <p:nvPr/>
        </p:nvSpPr>
        <p:spPr>
          <a:xfrm>
            <a:off x="63276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tiempo de cada etapa del procesamiento.</a:t>
            </a:r>
            <a:endParaRPr lang="en-US" sz="1000" dirty="0"/>
          </a:p>
        </p:txBody>
      </p:sp>
      <p:sp>
        <p:nvSpPr>
          <p:cNvPr id="80" name="obj188"/>
          <p:cNvSpPr/>
          <p:nvPr/>
        </p:nvSpPr>
        <p:spPr>
          <a:xfrm>
            <a:off x="61996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1" name="obj189"/>
          <p:cNvSpPr txBox="1"/>
          <p:nvPr/>
        </p:nvSpPr>
        <p:spPr>
          <a:xfrm>
            <a:off x="63276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mismo video con y sin filtrado.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del Sprint 1 (Scrumboard)</a:t>
            </a:r>
            <a:endParaRPr lang="en-US" sz="3000" dirty="0"/>
          </a:p>
        </p:txBody>
      </p:sp>
      <p:sp>
        <p:nvSpPr>
          <p:cNvPr id="3" name="obj190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19/10 – 01/11 · 3 historias · 7 puntos · inicio del sprint · tareas propuestas por el equipo</a:t>
            </a:r>
            <a:endParaRPr lang="en-US" sz="1200" dirty="0"/>
          </a:p>
        </p:txBody>
      </p:sp>
      <p:sp>
        <p:nvSpPr>
          <p:cNvPr id="4" name="obj191"/>
          <p:cNvSpPr/>
          <p:nvPr/>
        </p:nvSpPr>
        <p:spPr>
          <a:xfrm>
            <a:off x="548640" y="132588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" name="obj192"/>
          <p:cNvSpPr txBox="1"/>
          <p:nvPr/>
        </p:nvSpPr>
        <p:spPr>
          <a:xfrm>
            <a:off x="54864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100" dirty="0"/>
          </a:p>
        </p:txBody>
      </p:sp>
      <p:sp>
        <p:nvSpPr>
          <p:cNvPr id="6" name="obj193"/>
          <p:cNvSpPr/>
          <p:nvPr/>
        </p:nvSpPr>
        <p:spPr>
          <a:xfrm>
            <a:off x="241401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" name="obj194"/>
          <p:cNvSpPr txBox="1"/>
          <p:nvPr/>
        </p:nvSpPr>
        <p:spPr>
          <a:xfrm>
            <a:off x="241401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100" dirty="0"/>
          </a:p>
        </p:txBody>
      </p:sp>
      <p:sp>
        <p:nvSpPr>
          <p:cNvPr id="8" name="obj195"/>
          <p:cNvSpPr/>
          <p:nvPr/>
        </p:nvSpPr>
        <p:spPr>
          <a:xfrm>
            <a:off x="396849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9" name="obj196"/>
          <p:cNvSpPr txBox="1"/>
          <p:nvPr/>
        </p:nvSpPr>
        <p:spPr>
          <a:xfrm>
            <a:off x="396849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100" dirty="0"/>
          </a:p>
        </p:txBody>
      </p:sp>
      <p:sp>
        <p:nvSpPr>
          <p:cNvPr id="10" name="obj197"/>
          <p:cNvSpPr/>
          <p:nvPr/>
        </p:nvSpPr>
        <p:spPr>
          <a:xfrm>
            <a:off x="552297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1" name="obj198"/>
          <p:cNvSpPr txBox="1"/>
          <p:nvPr/>
        </p:nvSpPr>
        <p:spPr>
          <a:xfrm>
            <a:off x="552297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</a:t>
            </a:r>
            <a:endParaRPr lang="en-US" sz="1100" dirty="0"/>
          </a:p>
        </p:txBody>
      </p:sp>
      <p:sp>
        <p:nvSpPr>
          <p:cNvPr id="12" name="obj199"/>
          <p:cNvSpPr/>
          <p:nvPr/>
        </p:nvSpPr>
        <p:spPr>
          <a:xfrm>
            <a:off x="7077456" y="132588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3" name="obj200"/>
          <p:cNvSpPr txBox="1"/>
          <p:nvPr/>
        </p:nvSpPr>
        <p:spPr>
          <a:xfrm>
            <a:off x="7077456" y="13258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1100" dirty="0"/>
          </a:p>
        </p:txBody>
      </p:sp>
      <p:sp>
        <p:nvSpPr>
          <p:cNvPr id="14" name="obj201"/>
          <p:cNvSpPr/>
          <p:nvPr/>
        </p:nvSpPr>
        <p:spPr>
          <a:xfrm>
            <a:off x="548640" y="1719072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15" name="obj202"/>
          <p:cNvSpPr/>
          <p:nvPr/>
        </p:nvSpPr>
        <p:spPr>
          <a:xfrm>
            <a:off x="658368" y="18470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6" name="obj203"/>
          <p:cNvSpPr txBox="1"/>
          <p:nvPr/>
        </p:nvSpPr>
        <p:spPr>
          <a:xfrm>
            <a:off x="841248" y="17922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17" name="obj204"/>
          <p:cNvSpPr txBox="1"/>
          <p:nvPr/>
        </p:nvSpPr>
        <p:spPr>
          <a:xfrm>
            <a:off x="658368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200" dirty="0"/>
          </a:p>
        </p:txBody>
      </p:sp>
      <p:sp>
        <p:nvSpPr>
          <p:cNvPr id="18" name="obj205"/>
          <p:cNvSpPr/>
          <p:nvPr/>
        </p:nvSpPr>
        <p:spPr>
          <a:xfrm>
            <a:off x="658368" y="2304288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9" name="obj206"/>
          <p:cNvSpPr txBox="1"/>
          <p:nvPr/>
        </p:nvSpPr>
        <p:spPr>
          <a:xfrm>
            <a:off x="658368" y="23042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0" name="obj207"/>
          <p:cNvSpPr/>
          <p:nvPr/>
        </p:nvSpPr>
        <p:spPr>
          <a:xfrm>
            <a:off x="1280160" y="230428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1" name="obj208"/>
          <p:cNvSpPr txBox="1"/>
          <p:nvPr/>
        </p:nvSpPr>
        <p:spPr>
          <a:xfrm>
            <a:off x="1280160" y="230428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22" name="obj209"/>
          <p:cNvSpPr/>
          <p:nvPr/>
        </p:nvSpPr>
        <p:spPr>
          <a:xfrm>
            <a:off x="241401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3" name="obj210"/>
          <p:cNvSpPr/>
          <p:nvPr/>
        </p:nvSpPr>
        <p:spPr>
          <a:xfrm>
            <a:off x="396849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4" name="obj211"/>
          <p:cNvSpPr/>
          <p:nvPr/>
        </p:nvSpPr>
        <p:spPr>
          <a:xfrm>
            <a:off x="552297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5" name="obj212"/>
          <p:cNvSpPr/>
          <p:nvPr/>
        </p:nvSpPr>
        <p:spPr>
          <a:xfrm>
            <a:off x="7077456" y="1719072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6" name="obj213"/>
          <p:cNvSpPr/>
          <p:nvPr/>
        </p:nvSpPr>
        <p:spPr>
          <a:xfrm>
            <a:off x="2487168" y="1783080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27" name="obj214"/>
          <p:cNvSpPr txBox="1"/>
          <p:nvPr/>
        </p:nvSpPr>
        <p:spPr>
          <a:xfrm>
            <a:off x="2560320" y="178308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carga</a:t>
            </a:r>
            <a:endParaRPr lang="en-US" sz="1000" dirty="0"/>
          </a:p>
        </p:txBody>
      </p:sp>
      <p:sp>
        <p:nvSpPr>
          <p:cNvPr id="28" name="obj215"/>
          <p:cNvSpPr/>
          <p:nvPr/>
        </p:nvSpPr>
        <p:spPr>
          <a:xfrm>
            <a:off x="2487168" y="2039112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29" name="obj216"/>
          <p:cNvSpPr txBox="1"/>
          <p:nvPr/>
        </p:nvSpPr>
        <p:spPr>
          <a:xfrm>
            <a:off x="2560320" y="203911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formato</a:t>
            </a:r>
            <a:endParaRPr lang="en-US" sz="1000" dirty="0"/>
          </a:p>
        </p:txBody>
      </p:sp>
      <p:sp>
        <p:nvSpPr>
          <p:cNvPr id="30" name="obj217"/>
          <p:cNvSpPr/>
          <p:nvPr/>
        </p:nvSpPr>
        <p:spPr>
          <a:xfrm>
            <a:off x="2487168" y="2295144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31" name="obj218"/>
          <p:cNvSpPr txBox="1"/>
          <p:nvPr/>
        </p:nvSpPr>
        <p:spPr>
          <a:xfrm>
            <a:off x="2560320" y="229514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datos del video</a:t>
            </a:r>
            <a:endParaRPr lang="en-US" sz="1000" dirty="0"/>
          </a:p>
        </p:txBody>
      </p:sp>
      <p:sp>
        <p:nvSpPr>
          <p:cNvPr id="32" name="obj219"/>
          <p:cNvSpPr/>
          <p:nvPr/>
        </p:nvSpPr>
        <p:spPr>
          <a:xfrm>
            <a:off x="548640" y="2688336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33" name="obj220"/>
          <p:cNvSpPr/>
          <p:nvPr/>
        </p:nvSpPr>
        <p:spPr>
          <a:xfrm>
            <a:off x="658368" y="2816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4" name="obj221"/>
          <p:cNvSpPr txBox="1"/>
          <p:nvPr/>
        </p:nvSpPr>
        <p:spPr>
          <a:xfrm>
            <a:off x="841248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35" name="obj222"/>
          <p:cNvSpPr txBox="1"/>
          <p:nvPr/>
        </p:nvSpPr>
        <p:spPr>
          <a:xfrm>
            <a:off x="658368" y="3017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200" dirty="0"/>
          </a:p>
        </p:txBody>
      </p:sp>
      <p:sp>
        <p:nvSpPr>
          <p:cNvPr id="36" name="obj223"/>
          <p:cNvSpPr/>
          <p:nvPr/>
        </p:nvSpPr>
        <p:spPr>
          <a:xfrm>
            <a:off x="658368" y="32735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7" name="obj224"/>
          <p:cNvSpPr txBox="1"/>
          <p:nvPr/>
        </p:nvSpPr>
        <p:spPr>
          <a:xfrm>
            <a:off x="658368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8" name="obj225"/>
          <p:cNvSpPr/>
          <p:nvPr/>
        </p:nvSpPr>
        <p:spPr>
          <a:xfrm>
            <a:off x="1280160" y="32735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9" name="obj226"/>
          <p:cNvSpPr txBox="1"/>
          <p:nvPr/>
        </p:nvSpPr>
        <p:spPr>
          <a:xfrm>
            <a:off x="1280160" y="32735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40" name="obj227"/>
          <p:cNvSpPr/>
          <p:nvPr/>
        </p:nvSpPr>
        <p:spPr>
          <a:xfrm>
            <a:off x="2414016" y="2688336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1" name="obj228"/>
          <p:cNvSpPr/>
          <p:nvPr/>
        </p:nvSpPr>
        <p:spPr>
          <a:xfrm>
            <a:off x="3968496" y="2688336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2" name="obj229"/>
          <p:cNvSpPr/>
          <p:nvPr/>
        </p:nvSpPr>
        <p:spPr>
          <a:xfrm>
            <a:off x="5522976" y="2688336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3" name="obj230"/>
          <p:cNvSpPr/>
          <p:nvPr/>
        </p:nvSpPr>
        <p:spPr>
          <a:xfrm>
            <a:off x="7077456" y="2688336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4" name="obj231"/>
          <p:cNvSpPr/>
          <p:nvPr/>
        </p:nvSpPr>
        <p:spPr>
          <a:xfrm>
            <a:off x="2487168" y="2752344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45" name="obj232"/>
          <p:cNvSpPr txBox="1"/>
          <p:nvPr/>
        </p:nvSpPr>
        <p:spPr>
          <a:xfrm>
            <a:off x="2560320" y="275234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46" name="obj233"/>
          <p:cNvSpPr/>
          <p:nvPr/>
        </p:nvSpPr>
        <p:spPr>
          <a:xfrm>
            <a:off x="2487168" y="3008376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47" name="obj234"/>
          <p:cNvSpPr txBox="1"/>
          <p:nvPr/>
        </p:nvSpPr>
        <p:spPr>
          <a:xfrm>
            <a:off x="2560320" y="300837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frames</a:t>
            </a:r>
            <a:endParaRPr lang="en-US" sz="1000" dirty="0"/>
          </a:p>
        </p:txBody>
      </p:sp>
      <p:sp>
        <p:nvSpPr>
          <p:cNvPr id="48" name="obj235"/>
          <p:cNvSpPr/>
          <p:nvPr/>
        </p:nvSpPr>
        <p:spPr>
          <a:xfrm>
            <a:off x="2487168" y="3264408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49" name="obj236"/>
          <p:cNvSpPr txBox="1"/>
          <p:nvPr/>
        </p:nvSpPr>
        <p:spPr>
          <a:xfrm>
            <a:off x="2560320" y="32644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orden</a:t>
            </a:r>
            <a:endParaRPr lang="en-US" sz="1000" dirty="0"/>
          </a:p>
        </p:txBody>
      </p:sp>
      <p:sp>
        <p:nvSpPr>
          <p:cNvPr id="50" name="obj237"/>
          <p:cNvSpPr/>
          <p:nvPr/>
        </p:nvSpPr>
        <p:spPr>
          <a:xfrm>
            <a:off x="548640" y="3657600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51" name="obj238"/>
          <p:cNvSpPr/>
          <p:nvPr/>
        </p:nvSpPr>
        <p:spPr>
          <a:xfrm>
            <a:off x="658368" y="37856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52" name="obj239"/>
          <p:cNvSpPr txBox="1"/>
          <p:nvPr/>
        </p:nvSpPr>
        <p:spPr>
          <a:xfrm>
            <a:off x="841248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53" name="obj240"/>
          <p:cNvSpPr txBox="1"/>
          <p:nvPr/>
        </p:nvSpPr>
        <p:spPr>
          <a:xfrm>
            <a:off x="658368" y="39867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200" dirty="0"/>
          </a:p>
        </p:txBody>
      </p:sp>
      <p:sp>
        <p:nvSpPr>
          <p:cNvPr id="54" name="obj241"/>
          <p:cNvSpPr/>
          <p:nvPr/>
        </p:nvSpPr>
        <p:spPr>
          <a:xfrm>
            <a:off x="658368" y="424281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55" name="obj242"/>
          <p:cNvSpPr txBox="1"/>
          <p:nvPr/>
        </p:nvSpPr>
        <p:spPr>
          <a:xfrm>
            <a:off x="658368" y="42428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56" name="obj243"/>
          <p:cNvSpPr/>
          <p:nvPr/>
        </p:nvSpPr>
        <p:spPr>
          <a:xfrm>
            <a:off x="1280160" y="424281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7" name="obj244"/>
          <p:cNvSpPr txBox="1"/>
          <p:nvPr/>
        </p:nvSpPr>
        <p:spPr>
          <a:xfrm>
            <a:off x="1280160" y="424281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58" name="obj245"/>
          <p:cNvSpPr/>
          <p:nvPr/>
        </p:nvSpPr>
        <p:spPr>
          <a:xfrm>
            <a:off x="2414016" y="365760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59" name="obj246"/>
          <p:cNvSpPr/>
          <p:nvPr/>
        </p:nvSpPr>
        <p:spPr>
          <a:xfrm>
            <a:off x="3968496" y="365760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0" name="obj247"/>
          <p:cNvSpPr/>
          <p:nvPr/>
        </p:nvSpPr>
        <p:spPr>
          <a:xfrm>
            <a:off x="5522976" y="3657600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1" name="obj248"/>
          <p:cNvSpPr/>
          <p:nvPr/>
        </p:nvSpPr>
        <p:spPr>
          <a:xfrm>
            <a:off x="7077456" y="3657600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2" name="obj249"/>
          <p:cNvSpPr/>
          <p:nvPr/>
        </p:nvSpPr>
        <p:spPr>
          <a:xfrm>
            <a:off x="2487168" y="3721608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63" name="obj250"/>
          <p:cNvSpPr txBox="1"/>
          <p:nvPr/>
        </p:nvSpPr>
        <p:spPr>
          <a:xfrm>
            <a:off x="2560320" y="37216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YOLOv8</a:t>
            </a:r>
            <a:endParaRPr lang="en-US" sz="1000" dirty="0"/>
          </a:p>
        </p:txBody>
      </p:sp>
      <p:sp>
        <p:nvSpPr>
          <p:cNvPr id="64" name="obj251"/>
          <p:cNvSpPr/>
          <p:nvPr/>
        </p:nvSpPr>
        <p:spPr>
          <a:xfrm>
            <a:off x="2487168" y="3977640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65" name="obj252"/>
          <p:cNvSpPr txBox="1"/>
          <p:nvPr/>
        </p:nvSpPr>
        <p:spPr>
          <a:xfrm>
            <a:off x="2560320" y="397764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000" dirty="0"/>
          </a:p>
        </p:txBody>
      </p:sp>
      <p:sp>
        <p:nvSpPr>
          <p:cNvPr id="66" name="obj253"/>
          <p:cNvSpPr/>
          <p:nvPr/>
        </p:nvSpPr>
        <p:spPr>
          <a:xfrm>
            <a:off x="2487168" y="4233672"/>
            <a:ext cx="1335024" cy="228600"/>
          </a:xfrm>
          <a:prstGeom prst="roundRect">
            <a:avLst>
              <a:gd name="adj" fmla="val 16000"/>
            </a:avLst>
          </a:prstGeom>
          <a:solidFill>
            <a:srgbClr val="FFE9A8"/>
          </a:solidFill>
          <a:ln/>
        </p:spPr>
      </p:sp>
      <p:sp>
        <p:nvSpPr>
          <p:cNvPr id="67" name="obj254"/>
          <p:cNvSpPr txBox="1"/>
          <p:nvPr/>
        </p:nvSpPr>
        <p:spPr>
          <a:xfrm>
            <a:off x="2560320" y="423367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1 video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priorizamos y estimamos</a:t>
            </a:r>
            <a:endParaRPr lang="en-US" sz="3000" dirty="0"/>
          </a:p>
        </p:txBody>
      </p:sp>
      <p:sp>
        <p:nvSpPr>
          <p:cNvPr id="3" name="obj255"/>
          <p:cNvSpPr/>
          <p:nvPr/>
        </p:nvSpPr>
        <p:spPr>
          <a:xfrm>
            <a:off x="548640" y="1097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4F4F2"/>
          </a:solidFill>
          <a:ln/>
        </p:spPr>
      </p:sp>
      <p:sp>
        <p:nvSpPr>
          <p:cNvPr id="4" name="obj256"/>
          <p:cNvSpPr txBox="1"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800" dirty="0"/>
          </a:p>
        </p:txBody>
      </p:sp>
      <p:sp>
        <p:nvSpPr>
          <p:cNvPr id="5" name="obj257"/>
          <p:cNvSpPr txBox="1"/>
          <p:nvPr/>
        </p:nvSpPr>
        <p:spPr>
          <a:xfrm>
            <a:off x="777240" y="1572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riesgo + dependencias (SBOK 8.5), con la escala MoSCoW.</a:t>
            </a:r>
            <a:endParaRPr lang="en-US" sz="1200" dirty="0"/>
          </a:p>
        </p:txBody>
      </p:sp>
      <p:sp>
        <p:nvSpPr>
          <p:cNvPr id="6" name="obj258"/>
          <p:cNvSpPr txBox="1"/>
          <p:nvPr/>
        </p:nvSpPr>
        <p:spPr>
          <a:xfrm>
            <a:off x="77724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obj259"/>
          <p:cNvSpPr/>
          <p:nvPr/>
        </p:nvSpPr>
        <p:spPr>
          <a:xfrm>
            <a:off x="77724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260"/>
          <p:cNvSpPr txBox="1"/>
          <p:nvPr/>
        </p:nvSpPr>
        <p:spPr>
          <a:xfrm>
            <a:off x="77724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261"/>
          <p:cNvSpPr txBox="1"/>
          <p:nvPr/>
        </p:nvSpPr>
        <p:spPr>
          <a:xfrm>
            <a:off x="77724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</a:t>
            </a:r>
            <a:endParaRPr lang="en-US" sz="1100" dirty="0"/>
          </a:p>
        </p:txBody>
      </p:sp>
      <p:sp>
        <p:nvSpPr>
          <p:cNvPr id="10" name="obj262"/>
          <p:cNvSpPr txBox="1"/>
          <p:nvPr/>
        </p:nvSpPr>
        <p:spPr>
          <a:xfrm>
            <a:off x="196596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obj263"/>
          <p:cNvSpPr/>
          <p:nvPr/>
        </p:nvSpPr>
        <p:spPr>
          <a:xfrm>
            <a:off x="196596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2" name="obj264"/>
          <p:cNvSpPr txBox="1"/>
          <p:nvPr/>
        </p:nvSpPr>
        <p:spPr>
          <a:xfrm>
            <a:off x="196596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3" name="obj265"/>
          <p:cNvSpPr txBox="1"/>
          <p:nvPr/>
        </p:nvSpPr>
        <p:spPr>
          <a:xfrm>
            <a:off x="196596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</a:t>
            </a:r>
            <a:endParaRPr lang="en-US" sz="1100" dirty="0"/>
          </a:p>
        </p:txBody>
      </p:sp>
      <p:sp>
        <p:nvSpPr>
          <p:cNvPr id="14" name="obj266"/>
          <p:cNvSpPr txBox="1"/>
          <p:nvPr/>
        </p:nvSpPr>
        <p:spPr>
          <a:xfrm>
            <a:off x="315468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obj267"/>
          <p:cNvSpPr/>
          <p:nvPr/>
        </p:nvSpPr>
        <p:spPr>
          <a:xfrm>
            <a:off x="315468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6" name="obj268"/>
          <p:cNvSpPr txBox="1"/>
          <p:nvPr/>
        </p:nvSpPr>
        <p:spPr>
          <a:xfrm>
            <a:off x="315468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7" name="obj269"/>
          <p:cNvSpPr txBox="1"/>
          <p:nvPr/>
        </p:nvSpPr>
        <p:spPr>
          <a:xfrm>
            <a:off x="315468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</a:t>
            </a:r>
            <a:endParaRPr lang="en-US" sz="1100" dirty="0"/>
          </a:p>
        </p:txBody>
      </p:sp>
      <p:sp>
        <p:nvSpPr>
          <p:cNvPr id="18" name="obj270"/>
          <p:cNvSpPr txBox="1"/>
          <p:nvPr/>
        </p:nvSpPr>
        <p:spPr>
          <a:xfrm>
            <a:off x="777240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es Could pero entra en el Sprint 2: es pequeña y calibra el filtrado de HU03–HU04 (dependencia).</a:t>
            </a:r>
            <a:endParaRPr lang="en-US" sz="1100" dirty="0"/>
          </a:p>
        </p:txBody>
      </p:sp>
      <p:sp>
        <p:nvSpPr>
          <p:cNvPr id="19" name="obj271"/>
          <p:cNvSpPr/>
          <p:nvPr/>
        </p:nvSpPr>
        <p:spPr>
          <a:xfrm>
            <a:off x="4663440" y="1097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4F4F2"/>
          </a:solidFill>
          <a:ln/>
        </p:spPr>
      </p:sp>
      <p:sp>
        <p:nvSpPr>
          <p:cNvPr id="20" name="obj272"/>
          <p:cNvSpPr txBox="1"/>
          <p:nvPr/>
        </p:nvSpPr>
        <p:spPr>
          <a:xfrm>
            <a:off x="48920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y plan</a:t>
            </a:r>
            <a:endParaRPr lang="en-US" sz="1800" dirty="0"/>
          </a:p>
        </p:txBody>
      </p:sp>
      <p:sp>
        <p:nvSpPr>
          <p:cNvPr id="21" name="obj273"/>
          <p:cNvSpPr txBox="1"/>
          <p:nvPr/>
        </p:nvSpPr>
        <p:spPr>
          <a:xfrm>
            <a:off x="4892040" y="1572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1–5 con el puño de cinco: votan Anthony y Luis; el PO aclara dudas.</a:t>
            </a:r>
            <a:endParaRPr lang="en-US" sz="1200" dirty="0"/>
          </a:p>
        </p:txBody>
      </p:sp>
      <p:sp>
        <p:nvSpPr>
          <p:cNvPr id="22" name="obj274"/>
          <p:cNvSpPr txBox="1"/>
          <p:nvPr/>
        </p:nvSpPr>
        <p:spPr>
          <a:xfrm>
            <a:off x="4892040" y="2103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3" name="obj275"/>
          <p:cNvSpPr/>
          <p:nvPr/>
        </p:nvSpPr>
        <p:spPr>
          <a:xfrm>
            <a:off x="5303520" y="2130552"/>
            <a:ext cx="24003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24" name="obj276"/>
          <p:cNvSpPr txBox="1"/>
          <p:nvPr/>
        </p:nvSpPr>
        <p:spPr>
          <a:xfrm>
            <a:off x="7776972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</a:t>
            </a:r>
            <a:endParaRPr lang="en-US" sz="1100" dirty="0"/>
          </a:p>
        </p:txBody>
      </p:sp>
      <p:sp>
        <p:nvSpPr>
          <p:cNvPr id="25" name="obj277"/>
          <p:cNvSpPr txBox="1"/>
          <p:nvPr/>
        </p:nvSpPr>
        <p:spPr>
          <a:xfrm>
            <a:off x="5303520" y="23408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– 01/11 · HU01 · HU02 · HU03</a:t>
            </a:r>
            <a:endParaRPr lang="en-US" sz="1000" dirty="0"/>
          </a:p>
        </p:txBody>
      </p:sp>
      <p:sp>
        <p:nvSpPr>
          <p:cNvPr id="26" name="obj278"/>
          <p:cNvSpPr txBox="1"/>
          <p:nvPr/>
        </p:nvSpPr>
        <p:spPr>
          <a:xfrm>
            <a:off x="4892040" y="2633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7" name="obj279"/>
          <p:cNvSpPr/>
          <p:nvPr/>
        </p:nvSpPr>
        <p:spPr>
          <a:xfrm>
            <a:off x="5303520" y="2660904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28" name="obj280"/>
          <p:cNvSpPr txBox="1"/>
          <p:nvPr/>
        </p:nvSpPr>
        <p:spPr>
          <a:xfrm>
            <a:off x="8119872" y="2633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29" name="obj281"/>
          <p:cNvSpPr txBox="1"/>
          <p:nvPr/>
        </p:nvSpPr>
        <p:spPr>
          <a:xfrm>
            <a:off x="5303520" y="2871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– 15/11 · HU04 · HU05 · HU06 · HU11</a:t>
            </a:r>
            <a:endParaRPr lang="en-US" sz="1000" dirty="0"/>
          </a:p>
        </p:txBody>
      </p:sp>
      <p:sp>
        <p:nvSpPr>
          <p:cNvPr id="30" name="obj282"/>
          <p:cNvSpPr txBox="1"/>
          <p:nvPr/>
        </p:nvSpPr>
        <p:spPr>
          <a:xfrm>
            <a:off x="4892040" y="31638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1" name="obj283"/>
          <p:cNvSpPr/>
          <p:nvPr/>
        </p:nvSpPr>
        <p:spPr>
          <a:xfrm>
            <a:off x="5303520" y="3191256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32" name="obj284"/>
          <p:cNvSpPr txBox="1"/>
          <p:nvPr/>
        </p:nvSpPr>
        <p:spPr>
          <a:xfrm>
            <a:off x="8119872" y="31638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33" name="obj285"/>
          <p:cNvSpPr txBox="1"/>
          <p:nvPr/>
        </p:nvSpPr>
        <p:spPr>
          <a:xfrm>
            <a:off x="5303520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 – 29/11 · HU07 · HU08</a:t>
            </a:r>
            <a:endParaRPr lang="en-US" sz="1000" dirty="0"/>
          </a:p>
        </p:txBody>
      </p:sp>
      <p:sp>
        <p:nvSpPr>
          <p:cNvPr id="34" name="obj286"/>
          <p:cNvSpPr txBox="1"/>
          <p:nvPr/>
        </p:nvSpPr>
        <p:spPr>
          <a:xfrm>
            <a:off x="4892040" y="36941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5" name="obj287"/>
          <p:cNvSpPr/>
          <p:nvPr/>
        </p:nvSpPr>
        <p:spPr>
          <a:xfrm>
            <a:off x="5303520" y="3721608"/>
            <a:ext cx="27432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36" name="obj288"/>
          <p:cNvSpPr txBox="1"/>
          <p:nvPr/>
        </p:nvSpPr>
        <p:spPr>
          <a:xfrm>
            <a:off x="8119872" y="36941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37" name="obj289"/>
          <p:cNvSpPr txBox="1"/>
          <p:nvPr/>
        </p:nvSpPr>
        <p:spPr>
          <a:xfrm>
            <a:off x="5303520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 – 11/12 · HU09 · HU10 · HU12</a:t>
            </a:r>
            <a:endParaRPr lang="en-US" sz="1000" dirty="0"/>
          </a:p>
        </p:txBody>
      </p:sp>
      <p:sp>
        <p:nvSpPr>
          <p:cNvPr id="38" name="obj290"/>
          <p:cNvSpPr txBox="1"/>
          <p:nvPr/>
        </p:nvSpPr>
        <p:spPr>
          <a:xfrm>
            <a:off x="4892040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31 puntos · unos 8 por sprint</a:t>
            </a:r>
            <a:endParaRPr lang="en-US" sz="1100" dirty="0"/>
          </a:p>
        </p:txBody>
      </p:sp>
      <p:sp>
        <p:nvSpPr>
          <p:cNvPr id="39" name="obj291"/>
          <p:cNvSpPr txBox="1"/>
          <p:nvPr/>
        </p:nvSpPr>
        <p:spPr>
          <a:xfrm>
            <a:off x="548640" y="45262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(por historia) ≠ Definición de terminado (común a todas, FGAP070)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Tablero Kanban de NewBit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2026-10-17T20:31:56Z</dcterms:created>
  <dcterms:modified xsi:type="dcterms:W3CDTF">2026-10-17T20:31:56Z</dcterms:modified>
</cp:coreProperties>
</file>