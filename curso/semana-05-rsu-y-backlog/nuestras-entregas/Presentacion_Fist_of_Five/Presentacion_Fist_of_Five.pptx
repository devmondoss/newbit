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 (PO). Presenta al Grupo D3 (laboratorio D, equipo 3) y el tema: una técnica de estimación del SBOK que se hace con una sola mano. Duración total: unos 10 minutos más una votación con el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Es una técnica del SBOK dentro del proceso 9.2 Estimar historias de usuario. Tiene dos usos: estimar el tamaño relativo de una historia y medir el acuerdo del equipo en una decisión. Vota el Equipo Scrum; el Product Owner no estima, solo aclara dudas. Solo se estiman historias que cumplen la definición de listo.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Estos son los cinco niveles tal como los define el SBOK cuando la técnica se usa para formar consenso. Con 1 o 2 la persona no está de acuerdo; con 3 tiene dudas pero acompaña al grupo; con 4 o 5 está de acuerdo. La sugerencia final es del equipo, no del libro.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1) El PO presenta la historia. 2) Todos votan al mismo tiempo para que nadie se deje llevar por el voto del otro. 3) Los votos más alto y más bajo explican su razón: ahí aparece la información que faltaba. 4) Se vuelve a votar o se toma la decisión. El SBOK destaca que el valor está en el debate, no solo en el consenso.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Simulación con una historia real de nuestras épicas (FGAP040, épica EP04). Izquierda: estimación. Anthony vota 2 porque creía que solo era mostrar el resultado; Luis vota 5 porque hay que armar secuencias de frames y entrenar el ConvLSTM. Tras explicarse, los dos votan 4: historia grande. Derecha: decisión con los tres. Hay dos votos de 2, así que no se cierra: se decide dividir HU07. Opcional: repetir la votación con el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Anthony. Aplicamos el puño de cinco a nuestras doce historias de usuario. Cada número es el tamaño acordado después de votar y de que los extremos explicaran su razón. La más grande es la HU07, procesar el clip con ConvLSTM, que vimos en el ejemplo anterior. Las de carga y configuración son pequeñas. Son votos simulados por el equipo; los reales se toman en la planificación de cada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Luis. Usamos el puño de cinco para decidir. Primera: la EP01 entra completa al Sprint 1, votos 5, 4 y 5, aprobado. Segunda: la EP02 y la EP03 juntas en el Sprint 2; hubo dos votos de 3, así que se acepta pero con una revisión a mitad del sprint. Tercera: la EP05 y la EP06 quedan para el Sprint 4, aprobado. La EP04 va en el Sprint 3 y la dividimos, como vimos en el ejemplo. Votos simulados.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Albert. Comparación con las otras tres técnicas de estimación del SBOK. El puño de cinco es la más rápida y además sirve para decidir; Planning Poker da más precisión. Cierre: lo importante es que los votos extremos expliquen su razón.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Puño de cinco · Grupo D3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1"/>
          <p:cNvSpPr txBox="1"/>
          <p:nvPr/>
        </p:nvSpPr>
        <p:spPr>
          <a:xfrm>
            <a:off x="6400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II · ESTIMACIÓN EN SCRUM</a:t>
            </a:r>
            <a:endParaRPr lang="en-US" sz="1100" dirty="0"/>
          </a:p>
        </p:txBody>
      </p:sp>
      <p:sp>
        <p:nvSpPr>
          <p:cNvPr id="3" name="obj2"/>
          <p:cNvSpPr txBox="1"/>
          <p:nvPr/>
        </p:nvSpPr>
        <p:spPr>
          <a:xfrm>
            <a:off x="64008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Puño de cinco</a:t>
            </a:r>
            <a:endParaRPr lang="en-US" sz="5400" dirty="0"/>
          </a:p>
        </p:txBody>
      </p:sp>
      <p:sp>
        <p:nvSpPr>
          <p:cNvPr id="4" name="obj3"/>
          <p:cNvSpPr txBox="1"/>
          <p:nvPr/>
        </p:nvSpPr>
        <p:spPr>
          <a:xfrm>
            <a:off x="640080" y="2103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 of Five</a:t>
            </a:r>
            <a:pPr algn="l" indent="0" marL="0">
              <a:buNone/>
            </a:pPr>
            <a:r>
              <a:rPr lang="en-US" sz="2000" dirty="0">
                <a:solidFill>
                  <a:srgbClr val="D9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estimar y decidir en equipo con una sola mano</a:t>
            </a:r>
            <a:endParaRPr lang="en-US" sz="2000" dirty="0"/>
          </a:p>
        </p:txBody>
      </p:sp>
      <p:sp>
        <p:nvSpPr>
          <p:cNvPr id="5" name="obj4"/>
          <p:cNvSpPr/>
          <p:nvPr/>
        </p:nvSpPr>
        <p:spPr>
          <a:xfrm>
            <a:off x="6494069" y="1254923"/>
            <a:ext cx="281635" cy="96560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" name="obj5"/>
          <p:cNvSpPr/>
          <p:nvPr/>
        </p:nvSpPr>
        <p:spPr>
          <a:xfrm>
            <a:off x="6856171" y="1158362"/>
            <a:ext cx="281635" cy="1062167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" name="obj6"/>
          <p:cNvSpPr/>
          <p:nvPr/>
        </p:nvSpPr>
        <p:spPr>
          <a:xfrm>
            <a:off x="7218274" y="1254923"/>
            <a:ext cx="281635" cy="96560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" name="obj7"/>
          <p:cNvSpPr/>
          <p:nvPr/>
        </p:nvSpPr>
        <p:spPr>
          <a:xfrm>
            <a:off x="7580376" y="1448044"/>
            <a:ext cx="281635" cy="772485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9" name="obj8"/>
          <p:cNvSpPr/>
          <p:nvPr/>
        </p:nvSpPr>
        <p:spPr>
          <a:xfrm rot="-1920000">
            <a:off x="6212434" y="1882567"/>
            <a:ext cx="301752" cy="820765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9"/>
          <p:cNvSpPr/>
          <p:nvPr/>
        </p:nvSpPr>
        <p:spPr>
          <a:xfrm>
            <a:off x="6453835" y="2075688"/>
            <a:ext cx="1448410" cy="1110447"/>
          </a:xfrm>
          <a:prstGeom prst="roundRect">
            <a:avLst>
              <a:gd name="adj" fmla="val 28986"/>
            </a:avLst>
          </a:prstGeom>
          <a:solidFill>
            <a:srgbClr val="F2643D"/>
          </a:solidFill>
          <a:ln/>
        </p:spPr>
      </p:sp>
      <p:sp>
        <p:nvSpPr>
          <p:cNvPr id="11" name="obj10"/>
          <p:cNvSpPr txBox="1"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D3</a:t>
            </a:r>
            <a:pPr algn="l" indent="0" marL="0">
              <a:buNone/>
            </a:pPr>
            <a:r>
              <a:rPr lang="en-US" sz="1100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Laboratorio D · Equipo 3 · Proyecto NewBit</a:t>
            </a:r>
            <a:endParaRPr lang="en-US" sz="1100" dirty="0"/>
          </a:p>
        </p:txBody>
      </p:sp>
      <p:sp>
        <p:nvSpPr>
          <p:cNvPr id="12" name="obj11"/>
          <p:cNvSpPr/>
          <p:nvPr/>
        </p:nvSpPr>
        <p:spPr>
          <a:xfrm>
            <a:off x="64008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3" name="obj12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4" name="obj13"/>
          <p:cNvSpPr txBox="1"/>
          <p:nvPr/>
        </p:nvSpPr>
        <p:spPr>
          <a:xfrm>
            <a:off x="120700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 Chumacero</a:t>
            </a:r>
            <a:endParaRPr lang="en-US" sz="1400" dirty="0"/>
          </a:p>
        </p:txBody>
      </p:sp>
      <p:sp>
        <p:nvSpPr>
          <p:cNvPr id="15" name="obj14"/>
          <p:cNvSpPr txBox="1"/>
          <p:nvPr/>
        </p:nvSpPr>
        <p:spPr>
          <a:xfrm>
            <a:off x="120700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100" dirty="0"/>
          </a:p>
        </p:txBody>
      </p:sp>
      <p:sp>
        <p:nvSpPr>
          <p:cNvPr id="16" name="obj15"/>
          <p:cNvSpPr/>
          <p:nvPr/>
        </p:nvSpPr>
        <p:spPr>
          <a:xfrm>
            <a:off x="329184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17" name="obj16"/>
          <p:cNvSpPr txBox="1"/>
          <p:nvPr/>
        </p:nvSpPr>
        <p:spPr>
          <a:xfrm>
            <a:off x="32918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300" dirty="0"/>
          </a:p>
        </p:txBody>
      </p:sp>
      <p:sp>
        <p:nvSpPr>
          <p:cNvPr id="18" name="obj17"/>
          <p:cNvSpPr txBox="1"/>
          <p:nvPr/>
        </p:nvSpPr>
        <p:spPr>
          <a:xfrm>
            <a:off x="385876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 Lopez</a:t>
            </a:r>
            <a:endParaRPr lang="en-US" sz="1400" dirty="0"/>
          </a:p>
        </p:txBody>
      </p:sp>
      <p:sp>
        <p:nvSpPr>
          <p:cNvPr id="19" name="obj18"/>
          <p:cNvSpPr txBox="1"/>
          <p:nvPr/>
        </p:nvSpPr>
        <p:spPr>
          <a:xfrm>
            <a:off x="385876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· Developer</a:t>
            </a:r>
            <a:endParaRPr lang="en-US" sz="1100" dirty="0"/>
          </a:p>
        </p:txBody>
      </p:sp>
      <p:sp>
        <p:nvSpPr>
          <p:cNvPr id="20" name="obj19"/>
          <p:cNvSpPr/>
          <p:nvPr/>
        </p:nvSpPr>
        <p:spPr>
          <a:xfrm>
            <a:off x="594360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3A36"/>
          </a:solidFill>
          <a:ln/>
        </p:spPr>
      </p:sp>
      <p:sp>
        <p:nvSpPr>
          <p:cNvPr id="21" name="obj20"/>
          <p:cNvSpPr txBox="1"/>
          <p:nvPr/>
        </p:nvSpPr>
        <p:spPr>
          <a:xfrm>
            <a:off x="59436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300" dirty="0"/>
          </a:p>
        </p:txBody>
      </p:sp>
      <p:sp>
        <p:nvSpPr>
          <p:cNvPr id="22" name="obj21"/>
          <p:cNvSpPr txBox="1"/>
          <p:nvPr/>
        </p:nvSpPr>
        <p:spPr>
          <a:xfrm>
            <a:off x="6510528" y="3694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Salazar</a:t>
            </a:r>
            <a:endParaRPr lang="en-US" sz="1400" dirty="0"/>
          </a:p>
        </p:txBody>
      </p:sp>
      <p:sp>
        <p:nvSpPr>
          <p:cNvPr id="23" name="obj22"/>
          <p:cNvSpPr txBox="1"/>
          <p:nvPr/>
        </p:nvSpPr>
        <p:spPr>
          <a:xfrm>
            <a:off x="6510528" y="3950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3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4" name="obj23"/>
          <p:cNvSpPr txBox="1"/>
          <p:nvPr/>
        </p:nvSpPr>
        <p:spPr>
          <a:xfrm>
            <a:off x="640080" y="45262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Dr. Ing. Alfredo Daza Vergaray · Ingeniería de Software II · UNS · 2026-II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Votar a la vez, con los dedos, del 1 al 5</a:t>
            </a:r>
            <a:endParaRPr lang="en-US" sz="3000" dirty="0"/>
          </a:p>
        </p:txBody>
      </p:sp>
      <p:sp>
        <p:nvSpPr>
          <p:cNvPr id="3" name="obj24"/>
          <p:cNvSpPr txBox="1"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del SBOK (proceso 9.2 Estimar historias de usuario). Sencilla, rápida y sin materiales.</a:t>
            </a:r>
            <a:endParaRPr lang="en-US" sz="1500" dirty="0"/>
          </a:p>
        </p:txBody>
      </p:sp>
      <p:sp>
        <p:nvSpPr>
          <p:cNvPr id="4" name="obj25"/>
          <p:cNvSpPr/>
          <p:nvPr/>
        </p:nvSpPr>
        <p:spPr>
          <a:xfrm>
            <a:off x="548640" y="1737360"/>
            <a:ext cx="3886200" cy="233172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/>
        </p:spPr>
      </p:sp>
      <p:sp>
        <p:nvSpPr>
          <p:cNvPr id="5" name="obj26"/>
          <p:cNvSpPr/>
          <p:nvPr/>
        </p:nvSpPr>
        <p:spPr>
          <a:xfrm>
            <a:off x="993038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6" name="obj27"/>
          <p:cNvSpPr/>
          <p:nvPr/>
        </p:nvSpPr>
        <p:spPr>
          <a:xfrm>
            <a:off x="1132942" y="2123603"/>
            <a:ext cx="108814" cy="410383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7" name="obj28"/>
          <p:cNvSpPr/>
          <p:nvPr/>
        </p:nvSpPr>
        <p:spPr>
          <a:xfrm>
            <a:off x="1272845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1F2421"/>
          </a:solidFill>
          <a:ln/>
        </p:spPr>
      </p:sp>
      <p:sp>
        <p:nvSpPr>
          <p:cNvPr id="8" name="obj29"/>
          <p:cNvSpPr/>
          <p:nvPr/>
        </p:nvSpPr>
        <p:spPr>
          <a:xfrm>
            <a:off x="1412748" y="2431390"/>
            <a:ext cx="108814" cy="102596"/>
          </a:xfrm>
          <a:prstGeom prst="roundRect">
            <a:avLst>
              <a:gd name="adj" fmla="val 50000"/>
            </a:avLst>
          </a:prstGeom>
          <a:solidFill>
            <a:srgbClr val="1F2421">
              <a:alpha val="40000"/>
            </a:srgbClr>
          </a:solidFill>
          <a:ln/>
        </p:spPr>
      </p:sp>
      <p:sp>
        <p:nvSpPr>
          <p:cNvPr id="9" name="obj30"/>
          <p:cNvSpPr/>
          <p:nvPr/>
        </p:nvSpPr>
        <p:spPr>
          <a:xfrm>
            <a:off x="977494" y="2478024"/>
            <a:ext cx="559613" cy="429036"/>
          </a:xfrm>
          <a:prstGeom prst="roundRect">
            <a:avLst>
              <a:gd name="adj" fmla="val 28986"/>
            </a:avLst>
          </a:prstGeom>
          <a:solidFill>
            <a:srgbClr val="1F2421"/>
          </a:solidFill>
          <a:ln/>
        </p:spPr>
      </p:sp>
      <p:sp>
        <p:nvSpPr>
          <p:cNvPr id="10" name="obj31"/>
          <p:cNvSpPr txBox="1"/>
          <p:nvPr/>
        </p:nvSpPr>
        <p:spPr>
          <a:xfrm>
            <a:off x="18745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estimar</a:t>
            </a:r>
            <a:endParaRPr lang="en-US" sz="2000" dirty="0"/>
          </a:p>
        </p:txBody>
      </p:sp>
      <p:sp>
        <p:nvSpPr>
          <p:cNvPr id="11" name="obj32"/>
          <p:cNvSpPr txBox="1"/>
          <p:nvPr/>
        </p:nvSpPr>
        <p:spPr>
          <a:xfrm>
            <a:off x="187452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dedos indican el tamaño relativo de una historia de usuario.</a:t>
            </a:r>
            <a:endParaRPr lang="en-US" sz="1400" dirty="0"/>
          </a:p>
        </p:txBody>
      </p:sp>
      <p:sp>
        <p:nvSpPr>
          <p:cNvPr id="12" name="obj33"/>
          <p:cNvSpPr txBox="1"/>
          <p:nvPr/>
        </p:nvSpPr>
        <p:spPr>
          <a:xfrm>
            <a:off x="86868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muy pequeña · 5 = muy grande</a:t>
            </a:r>
            <a:endParaRPr lang="en-US" sz="1200" dirty="0"/>
          </a:p>
        </p:txBody>
      </p:sp>
      <p:sp>
        <p:nvSpPr>
          <p:cNvPr id="13" name="obj34"/>
          <p:cNvSpPr/>
          <p:nvPr/>
        </p:nvSpPr>
        <p:spPr>
          <a:xfrm>
            <a:off x="4709160" y="1737360"/>
            <a:ext cx="3886200" cy="2331720"/>
          </a:xfrm>
          <a:prstGeom prst="roundRect">
            <a:avLst>
              <a:gd name="adj" fmla="val 7059"/>
            </a:avLst>
          </a:prstGeom>
          <a:solidFill>
            <a:srgbClr val="F4F4F2"/>
          </a:solidFill>
          <a:ln/>
        </p:spPr>
      </p:sp>
      <p:sp>
        <p:nvSpPr>
          <p:cNvPr id="14" name="obj35"/>
          <p:cNvSpPr/>
          <p:nvPr/>
        </p:nvSpPr>
        <p:spPr>
          <a:xfrm>
            <a:off x="5153558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5" name="obj36"/>
          <p:cNvSpPr/>
          <p:nvPr/>
        </p:nvSpPr>
        <p:spPr>
          <a:xfrm>
            <a:off x="5293462" y="2123603"/>
            <a:ext cx="108814" cy="41038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6" name="obj37"/>
          <p:cNvSpPr/>
          <p:nvPr/>
        </p:nvSpPr>
        <p:spPr>
          <a:xfrm>
            <a:off x="5433365" y="2160910"/>
            <a:ext cx="108814" cy="373075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7" name="obj38"/>
          <p:cNvSpPr/>
          <p:nvPr/>
        </p:nvSpPr>
        <p:spPr>
          <a:xfrm>
            <a:off x="5573268" y="2235525"/>
            <a:ext cx="108814" cy="298460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8" name="obj39"/>
          <p:cNvSpPr/>
          <p:nvPr/>
        </p:nvSpPr>
        <p:spPr>
          <a:xfrm rot="-1920000">
            <a:off x="5044745" y="2403409"/>
            <a:ext cx="116586" cy="31711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9" name="obj40"/>
          <p:cNvSpPr/>
          <p:nvPr/>
        </p:nvSpPr>
        <p:spPr>
          <a:xfrm>
            <a:off x="5138014" y="2478024"/>
            <a:ext cx="559613" cy="429036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0" name="obj41"/>
          <p:cNvSpPr txBox="1"/>
          <p:nvPr/>
        </p:nvSpPr>
        <p:spPr>
          <a:xfrm>
            <a:off x="603504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</a:t>
            </a:r>
            <a:endParaRPr lang="en-US" sz="2000" dirty="0"/>
          </a:p>
        </p:txBody>
      </p:sp>
      <p:sp>
        <p:nvSpPr>
          <p:cNvPr id="21" name="obj42"/>
          <p:cNvSpPr txBox="1"/>
          <p:nvPr/>
        </p:nvSpPr>
        <p:spPr>
          <a:xfrm>
            <a:off x="6035040" y="24688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dedos indican cuánto estoy de acuerdo con la propuesta.</a:t>
            </a:r>
            <a:endParaRPr lang="en-US" sz="1400" dirty="0"/>
          </a:p>
        </p:txBody>
      </p:sp>
      <p:sp>
        <p:nvSpPr>
          <p:cNvPr id="22" name="obj43"/>
          <p:cNvSpPr txBox="1"/>
          <p:nvPr/>
        </p:nvSpPr>
        <p:spPr>
          <a:xfrm>
            <a:off x="5029200" y="3474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¿esta historia entra al sprint?</a:t>
            </a:r>
            <a:endParaRPr lang="en-US" sz="1200" dirty="0"/>
          </a:p>
        </p:txBody>
      </p:sp>
      <p:sp>
        <p:nvSpPr>
          <p:cNvPr id="23" name="obj44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el Equipo Scrum · el Product Owner solo aclara dudas · solo se estiman historias que cumplen la definición de listo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dedo</a:t>
            </a:r>
            <a:endParaRPr lang="en-US" sz="3000" dirty="0"/>
          </a:p>
        </p:txBody>
      </p:sp>
      <p:sp>
        <p:nvSpPr>
          <p:cNvPr id="3" name="obj45"/>
          <p:cNvSpPr txBox="1"/>
          <p:nvPr/>
        </p:nvSpPr>
        <p:spPr>
          <a:xfrm>
            <a:off x="5486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</a:t>
            </a:r>
            <a:endParaRPr lang="en-US" sz="1100" dirty="0"/>
          </a:p>
        </p:txBody>
      </p:sp>
      <p:sp>
        <p:nvSpPr>
          <p:cNvPr id="4" name="obj46"/>
          <p:cNvSpPr txBox="1"/>
          <p:nvPr/>
        </p:nvSpPr>
        <p:spPr>
          <a:xfrm>
            <a:off x="3840480" y="1188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</a:t>
            </a:r>
            <a:endParaRPr lang="en-US" sz="1100" dirty="0"/>
          </a:p>
        </p:txBody>
      </p:sp>
      <p:sp>
        <p:nvSpPr>
          <p:cNvPr id="5" name="obj47"/>
          <p:cNvSpPr txBox="1"/>
          <p:nvPr/>
        </p:nvSpPr>
        <p:spPr>
          <a:xfrm>
            <a:off x="548640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ACUERDO</a:t>
            </a:r>
            <a:endParaRPr lang="en-US" sz="1100" dirty="0"/>
          </a:p>
        </p:txBody>
      </p:sp>
      <p:sp>
        <p:nvSpPr>
          <p:cNvPr id="6" name="obj48"/>
          <p:cNvSpPr/>
          <p:nvPr/>
        </p:nvSpPr>
        <p:spPr>
          <a:xfrm>
            <a:off x="100035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7" name="obj49"/>
          <p:cNvSpPr/>
          <p:nvPr/>
        </p:nvSpPr>
        <p:spPr>
          <a:xfrm>
            <a:off x="1148486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8" name="obj50"/>
          <p:cNvSpPr/>
          <p:nvPr/>
        </p:nvSpPr>
        <p:spPr>
          <a:xfrm>
            <a:off x="1296619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9" name="obj51"/>
          <p:cNvSpPr/>
          <p:nvPr/>
        </p:nvSpPr>
        <p:spPr>
          <a:xfrm>
            <a:off x="144475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0" name="obj52"/>
          <p:cNvSpPr/>
          <p:nvPr/>
        </p:nvSpPr>
        <p:spPr>
          <a:xfrm>
            <a:off x="98389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1" name="obj53"/>
          <p:cNvSpPr txBox="1"/>
          <p:nvPr/>
        </p:nvSpPr>
        <p:spPr>
          <a:xfrm>
            <a:off x="54864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obj54"/>
          <p:cNvSpPr txBox="1"/>
          <p:nvPr/>
        </p:nvSpPr>
        <p:spPr>
          <a:xfrm>
            <a:off x="54864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 y tengo grandes inquietudes</a:t>
            </a:r>
            <a:endParaRPr lang="en-US" sz="1300" dirty="0"/>
          </a:p>
        </p:txBody>
      </p:sp>
      <p:sp>
        <p:nvSpPr>
          <p:cNvPr id="13" name="obj55"/>
          <p:cNvSpPr/>
          <p:nvPr/>
        </p:nvSpPr>
        <p:spPr>
          <a:xfrm>
            <a:off x="264627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4" name="obj56"/>
          <p:cNvSpPr/>
          <p:nvPr/>
        </p:nvSpPr>
        <p:spPr>
          <a:xfrm>
            <a:off x="279440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5" name="obj57"/>
          <p:cNvSpPr/>
          <p:nvPr/>
        </p:nvSpPr>
        <p:spPr>
          <a:xfrm>
            <a:off x="2942539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6" name="obj58"/>
          <p:cNvSpPr/>
          <p:nvPr/>
        </p:nvSpPr>
        <p:spPr>
          <a:xfrm>
            <a:off x="309067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7" name="obj59"/>
          <p:cNvSpPr/>
          <p:nvPr/>
        </p:nvSpPr>
        <p:spPr>
          <a:xfrm>
            <a:off x="262981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8" name="obj60"/>
          <p:cNvSpPr txBox="1"/>
          <p:nvPr/>
        </p:nvSpPr>
        <p:spPr>
          <a:xfrm>
            <a:off x="219456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obj61"/>
          <p:cNvSpPr txBox="1"/>
          <p:nvPr/>
        </p:nvSpPr>
        <p:spPr>
          <a:xfrm>
            <a:off x="219456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de acuerdo; quiero hablar de temas menores</a:t>
            </a:r>
            <a:endParaRPr lang="en-US" sz="1300" dirty="0"/>
          </a:p>
        </p:txBody>
      </p:sp>
      <p:sp>
        <p:nvSpPr>
          <p:cNvPr id="20" name="obj62"/>
          <p:cNvSpPr/>
          <p:nvPr/>
        </p:nvSpPr>
        <p:spPr>
          <a:xfrm>
            <a:off x="429219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1" name="obj63"/>
          <p:cNvSpPr/>
          <p:nvPr/>
        </p:nvSpPr>
        <p:spPr>
          <a:xfrm>
            <a:off x="444032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2" name="obj64"/>
          <p:cNvSpPr/>
          <p:nvPr/>
        </p:nvSpPr>
        <p:spPr>
          <a:xfrm>
            <a:off x="458845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3" name="obj65"/>
          <p:cNvSpPr/>
          <p:nvPr/>
        </p:nvSpPr>
        <p:spPr>
          <a:xfrm>
            <a:off x="4736592" y="2090318"/>
            <a:ext cx="115214" cy="108631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24" name="obj66"/>
          <p:cNvSpPr/>
          <p:nvPr/>
        </p:nvSpPr>
        <p:spPr>
          <a:xfrm>
            <a:off x="427573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25" name="obj67"/>
          <p:cNvSpPr txBox="1"/>
          <p:nvPr/>
        </p:nvSpPr>
        <p:spPr>
          <a:xfrm>
            <a:off x="384048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obj68"/>
          <p:cNvSpPr txBox="1"/>
          <p:nvPr/>
        </p:nvSpPr>
        <p:spPr>
          <a:xfrm>
            <a:off x="384048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estoy seguro, pero me sumo al grupo</a:t>
            </a:r>
            <a:endParaRPr lang="en-US" sz="1300" dirty="0"/>
          </a:p>
        </p:txBody>
      </p:sp>
      <p:sp>
        <p:nvSpPr>
          <p:cNvPr id="27" name="obj69"/>
          <p:cNvSpPr/>
          <p:nvPr/>
        </p:nvSpPr>
        <p:spPr>
          <a:xfrm>
            <a:off x="593811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8" name="obj70"/>
          <p:cNvSpPr/>
          <p:nvPr/>
        </p:nvSpPr>
        <p:spPr>
          <a:xfrm>
            <a:off x="608624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9" name="obj71"/>
          <p:cNvSpPr/>
          <p:nvPr/>
        </p:nvSpPr>
        <p:spPr>
          <a:xfrm>
            <a:off x="623437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0" name="obj72"/>
          <p:cNvSpPr/>
          <p:nvPr/>
        </p:nvSpPr>
        <p:spPr>
          <a:xfrm>
            <a:off x="6382512" y="1882932"/>
            <a:ext cx="115214" cy="31601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1" name="obj73"/>
          <p:cNvSpPr/>
          <p:nvPr/>
        </p:nvSpPr>
        <p:spPr>
          <a:xfrm>
            <a:off x="592165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2" name="obj74"/>
          <p:cNvSpPr txBox="1"/>
          <p:nvPr/>
        </p:nvSpPr>
        <p:spPr>
          <a:xfrm>
            <a:off x="548640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obj75"/>
          <p:cNvSpPr txBox="1"/>
          <p:nvPr/>
        </p:nvSpPr>
        <p:spPr>
          <a:xfrm>
            <a:off x="548640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de acuerdo; quiero comentar temas menores</a:t>
            </a:r>
            <a:endParaRPr lang="en-US" sz="1300" dirty="0"/>
          </a:p>
        </p:txBody>
      </p:sp>
      <p:sp>
        <p:nvSpPr>
          <p:cNvPr id="34" name="obj76"/>
          <p:cNvSpPr/>
          <p:nvPr/>
        </p:nvSpPr>
        <p:spPr>
          <a:xfrm>
            <a:off x="7584034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5" name="obj77"/>
          <p:cNvSpPr/>
          <p:nvPr/>
        </p:nvSpPr>
        <p:spPr>
          <a:xfrm>
            <a:off x="7732166" y="1764426"/>
            <a:ext cx="115214" cy="43452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6" name="obj78"/>
          <p:cNvSpPr/>
          <p:nvPr/>
        </p:nvSpPr>
        <p:spPr>
          <a:xfrm>
            <a:off x="7880299" y="1803928"/>
            <a:ext cx="115214" cy="395021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7" name="obj79"/>
          <p:cNvSpPr/>
          <p:nvPr/>
        </p:nvSpPr>
        <p:spPr>
          <a:xfrm>
            <a:off x="8028432" y="1882932"/>
            <a:ext cx="115214" cy="31601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8" name="obj80"/>
          <p:cNvSpPr/>
          <p:nvPr/>
        </p:nvSpPr>
        <p:spPr>
          <a:xfrm rot="-1920000">
            <a:off x="7468819" y="2060692"/>
            <a:ext cx="123444" cy="3357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9" name="obj81"/>
          <p:cNvSpPr/>
          <p:nvPr/>
        </p:nvSpPr>
        <p:spPr>
          <a:xfrm>
            <a:off x="7567574" y="2139696"/>
            <a:ext cx="592531" cy="45427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40" name="obj82"/>
          <p:cNvSpPr txBox="1"/>
          <p:nvPr/>
        </p:nvSpPr>
        <p:spPr>
          <a:xfrm>
            <a:off x="7132320" y="2697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41" name="obj83"/>
          <p:cNvSpPr txBox="1"/>
          <p:nvPr/>
        </p:nvSpPr>
        <p:spPr>
          <a:xfrm>
            <a:off x="7132320" y="3200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Estoy totalmente de acuerdo</a:t>
            </a:r>
            <a:endParaRPr lang="en-US" sz="1300" dirty="0"/>
          </a:p>
        </p:txBody>
      </p:sp>
      <p:sp>
        <p:nvSpPr>
          <p:cNvPr id="42" name="obj84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Sugerencia: </a:t>
            </a:r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muestra 1 o 2, se escucha su razón antes de cerrar.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usa, en 4 pasos</a:t>
            </a:r>
            <a:endParaRPr lang="en-US" sz="3000" dirty="0"/>
          </a:p>
        </p:txBody>
      </p:sp>
      <p:sp>
        <p:nvSpPr>
          <p:cNvPr id="3" name="obj85"/>
          <p:cNvSpPr/>
          <p:nvPr/>
        </p:nvSpPr>
        <p:spPr>
          <a:xfrm>
            <a:off x="548640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4" name="obj86"/>
          <p:cNvSpPr/>
          <p:nvPr/>
        </p:nvSpPr>
        <p:spPr>
          <a:xfrm>
            <a:off x="777240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5" name="obj87"/>
          <p:cNvSpPr txBox="1"/>
          <p:nvPr/>
        </p:nvSpPr>
        <p:spPr>
          <a:xfrm>
            <a:off x="777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obj88"/>
          <p:cNvSpPr txBox="1"/>
          <p:nvPr/>
        </p:nvSpPr>
        <p:spPr>
          <a:xfrm>
            <a:off x="777240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endParaRPr lang="en-US" sz="1700" dirty="0"/>
          </a:p>
        </p:txBody>
      </p:sp>
      <p:sp>
        <p:nvSpPr>
          <p:cNvPr id="7" name="obj89"/>
          <p:cNvSpPr txBox="1"/>
          <p:nvPr/>
        </p:nvSpPr>
        <p:spPr>
          <a:xfrm>
            <a:off x="777240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 lee la historia y sus criterios de aceptación. Se aclaran dudas.</a:t>
            </a:r>
            <a:endParaRPr lang="en-US" sz="1300" dirty="0"/>
          </a:p>
        </p:txBody>
      </p:sp>
      <p:sp>
        <p:nvSpPr>
          <p:cNvPr id="8" name="obj90"/>
          <p:cNvSpPr/>
          <p:nvPr/>
        </p:nvSpPr>
        <p:spPr>
          <a:xfrm>
            <a:off x="2624328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9" name="obj91"/>
          <p:cNvSpPr/>
          <p:nvPr/>
        </p:nvSpPr>
        <p:spPr>
          <a:xfrm>
            <a:off x="2852928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92"/>
          <p:cNvSpPr txBox="1"/>
          <p:nvPr/>
        </p:nvSpPr>
        <p:spPr>
          <a:xfrm>
            <a:off x="285292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obj93"/>
          <p:cNvSpPr txBox="1"/>
          <p:nvPr/>
        </p:nvSpPr>
        <p:spPr>
          <a:xfrm>
            <a:off x="2852928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Votar a la vez</a:t>
            </a:r>
            <a:endParaRPr lang="en-US" sz="1700" dirty="0"/>
          </a:p>
        </p:txBody>
      </p:sp>
      <p:sp>
        <p:nvSpPr>
          <p:cNvPr id="12" name="obj94"/>
          <p:cNvSpPr txBox="1"/>
          <p:nvPr/>
        </p:nvSpPr>
        <p:spPr>
          <a:xfrm>
            <a:off x="2852928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«3, 2, 1… ¡mano!» Todos muestran los dedos al mismo tiempo.</a:t>
            </a:r>
            <a:endParaRPr lang="en-US" sz="1300" dirty="0"/>
          </a:p>
        </p:txBody>
      </p:sp>
      <p:sp>
        <p:nvSpPr>
          <p:cNvPr id="13" name="obj95"/>
          <p:cNvSpPr/>
          <p:nvPr/>
        </p:nvSpPr>
        <p:spPr>
          <a:xfrm>
            <a:off x="4700016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14" name="obj96"/>
          <p:cNvSpPr/>
          <p:nvPr/>
        </p:nvSpPr>
        <p:spPr>
          <a:xfrm>
            <a:off x="4928616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5" name="obj97"/>
          <p:cNvSpPr txBox="1"/>
          <p:nvPr/>
        </p:nvSpPr>
        <p:spPr>
          <a:xfrm>
            <a:off x="49286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obj98"/>
          <p:cNvSpPr txBox="1"/>
          <p:nvPr/>
        </p:nvSpPr>
        <p:spPr>
          <a:xfrm>
            <a:off x="4928616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extremos</a:t>
            </a:r>
            <a:endParaRPr lang="en-US" sz="1700" dirty="0"/>
          </a:p>
        </p:txBody>
      </p:sp>
      <p:sp>
        <p:nvSpPr>
          <p:cNvPr id="17" name="obj99"/>
          <p:cNvSpPr txBox="1"/>
          <p:nvPr/>
        </p:nvSpPr>
        <p:spPr>
          <a:xfrm>
            <a:off x="4928616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votó más alto y quien votó más bajo explican por qué.</a:t>
            </a:r>
            <a:endParaRPr lang="en-US" sz="1300" dirty="0"/>
          </a:p>
        </p:txBody>
      </p:sp>
      <p:sp>
        <p:nvSpPr>
          <p:cNvPr id="18" name="obj100"/>
          <p:cNvSpPr/>
          <p:nvPr/>
        </p:nvSpPr>
        <p:spPr>
          <a:xfrm>
            <a:off x="6775704" y="1234440"/>
            <a:ext cx="1828800" cy="2560320"/>
          </a:xfrm>
          <a:prstGeom prst="roundRect">
            <a:avLst>
              <a:gd name="adj" fmla="val 9000"/>
            </a:avLst>
          </a:prstGeom>
          <a:solidFill>
            <a:srgbClr val="F4F4F2"/>
          </a:solidFill>
          <a:ln/>
        </p:spPr>
      </p:sp>
      <p:sp>
        <p:nvSpPr>
          <p:cNvPr id="19" name="obj101"/>
          <p:cNvSpPr/>
          <p:nvPr/>
        </p:nvSpPr>
        <p:spPr>
          <a:xfrm>
            <a:off x="7004304" y="14630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20" name="obj102"/>
          <p:cNvSpPr txBox="1"/>
          <p:nvPr/>
        </p:nvSpPr>
        <p:spPr>
          <a:xfrm>
            <a:off x="700430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obj103"/>
          <p:cNvSpPr txBox="1"/>
          <p:nvPr/>
        </p:nvSpPr>
        <p:spPr>
          <a:xfrm>
            <a:off x="7004304" y="2103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Re-votar o decidir</a:t>
            </a:r>
            <a:endParaRPr lang="en-US" sz="1700" dirty="0"/>
          </a:p>
        </p:txBody>
      </p:sp>
      <p:sp>
        <p:nvSpPr>
          <p:cNvPr id="22" name="obj104"/>
          <p:cNvSpPr txBox="1"/>
          <p:nvPr/>
        </p:nvSpPr>
        <p:spPr>
          <a:xfrm>
            <a:off x="7004304" y="2788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ronda hasta acercarse. Se anota el valor acordado.</a:t>
            </a:r>
            <a:endParaRPr lang="en-US" sz="1300" dirty="0"/>
          </a:p>
        </p:txBody>
      </p:sp>
      <p:sp>
        <p:nvSpPr>
          <p:cNvPr id="23" name="obj105"/>
          <p:cNvSpPr/>
          <p:nvPr/>
        </p:nvSpPr>
        <p:spPr>
          <a:xfrm>
            <a:off x="548640" y="3977640"/>
            <a:ext cx="8046720" cy="566928"/>
          </a:xfrm>
          <a:prstGeom prst="roundRect">
            <a:avLst>
              <a:gd name="adj" fmla="val 19355"/>
            </a:avLst>
          </a:prstGeom>
          <a:solidFill>
            <a:srgbClr val="FDEDE7"/>
          </a:solidFill>
          <a:ln/>
        </p:spPr>
      </p:sp>
      <p:sp>
        <p:nvSpPr>
          <p:cNvPr id="24" name="obj106"/>
          <p:cNvSpPr txBox="1"/>
          <p:nvPr/>
        </p:nvSpPr>
        <p:spPr>
          <a:xfrm>
            <a:off x="777240" y="3977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valioso no es solo el número: es la conversación que abren los votos distintos.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HU07 «Procesar el clip con ConvLSTM»</a:t>
            </a:r>
            <a:endParaRPr lang="en-US" sz="3000" dirty="0"/>
          </a:p>
        </p:txBody>
      </p:sp>
      <p:sp>
        <p:nvSpPr>
          <p:cNvPr id="3" name="obj107"/>
          <p:cNvSpPr txBox="1"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EP04 · Clasificación espacio-temporal (ConvLSTM) · simulación del equipo NewBit</a:t>
            </a:r>
            <a:endParaRPr lang="en-US" sz="1200" dirty="0"/>
          </a:p>
        </p:txBody>
      </p:sp>
      <p:sp>
        <p:nvSpPr>
          <p:cNvPr id="4" name="obj108"/>
          <p:cNvSpPr/>
          <p:nvPr/>
        </p:nvSpPr>
        <p:spPr>
          <a:xfrm>
            <a:off x="548640" y="1417320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4F4F2"/>
          </a:solidFill>
          <a:ln/>
        </p:spPr>
      </p:sp>
      <p:sp>
        <p:nvSpPr>
          <p:cNvPr id="5" name="obj109"/>
          <p:cNvSpPr txBox="1"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Estimar la historia</a:t>
            </a:r>
            <a:endParaRPr lang="en-US" sz="1600" dirty="0"/>
          </a:p>
        </p:txBody>
      </p:sp>
      <p:sp>
        <p:nvSpPr>
          <p:cNvPr id="6" name="obj110"/>
          <p:cNvSpPr txBox="1"/>
          <p:nvPr/>
        </p:nvSpPr>
        <p:spPr>
          <a:xfrm>
            <a:off x="77724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el equipo de desarrollo</a:t>
            </a:r>
            <a:endParaRPr lang="en-US" sz="1100" dirty="0"/>
          </a:p>
        </p:txBody>
      </p:sp>
      <p:sp>
        <p:nvSpPr>
          <p:cNvPr id="7" name="obj111"/>
          <p:cNvSpPr txBox="1"/>
          <p:nvPr/>
        </p:nvSpPr>
        <p:spPr>
          <a:xfrm>
            <a:off x="7772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1</a:t>
            </a:r>
            <a:endParaRPr lang="en-US" sz="1200" dirty="0"/>
          </a:p>
        </p:txBody>
      </p:sp>
      <p:sp>
        <p:nvSpPr>
          <p:cNvPr id="8" name="obj112"/>
          <p:cNvSpPr/>
          <p:nvPr/>
        </p:nvSpPr>
        <p:spPr>
          <a:xfrm>
            <a:off x="1661648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9" name="obj113"/>
          <p:cNvSpPr/>
          <p:nvPr/>
        </p:nvSpPr>
        <p:spPr>
          <a:xfrm>
            <a:off x="1730776" y="224986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10" name="obj114"/>
          <p:cNvSpPr/>
          <p:nvPr/>
        </p:nvSpPr>
        <p:spPr>
          <a:xfrm>
            <a:off x="1799905" y="240194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1" name="obj115"/>
          <p:cNvSpPr/>
          <p:nvPr/>
        </p:nvSpPr>
        <p:spPr>
          <a:xfrm>
            <a:off x="1869034" y="240194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12" name="obj116"/>
          <p:cNvSpPr/>
          <p:nvPr/>
        </p:nvSpPr>
        <p:spPr>
          <a:xfrm>
            <a:off x="1653967" y="242498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13" name="obj117"/>
          <p:cNvSpPr txBox="1"/>
          <p:nvPr/>
        </p:nvSpPr>
        <p:spPr>
          <a:xfrm>
            <a:off x="203911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obj118"/>
          <p:cNvSpPr txBox="1"/>
          <p:nvPr/>
        </p:nvSpPr>
        <p:spPr>
          <a:xfrm>
            <a:off x="15087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15" name="obj119"/>
          <p:cNvSpPr/>
          <p:nvPr/>
        </p:nvSpPr>
        <p:spPr>
          <a:xfrm>
            <a:off x="2576048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6" name="obj120"/>
          <p:cNvSpPr/>
          <p:nvPr/>
        </p:nvSpPr>
        <p:spPr>
          <a:xfrm>
            <a:off x="2645176" y="224986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7" name="obj121"/>
          <p:cNvSpPr/>
          <p:nvPr/>
        </p:nvSpPr>
        <p:spPr>
          <a:xfrm>
            <a:off x="2714305" y="226829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8" name="obj122"/>
          <p:cNvSpPr/>
          <p:nvPr/>
        </p:nvSpPr>
        <p:spPr>
          <a:xfrm>
            <a:off x="2783434" y="230516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9" name="obj123"/>
          <p:cNvSpPr/>
          <p:nvPr/>
        </p:nvSpPr>
        <p:spPr>
          <a:xfrm rot="-1920000">
            <a:off x="2522281" y="2388120"/>
            <a:ext cx="57607" cy="156692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0" name="obj124"/>
          <p:cNvSpPr/>
          <p:nvPr/>
        </p:nvSpPr>
        <p:spPr>
          <a:xfrm>
            <a:off x="2568367" y="242498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1" name="obj125"/>
          <p:cNvSpPr txBox="1"/>
          <p:nvPr/>
        </p:nvSpPr>
        <p:spPr>
          <a:xfrm>
            <a:off x="2953512" y="22128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obj126"/>
          <p:cNvSpPr txBox="1"/>
          <p:nvPr/>
        </p:nvSpPr>
        <p:spPr>
          <a:xfrm>
            <a:off x="242316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23" name="obj127"/>
          <p:cNvSpPr txBox="1"/>
          <p:nvPr/>
        </p:nvSpPr>
        <p:spPr>
          <a:xfrm>
            <a:off x="3383280" y="22402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distintos</a:t>
            </a:r>
            <a:endParaRPr lang="en-US" sz="1100" dirty="0"/>
          </a:p>
        </p:txBody>
      </p:sp>
      <p:sp>
        <p:nvSpPr>
          <p:cNvPr id="24" name="obj128"/>
          <p:cNvSpPr txBox="1"/>
          <p:nvPr/>
        </p:nvSpPr>
        <p:spPr>
          <a:xfrm>
            <a:off x="77724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Luis: «Hay que armar secuencias y entrenar ConvLSTM».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Anthony: «Creí que solo era mostrar el resultado».</a:t>
            </a:r>
            <a:endParaRPr lang="en-US" sz="1100" dirty="0"/>
          </a:p>
        </p:txBody>
      </p:sp>
      <p:sp>
        <p:nvSpPr>
          <p:cNvPr id="25" name="obj129"/>
          <p:cNvSpPr txBox="1"/>
          <p:nvPr/>
        </p:nvSpPr>
        <p:spPr>
          <a:xfrm>
            <a:off x="77724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2</a:t>
            </a:r>
            <a:endParaRPr lang="en-US" sz="1200" dirty="0"/>
          </a:p>
        </p:txBody>
      </p:sp>
      <p:sp>
        <p:nvSpPr>
          <p:cNvPr id="26" name="obj130"/>
          <p:cNvSpPr/>
          <p:nvPr/>
        </p:nvSpPr>
        <p:spPr>
          <a:xfrm>
            <a:off x="1661648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7" name="obj131"/>
          <p:cNvSpPr/>
          <p:nvPr/>
        </p:nvSpPr>
        <p:spPr>
          <a:xfrm>
            <a:off x="1730776" y="366718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8" name="obj132"/>
          <p:cNvSpPr/>
          <p:nvPr/>
        </p:nvSpPr>
        <p:spPr>
          <a:xfrm>
            <a:off x="1799905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9" name="obj133"/>
          <p:cNvSpPr/>
          <p:nvPr/>
        </p:nvSpPr>
        <p:spPr>
          <a:xfrm>
            <a:off x="1869034" y="372248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0" name="obj134"/>
          <p:cNvSpPr/>
          <p:nvPr/>
        </p:nvSpPr>
        <p:spPr>
          <a:xfrm>
            <a:off x="1653967" y="384230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1" name="obj135"/>
          <p:cNvSpPr txBox="1"/>
          <p:nvPr/>
        </p:nvSpPr>
        <p:spPr>
          <a:xfrm>
            <a:off x="2039112" y="3630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obj136"/>
          <p:cNvSpPr txBox="1"/>
          <p:nvPr/>
        </p:nvSpPr>
        <p:spPr>
          <a:xfrm>
            <a:off x="15087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33" name="obj137"/>
          <p:cNvSpPr/>
          <p:nvPr/>
        </p:nvSpPr>
        <p:spPr>
          <a:xfrm>
            <a:off x="2576048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4" name="obj138"/>
          <p:cNvSpPr/>
          <p:nvPr/>
        </p:nvSpPr>
        <p:spPr>
          <a:xfrm>
            <a:off x="2645176" y="366718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5" name="obj139"/>
          <p:cNvSpPr/>
          <p:nvPr/>
        </p:nvSpPr>
        <p:spPr>
          <a:xfrm>
            <a:off x="2714305" y="368561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6" name="obj140"/>
          <p:cNvSpPr/>
          <p:nvPr/>
        </p:nvSpPr>
        <p:spPr>
          <a:xfrm>
            <a:off x="2783434" y="372248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37" name="obj141"/>
          <p:cNvSpPr/>
          <p:nvPr/>
        </p:nvSpPr>
        <p:spPr>
          <a:xfrm>
            <a:off x="2568367" y="384230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38" name="obj142"/>
          <p:cNvSpPr txBox="1"/>
          <p:nvPr/>
        </p:nvSpPr>
        <p:spPr>
          <a:xfrm>
            <a:off x="2953512" y="3630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9" name="obj143"/>
          <p:cNvSpPr txBox="1"/>
          <p:nvPr/>
        </p:nvSpPr>
        <p:spPr>
          <a:xfrm>
            <a:off x="2423160" y="4114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40" name="obj144"/>
          <p:cNvSpPr txBox="1"/>
          <p:nvPr/>
        </p:nvSpPr>
        <p:spPr>
          <a:xfrm>
            <a:off x="33832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Acuerdo: 4 (grande)</a:t>
            </a:r>
            <a:endParaRPr lang="en-US" sz="1100" dirty="0"/>
          </a:p>
        </p:txBody>
      </p:sp>
      <p:sp>
        <p:nvSpPr>
          <p:cNvPr id="41" name="obj145"/>
          <p:cNvSpPr/>
          <p:nvPr/>
        </p:nvSpPr>
        <p:spPr>
          <a:xfrm>
            <a:off x="4663440" y="1417320"/>
            <a:ext cx="3931920" cy="3108960"/>
          </a:xfrm>
          <a:prstGeom prst="roundRect">
            <a:avLst>
              <a:gd name="adj" fmla="val 5294"/>
            </a:avLst>
          </a:prstGeom>
          <a:solidFill>
            <a:srgbClr val="F4F4F2"/>
          </a:solidFill>
          <a:ln/>
        </p:spPr>
      </p:sp>
      <p:sp>
        <p:nvSpPr>
          <p:cNvPr id="42" name="obj146"/>
          <p:cNvSpPr txBox="1"/>
          <p:nvPr/>
        </p:nvSpPr>
        <p:spPr>
          <a:xfrm>
            <a:off x="48920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Decidir en equipo</a:t>
            </a:r>
            <a:endParaRPr lang="en-US" sz="1600" dirty="0"/>
          </a:p>
        </p:txBody>
      </p:sp>
      <p:sp>
        <p:nvSpPr>
          <p:cNvPr id="43" name="obj147"/>
          <p:cNvSpPr txBox="1"/>
          <p:nvPr/>
        </p:nvSpPr>
        <p:spPr>
          <a:xfrm>
            <a:off x="489204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Votan los tres</a:t>
            </a:r>
            <a:endParaRPr lang="en-US" sz="1100" dirty="0"/>
          </a:p>
        </p:txBody>
      </p:sp>
      <p:sp>
        <p:nvSpPr>
          <p:cNvPr id="44" name="obj148"/>
          <p:cNvSpPr/>
          <p:nvPr/>
        </p:nvSpPr>
        <p:spPr>
          <a:xfrm>
            <a:off x="4892040" y="219456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5" name="obj149"/>
          <p:cNvSpPr txBox="1"/>
          <p:nvPr/>
        </p:nvSpPr>
        <p:spPr>
          <a:xfrm>
            <a:off x="502920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¿HU07 entra completa al Sprint 3?</a:t>
            </a:r>
            <a:endParaRPr lang="en-US" sz="1400" dirty="0"/>
          </a:p>
        </p:txBody>
      </p:sp>
      <p:sp>
        <p:nvSpPr>
          <p:cNvPr id="46" name="obj150"/>
          <p:cNvSpPr/>
          <p:nvPr/>
        </p:nvSpPr>
        <p:spPr>
          <a:xfrm>
            <a:off x="513636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47" name="obj151"/>
          <p:cNvSpPr/>
          <p:nvPr/>
        </p:nvSpPr>
        <p:spPr>
          <a:xfrm>
            <a:off x="520549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48" name="obj152"/>
          <p:cNvSpPr/>
          <p:nvPr/>
        </p:nvSpPr>
        <p:spPr>
          <a:xfrm>
            <a:off x="5274625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49" name="obj153"/>
          <p:cNvSpPr/>
          <p:nvPr/>
        </p:nvSpPr>
        <p:spPr>
          <a:xfrm>
            <a:off x="534375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50" name="obj154"/>
          <p:cNvSpPr/>
          <p:nvPr/>
        </p:nvSpPr>
        <p:spPr>
          <a:xfrm>
            <a:off x="512868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51" name="obj155"/>
          <p:cNvSpPr txBox="1"/>
          <p:nvPr/>
        </p:nvSpPr>
        <p:spPr>
          <a:xfrm>
            <a:off x="551383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52" name="obj156"/>
          <p:cNvSpPr txBox="1"/>
          <p:nvPr/>
        </p:nvSpPr>
        <p:spPr>
          <a:xfrm>
            <a:off x="498348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53" name="obj157"/>
          <p:cNvSpPr/>
          <p:nvPr/>
        </p:nvSpPr>
        <p:spPr>
          <a:xfrm>
            <a:off x="623364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4" name="obj158"/>
          <p:cNvSpPr/>
          <p:nvPr/>
        </p:nvSpPr>
        <p:spPr>
          <a:xfrm>
            <a:off x="630277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5" name="obj159"/>
          <p:cNvSpPr/>
          <p:nvPr/>
        </p:nvSpPr>
        <p:spPr>
          <a:xfrm>
            <a:off x="6371905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6" name="obj160"/>
          <p:cNvSpPr/>
          <p:nvPr/>
        </p:nvSpPr>
        <p:spPr>
          <a:xfrm>
            <a:off x="644103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57" name="obj161"/>
          <p:cNvSpPr/>
          <p:nvPr/>
        </p:nvSpPr>
        <p:spPr>
          <a:xfrm>
            <a:off x="622596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58" name="obj162"/>
          <p:cNvSpPr txBox="1"/>
          <p:nvPr/>
        </p:nvSpPr>
        <p:spPr>
          <a:xfrm>
            <a:off x="661111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9" name="obj163"/>
          <p:cNvSpPr txBox="1"/>
          <p:nvPr/>
        </p:nvSpPr>
        <p:spPr>
          <a:xfrm>
            <a:off x="608076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60" name="obj164"/>
          <p:cNvSpPr/>
          <p:nvPr/>
        </p:nvSpPr>
        <p:spPr>
          <a:xfrm>
            <a:off x="7330928" y="29083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61" name="obj165"/>
          <p:cNvSpPr/>
          <p:nvPr/>
        </p:nvSpPr>
        <p:spPr>
          <a:xfrm>
            <a:off x="7400056" y="28899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/>
        </p:spPr>
      </p:sp>
      <p:sp>
        <p:nvSpPr>
          <p:cNvPr id="62" name="obj166"/>
          <p:cNvSpPr/>
          <p:nvPr/>
        </p:nvSpPr>
        <p:spPr>
          <a:xfrm>
            <a:off x="7469185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63" name="obj167"/>
          <p:cNvSpPr/>
          <p:nvPr/>
        </p:nvSpPr>
        <p:spPr>
          <a:xfrm>
            <a:off x="7538314" y="3042026"/>
            <a:ext cx="53767" cy="50694"/>
          </a:xfrm>
          <a:prstGeom prst="roundRect">
            <a:avLst>
              <a:gd name="adj" fmla="val 50000"/>
            </a:avLst>
          </a:prstGeom>
          <a:solidFill>
            <a:srgbClr val="E5484D">
              <a:alpha val="40000"/>
            </a:srgbClr>
          </a:solidFill>
          <a:ln/>
        </p:spPr>
      </p:sp>
      <p:sp>
        <p:nvSpPr>
          <p:cNvPr id="64" name="obj168"/>
          <p:cNvSpPr/>
          <p:nvPr/>
        </p:nvSpPr>
        <p:spPr>
          <a:xfrm>
            <a:off x="7323247" y="30650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E5484D"/>
          </a:solidFill>
          <a:ln/>
        </p:spPr>
      </p:sp>
      <p:sp>
        <p:nvSpPr>
          <p:cNvPr id="65" name="obj169"/>
          <p:cNvSpPr txBox="1"/>
          <p:nvPr/>
        </p:nvSpPr>
        <p:spPr>
          <a:xfrm>
            <a:off x="7708392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66" name="obj170"/>
          <p:cNvSpPr txBox="1"/>
          <p:nvPr/>
        </p:nvSpPr>
        <p:spPr>
          <a:xfrm>
            <a:off x="7178040" y="33375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67" name="obj171"/>
          <p:cNvSpPr txBox="1"/>
          <p:nvPr/>
        </p:nvSpPr>
        <p:spPr>
          <a:xfrm>
            <a:off x="4892040" y="3657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votos de 2: hay dudas serias.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dividir HU07 en dos historias.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Estimamos las 12 historias de NewBit</a:t>
            </a:r>
            <a:endParaRPr lang="en-US" sz="3000" dirty="0"/>
          </a:p>
        </p:txBody>
      </p:sp>
      <p:sp>
        <p:nvSpPr>
          <p:cNvPr id="3" name="obj172"/>
          <p:cNvSpPr txBox="1"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12 historias (FGAP040, épicas EP01–EP06) · tamaño acordado tras votar · 1 = muy pequeña, 5 = muy grande</a:t>
            </a:r>
            <a:endParaRPr lang="en-US" sz="1200" dirty="0"/>
          </a:p>
        </p:txBody>
      </p:sp>
      <p:sp>
        <p:nvSpPr>
          <p:cNvPr id="4" name="obj173"/>
          <p:cNvSpPr/>
          <p:nvPr/>
        </p:nvSpPr>
        <p:spPr>
          <a:xfrm>
            <a:off x="548640" y="137160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5" name="obj174"/>
          <p:cNvSpPr txBox="1"/>
          <p:nvPr/>
        </p:nvSpPr>
        <p:spPr>
          <a:xfrm>
            <a:off x="68580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HU01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EP01</a:t>
            </a:r>
            <a:endParaRPr lang="en-US" sz="1100" dirty="0"/>
          </a:p>
        </p:txBody>
      </p:sp>
      <p:sp>
        <p:nvSpPr>
          <p:cNvPr id="6" name="obj175"/>
          <p:cNvSpPr txBox="1"/>
          <p:nvPr/>
        </p:nvSpPr>
        <p:spPr>
          <a:xfrm>
            <a:off x="685800" y="170078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un video industrial</a:t>
            </a:r>
            <a:endParaRPr lang="en-US" sz="1100" dirty="0"/>
          </a:p>
        </p:txBody>
      </p:sp>
      <p:sp>
        <p:nvSpPr>
          <p:cNvPr id="7" name="obj176"/>
          <p:cNvSpPr/>
          <p:nvPr/>
        </p:nvSpPr>
        <p:spPr>
          <a:xfrm>
            <a:off x="1920240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28000"/>
            </a:srgbClr>
          </a:solidFill>
          <a:ln/>
        </p:spPr>
      </p:sp>
      <p:sp>
        <p:nvSpPr>
          <p:cNvPr id="8" name="obj177"/>
          <p:cNvSpPr txBox="1"/>
          <p:nvPr/>
        </p:nvSpPr>
        <p:spPr>
          <a:xfrm>
            <a:off x="19202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obj178"/>
          <p:cNvSpPr/>
          <p:nvPr/>
        </p:nvSpPr>
        <p:spPr>
          <a:xfrm>
            <a:off x="2606040" y="137160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10" name="obj179"/>
          <p:cNvSpPr txBox="1"/>
          <p:nvPr/>
        </p:nvSpPr>
        <p:spPr>
          <a:xfrm>
            <a:off x="274320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HU02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EP01</a:t>
            </a:r>
            <a:endParaRPr lang="en-US" sz="1100" dirty="0"/>
          </a:p>
        </p:txBody>
      </p:sp>
      <p:sp>
        <p:nvSpPr>
          <p:cNvPr id="11" name="obj180"/>
          <p:cNvSpPr txBox="1"/>
          <p:nvPr/>
        </p:nvSpPr>
        <p:spPr>
          <a:xfrm>
            <a:off x="2743200" y="170078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Fragmentar el video en frames</a:t>
            </a:r>
            <a:endParaRPr lang="en-US" sz="1100" dirty="0"/>
          </a:p>
        </p:txBody>
      </p:sp>
      <p:sp>
        <p:nvSpPr>
          <p:cNvPr id="12" name="obj181"/>
          <p:cNvSpPr/>
          <p:nvPr/>
        </p:nvSpPr>
        <p:spPr>
          <a:xfrm>
            <a:off x="3977640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13" name="obj182"/>
          <p:cNvSpPr txBox="1"/>
          <p:nvPr/>
        </p:nvSpPr>
        <p:spPr>
          <a:xfrm>
            <a:off x="39776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obj183"/>
          <p:cNvSpPr/>
          <p:nvPr/>
        </p:nvSpPr>
        <p:spPr>
          <a:xfrm>
            <a:off x="4663440" y="137160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15" name="obj184"/>
          <p:cNvSpPr txBox="1"/>
          <p:nvPr/>
        </p:nvSpPr>
        <p:spPr>
          <a:xfrm>
            <a:off x="480060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HU03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EP02</a:t>
            </a:r>
            <a:endParaRPr lang="en-US" sz="1100" dirty="0"/>
          </a:p>
        </p:txBody>
      </p:sp>
      <p:sp>
        <p:nvSpPr>
          <p:cNvPr id="16" name="obj185"/>
          <p:cNvSpPr txBox="1"/>
          <p:nvPr/>
        </p:nvSpPr>
        <p:spPr>
          <a:xfrm>
            <a:off x="4800600" y="170078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trabajadores con YOLOv4</a:t>
            </a:r>
            <a:endParaRPr lang="en-US" sz="1100" dirty="0"/>
          </a:p>
        </p:txBody>
      </p:sp>
      <p:sp>
        <p:nvSpPr>
          <p:cNvPr id="17" name="obj186"/>
          <p:cNvSpPr/>
          <p:nvPr/>
        </p:nvSpPr>
        <p:spPr>
          <a:xfrm>
            <a:off x="6035040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65000"/>
            </a:srgbClr>
          </a:solidFill>
          <a:ln/>
        </p:spPr>
      </p:sp>
      <p:sp>
        <p:nvSpPr>
          <p:cNvPr id="18" name="obj187"/>
          <p:cNvSpPr txBox="1"/>
          <p:nvPr/>
        </p:nvSpPr>
        <p:spPr>
          <a:xfrm>
            <a:off x="60350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obj188"/>
          <p:cNvSpPr/>
          <p:nvPr/>
        </p:nvSpPr>
        <p:spPr>
          <a:xfrm>
            <a:off x="6720840" y="137160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20" name="obj189"/>
          <p:cNvSpPr txBox="1"/>
          <p:nvPr/>
        </p:nvSpPr>
        <p:spPr>
          <a:xfrm>
            <a:off x="685800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HU04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EP02</a:t>
            </a:r>
            <a:endParaRPr lang="en-US" sz="1100" dirty="0"/>
          </a:p>
        </p:txBody>
      </p:sp>
      <p:sp>
        <p:nvSpPr>
          <p:cNvPr id="21" name="obj190"/>
          <p:cNvSpPr txBox="1"/>
          <p:nvPr/>
        </p:nvSpPr>
        <p:spPr>
          <a:xfrm>
            <a:off x="6858000" y="1700784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frames sin trabajadores</a:t>
            </a:r>
            <a:endParaRPr lang="en-US" sz="1100" dirty="0"/>
          </a:p>
        </p:txBody>
      </p:sp>
      <p:sp>
        <p:nvSpPr>
          <p:cNvPr id="22" name="obj191"/>
          <p:cNvSpPr/>
          <p:nvPr/>
        </p:nvSpPr>
        <p:spPr>
          <a:xfrm>
            <a:off x="8092440" y="16002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23" name="obj192"/>
          <p:cNvSpPr txBox="1"/>
          <p:nvPr/>
        </p:nvSpPr>
        <p:spPr>
          <a:xfrm>
            <a:off x="8092440" y="1600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obj193"/>
          <p:cNvSpPr/>
          <p:nvPr/>
        </p:nvSpPr>
        <p:spPr>
          <a:xfrm>
            <a:off x="548640" y="2395728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25" name="obj194"/>
          <p:cNvSpPr txBox="1"/>
          <p:nvPr/>
        </p:nvSpPr>
        <p:spPr>
          <a:xfrm>
            <a:off x="6858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HU05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EP03</a:t>
            </a:r>
            <a:endParaRPr lang="en-US" sz="1100" dirty="0"/>
          </a:p>
        </p:txBody>
      </p:sp>
      <p:sp>
        <p:nvSpPr>
          <p:cNvPr id="26" name="obj195"/>
          <p:cNvSpPr txBox="1"/>
          <p:nvPr/>
        </p:nvSpPr>
        <p:spPr>
          <a:xfrm>
            <a:off x="685800" y="272491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frames en clips</a:t>
            </a:r>
            <a:endParaRPr lang="en-US" sz="1100" dirty="0"/>
          </a:p>
        </p:txBody>
      </p:sp>
      <p:sp>
        <p:nvSpPr>
          <p:cNvPr id="27" name="obj196"/>
          <p:cNvSpPr/>
          <p:nvPr/>
        </p:nvSpPr>
        <p:spPr>
          <a:xfrm>
            <a:off x="1920240" y="2624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28" name="obj197"/>
          <p:cNvSpPr txBox="1"/>
          <p:nvPr/>
        </p:nvSpPr>
        <p:spPr>
          <a:xfrm>
            <a:off x="19202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obj198"/>
          <p:cNvSpPr/>
          <p:nvPr/>
        </p:nvSpPr>
        <p:spPr>
          <a:xfrm>
            <a:off x="2606040" y="2395728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30" name="obj199"/>
          <p:cNvSpPr txBox="1"/>
          <p:nvPr/>
        </p:nvSpPr>
        <p:spPr>
          <a:xfrm>
            <a:off x="27432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HU06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EP03</a:t>
            </a:r>
            <a:endParaRPr lang="en-US" sz="1100" dirty="0"/>
          </a:p>
        </p:txBody>
      </p:sp>
      <p:sp>
        <p:nvSpPr>
          <p:cNvPr id="31" name="obj200"/>
          <p:cNvSpPr txBox="1"/>
          <p:nvPr/>
        </p:nvSpPr>
        <p:spPr>
          <a:xfrm>
            <a:off x="2743200" y="272491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clips muy cortos</a:t>
            </a:r>
            <a:endParaRPr lang="en-US" sz="1100" dirty="0"/>
          </a:p>
        </p:txBody>
      </p:sp>
      <p:sp>
        <p:nvSpPr>
          <p:cNvPr id="32" name="obj201"/>
          <p:cNvSpPr/>
          <p:nvPr/>
        </p:nvSpPr>
        <p:spPr>
          <a:xfrm>
            <a:off x="3977640" y="2624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33" name="obj202"/>
          <p:cNvSpPr txBox="1"/>
          <p:nvPr/>
        </p:nvSpPr>
        <p:spPr>
          <a:xfrm>
            <a:off x="39776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obj203"/>
          <p:cNvSpPr/>
          <p:nvPr/>
        </p:nvSpPr>
        <p:spPr>
          <a:xfrm>
            <a:off x="4663440" y="2395728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35" name="obj204"/>
          <p:cNvSpPr txBox="1"/>
          <p:nvPr/>
        </p:nvSpPr>
        <p:spPr>
          <a:xfrm>
            <a:off x="48006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HU07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EP04</a:t>
            </a:r>
            <a:endParaRPr lang="en-US" sz="1100" dirty="0"/>
          </a:p>
        </p:txBody>
      </p:sp>
      <p:sp>
        <p:nvSpPr>
          <p:cNvPr id="36" name="obj205"/>
          <p:cNvSpPr txBox="1"/>
          <p:nvPr/>
        </p:nvSpPr>
        <p:spPr>
          <a:xfrm>
            <a:off x="4800600" y="272491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 el clip con ConvLSTM</a:t>
            </a:r>
            <a:endParaRPr lang="en-US" sz="1100" dirty="0"/>
          </a:p>
        </p:txBody>
      </p:sp>
      <p:sp>
        <p:nvSpPr>
          <p:cNvPr id="37" name="obj206"/>
          <p:cNvSpPr/>
          <p:nvPr/>
        </p:nvSpPr>
        <p:spPr>
          <a:xfrm>
            <a:off x="6035040" y="2624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85000"/>
            </a:srgbClr>
          </a:solidFill>
          <a:ln/>
        </p:spPr>
      </p:sp>
      <p:sp>
        <p:nvSpPr>
          <p:cNvPr id="38" name="obj207"/>
          <p:cNvSpPr txBox="1"/>
          <p:nvPr/>
        </p:nvSpPr>
        <p:spPr>
          <a:xfrm>
            <a:off x="60350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obj208"/>
          <p:cNvSpPr/>
          <p:nvPr/>
        </p:nvSpPr>
        <p:spPr>
          <a:xfrm>
            <a:off x="6720840" y="2395728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40" name="obj209"/>
          <p:cNvSpPr txBox="1"/>
          <p:nvPr/>
        </p:nvSpPr>
        <p:spPr>
          <a:xfrm>
            <a:off x="6858000" y="24871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HU08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EP04</a:t>
            </a:r>
            <a:endParaRPr lang="en-US" sz="1100" dirty="0"/>
          </a:p>
        </p:txBody>
      </p:sp>
      <p:sp>
        <p:nvSpPr>
          <p:cNvPr id="41" name="obj210"/>
          <p:cNvSpPr txBox="1"/>
          <p:nvPr/>
        </p:nvSpPr>
        <p:spPr>
          <a:xfrm>
            <a:off x="6858000" y="2724912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Etiquetar: segura o insegura</a:t>
            </a:r>
            <a:endParaRPr lang="en-US" sz="1100" dirty="0"/>
          </a:p>
        </p:txBody>
      </p:sp>
      <p:sp>
        <p:nvSpPr>
          <p:cNvPr id="42" name="obj211"/>
          <p:cNvSpPr/>
          <p:nvPr/>
        </p:nvSpPr>
        <p:spPr>
          <a:xfrm>
            <a:off x="8092440" y="2624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65000"/>
            </a:srgbClr>
          </a:solidFill>
          <a:ln/>
        </p:spPr>
      </p:sp>
      <p:sp>
        <p:nvSpPr>
          <p:cNvPr id="43" name="obj212"/>
          <p:cNvSpPr txBox="1"/>
          <p:nvPr/>
        </p:nvSpPr>
        <p:spPr>
          <a:xfrm>
            <a:off x="80924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obj213"/>
          <p:cNvSpPr/>
          <p:nvPr/>
        </p:nvSpPr>
        <p:spPr>
          <a:xfrm>
            <a:off x="548640" y="3419856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45" name="obj214"/>
          <p:cNvSpPr txBox="1"/>
          <p:nvPr/>
        </p:nvSpPr>
        <p:spPr>
          <a:xfrm>
            <a:off x="685800" y="3511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HU09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EP05</a:t>
            </a:r>
            <a:endParaRPr lang="en-US" sz="1100" dirty="0"/>
          </a:p>
        </p:txBody>
      </p:sp>
      <p:sp>
        <p:nvSpPr>
          <p:cNvPr id="46" name="obj215"/>
          <p:cNvSpPr txBox="1"/>
          <p:nvPr/>
        </p:nvSpPr>
        <p:spPr>
          <a:xfrm>
            <a:off x="685800" y="374904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video con recuadro de riesgo</a:t>
            </a:r>
            <a:endParaRPr lang="en-US" sz="1100" dirty="0"/>
          </a:p>
        </p:txBody>
      </p:sp>
      <p:sp>
        <p:nvSpPr>
          <p:cNvPr id="47" name="obj216"/>
          <p:cNvSpPr/>
          <p:nvPr/>
        </p:nvSpPr>
        <p:spPr>
          <a:xfrm>
            <a:off x="1920240" y="36484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65000"/>
            </a:srgbClr>
          </a:solidFill>
          <a:ln/>
        </p:spPr>
      </p:sp>
      <p:sp>
        <p:nvSpPr>
          <p:cNvPr id="48" name="obj217"/>
          <p:cNvSpPr txBox="1"/>
          <p:nvPr/>
        </p:nvSpPr>
        <p:spPr>
          <a:xfrm>
            <a:off x="192024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obj218"/>
          <p:cNvSpPr/>
          <p:nvPr/>
        </p:nvSpPr>
        <p:spPr>
          <a:xfrm>
            <a:off x="2606040" y="3419856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50" name="obj219"/>
          <p:cNvSpPr txBox="1"/>
          <p:nvPr/>
        </p:nvSpPr>
        <p:spPr>
          <a:xfrm>
            <a:off x="2743200" y="3511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HU10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EP05</a:t>
            </a:r>
            <a:endParaRPr lang="en-US" sz="1100" dirty="0"/>
          </a:p>
        </p:txBody>
      </p:sp>
      <p:sp>
        <p:nvSpPr>
          <p:cNvPr id="51" name="obj220"/>
          <p:cNvSpPr txBox="1"/>
          <p:nvPr/>
        </p:nvSpPr>
        <p:spPr>
          <a:xfrm>
            <a:off x="2743200" y="374904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la alerta</a:t>
            </a:r>
            <a:endParaRPr lang="en-US" sz="1100" dirty="0"/>
          </a:p>
        </p:txBody>
      </p:sp>
      <p:sp>
        <p:nvSpPr>
          <p:cNvPr id="52" name="obj221"/>
          <p:cNvSpPr/>
          <p:nvPr/>
        </p:nvSpPr>
        <p:spPr>
          <a:xfrm>
            <a:off x="3977640" y="36484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53" name="obj222"/>
          <p:cNvSpPr txBox="1"/>
          <p:nvPr/>
        </p:nvSpPr>
        <p:spPr>
          <a:xfrm>
            <a:off x="397764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obj223"/>
          <p:cNvSpPr/>
          <p:nvPr/>
        </p:nvSpPr>
        <p:spPr>
          <a:xfrm>
            <a:off x="4663440" y="3419856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55" name="obj224"/>
          <p:cNvSpPr txBox="1"/>
          <p:nvPr/>
        </p:nvSpPr>
        <p:spPr>
          <a:xfrm>
            <a:off x="4800600" y="3511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HU11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EP06</a:t>
            </a:r>
            <a:endParaRPr lang="en-US" sz="1100" dirty="0"/>
          </a:p>
        </p:txBody>
      </p:sp>
      <p:sp>
        <p:nvSpPr>
          <p:cNvPr id="56" name="obj225"/>
          <p:cNvSpPr txBox="1"/>
          <p:nvPr/>
        </p:nvSpPr>
        <p:spPr>
          <a:xfrm>
            <a:off x="4800600" y="374904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el umbral de YOLOv4</a:t>
            </a:r>
            <a:endParaRPr lang="en-US" sz="1100" dirty="0"/>
          </a:p>
        </p:txBody>
      </p:sp>
      <p:sp>
        <p:nvSpPr>
          <p:cNvPr id="57" name="obj226"/>
          <p:cNvSpPr/>
          <p:nvPr/>
        </p:nvSpPr>
        <p:spPr>
          <a:xfrm>
            <a:off x="6035040" y="36484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28000"/>
            </a:srgbClr>
          </a:solidFill>
          <a:ln/>
        </p:spPr>
      </p:sp>
      <p:sp>
        <p:nvSpPr>
          <p:cNvPr id="58" name="obj227"/>
          <p:cNvSpPr txBox="1"/>
          <p:nvPr/>
        </p:nvSpPr>
        <p:spPr>
          <a:xfrm>
            <a:off x="603504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obj228"/>
          <p:cNvSpPr/>
          <p:nvPr/>
        </p:nvSpPr>
        <p:spPr>
          <a:xfrm>
            <a:off x="6720840" y="3419856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F4F4F2"/>
          </a:solidFill>
          <a:ln/>
        </p:spPr>
      </p:sp>
      <p:sp>
        <p:nvSpPr>
          <p:cNvPr id="60" name="obj229"/>
          <p:cNvSpPr txBox="1"/>
          <p:nvPr/>
        </p:nvSpPr>
        <p:spPr>
          <a:xfrm>
            <a:off x="6858000" y="3511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HU12</a:t>
            </a:r>
            <a:pPr algn="l" indent="0" marL="0">
              <a:buNone/>
            </a:pPr>
            <a:r>
              <a:rPr lang="en-US" sz="110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EP06</a:t>
            </a:r>
            <a:endParaRPr lang="en-US" sz="1100" dirty="0"/>
          </a:p>
        </p:txBody>
      </p:sp>
      <p:sp>
        <p:nvSpPr>
          <p:cNvPr id="61" name="obj230"/>
          <p:cNvSpPr txBox="1"/>
          <p:nvPr/>
        </p:nvSpPr>
        <p:spPr>
          <a:xfrm>
            <a:off x="6858000" y="3749040"/>
            <a:ext cx="1207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log de tiempos</a:t>
            </a:r>
            <a:endParaRPr lang="en-US" sz="1100" dirty="0"/>
          </a:p>
        </p:txBody>
      </p:sp>
      <p:sp>
        <p:nvSpPr>
          <p:cNvPr id="62" name="obj231"/>
          <p:cNvSpPr/>
          <p:nvPr/>
        </p:nvSpPr>
        <p:spPr>
          <a:xfrm>
            <a:off x="8092440" y="36484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2643D">
              <a:alpha val="45000"/>
            </a:srgbClr>
          </a:solidFill>
          <a:ln/>
        </p:spPr>
      </p:sp>
      <p:sp>
        <p:nvSpPr>
          <p:cNvPr id="63" name="obj232"/>
          <p:cNvSpPr txBox="1"/>
          <p:nvPr/>
        </p:nvSpPr>
        <p:spPr>
          <a:xfrm>
            <a:off x="809244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4" name="obj233"/>
          <p:cNvSpPr txBox="1"/>
          <p:nvPr/>
        </p:nvSpPr>
        <p:spPr>
          <a:xfrm>
            <a:off x="548640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EP04 (ConvLSTM) concentra el mayor esfuerzo; las historias de carga y configuración son pequeñas. Votos simulados.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Decidimos en equipo qué entra a cada sprint</a:t>
            </a:r>
            <a:endParaRPr lang="en-US" sz="3000" dirty="0"/>
          </a:p>
        </p:txBody>
      </p:sp>
      <p:sp>
        <p:nvSpPr>
          <p:cNvPr id="3" name="obj234"/>
          <p:cNvSpPr txBox="1"/>
          <p:nvPr/>
        </p:nvSpPr>
        <p:spPr>
          <a:xfrm>
            <a:off x="548640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Votan los tres: Albert (PO), Anthony y Luis · la EP04 va en el Sprint 3, dividida (ver ejemplo)</a:t>
            </a:r>
            <a:endParaRPr lang="en-US" sz="1200" dirty="0"/>
          </a:p>
        </p:txBody>
      </p:sp>
      <p:sp>
        <p:nvSpPr>
          <p:cNvPr id="4" name="obj235"/>
          <p:cNvSpPr/>
          <p:nvPr/>
        </p:nvSpPr>
        <p:spPr>
          <a:xfrm>
            <a:off x="548640" y="1389888"/>
            <a:ext cx="4160520" cy="841248"/>
          </a:xfrm>
          <a:prstGeom prst="roundRect">
            <a:avLst>
              <a:gd name="adj" fmla="val 15217"/>
            </a:avLst>
          </a:prstGeom>
          <a:solidFill>
            <a:srgbClr val="F4F4F2"/>
          </a:solidFill>
          <a:ln/>
        </p:spPr>
      </p:sp>
      <p:sp>
        <p:nvSpPr>
          <p:cNvPr id="5" name="obj236"/>
          <p:cNvSpPr txBox="1"/>
          <p:nvPr/>
        </p:nvSpPr>
        <p:spPr>
          <a:xfrm>
            <a:off x="73152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6" name="obj237"/>
          <p:cNvSpPr txBox="1"/>
          <p:nvPr/>
        </p:nvSpPr>
        <p:spPr>
          <a:xfrm>
            <a:off x="731520" y="17007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¿EP01 (HU01–HU02) entra completa al Sprint 1?</a:t>
            </a:r>
            <a:endParaRPr lang="en-US" sz="1300" dirty="0"/>
          </a:p>
        </p:txBody>
      </p:sp>
      <p:sp>
        <p:nvSpPr>
          <p:cNvPr id="7" name="obj238"/>
          <p:cNvSpPr/>
          <p:nvPr/>
        </p:nvSpPr>
        <p:spPr>
          <a:xfrm>
            <a:off x="5044928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8" name="obj239"/>
          <p:cNvSpPr/>
          <p:nvPr/>
        </p:nvSpPr>
        <p:spPr>
          <a:xfrm>
            <a:off x="5114056" y="15183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9" name="obj240"/>
          <p:cNvSpPr/>
          <p:nvPr/>
        </p:nvSpPr>
        <p:spPr>
          <a:xfrm>
            <a:off x="5183185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0" name="obj241"/>
          <p:cNvSpPr/>
          <p:nvPr/>
        </p:nvSpPr>
        <p:spPr>
          <a:xfrm>
            <a:off x="5252314" y="157364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1" name="obj242"/>
          <p:cNvSpPr/>
          <p:nvPr/>
        </p:nvSpPr>
        <p:spPr>
          <a:xfrm rot="-1920000">
            <a:off x="4991161" y="1656600"/>
            <a:ext cx="57607" cy="156692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2" name="obj243"/>
          <p:cNvSpPr/>
          <p:nvPr/>
        </p:nvSpPr>
        <p:spPr>
          <a:xfrm>
            <a:off x="5037247" y="16934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13" name="obj244"/>
          <p:cNvSpPr txBox="1"/>
          <p:nvPr/>
        </p:nvSpPr>
        <p:spPr>
          <a:xfrm>
            <a:off x="5422392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obj245"/>
          <p:cNvSpPr txBox="1"/>
          <p:nvPr/>
        </p:nvSpPr>
        <p:spPr>
          <a:xfrm>
            <a:off x="4892040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15" name="obj246"/>
          <p:cNvSpPr/>
          <p:nvPr/>
        </p:nvSpPr>
        <p:spPr>
          <a:xfrm>
            <a:off x="5886176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6" name="obj247"/>
          <p:cNvSpPr/>
          <p:nvPr/>
        </p:nvSpPr>
        <p:spPr>
          <a:xfrm>
            <a:off x="5955304" y="15183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7" name="obj248"/>
          <p:cNvSpPr/>
          <p:nvPr/>
        </p:nvSpPr>
        <p:spPr>
          <a:xfrm>
            <a:off x="6024433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8" name="obj249"/>
          <p:cNvSpPr/>
          <p:nvPr/>
        </p:nvSpPr>
        <p:spPr>
          <a:xfrm>
            <a:off x="6093562" y="157364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19" name="obj250"/>
          <p:cNvSpPr/>
          <p:nvPr/>
        </p:nvSpPr>
        <p:spPr>
          <a:xfrm>
            <a:off x="5878495" y="16934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0" name="obj251"/>
          <p:cNvSpPr txBox="1"/>
          <p:nvPr/>
        </p:nvSpPr>
        <p:spPr>
          <a:xfrm>
            <a:off x="6263640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obj252"/>
          <p:cNvSpPr txBox="1"/>
          <p:nvPr/>
        </p:nvSpPr>
        <p:spPr>
          <a:xfrm>
            <a:off x="5733288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22" name="obj253"/>
          <p:cNvSpPr/>
          <p:nvPr/>
        </p:nvSpPr>
        <p:spPr>
          <a:xfrm>
            <a:off x="6727424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3" name="obj254"/>
          <p:cNvSpPr/>
          <p:nvPr/>
        </p:nvSpPr>
        <p:spPr>
          <a:xfrm>
            <a:off x="6796552" y="1518343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4" name="obj255"/>
          <p:cNvSpPr/>
          <p:nvPr/>
        </p:nvSpPr>
        <p:spPr>
          <a:xfrm>
            <a:off x="6865681" y="1536777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5" name="obj256"/>
          <p:cNvSpPr/>
          <p:nvPr/>
        </p:nvSpPr>
        <p:spPr>
          <a:xfrm>
            <a:off x="6934810" y="1573646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6" name="obj257"/>
          <p:cNvSpPr/>
          <p:nvPr/>
        </p:nvSpPr>
        <p:spPr>
          <a:xfrm rot="-1920000">
            <a:off x="6673657" y="1656600"/>
            <a:ext cx="57607" cy="156692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27" name="obj258"/>
          <p:cNvSpPr/>
          <p:nvPr/>
        </p:nvSpPr>
        <p:spPr>
          <a:xfrm>
            <a:off x="6719743" y="1693469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28" name="obj259"/>
          <p:cNvSpPr txBox="1"/>
          <p:nvPr/>
        </p:nvSpPr>
        <p:spPr>
          <a:xfrm>
            <a:off x="7104888" y="14813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obj260"/>
          <p:cNvSpPr txBox="1"/>
          <p:nvPr/>
        </p:nvSpPr>
        <p:spPr>
          <a:xfrm>
            <a:off x="6574536" y="1965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30" name="obj261"/>
          <p:cNvSpPr/>
          <p:nvPr/>
        </p:nvSpPr>
        <p:spPr>
          <a:xfrm>
            <a:off x="7498080" y="1536192"/>
            <a:ext cx="1097280" cy="548640"/>
          </a:xfrm>
          <a:prstGeom prst="roundRect">
            <a:avLst>
              <a:gd name="adj" fmla="val 20000"/>
            </a:avLst>
          </a:prstGeom>
          <a:solidFill>
            <a:srgbClr val="2F9E6E">
              <a:alpha val="18000"/>
            </a:srgbClr>
          </a:solidFill>
          <a:ln/>
        </p:spPr>
      </p:sp>
      <p:sp>
        <p:nvSpPr>
          <p:cNvPr id="31" name="obj262"/>
          <p:cNvSpPr txBox="1"/>
          <p:nvPr/>
        </p:nvSpPr>
        <p:spPr>
          <a:xfrm>
            <a:off x="7543800" y="15361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050" dirty="0"/>
          </a:p>
        </p:txBody>
      </p:sp>
      <p:sp>
        <p:nvSpPr>
          <p:cNvPr id="32" name="obj263"/>
          <p:cNvSpPr/>
          <p:nvPr/>
        </p:nvSpPr>
        <p:spPr>
          <a:xfrm>
            <a:off x="548640" y="2414016"/>
            <a:ext cx="4160520" cy="841248"/>
          </a:xfrm>
          <a:prstGeom prst="roundRect">
            <a:avLst>
              <a:gd name="adj" fmla="val 15217"/>
            </a:avLst>
          </a:prstGeom>
          <a:solidFill>
            <a:srgbClr val="F4F4F2"/>
          </a:solidFill>
          <a:ln/>
        </p:spPr>
      </p:sp>
      <p:sp>
        <p:nvSpPr>
          <p:cNvPr id="33" name="obj264"/>
          <p:cNvSpPr txBox="1"/>
          <p:nvPr/>
        </p:nvSpPr>
        <p:spPr>
          <a:xfrm>
            <a:off x="731520" y="25054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34" name="obj265"/>
          <p:cNvSpPr txBox="1"/>
          <p:nvPr/>
        </p:nvSpPr>
        <p:spPr>
          <a:xfrm>
            <a:off x="731520" y="27249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¿EP02 y EP03 (HU03–HU06) juntas en el Sprint 2?</a:t>
            </a:r>
            <a:endParaRPr lang="en-US" sz="1300" dirty="0"/>
          </a:p>
        </p:txBody>
      </p:sp>
      <p:sp>
        <p:nvSpPr>
          <p:cNvPr id="35" name="obj266"/>
          <p:cNvSpPr/>
          <p:nvPr/>
        </p:nvSpPr>
        <p:spPr>
          <a:xfrm>
            <a:off x="5044928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36" name="obj267"/>
          <p:cNvSpPr/>
          <p:nvPr/>
        </p:nvSpPr>
        <p:spPr>
          <a:xfrm>
            <a:off x="5114056" y="2542471"/>
            <a:ext cx="53767" cy="202777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37" name="obj268"/>
          <p:cNvSpPr/>
          <p:nvPr/>
        </p:nvSpPr>
        <p:spPr>
          <a:xfrm>
            <a:off x="5183185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38" name="obj269"/>
          <p:cNvSpPr/>
          <p:nvPr/>
        </p:nvSpPr>
        <p:spPr>
          <a:xfrm>
            <a:off x="5252314" y="2694554"/>
            <a:ext cx="53767" cy="50694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39" name="obj270"/>
          <p:cNvSpPr/>
          <p:nvPr/>
        </p:nvSpPr>
        <p:spPr>
          <a:xfrm>
            <a:off x="5037247" y="2717597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40" name="obj271"/>
          <p:cNvSpPr txBox="1"/>
          <p:nvPr/>
        </p:nvSpPr>
        <p:spPr>
          <a:xfrm>
            <a:off x="5422392" y="2505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1" name="obj272"/>
          <p:cNvSpPr txBox="1"/>
          <p:nvPr/>
        </p:nvSpPr>
        <p:spPr>
          <a:xfrm>
            <a:off x="4892040" y="2990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42" name="obj273"/>
          <p:cNvSpPr/>
          <p:nvPr/>
        </p:nvSpPr>
        <p:spPr>
          <a:xfrm>
            <a:off x="5886176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43" name="obj274"/>
          <p:cNvSpPr/>
          <p:nvPr/>
        </p:nvSpPr>
        <p:spPr>
          <a:xfrm>
            <a:off x="5955304" y="2542471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44" name="obj275"/>
          <p:cNvSpPr/>
          <p:nvPr/>
        </p:nvSpPr>
        <p:spPr>
          <a:xfrm>
            <a:off x="6024433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45" name="obj276"/>
          <p:cNvSpPr/>
          <p:nvPr/>
        </p:nvSpPr>
        <p:spPr>
          <a:xfrm>
            <a:off x="6093562" y="2597774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46" name="obj277"/>
          <p:cNvSpPr/>
          <p:nvPr/>
        </p:nvSpPr>
        <p:spPr>
          <a:xfrm>
            <a:off x="5878495" y="2717597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47" name="obj278"/>
          <p:cNvSpPr txBox="1"/>
          <p:nvPr/>
        </p:nvSpPr>
        <p:spPr>
          <a:xfrm>
            <a:off x="6263640" y="2505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8" name="obj279"/>
          <p:cNvSpPr txBox="1"/>
          <p:nvPr/>
        </p:nvSpPr>
        <p:spPr>
          <a:xfrm>
            <a:off x="5733288" y="2990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49" name="obj280"/>
          <p:cNvSpPr/>
          <p:nvPr/>
        </p:nvSpPr>
        <p:spPr>
          <a:xfrm>
            <a:off x="6727424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0" name="obj281"/>
          <p:cNvSpPr/>
          <p:nvPr/>
        </p:nvSpPr>
        <p:spPr>
          <a:xfrm>
            <a:off x="6796552" y="2542471"/>
            <a:ext cx="53767" cy="202777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1" name="obj282"/>
          <p:cNvSpPr/>
          <p:nvPr/>
        </p:nvSpPr>
        <p:spPr>
          <a:xfrm>
            <a:off x="6865681" y="2560905"/>
            <a:ext cx="53767" cy="184343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2" name="obj283"/>
          <p:cNvSpPr/>
          <p:nvPr/>
        </p:nvSpPr>
        <p:spPr>
          <a:xfrm>
            <a:off x="6934810" y="2694554"/>
            <a:ext cx="53767" cy="50694"/>
          </a:xfrm>
          <a:prstGeom prst="roundRect">
            <a:avLst>
              <a:gd name="adj" fmla="val 50000"/>
            </a:avLst>
          </a:prstGeom>
          <a:solidFill>
            <a:srgbClr val="F0A020">
              <a:alpha val="40000"/>
            </a:srgbClr>
          </a:solidFill>
          <a:ln/>
        </p:spPr>
      </p:sp>
      <p:sp>
        <p:nvSpPr>
          <p:cNvPr id="53" name="obj284"/>
          <p:cNvSpPr/>
          <p:nvPr/>
        </p:nvSpPr>
        <p:spPr>
          <a:xfrm>
            <a:off x="6719743" y="2717597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F0A020"/>
          </a:solidFill>
          <a:ln/>
        </p:spPr>
      </p:sp>
      <p:sp>
        <p:nvSpPr>
          <p:cNvPr id="54" name="obj285"/>
          <p:cNvSpPr txBox="1"/>
          <p:nvPr/>
        </p:nvSpPr>
        <p:spPr>
          <a:xfrm>
            <a:off x="7104888" y="25054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55" name="obj286"/>
          <p:cNvSpPr txBox="1"/>
          <p:nvPr/>
        </p:nvSpPr>
        <p:spPr>
          <a:xfrm>
            <a:off x="6574536" y="29900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56" name="obj287"/>
          <p:cNvSpPr/>
          <p:nvPr/>
        </p:nvSpPr>
        <p:spPr>
          <a:xfrm>
            <a:off x="7498080" y="2560320"/>
            <a:ext cx="1097280" cy="548640"/>
          </a:xfrm>
          <a:prstGeom prst="roundRect">
            <a:avLst>
              <a:gd name="adj" fmla="val 20000"/>
            </a:avLst>
          </a:prstGeom>
          <a:solidFill>
            <a:srgbClr val="F0A020">
              <a:alpha val="18000"/>
            </a:srgbClr>
          </a:solidFill>
          <a:ln/>
        </p:spPr>
      </p:sp>
      <p:sp>
        <p:nvSpPr>
          <p:cNvPr id="57" name="obj288"/>
          <p:cNvSpPr txBox="1"/>
          <p:nvPr/>
        </p:nvSpPr>
        <p:spPr>
          <a:xfrm>
            <a:off x="7543800" y="2560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con revisión a mitad del sprint</a:t>
            </a:r>
            <a:endParaRPr lang="en-US" sz="1050" dirty="0"/>
          </a:p>
        </p:txBody>
      </p:sp>
      <p:sp>
        <p:nvSpPr>
          <p:cNvPr id="58" name="obj289"/>
          <p:cNvSpPr/>
          <p:nvPr/>
        </p:nvSpPr>
        <p:spPr>
          <a:xfrm>
            <a:off x="548640" y="3438144"/>
            <a:ext cx="4160520" cy="841248"/>
          </a:xfrm>
          <a:prstGeom prst="roundRect">
            <a:avLst>
              <a:gd name="adj" fmla="val 15217"/>
            </a:avLst>
          </a:prstGeom>
          <a:solidFill>
            <a:srgbClr val="F4F4F2"/>
          </a:solidFill>
          <a:ln/>
        </p:spPr>
      </p:sp>
      <p:sp>
        <p:nvSpPr>
          <p:cNvPr id="59" name="obj290"/>
          <p:cNvSpPr txBox="1"/>
          <p:nvPr/>
        </p:nvSpPr>
        <p:spPr>
          <a:xfrm>
            <a:off x="73152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26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60" name="obj291"/>
          <p:cNvSpPr txBox="1"/>
          <p:nvPr/>
        </p:nvSpPr>
        <p:spPr>
          <a:xfrm>
            <a:off x="73152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¿EP05 y EP06 (HU09–HU12) quedan para el Sprint 4?</a:t>
            </a:r>
            <a:endParaRPr lang="en-US" sz="1300" dirty="0"/>
          </a:p>
        </p:txBody>
      </p:sp>
      <p:sp>
        <p:nvSpPr>
          <p:cNvPr id="61" name="obj292"/>
          <p:cNvSpPr/>
          <p:nvPr/>
        </p:nvSpPr>
        <p:spPr>
          <a:xfrm>
            <a:off x="5044928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62" name="obj293"/>
          <p:cNvSpPr/>
          <p:nvPr/>
        </p:nvSpPr>
        <p:spPr>
          <a:xfrm>
            <a:off x="5114056" y="3566599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63" name="obj294"/>
          <p:cNvSpPr/>
          <p:nvPr/>
        </p:nvSpPr>
        <p:spPr>
          <a:xfrm>
            <a:off x="5183185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64" name="obj295"/>
          <p:cNvSpPr/>
          <p:nvPr/>
        </p:nvSpPr>
        <p:spPr>
          <a:xfrm>
            <a:off x="5252314" y="3621902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65" name="obj296"/>
          <p:cNvSpPr/>
          <p:nvPr/>
        </p:nvSpPr>
        <p:spPr>
          <a:xfrm>
            <a:off x="5037247" y="3741725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66" name="obj297"/>
          <p:cNvSpPr txBox="1"/>
          <p:nvPr/>
        </p:nvSpPr>
        <p:spPr>
          <a:xfrm>
            <a:off x="5422392" y="3529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67" name="obj298"/>
          <p:cNvSpPr txBox="1"/>
          <p:nvPr/>
        </p:nvSpPr>
        <p:spPr>
          <a:xfrm>
            <a:off x="4892040" y="40142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</a:t>
            </a:r>
            <a:endParaRPr lang="en-US" sz="1000" dirty="0"/>
          </a:p>
        </p:txBody>
      </p:sp>
      <p:sp>
        <p:nvSpPr>
          <p:cNvPr id="68" name="obj299"/>
          <p:cNvSpPr/>
          <p:nvPr/>
        </p:nvSpPr>
        <p:spPr>
          <a:xfrm>
            <a:off x="5886176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69" name="obj300"/>
          <p:cNvSpPr/>
          <p:nvPr/>
        </p:nvSpPr>
        <p:spPr>
          <a:xfrm>
            <a:off x="5955304" y="3566599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0" name="obj301"/>
          <p:cNvSpPr/>
          <p:nvPr/>
        </p:nvSpPr>
        <p:spPr>
          <a:xfrm>
            <a:off x="6024433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1" name="obj302"/>
          <p:cNvSpPr/>
          <p:nvPr/>
        </p:nvSpPr>
        <p:spPr>
          <a:xfrm>
            <a:off x="6093562" y="3621902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2" name="obj303"/>
          <p:cNvSpPr/>
          <p:nvPr/>
        </p:nvSpPr>
        <p:spPr>
          <a:xfrm rot="-1920000">
            <a:off x="5832409" y="3704856"/>
            <a:ext cx="57607" cy="156692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3" name="obj304"/>
          <p:cNvSpPr/>
          <p:nvPr/>
        </p:nvSpPr>
        <p:spPr>
          <a:xfrm>
            <a:off x="5878495" y="3741725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74" name="obj305"/>
          <p:cNvSpPr txBox="1"/>
          <p:nvPr/>
        </p:nvSpPr>
        <p:spPr>
          <a:xfrm>
            <a:off x="6263640" y="3529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75" name="obj306"/>
          <p:cNvSpPr txBox="1"/>
          <p:nvPr/>
        </p:nvSpPr>
        <p:spPr>
          <a:xfrm>
            <a:off x="5733288" y="40142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Anthony</a:t>
            </a:r>
            <a:endParaRPr lang="en-US" sz="1000" dirty="0"/>
          </a:p>
        </p:txBody>
      </p:sp>
      <p:sp>
        <p:nvSpPr>
          <p:cNvPr id="76" name="obj307"/>
          <p:cNvSpPr/>
          <p:nvPr/>
        </p:nvSpPr>
        <p:spPr>
          <a:xfrm>
            <a:off x="6727424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7" name="obj308"/>
          <p:cNvSpPr/>
          <p:nvPr/>
        </p:nvSpPr>
        <p:spPr>
          <a:xfrm>
            <a:off x="6796552" y="3566599"/>
            <a:ext cx="53767" cy="202777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8" name="obj309"/>
          <p:cNvSpPr/>
          <p:nvPr/>
        </p:nvSpPr>
        <p:spPr>
          <a:xfrm>
            <a:off x="6865681" y="3585033"/>
            <a:ext cx="53767" cy="184343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79" name="obj310"/>
          <p:cNvSpPr/>
          <p:nvPr/>
        </p:nvSpPr>
        <p:spPr>
          <a:xfrm>
            <a:off x="6934810" y="3621902"/>
            <a:ext cx="53767" cy="14747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/>
        </p:spPr>
      </p:sp>
      <p:sp>
        <p:nvSpPr>
          <p:cNvPr id="80" name="obj311"/>
          <p:cNvSpPr/>
          <p:nvPr/>
        </p:nvSpPr>
        <p:spPr>
          <a:xfrm>
            <a:off x="6719743" y="3741725"/>
            <a:ext cx="276515" cy="211994"/>
          </a:xfrm>
          <a:prstGeom prst="roundRect">
            <a:avLst>
              <a:gd name="adj" fmla="val 28986"/>
            </a:avLst>
          </a:prstGeom>
          <a:solidFill>
            <a:srgbClr val="2F9E6E"/>
          </a:solidFill>
          <a:ln/>
        </p:spPr>
      </p:sp>
      <p:sp>
        <p:nvSpPr>
          <p:cNvPr id="81" name="obj312"/>
          <p:cNvSpPr txBox="1"/>
          <p:nvPr/>
        </p:nvSpPr>
        <p:spPr>
          <a:xfrm>
            <a:off x="7104888" y="35295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82" name="obj313"/>
          <p:cNvSpPr txBox="1"/>
          <p:nvPr/>
        </p:nvSpPr>
        <p:spPr>
          <a:xfrm>
            <a:off x="6574536" y="40142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000" dirty="0"/>
          </a:p>
        </p:txBody>
      </p:sp>
      <p:sp>
        <p:nvSpPr>
          <p:cNvPr id="83" name="obj314"/>
          <p:cNvSpPr/>
          <p:nvPr/>
        </p:nvSpPr>
        <p:spPr>
          <a:xfrm>
            <a:off x="7498080" y="3584448"/>
            <a:ext cx="1097280" cy="548640"/>
          </a:xfrm>
          <a:prstGeom prst="roundRect">
            <a:avLst>
              <a:gd name="adj" fmla="val 20000"/>
            </a:avLst>
          </a:prstGeom>
          <a:solidFill>
            <a:srgbClr val="2F9E6E">
              <a:alpha val="18000"/>
            </a:srgbClr>
          </a:solidFill>
          <a:ln/>
        </p:spPr>
      </p:sp>
      <p:sp>
        <p:nvSpPr>
          <p:cNvPr id="84" name="obj315"/>
          <p:cNvSpPr txBox="1"/>
          <p:nvPr/>
        </p:nvSpPr>
        <p:spPr>
          <a:xfrm>
            <a:off x="7543800" y="358444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050" dirty="0"/>
          </a:p>
        </p:txBody>
      </p:sp>
      <p:sp>
        <p:nvSpPr>
          <p:cNvPr id="85" name="obj316"/>
          <p:cNvSpPr txBox="1"/>
          <p:nvPr/>
        </p:nvSpPr>
        <p:spPr>
          <a:xfrm>
            <a:off x="548640" y="44622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equipo: </a:t>
            </a:r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algún 1 o 2, se discute antes de cerrar. Votos simulados.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el puño de cinco?</a:t>
            </a:r>
            <a:endParaRPr lang="en-US" sz="3000" dirty="0"/>
          </a:p>
        </p:txBody>
      </p:sp>
      <p:graphicFrame>
        <p:nvGraphicFramePr>
          <p:cNvPr id="9" name="obj3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vota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Puño de cinco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Dedos del 1 al 5, todos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rápido y decidir por consenso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Poker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Cartas numeradas; se repite hasta el consenso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en puntos con más precisión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Wideband Delphi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Estimaciones anónimas en rondas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que unos influyan en 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Afinidad (tallas)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Ordenar historias en la pared por tamaño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Estimar muchas historias a la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obj318"/>
          <p:cNvSpPr/>
          <p:nvPr/>
        </p:nvSpPr>
        <p:spPr>
          <a:xfrm>
            <a:off x="548640" y="342900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FDEDE7"/>
          </a:solidFill>
          <a:ln/>
        </p:spPr>
      </p:sp>
      <p:sp>
        <p:nvSpPr>
          <p:cNvPr id="5" name="obj319"/>
          <p:cNvSpPr/>
          <p:nvPr/>
        </p:nvSpPr>
        <p:spPr>
          <a:xfrm>
            <a:off x="854781" y="3595201"/>
            <a:ext cx="67848" cy="232623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6" name="obj320"/>
          <p:cNvSpPr/>
          <p:nvPr/>
        </p:nvSpPr>
        <p:spPr>
          <a:xfrm>
            <a:off x="942015" y="3571939"/>
            <a:ext cx="67848" cy="255886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7" name="obj321"/>
          <p:cNvSpPr/>
          <p:nvPr/>
        </p:nvSpPr>
        <p:spPr>
          <a:xfrm>
            <a:off x="1029249" y="3595201"/>
            <a:ext cx="67848" cy="232623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8" name="obj322"/>
          <p:cNvSpPr/>
          <p:nvPr/>
        </p:nvSpPr>
        <p:spPr>
          <a:xfrm>
            <a:off x="1116482" y="3641726"/>
            <a:ext cx="67848" cy="186099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9" name="obj323"/>
          <p:cNvSpPr/>
          <p:nvPr/>
        </p:nvSpPr>
        <p:spPr>
          <a:xfrm rot="-1920000">
            <a:off x="786933" y="3746407"/>
            <a:ext cx="72695" cy="197730"/>
          </a:xfrm>
          <a:prstGeom prst="roundRect">
            <a:avLst>
              <a:gd name="adj" fmla="val 50000"/>
            </a:avLst>
          </a:prstGeom>
          <a:solidFill>
            <a:srgbClr val="F2643D"/>
          </a:solidFill>
          <a:ln/>
        </p:spPr>
      </p:sp>
      <p:sp>
        <p:nvSpPr>
          <p:cNvPr id="10" name="obj324"/>
          <p:cNvSpPr/>
          <p:nvPr/>
        </p:nvSpPr>
        <p:spPr>
          <a:xfrm>
            <a:off x="845088" y="3792931"/>
            <a:ext cx="348935" cy="267517"/>
          </a:xfrm>
          <a:prstGeom prst="roundRect">
            <a:avLst>
              <a:gd name="adj" fmla="val 28985"/>
            </a:avLst>
          </a:prstGeom>
          <a:solidFill>
            <a:srgbClr val="F2643D"/>
          </a:solidFill>
          <a:ln/>
        </p:spPr>
      </p:sp>
      <p:sp>
        <p:nvSpPr>
          <p:cNvPr id="11" name="obj325"/>
          <p:cNvSpPr txBox="1"/>
          <p:nvPr/>
        </p:nvSpPr>
        <p:spPr>
          <a:xfrm>
            <a:off x="1463040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rápido y sin materiales. La clave: que los votos extremos expliquen su razón.</a:t>
            </a:r>
            <a:endParaRPr lang="en-US" sz="1500" dirty="0"/>
          </a:p>
        </p:txBody>
      </p:sp>
      <p:sp>
        <p:nvSpPr>
          <p:cNvPr id="12" name="obj326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SCRUMstudy. (2022). </a:t>
            </a:r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los fundamentos de Scrum (Guía del SBOK®)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(4.ª ed.), 9.2.2.1, pp. 193–195.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Puño de cinco (Fist of Five)</dc:title>
  <dc:subject>PptxGenJS Presentation</dc:subject>
  <dc:creator>Grupo D3 (Laboratorio D · Equipo 3)</dc:creator>
  <cp:lastModifiedBy>Grupo D3 (Laboratorio D · Equipo 3)</cp:lastModifiedBy>
  <cp:revision>1</cp:revision>
  <dcterms:created xsi:type="dcterms:W3CDTF">2026-10-12T20:44:04Z</dcterms:created>
  <dcterms:modified xsi:type="dcterms:W3CDTF">2026-10-12T20:44:04Z</dcterms:modified>
</cp:coreProperties>
</file>