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Presentación del Producto de la Unidad I. Abrir con la frase grande: NewBit busca que las cámaras que ya existen avisen antes de que ocurra un accidente. Presentar al equipo y al docente.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cámaras ya están instaladas y graban todo el día, pero nadie revisa ese video a tiempo. El inspector de SST pasa por turnos; lo que ocurre entre ronda y ronda queda grabado y olvidado.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Contar la escena como una historia. Un operario cruza fuera de la vía peatonal, donde circulan montacargas. Nadie lo ve. Al final del turno hay ocho horas de video sin revisar. Al día siguiente, el riesgo se repite.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Tres personas del caso, con nombre. Mariana no puede revisar horas de video. Lucía mira muchas cámaras y algo se le escapa. Ricardo necesita datos para decidir dónde invertir.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idea en una sola frase. Pausa después de decirla.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Explicar cada paso como si fuera para alguien que no sabe de tecnología. Abajo, en gris, está el nombre técnico por si alguien pregunta. Cerrar con la analogía del asistente. Adelantar que los pasos 1 y 2 ya funcionan: se muestran en la parte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Dos conductas de alto riesgo en un taller. El sistema aprende la diferencia viendo también el caso seguro. La arquitectura deja espacio para agregar más conductas.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NewBit no parte de cero. Se basa en Unsafe-Net, una investigación publicada que probó esta idea con video real de una fábrica. Aclarar que el 95.81 % es de los autores, en su conjunto de datos; NewBit fijará sus propias metas en el Sprint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beneficio contado por persona. Sin cifras inventadas: lo que gana cada rol en su día a día.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Decir lo que no hace genera confianza. No reconoce rostros, no reemplaza al supervisor y no promete reducir accidentes sin medirlo.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Pasamos de qué es NewBit a cómo lo construimos. Todo sigue la Guía SBOK, el libro base del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Tres roles sin jerarquía entre ellos (p. 42). Trabajamos en sprints de dos semanas; cada sprint tiene cuatro reuniones con tiempo fijo (pp. 35–37). Somos tres; la guía recomienda de seis a diez, y ese riesgo está en el acta.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guía dice que los principios son obligatorios (p. 9). Para cada uno, una frase de cómo lo aplicamos en NewBit.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formato del curso es la salida de un proceso del libro. La fase de Inicio tiene seis procesos (8.1 a 8.6); a eso sumamos crear y estimar historias (9.1 y 9.2).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control empírico aplicado a la propia idea: tres versiones, cada una resolvió un problema de la anterior. Lo que no cambió: sin rostros, decisión humana y evaluar el evento completo.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Recorrido por lo que entregamos cada semana, de la 2 a la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acta es la salida del proceso 8.1, Crear la visión. Cuatro datos clave. A la derecha, el cuadro comparativo de los principios, la otra tarea de la semana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personajes son la salida obligatoria del proceso 8.4 (p. 164). Cada uno tiene nombre, rol y una necesidad concreta, que luego se convierte en historias de usuario.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Infografía y diagrama de arquitectura: piezas para la reunión de la visión (proceso 8.1). Se muestran tal como se entregaron; todavía decían YOLOv4, que en la semana 5 cambió a YOLOv8.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justificación cumple el papel del caso de negocio, entrada obligatoria del proceso 8.1 (p. 141). Cuatro razones, una frase cada una, y sin prometer ahorros que no estén demostrados.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épicas siguen el recorrido del dato (proceso 8.4) y se dividen en 12 historias, cada una con dos criterios de aceptación (proceso 9.1). Leer el ejemplo de HU10.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Proceso 8.5: el backlog se ordena por valor, riesgo y dependencias. Tres pasos: MoSCoW, 100 puntos por integrante y dependencias. Resultado: 31 puntos en cuatro sprints. Al 20/10 ya están construidas las historias de los sprints 1 y 2 (15 puntos); el detalle va en la parte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Puño de cinco (proceso 9.2, p. 194): todos votan a la vez de 1 a 5; los extremos explican y se vota otra vez. A la derecha, el tablero del Sprint 1 tal como se planificó en la semana 5, con todo por hacer (proceso 9.3). Aclarar que ya avanzó: su estado de hoy está en la lámina 28.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Diferenciar dos ideas que se confunden. Los criterios de aceptación son de cada historia y los define el PO. Los criterios de terminado valen para todas y no se negocian (p. 92).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 comparar nuestros formatos con la Guía SBOK aparecieron tres salidas obligatorias sin formato propio. Las elaboramos en esta semana; son propuesta del equipo.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Volver a los cuatro pasos de la lámina 6. Los dos primeros ya funcionan: subir el video y encontrar a las personas, descartando las imágenes vacías y armando clips solo con actividad. Son las historias de los sprints 1 y 2 del backlog, 15 de 31 puntos. Los pasos 3 y 4 son los sprints 3 y 4. Aclarar que el PO las acepta formalmente en la revisión del sprint, como manda la guía.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Capturas de la aplicación web funcionando. A la izquierda, el catálogo: se arrastra el video y el sistema lo valida. A la derecha, la ficha del video procesado: de 24 imágenes por segundo pasa a 5, conserva solo las que tienen operarios y arma un clip de 2,4 s a partir de 5 s. Decir con honestidad que es un clip de prueba sintético; la prueba con los videos reales del conjunto de datos viene ahora. Si preguntan: la aplicación todavía rotula las historias con la numeración interna del código, que se alineará con la del backlog.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mismo tablero de la semana 5 (lámina 23), actualizado al 20/10 con las 12 historias. Seis están terminadas y esperan la aceptación del PO. La columna En prueba está vacía y no se muestra. HU05 agrupa los clips, pero le falta el formato de entrada del modelo temporal; se cierra junto con HU07. A la derecha, lo que exigen los criterios de terminado (FGAP070) y lo que todavía falta registrar.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fechas son las del acta. El alcance de los sprints 1 y 2 ya está construido. Proponemos al PO usar ese tiempo ganado en el Sprint 3, el de mayor riesgo técnico: entrenar y evaluar ConvLSTM. Es una propuesta; la decide el Product Owner en la planificación.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Cerrar con la frase y abrir preguntas.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1.png"/><Relationship Id="rId3" Type="http://schemas.openxmlformats.org/officeDocument/2006/relationships/image" Target="../media/image-4-1.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2.png"/><Relationship Id="rId6" Type="http://schemas.openxmlformats.org/officeDocument/2006/relationships/image" Target="../media/image-7-3.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1.png"/><Relationship Id="rId3" Type="http://schemas.openxmlformats.org/officeDocument/2006/relationships/image" Target="../media/image-10-1.png"/><Relationship Id="rId4" Type="http://schemas.openxmlformats.org/officeDocument/2006/relationships/image" Target="../media/image-10-1.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1.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1.png"/><Relationship Id="rId3" Type="http://schemas.openxmlformats.org/officeDocument/2006/relationships/image" Target="../media/image-24-1.png"/><Relationship Id="rId4" Type="http://schemas.openxmlformats.org/officeDocument/2006/relationships/image" Target="../media/image-24-1.png"/><Relationship Id="rId5" Type="http://schemas.openxmlformats.org/officeDocument/2006/relationships/image" Target="../media/image-24-1.png"/><Relationship Id="rId6" Type="http://schemas.openxmlformats.org/officeDocument/2006/relationships/slideLayout" Target="../slideLayouts/slideLayout1.xml"/><Relationship Id="rId7"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slideLayout" Target="../slideLayouts/slideLayout1.xml"/><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slideLayout" Target="../slideLayouts/slideLayout1.xml"/><Relationship Id="rId6"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1.png"/><Relationship Id="rId3" Type="http://schemas.openxmlformats.org/officeDocument/2006/relationships/image" Target="../media/image-28-3.png"/><Relationship Id="rId4" Type="http://schemas.openxmlformats.org/officeDocument/2006/relationships/image" Target="../media/image-28-3.png"/><Relationship Id="rId5" Type="http://schemas.openxmlformats.org/officeDocument/2006/relationships/image" Target="../media/image-28-3.png"/><Relationship Id="rId6" Type="http://schemas.openxmlformats.org/officeDocument/2006/relationships/slideLayout" Target="../slideLayouts/slideLayout1.xml"/><Relationship Id="rId7"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AF9"/>
        </a:solidFill>
      </p:bgPr>
    </p:bg>
    <p:spTree>
      <p:nvGrpSpPr>
        <p:cNvPr id="1" name=""/>
        <p:cNvGrpSpPr/>
        <p:nvPr/>
      </p:nvGrpSpPr>
      <p:grpSpPr>
        <a:xfrm>
          <a:off x="0" y="0"/>
          <a:ext cx="0" cy="0"/>
          <a:chOff x="0" y="0"/>
          <a:chExt cx="0" cy="0"/>
        </a:xfrm>
      </p:grpSpPr>
      <p:pic>
        <p:nvPicPr>
          <p:cNvPr id="3" name="Image 0" descr="/Users/anthony/Documents/Projects/NewBit/curso/semana-06-producto-unidad-1/nuestras-entregas/PPT_Producto_Unidad_1_NewBit/img/logo-uns.png">    </p:cNvPr>
          <p:cNvPicPr>
            <a:picLocks noChangeAspect="1"/>
          </p:cNvPicPr>
          <p:nvPr/>
        </p:nvPicPr>
        <p:blipFill>
          <a:blip r:embed="rId1"/>
          <a:stretch>
            <a:fillRect/>
          </a:stretch>
        </p:blipFill>
        <p:spPr>
          <a:xfrm>
            <a:off x="731520" y="502920"/>
            <a:ext cx="566928" cy="740664"/>
          </a:xfrm>
          <a:prstGeom prst="rect">
            <a:avLst/>
          </a:prstGeom>
        </p:spPr>
      </p:pic>
      <p:sp>
        <p:nvSpPr>
          <p:cNvPr id="4" name="Text 0"/>
          <p:cNvSpPr/>
          <p:nvPr/>
        </p:nvSpPr>
        <p:spPr>
          <a:xfrm>
            <a:off x="1463040" y="621792"/>
            <a:ext cx="7315200" cy="548640"/>
          </a:xfrm>
          <a:prstGeom prst="rect">
            <a:avLst/>
          </a:prstGeom>
          <a:noFill/>
          <a:ln/>
        </p:spPr>
        <p:txBody>
          <a:bodyPr wrap="square" lIns="0" tIns="0" rIns="0" bIns="0" rtlCol="0" anchor="t"/>
          <a:lstStyle/>
          <a:p>
            <a:pPr indent="0" marL="0">
              <a:buNone/>
            </a:pPr>
            <a:r>
              <a:rPr lang="en-US" sz="1200" b="1" dirty="0">
                <a:solidFill>
                  <a:srgbClr val="57534E"/>
                </a:solidFill>
                <a:latin typeface="Calibri" pitchFamily="34" charset="0"/>
                <a:ea typeface="Calibri" pitchFamily="34" charset="-122"/>
                <a:cs typeface="Calibri" pitchFamily="34" charset="-120"/>
              </a:rPr>
              <a:t>Universidad Nacional del Santa</a:t>
            </a:r>
            <a:endParaRPr lang="en-US" sz="1200" dirty="0"/>
          </a:p>
          <a:p>
            <a:pPr indent="0" marL="0">
              <a:buNone/>
            </a:pPr>
            <a:r>
              <a:rPr lang="en-US" sz="1200" dirty="0">
                <a:solidFill>
                  <a:srgbClr val="57534E"/>
                </a:solidFill>
                <a:latin typeface="Calibri" pitchFamily="34" charset="0"/>
                <a:ea typeface="Calibri" pitchFamily="34" charset="-122"/>
                <a:cs typeface="Calibri" pitchFamily="34" charset="-120"/>
              </a:rPr>
              <a:t>Ingeniería de Software II · Producto de la Unidad I</a:t>
            </a:r>
            <a:endParaRPr lang="en-US" sz="1200" dirty="0"/>
          </a:p>
        </p:txBody>
      </p:sp>
      <p:sp>
        <p:nvSpPr>
          <p:cNvPr id="5" name="Text 1"/>
          <p:cNvSpPr/>
          <p:nvPr/>
        </p:nvSpPr>
        <p:spPr>
          <a:xfrm>
            <a:off x="731520" y="1691640"/>
            <a:ext cx="10058400" cy="1280160"/>
          </a:xfrm>
          <a:prstGeom prst="rect">
            <a:avLst/>
          </a:prstGeom>
          <a:noFill/>
          <a:ln/>
        </p:spPr>
        <p:txBody>
          <a:bodyPr wrap="square" lIns="0" tIns="0" rIns="0" bIns="0" rtlCol="0" anchor="t"/>
          <a:lstStyle/>
          <a:p>
            <a:pPr indent="0" marL="0">
              <a:buNone/>
            </a:pPr>
            <a:r>
              <a:rPr lang="en-US" sz="8800" dirty="0">
                <a:solidFill>
                  <a:srgbClr val="1A1A1A"/>
                </a:solidFill>
                <a:latin typeface="Calibri Light" pitchFamily="34" charset="0"/>
                <a:ea typeface="Calibri Light" pitchFamily="34" charset="-122"/>
                <a:cs typeface="Calibri Light" pitchFamily="34" charset="-120"/>
              </a:rPr>
              <a:t>NewBit</a:t>
            </a:r>
            <a:endParaRPr lang="en-US" sz="8800" dirty="0"/>
          </a:p>
        </p:txBody>
      </p:sp>
      <p:sp>
        <p:nvSpPr>
          <p:cNvPr id="6" name="Text 2"/>
          <p:cNvSpPr/>
          <p:nvPr/>
        </p:nvSpPr>
        <p:spPr>
          <a:xfrm>
            <a:off x="731520" y="2971800"/>
            <a:ext cx="10058400" cy="731520"/>
          </a:xfrm>
          <a:prstGeom prst="rect">
            <a:avLst/>
          </a:prstGeom>
          <a:noFill/>
          <a:ln/>
        </p:spPr>
        <p:txBody>
          <a:bodyPr wrap="square" lIns="0" tIns="0" rIns="0" bIns="0" rtlCol="0" anchor="t"/>
          <a:lstStyle/>
          <a:p>
            <a:pPr indent="0" marL="0">
              <a:buNone/>
            </a:pPr>
            <a:r>
              <a:rPr lang="en-US" sz="3200" dirty="0">
                <a:solidFill>
                  <a:srgbClr val="57534E"/>
                </a:solidFill>
                <a:latin typeface="Calibri Light" pitchFamily="34" charset="0"/>
                <a:ea typeface="Calibri Light" pitchFamily="34" charset="-122"/>
                <a:cs typeface="Calibri Light" pitchFamily="34" charset="-120"/>
              </a:rPr>
              <a:t>Que las cámaras avisen antes del accidente.</a:t>
            </a:r>
            <a:endParaRPr lang="en-US" sz="3200" dirty="0"/>
          </a:p>
        </p:txBody>
      </p:sp>
      <p:sp>
        <p:nvSpPr>
          <p:cNvPr id="7" name="Text 3"/>
          <p:cNvSpPr/>
          <p:nvPr/>
        </p:nvSpPr>
        <p:spPr>
          <a:xfrm>
            <a:off x="731520" y="3749040"/>
            <a:ext cx="9601200" cy="548640"/>
          </a:xfrm>
          <a:prstGeom prst="rect">
            <a:avLst/>
          </a:prstGeom>
          <a:noFill/>
          <a:ln/>
        </p:spPr>
        <p:txBody>
          <a:bodyPr wrap="square" lIns="0" tIns="0" rIns="0" bIns="0" rtlCol="0" anchor="t"/>
          <a:lstStyle/>
          <a:p>
            <a:pPr indent="0" marL="0">
              <a:buNone/>
            </a:pPr>
            <a:r>
              <a:rPr lang="en-US" sz="1300" dirty="0">
                <a:solidFill>
                  <a:srgbClr val="8A8984"/>
                </a:solidFill>
                <a:latin typeface="Calibri" pitchFamily="34" charset="0"/>
                <a:ea typeface="Calibri" pitchFamily="34" charset="-122"/>
                <a:cs typeface="Calibri" pitchFamily="34" charset="-120"/>
              </a:rPr>
              <a:t>Sistema web con visión artificial para la detección de actos inseguros en áreas operativas de manufactura metalmecánica · PY-NB-001</a:t>
            </a:r>
            <a:endParaRPr lang="en-US" sz="1300" dirty="0"/>
          </a:p>
        </p:txBody>
      </p:sp>
      <p:sp>
        <p:nvSpPr>
          <p:cNvPr id="8" name="Shape 4"/>
          <p:cNvSpPr/>
          <p:nvPr/>
        </p:nvSpPr>
        <p:spPr>
          <a:xfrm>
            <a:off x="731520" y="4800600"/>
            <a:ext cx="10728655" cy="0"/>
          </a:xfrm>
          <a:prstGeom prst="line">
            <a:avLst/>
          </a:prstGeom>
          <a:noFill/>
          <a:ln w="9525">
            <a:solidFill>
              <a:srgbClr val="E7E5E4"/>
            </a:solidFill>
            <a:prstDash val="solid"/>
          </a:ln>
        </p:spPr>
      </p:sp>
      <p:sp>
        <p:nvSpPr>
          <p:cNvPr id="9" name="Text 5"/>
          <p:cNvSpPr/>
          <p:nvPr/>
        </p:nvSpPr>
        <p:spPr>
          <a:xfrm>
            <a:off x="731520" y="4983480"/>
            <a:ext cx="2606040" cy="274320"/>
          </a:xfrm>
          <a:prstGeom prst="rect">
            <a:avLst/>
          </a:prstGeom>
          <a:noFill/>
          <a:ln/>
        </p:spPr>
        <p:txBody>
          <a:bodyPr wrap="square" lIns="0" tIns="0" rIns="0" bIns="0" rtlCol="0" anchor="t"/>
          <a:lstStyle/>
          <a:p>
            <a:pPr indent="0" marL="0">
              <a:buNone/>
            </a:pPr>
            <a:r>
              <a:rPr lang="en-US" sz="1300" b="1" dirty="0">
                <a:solidFill>
                  <a:srgbClr val="1A1A1A"/>
                </a:solidFill>
                <a:latin typeface="Calibri" pitchFamily="34" charset="0"/>
                <a:ea typeface="Calibri" pitchFamily="34" charset="-122"/>
                <a:cs typeface="Calibri" pitchFamily="34" charset="-120"/>
              </a:rPr>
              <a:t>Albert Chumacero Chávarry</a:t>
            </a:r>
            <a:endParaRPr lang="en-US" sz="1300" dirty="0"/>
          </a:p>
        </p:txBody>
      </p:sp>
      <p:sp>
        <p:nvSpPr>
          <p:cNvPr id="10" name="Text 6"/>
          <p:cNvSpPr/>
          <p:nvPr/>
        </p:nvSpPr>
        <p:spPr>
          <a:xfrm>
            <a:off x="731520" y="5285232"/>
            <a:ext cx="2606040" cy="274320"/>
          </a:xfrm>
          <a:prstGeom prst="rect">
            <a:avLst/>
          </a:prstGeom>
          <a:noFill/>
          <a:ln/>
        </p:spPr>
        <p:txBody>
          <a:bodyPr wrap="square" lIns="0" tIns="0" rIns="0" bIns="0" rtlCol="0" anchor="t"/>
          <a:lstStyle/>
          <a:p>
            <a:pPr indent="0" marL="0">
              <a:buNone/>
            </a:pPr>
            <a:r>
              <a:rPr lang="en-US" sz="1200" dirty="0">
                <a:solidFill>
                  <a:srgbClr val="8A8984"/>
                </a:solidFill>
                <a:latin typeface="Calibri" pitchFamily="34" charset="0"/>
                <a:ea typeface="Calibri" pitchFamily="34" charset="-122"/>
                <a:cs typeface="Calibri" pitchFamily="34" charset="-120"/>
              </a:rPr>
              <a:t>Product Owner</a:t>
            </a:r>
            <a:endParaRPr lang="en-US" sz="1200" dirty="0"/>
          </a:p>
        </p:txBody>
      </p:sp>
      <p:sp>
        <p:nvSpPr>
          <p:cNvPr id="11" name="Text 7"/>
          <p:cNvSpPr/>
          <p:nvPr/>
        </p:nvSpPr>
        <p:spPr>
          <a:xfrm>
            <a:off x="3429000" y="4983480"/>
            <a:ext cx="2606040" cy="274320"/>
          </a:xfrm>
          <a:prstGeom prst="rect">
            <a:avLst/>
          </a:prstGeom>
          <a:noFill/>
          <a:ln/>
        </p:spPr>
        <p:txBody>
          <a:bodyPr wrap="square" lIns="0" tIns="0" rIns="0" bIns="0" rtlCol="0" anchor="t"/>
          <a:lstStyle/>
          <a:p>
            <a:pPr indent="0" marL="0">
              <a:buNone/>
            </a:pPr>
            <a:r>
              <a:rPr lang="en-US" sz="1300" b="1" dirty="0">
                <a:solidFill>
                  <a:srgbClr val="1A1A1A"/>
                </a:solidFill>
                <a:latin typeface="Calibri" pitchFamily="34" charset="0"/>
                <a:ea typeface="Calibri" pitchFamily="34" charset="-122"/>
                <a:cs typeface="Calibri" pitchFamily="34" charset="-120"/>
              </a:rPr>
              <a:t>Anthony Lopez Yrribarren</a:t>
            </a:r>
            <a:endParaRPr lang="en-US" sz="1300" dirty="0"/>
          </a:p>
        </p:txBody>
      </p:sp>
      <p:sp>
        <p:nvSpPr>
          <p:cNvPr id="12" name="Text 8"/>
          <p:cNvSpPr/>
          <p:nvPr/>
        </p:nvSpPr>
        <p:spPr>
          <a:xfrm>
            <a:off x="3429000" y="5285232"/>
            <a:ext cx="2606040" cy="274320"/>
          </a:xfrm>
          <a:prstGeom prst="rect">
            <a:avLst/>
          </a:prstGeom>
          <a:noFill/>
          <a:ln/>
        </p:spPr>
        <p:txBody>
          <a:bodyPr wrap="square" lIns="0" tIns="0" rIns="0" bIns="0" rtlCol="0" anchor="t"/>
          <a:lstStyle/>
          <a:p>
            <a:pPr indent="0" marL="0">
              <a:buNone/>
            </a:pPr>
            <a:r>
              <a:rPr lang="en-US" sz="1200" dirty="0">
                <a:solidFill>
                  <a:srgbClr val="8A8984"/>
                </a:solidFill>
                <a:latin typeface="Calibri" pitchFamily="34" charset="0"/>
                <a:ea typeface="Calibri" pitchFamily="34" charset="-122"/>
                <a:cs typeface="Calibri" pitchFamily="34" charset="-120"/>
              </a:rPr>
              <a:t>Scrum Master y Developer</a:t>
            </a:r>
            <a:endParaRPr lang="en-US" sz="1200" dirty="0"/>
          </a:p>
        </p:txBody>
      </p:sp>
      <p:sp>
        <p:nvSpPr>
          <p:cNvPr id="13" name="Text 9"/>
          <p:cNvSpPr/>
          <p:nvPr/>
        </p:nvSpPr>
        <p:spPr>
          <a:xfrm>
            <a:off x="6126480" y="4983480"/>
            <a:ext cx="2606040" cy="274320"/>
          </a:xfrm>
          <a:prstGeom prst="rect">
            <a:avLst/>
          </a:prstGeom>
          <a:noFill/>
          <a:ln/>
        </p:spPr>
        <p:txBody>
          <a:bodyPr wrap="square" lIns="0" tIns="0" rIns="0" bIns="0" rtlCol="0" anchor="t"/>
          <a:lstStyle/>
          <a:p>
            <a:pPr indent="0" marL="0">
              <a:buNone/>
            </a:pPr>
            <a:r>
              <a:rPr lang="en-US" sz="1300" b="1" dirty="0">
                <a:solidFill>
                  <a:srgbClr val="1A1A1A"/>
                </a:solidFill>
                <a:latin typeface="Calibri" pitchFamily="34" charset="0"/>
                <a:ea typeface="Calibri" pitchFamily="34" charset="-122"/>
                <a:cs typeface="Calibri" pitchFamily="34" charset="-120"/>
              </a:rPr>
              <a:t>Luis Salazar Diaz</a:t>
            </a:r>
            <a:endParaRPr lang="en-US" sz="1300" dirty="0"/>
          </a:p>
        </p:txBody>
      </p:sp>
      <p:sp>
        <p:nvSpPr>
          <p:cNvPr id="14" name="Text 10"/>
          <p:cNvSpPr/>
          <p:nvPr/>
        </p:nvSpPr>
        <p:spPr>
          <a:xfrm>
            <a:off x="6126480" y="5285232"/>
            <a:ext cx="2606040" cy="274320"/>
          </a:xfrm>
          <a:prstGeom prst="rect">
            <a:avLst/>
          </a:prstGeom>
          <a:noFill/>
          <a:ln/>
        </p:spPr>
        <p:txBody>
          <a:bodyPr wrap="square" lIns="0" tIns="0" rIns="0" bIns="0" rtlCol="0" anchor="t"/>
          <a:lstStyle/>
          <a:p>
            <a:pPr indent="0" marL="0">
              <a:buNone/>
            </a:pPr>
            <a:r>
              <a:rPr lang="en-US" sz="1200" dirty="0">
                <a:solidFill>
                  <a:srgbClr val="8A8984"/>
                </a:solidFill>
                <a:latin typeface="Calibri" pitchFamily="34" charset="0"/>
                <a:ea typeface="Calibri" pitchFamily="34" charset="-122"/>
                <a:cs typeface="Calibri" pitchFamily="34" charset="-120"/>
              </a:rPr>
              <a:t>Developer</a:t>
            </a:r>
            <a:endParaRPr lang="en-US" sz="1200" dirty="0"/>
          </a:p>
        </p:txBody>
      </p:sp>
      <p:sp>
        <p:nvSpPr>
          <p:cNvPr id="15" name="Text 11"/>
          <p:cNvSpPr/>
          <p:nvPr/>
        </p:nvSpPr>
        <p:spPr>
          <a:xfrm>
            <a:off x="8823960" y="4983480"/>
            <a:ext cx="2606040" cy="274320"/>
          </a:xfrm>
          <a:prstGeom prst="rect">
            <a:avLst/>
          </a:prstGeom>
          <a:noFill/>
          <a:ln/>
        </p:spPr>
        <p:txBody>
          <a:bodyPr wrap="square" lIns="0" tIns="0" rIns="0" bIns="0" rtlCol="0" anchor="t"/>
          <a:lstStyle/>
          <a:p>
            <a:pPr indent="0" marL="0">
              <a:buNone/>
            </a:pPr>
            <a:r>
              <a:rPr lang="en-US" sz="1300" b="1" dirty="0">
                <a:solidFill>
                  <a:srgbClr val="1A1A1A"/>
                </a:solidFill>
                <a:latin typeface="Calibri" pitchFamily="34" charset="0"/>
                <a:ea typeface="Calibri" pitchFamily="34" charset="-122"/>
                <a:cs typeface="Calibri" pitchFamily="34" charset="-120"/>
              </a:rPr>
              <a:t>Dr. Ing. Alfredo Daza Vergaray</a:t>
            </a:r>
            <a:endParaRPr lang="en-US" sz="1300" dirty="0"/>
          </a:p>
        </p:txBody>
      </p:sp>
      <p:sp>
        <p:nvSpPr>
          <p:cNvPr id="16" name="Text 12"/>
          <p:cNvSpPr/>
          <p:nvPr/>
        </p:nvSpPr>
        <p:spPr>
          <a:xfrm>
            <a:off x="8823960" y="5285232"/>
            <a:ext cx="2606040" cy="274320"/>
          </a:xfrm>
          <a:prstGeom prst="rect">
            <a:avLst/>
          </a:prstGeom>
          <a:noFill/>
          <a:ln/>
        </p:spPr>
        <p:txBody>
          <a:bodyPr wrap="square" lIns="0" tIns="0" rIns="0" bIns="0" rtlCol="0" anchor="t"/>
          <a:lstStyle/>
          <a:p>
            <a:pPr indent="0" marL="0">
              <a:buNone/>
            </a:pPr>
            <a:r>
              <a:rPr lang="en-US" sz="1200" dirty="0">
                <a:solidFill>
                  <a:srgbClr val="8A8984"/>
                </a:solidFill>
                <a:latin typeface="Calibri" pitchFamily="34" charset="0"/>
                <a:ea typeface="Calibri" pitchFamily="34" charset="-122"/>
                <a:cs typeface="Calibri" pitchFamily="34" charset="-120"/>
              </a:rPr>
              <a:t>Docente</a:t>
            </a:r>
            <a:endParaRPr lang="en-US" sz="1200" dirty="0"/>
          </a:p>
        </p:txBody>
      </p:sp>
      <p:sp>
        <p:nvSpPr>
          <p:cNvPr id="17" name="Text 13"/>
          <p:cNvSpPr/>
          <p:nvPr/>
        </p:nvSpPr>
        <p:spPr>
          <a:xfrm>
            <a:off x="731520" y="6172200"/>
            <a:ext cx="7315200" cy="274320"/>
          </a:xfrm>
          <a:prstGeom prst="rect">
            <a:avLst/>
          </a:prstGeom>
          <a:noFill/>
          <a:ln/>
        </p:spPr>
        <p:txBody>
          <a:bodyPr wrap="square" lIns="0" tIns="0" rIns="0" bIns="0" rtlCol="0" anchor="t"/>
          <a:lstStyle/>
          <a:p>
            <a:pPr indent="0" marL="0">
              <a:buNone/>
            </a:pPr>
            <a:r>
              <a:rPr lang="en-US" sz="1100" dirty="0">
                <a:solidFill>
                  <a:srgbClr val="8A8984"/>
                </a:solidFill>
                <a:latin typeface="Calibri" pitchFamily="34" charset="0"/>
                <a:ea typeface="Calibri" pitchFamily="34" charset="-122"/>
                <a:cs typeface="Calibri" pitchFamily="34" charset="-120"/>
              </a:rPr>
              <a:t>Grupo D3 · Nuevo Chimbote, octubre de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731520" y="502920"/>
            <a:ext cx="10058400" cy="274320"/>
          </a:xfrm>
          <a:prstGeom prst="rect">
            <a:avLst/>
          </a:prstGeom>
          <a:noFill/>
          <a:ln/>
        </p:spPr>
        <p:txBody>
          <a:bodyPr wrap="square" lIns="0" tIns="0" rIns="0" bIns="0" rtlCol="0" anchor="t"/>
          <a:lstStyle/>
          <a:p>
            <a:pPr indent="0" marL="0">
              <a:buNone/>
            </a:pPr>
            <a:r>
              <a:rPr lang="en-US" sz="1100" b="1" spc="150" kern="0" dirty="0">
                <a:solidFill>
                  <a:srgbClr val="A8A29E"/>
                </a:solidFill>
                <a:latin typeface="Calibri" pitchFamily="34" charset="0"/>
                <a:ea typeface="Calibri" pitchFamily="34" charset="-122"/>
                <a:cs typeface="Calibri" pitchFamily="34" charset="-120"/>
              </a:rPr>
              <a:t>EL PROBLEMA</a:t>
            </a:r>
            <a:endParaRPr lang="en-US" sz="1100" dirty="0"/>
          </a:p>
        </p:txBody>
      </p:sp>
      <p:sp>
        <p:nvSpPr>
          <p:cNvPr id="3" name="Text 1"/>
          <p:cNvSpPr/>
          <p:nvPr/>
        </p:nvSpPr>
        <p:spPr>
          <a:xfrm>
            <a:off x="731520" y="6355080"/>
            <a:ext cx="2743200" cy="228600"/>
          </a:xfrm>
          <a:prstGeom prst="rect">
            <a:avLst/>
          </a:prstGeom>
          <a:noFill/>
          <a:ln/>
        </p:spPr>
        <p:txBody>
          <a:bodyPr wrap="square" lIns="0" tIns="0" rIns="0" bIns="0" rtlCol="0" anchor="t"/>
          <a:lstStyle/>
          <a:p>
            <a:pPr indent="0" marL="0">
              <a:buNone/>
            </a:pPr>
            <a:r>
              <a:rPr lang="en-US" sz="1000" b="1" dirty="0">
                <a:solidFill>
                  <a:srgbClr val="A8A29E"/>
                </a:solidFill>
                <a:latin typeface="Calibri" pitchFamily="34" charset="0"/>
                <a:ea typeface="Calibri" pitchFamily="34" charset="-122"/>
                <a:cs typeface="Calibri" pitchFamily="34" charset="-120"/>
              </a:rPr>
              <a:t>NewBit</a:t>
            </a:r>
            <a:endParaRPr lang="en-US" sz="1000" dirty="0"/>
          </a:p>
        </p:txBody>
      </p:sp>
      <p:sp>
        <p:nvSpPr>
          <p:cNvPr id="4" name="Text 2"/>
          <p:cNvSpPr/>
          <p:nvPr/>
        </p:nvSpPr>
        <p:spPr>
          <a:xfrm>
            <a:off x="1371600" y="6355080"/>
            <a:ext cx="4572000" cy="228600"/>
          </a:xfrm>
          <a:prstGeom prst="rect">
            <a:avLst/>
          </a:prstGeom>
          <a:noFill/>
          <a:ln/>
        </p:spPr>
        <p:txBody>
          <a:bodyPr wrap="square" lIns="0" tIns="0" rIns="0" bIns="0" rtlCol="0" anchor="t"/>
          <a:lstStyle/>
          <a:p>
            <a:pPr indent="0" marL="0">
              <a:buNone/>
            </a:pPr>
            <a:r>
              <a:rPr lang="en-US" sz="1000" dirty="0">
                <a:solidFill>
                  <a:srgbClr val="A8A29E"/>
                </a:solidFill>
                <a:latin typeface="Calibri" pitchFamily="34" charset="0"/>
                <a:ea typeface="Calibri" pitchFamily="34" charset="-122"/>
                <a:cs typeface="Calibri" pitchFamily="34" charset="-120"/>
              </a:rPr>
              <a:t>Producto de la Unidad I · Grupo D3</a:t>
            </a:r>
            <a:endParaRPr lang="en-US" sz="1000" dirty="0"/>
          </a:p>
        </p:txBody>
      </p:sp>
      <p:sp>
        <p:nvSpPr>
          <p:cNvPr id="5" name="Text 3"/>
          <p:cNvSpPr/>
          <p:nvPr/>
        </p:nvSpPr>
        <p:spPr>
          <a:xfrm>
            <a:off x="10728655" y="6355080"/>
            <a:ext cx="731520" cy="228600"/>
          </a:xfrm>
          <a:prstGeom prst="rect">
            <a:avLst/>
          </a:prstGeom>
          <a:noFill/>
          <a:ln/>
        </p:spPr>
        <p:txBody>
          <a:bodyPr wrap="square" lIns="0" tIns="0" rIns="0" bIns="0" rtlCol="0" anchor="t"/>
          <a:lstStyle/>
          <a:p>
            <a:pPr algn="r" indent="0" marL="0">
              <a:buNone/>
            </a:pPr>
            <a:r>
              <a:rPr lang="en-US" sz="1000" dirty="0">
                <a:solidFill>
                  <a:srgbClr val="A8A29E"/>
                </a:solidFill>
                <a:latin typeface="Calibri" pitchFamily="34" charset="0"/>
                <a:ea typeface="Calibri" pitchFamily="34" charset="-122"/>
                <a:cs typeface="Calibri" pitchFamily="34" charset="-120"/>
              </a:rPr>
              <a:t>02</a:t>
            </a:r>
            <a:endParaRPr lang="en-US" sz="1000" dirty="0"/>
          </a:p>
        </p:txBody>
      </p:sp>
      <p:sp>
        <p:nvSpPr>
          <p:cNvPr id="7" name="Text 4"/>
          <p:cNvSpPr/>
          <p:nvPr/>
        </p:nvSpPr>
        <p:spPr>
          <a:xfrm>
            <a:off x="731520" y="1463040"/>
            <a:ext cx="10515600" cy="1097280"/>
          </a:xfrm>
          <a:prstGeom prst="rect">
            <a:avLst/>
          </a:prstGeom>
          <a:noFill/>
          <a:ln/>
        </p:spPr>
        <p:txBody>
          <a:bodyPr wrap="square" lIns="0" tIns="0" rIns="0" bIns="0" rtlCol="0" anchor="t"/>
          <a:lstStyle/>
          <a:p>
            <a:pPr indent="0" marL="0">
              <a:buNone/>
            </a:pPr>
            <a:r>
              <a:rPr lang="en-US" sz="6400" dirty="0">
                <a:solidFill>
                  <a:srgbClr val="F5F5F4"/>
                </a:solidFill>
                <a:latin typeface="Calibri Light" pitchFamily="34" charset="0"/>
                <a:ea typeface="Calibri Light" pitchFamily="34" charset="-122"/>
                <a:cs typeface="Calibri Light" pitchFamily="34" charset="-120"/>
              </a:rPr>
              <a:t>Las cámaras graban.</a:t>
            </a:r>
            <a:endParaRPr lang="en-US" sz="6400" dirty="0"/>
          </a:p>
        </p:txBody>
      </p:sp>
      <p:sp>
        <p:nvSpPr>
          <p:cNvPr id="8" name="Text 5"/>
          <p:cNvSpPr/>
          <p:nvPr/>
        </p:nvSpPr>
        <p:spPr>
          <a:xfrm>
            <a:off x="731520" y="2514600"/>
            <a:ext cx="10515600" cy="1097280"/>
          </a:xfrm>
          <a:prstGeom prst="rect">
            <a:avLst/>
          </a:prstGeom>
          <a:noFill/>
          <a:ln/>
        </p:spPr>
        <p:txBody>
          <a:bodyPr wrap="square" lIns="0" tIns="0" rIns="0" bIns="0" rtlCol="0" anchor="t"/>
          <a:lstStyle/>
          <a:p>
            <a:pPr indent="0" marL="0">
              <a:buNone/>
            </a:pPr>
            <a:r>
              <a:rPr lang="en-US" sz="6400" dirty="0">
                <a:solidFill>
                  <a:srgbClr val="A8A29E"/>
                </a:solidFill>
                <a:latin typeface="Calibri Light" pitchFamily="34" charset="0"/>
                <a:ea typeface="Calibri Light" pitchFamily="34" charset="-122"/>
                <a:cs typeface="Calibri Light" pitchFamily="34" charset="-120"/>
              </a:rPr>
              <a:t>Nadie las mira.</a:t>
            </a:r>
            <a:endParaRPr lang="en-US" sz="6400" dirty="0"/>
          </a:p>
        </p:txBody>
      </p:sp>
      <p:sp>
        <p:nvSpPr>
          <p:cNvPr id="9" name="Text 6"/>
          <p:cNvSpPr/>
          <p:nvPr/>
        </p:nvSpPr>
        <p:spPr>
          <a:xfrm>
            <a:off x="731520" y="4069080"/>
            <a:ext cx="7498080" cy="1097280"/>
          </a:xfrm>
          <a:prstGeom prst="rect">
            <a:avLst/>
          </a:prstGeom>
          <a:noFill/>
          <a:ln/>
        </p:spPr>
        <p:txBody>
          <a:bodyPr wrap="square" lIns="0" tIns="0" rIns="0" bIns="0" rtlCol="0" anchor="t"/>
          <a:lstStyle/>
          <a:p>
            <a:pPr indent="0" marL="0">
              <a:buNone/>
            </a:pPr>
            <a:r>
              <a:rPr lang="en-US" sz="1800" dirty="0">
                <a:solidFill>
                  <a:srgbClr val="A8A29E"/>
                </a:solidFill>
                <a:latin typeface="Calibri" pitchFamily="34" charset="0"/>
                <a:ea typeface="Calibri" pitchFamily="34" charset="-122"/>
                <a:cs typeface="Calibri" pitchFamily="34" charset="-120"/>
              </a:rPr>
              <a:t>En un taller metalmecánico, el inspector de seguridad recorre la planta por turnos. Lo que pasa entre una ronda y otra queda grabado, pero nadie lo revisa a tiempo.</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9"/>
        </a:solidFill>
      </p:bgPr>
    </p:bg>
    <p:spTree>
      <p:nvGrpSpPr>
        <p:cNvPr id="1" name=""/>
        <p:cNvGrpSpPr/>
        <p:nvPr/>
      </p:nvGrpSpPr>
      <p:grpSpPr>
        <a:xfrm>
          <a:off x="0" y="0"/>
          <a:ext cx="0" cy="0"/>
          <a:chOff x="0" y="0"/>
          <a:chExt cx="0" cy="0"/>
        </a:xfrm>
      </p:grpSpPr>
      <p:sp>
        <p:nvSpPr>
          <p:cNvPr id="2" name="Text 0"/>
          <p:cNvSpPr/>
          <p:nvPr/>
        </p:nvSpPr>
        <p:spPr>
          <a:xfrm>
            <a:off x="731520" y="502920"/>
            <a:ext cx="10058400" cy="274320"/>
          </a:xfrm>
          <a:prstGeom prst="rect">
            <a:avLst/>
          </a:prstGeom>
          <a:noFill/>
          <a:ln/>
        </p:spPr>
        <p:txBody>
          <a:bodyPr wrap="square" lIns="0" tIns="0" rIns="0" bIns="0" rtlCol="0" anchor="t"/>
          <a:lstStyle/>
          <a:p>
            <a:pPr indent="0" marL="0">
              <a:buNone/>
            </a:pPr>
            <a:r>
              <a:rPr lang="en-US" sz="1100" b="1" spc="150" kern="0" dirty="0">
                <a:solidFill>
                  <a:srgbClr val="3E63DD"/>
                </a:solidFill>
                <a:latin typeface="Calibri" pitchFamily="34" charset="0"/>
                <a:ea typeface="Calibri" pitchFamily="34" charset="-122"/>
                <a:cs typeface="Calibri" pitchFamily="34" charset="-120"/>
              </a:rPr>
              <a:t>EL PROBLEMA</a:t>
            </a:r>
            <a:endParaRPr lang="en-US" sz="1100" dirty="0"/>
          </a:p>
        </p:txBody>
      </p:sp>
      <p:sp>
        <p:nvSpPr>
          <p:cNvPr id="3" name="Text 1"/>
          <p:cNvSpPr/>
          <p:nvPr/>
        </p:nvSpPr>
        <p:spPr>
          <a:xfrm>
            <a:off x="731520" y="777240"/>
            <a:ext cx="10698480" cy="822960"/>
          </a:xfrm>
          <a:prstGeom prst="rect">
            <a:avLst/>
          </a:prstGeom>
          <a:noFill/>
          <a:ln/>
        </p:spPr>
        <p:txBody>
          <a:bodyPr wrap="square" lIns="0" tIns="0" rIns="0" bIns="0" rtlCol="0" anchor="t"/>
          <a:lstStyle/>
          <a:p>
            <a:pPr indent="0" marL="0">
              <a:buNone/>
            </a:pPr>
            <a:r>
              <a:rPr lang="en-US" sz="3400" dirty="0">
                <a:solidFill>
                  <a:srgbClr val="1A1A1A"/>
                </a:solidFill>
                <a:latin typeface="Calibri Light" pitchFamily="34" charset="0"/>
                <a:ea typeface="Calibri Light" pitchFamily="34" charset="-122"/>
                <a:cs typeface="Calibri Light" pitchFamily="34" charset="-120"/>
              </a:rPr>
              <a:t>Una escena de todos los días</a:t>
            </a:r>
            <a:endParaRPr lang="en-US" sz="3400" dirty="0"/>
          </a:p>
        </p:txBody>
      </p:sp>
      <p:sp>
        <p:nvSpPr>
          <p:cNvPr id="4" name="Text 2"/>
          <p:cNvSpPr/>
          <p:nvPr/>
        </p:nvSpPr>
        <p:spPr>
          <a:xfrm>
            <a:off x="731520" y="6355080"/>
            <a:ext cx="2743200" cy="228600"/>
          </a:xfrm>
          <a:prstGeom prst="rect">
            <a:avLst/>
          </a:prstGeom>
          <a:noFill/>
          <a:ln/>
        </p:spPr>
        <p:txBody>
          <a:bodyPr wrap="square" lIns="0" tIns="0" rIns="0" bIns="0" rtlCol="0" anchor="t"/>
          <a:lstStyle/>
          <a:p>
            <a:pPr indent="0" marL="0">
              <a:buNone/>
            </a:pPr>
            <a:r>
              <a:rPr lang="en-US" sz="1000" b="1" dirty="0">
                <a:solidFill>
                  <a:srgbClr val="8A8984"/>
                </a:solidFill>
                <a:latin typeface="Calibri" pitchFamily="34" charset="0"/>
                <a:ea typeface="Calibri" pitchFamily="34" charset="-122"/>
                <a:cs typeface="Calibri" pitchFamily="34" charset="-120"/>
              </a:rPr>
              <a:t>NewBit</a:t>
            </a:r>
            <a:endParaRPr lang="en-US" sz="1000" dirty="0"/>
          </a:p>
        </p:txBody>
      </p:sp>
      <p:sp>
        <p:nvSpPr>
          <p:cNvPr id="5" name="Text 3"/>
          <p:cNvSpPr/>
          <p:nvPr/>
        </p:nvSpPr>
        <p:spPr>
          <a:xfrm>
            <a:off x="1371600" y="6355080"/>
            <a:ext cx="4572000" cy="228600"/>
          </a:xfrm>
          <a:prstGeom prst="rect">
            <a:avLst/>
          </a:prstGeom>
          <a:noFill/>
          <a:ln/>
        </p:spPr>
        <p:txBody>
          <a:bodyPr wrap="square" lIns="0" tIns="0" rIns="0" bIns="0" rtlCol="0" anchor="t"/>
          <a:lstStyle/>
          <a:p>
            <a:pPr indent="0" marL="0">
              <a:buNone/>
            </a:pPr>
            <a:r>
              <a:rPr lang="en-US" sz="1000" dirty="0">
                <a:solidFill>
                  <a:srgbClr val="8A8984"/>
                </a:solidFill>
                <a:latin typeface="Calibri" pitchFamily="34" charset="0"/>
                <a:ea typeface="Calibri" pitchFamily="34" charset="-122"/>
                <a:cs typeface="Calibri" pitchFamily="34" charset="-120"/>
              </a:rPr>
              <a:t>Producto de la Unidad I · Grupo D3</a:t>
            </a:r>
            <a:endParaRPr lang="en-US" sz="1000" dirty="0"/>
          </a:p>
        </p:txBody>
      </p:sp>
      <p:sp>
        <p:nvSpPr>
          <p:cNvPr id="6" name="Text 4"/>
          <p:cNvSpPr/>
          <p:nvPr/>
        </p:nvSpPr>
        <p:spPr>
          <a:xfrm>
            <a:off x="10728655" y="6355080"/>
            <a:ext cx="731520" cy="228600"/>
          </a:xfrm>
          <a:prstGeom prst="rect">
            <a:avLst/>
          </a:prstGeom>
          <a:noFill/>
          <a:ln/>
        </p:spPr>
        <p:txBody>
          <a:bodyPr wrap="square" lIns="0" tIns="0" rIns="0" bIns="0" rtlCol="0" anchor="t"/>
          <a:lstStyle/>
          <a:p>
            <a:pPr algn="r" indent="0" marL="0">
              <a:buNone/>
            </a:pPr>
            <a:r>
              <a:rPr lang="en-US" sz="1000" dirty="0">
                <a:solidFill>
                  <a:srgbClr val="8A8984"/>
                </a:solidFill>
                <a:latin typeface="Calibri" pitchFamily="34" charset="0"/>
                <a:ea typeface="Calibri" pitchFamily="34" charset="-122"/>
                <a:cs typeface="Calibri" pitchFamily="34" charset="-120"/>
              </a:rPr>
              <a:t>03</a:t>
            </a:r>
            <a:endParaRPr lang="en-US" sz="1000" dirty="0"/>
          </a:p>
        </p:txBody>
      </p:sp>
      <p:sp>
        <p:nvSpPr>
          <p:cNvPr id="8" name="Shape 5"/>
          <p:cNvSpPr/>
          <p:nvPr/>
        </p:nvSpPr>
        <p:spPr>
          <a:xfrm>
            <a:off x="822960" y="2514600"/>
            <a:ext cx="10545775" cy="0"/>
          </a:xfrm>
          <a:prstGeom prst="line">
            <a:avLst/>
          </a:prstGeom>
          <a:noFill/>
          <a:ln w="15875">
            <a:solidFill>
              <a:srgbClr val="E7E5E4"/>
            </a:solidFill>
            <a:prstDash val="solid"/>
          </a:ln>
        </p:spPr>
      </p:sp>
      <p:sp>
        <p:nvSpPr>
          <p:cNvPr id="9" name="Shape 6"/>
          <p:cNvSpPr/>
          <p:nvPr/>
        </p:nvSpPr>
        <p:spPr>
          <a:xfrm>
            <a:off x="749808" y="2404872"/>
            <a:ext cx="219456" cy="219456"/>
          </a:xfrm>
          <a:prstGeom prst="ellipse">
            <a:avLst/>
          </a:prstGeom>
          <a:solidFill>
            <a:srgbClr val="C2410C"/>
          </a:solidFill>
          <a:ln w="12700">
            <a:solidFill>
              <a:srgbClr val="C2410C"/>
            </a:solidFill>
            <a:prstDash val="solid"/>
          </a:ln>
        </p:spPr>
      </p:sp>
      <p:sp>
        <p:nvSpPr>
          <p:cNvPr id="10" name="Text 7"/>
          <p:cNvSpPr/>
          <p:nvPr/>
        </p:nvSpPr>
        <p:spPr>
          <a:xfrm>
            <a:off x="731520" y="2834640"/>
            <a:ext cx="2468880" cy="502920"/>
          </a:xfrm>
          <a:prstGeom prst="rect">
            <a:avLst/>
          </a:prstGeom>
          <a:noFill/>
          <a:ln/>
        </p:spPr>
        <p:txBody>
          <a:bodyPr wrap="square" lIns="0" tIns="0" rIns="0" bIns="0" rtlCol="0" anchor="t"/>
          <a:lstStyle/>
          <a:p>
            <a:pPr indent="0" marL="0">
              <a:buNone/>
            </a:pPr>
            <a:r>
              <a:rPr lang="en-US" sz="3000" dirty="0">
                <a:solidFill>
                  <a:srgbClr val="1A1A1A"/>
                </a:solidFill>
                <a:latin typeface="Calibri Light" pitchFamily="34" charset="0"/>
                <a:ea typeface="Calibri Light" pitchFamily="34" charset="-122"/>
                <a:cs typeface="Calibri Light" pitchFamily="34" charset="-120"/>
              </a:rPr>
              <a:t>10:42</a:t>
            </a:r>
            <a:endParaRPr lang="en-US" sz="3000" dirty="0"/>
          </a:p>
        </p:txBody>
      </p:sp>
      <p:sp>
        <p:nvSpPr>
          <p:cNvPr id="11" name="Text 8"/>
          <p:cNvSpPr/>
          <p:nvPr/>
        </p:nvSpPr>
        <p:spPr>
          <a:xfrm>
            <a:off x="731520" y="3383280"/>
            <a:ext cx="2377440" cy="1097280"/>
          </a:xfrm>
          <a:prstGeom prst="rect">
            <a:avLst/>
          </a:prstGeom>
          <a:noFill/>
          <a:ln/>
        </p:spPr>
        <p:txBody>
          <a:bodyPr wrap="square" lIns="0" tIns="0" rIns="0" bIns="0" rtlCol="0" anchor="t"/>
          <a:lstStyle/>
          <a:p>
            <a:pPr indent="0" marL="0">
              <a:buNone/>
            </a:pPr>
            <a:r>
              <a:rPr lang="en-US" sz="1600" dirty="0">
                <a:solidFill>
                  <a:srgbClr val="57534E"/>
                </a:solidFill>
                <a:latin typeface="Calibri" pitchFamily="34" charset="0"/>
                <a:ea typeface="Calibri" pitchFamily="34" charset="-122"/>
                <a:cs typeface="Calibri" pitchFamily="34" charset="-120"/>
              </a:rPr>
              <a:t>Un operario cruza fuera de la vía peatonal, por donde pasan montacargas.</a:t>
            </a:r>
            <a:endParaRPr lang="en-US" sz="1600" dirty="0"/>
          </a:p>
        </p:txBody>
      </p:sp>
      <p:sp>
        <p:nvSpPr>
          <p:cNvPr id="12" name="Shape 9"/>
          <p:cNvSpPr/>
          <p:nvPr/>
        </p:nvSpPr>
        <p:spPr>
          <a:xfrm>
            <a:off x="3447288" y="2404872"/>
            <a:ext cx="219456" cy="219456"/>
          </a:xfrm>
          <a:prstGeom prst="ellipse">
            <a:avLst/>
          </a:prstGeom>
          <a:solidFill>
            <a:srgbClr val="57534E"/>
          </a:solidFill>
          <a:ln w="12700">
            <a:solidFill>
              <a:srgbClr val="57534E"/>
            </a:solidFill>
            <a:prstDash val="solid"/>
          </a:ln>
        </p:spPr>
      </p:sp>
      <p:sp>
        <p:nvSpPr>
          <p:cNvPr id="13" name="Text 10"/>
          <p:cNvSpPr/>
          <p:nvPr/>
        </p:nvSpPr>
        <p:spPr>
          <a:xfrm>
            <a:off x="3429000" y="2834640"/>
            <a:ext cx="2468880" cy="502920"/>
          </a:xfrm>
          <a:prstGeom prst="rect">
            <a:avLst/>
          </a:prstGeom>
          <a:noFill/>
          <a:ln/>
        </p:spPr>
        <p:txBody>
          <a:bodyPr wrap="square" lIns="0" tIns="0" rIns="0" bIns="0" rtlCol="0" anchor="t"/>
          <a:lstStyle/>
          <a:p>
            <a:pPr indent="0" marL="0">
              <a:buNone/>
            </a:pPr>
            <a:r>
              <a:rPr lang="en-US" sz="3000" dirty="0">
                <a:solidFill>
                  <a:srgbClr val="1A1A1A"/>
                </a:solidFill>
                <a:latin typeface="Calibri Light" pitchFamily="34" charset="0"/>
                <a:ea typeface="Calibri Light" pitchFamily="34" charset="-122"/>
                <a:cs typeface="Calibri Light" pitchFamily="34" charset="-120"/>
              </a:rPr>
              <a:t>10:43</a:t>
            </a:r>
            <a:endParaRPr lang="en-US" sz="3000" dirty="0"/>
          </a:p>
        </p:txBody>
      </p:sp>
      <p:sp>
        <p:nvSpPr>
          <p:cNvPr id="14" name="Text 11"/>
          <p:cNvSpPr/>
          <p:nvPr/>
        </p:nvSpPr>
        <p:spPr>
          <a:xfrm>
            <a:off x="3429000" y="3383280"/>
            <a:ext cx="2377440" cy="1097280"/>
          </a:xfrm>
          <a:prstGeom prst="rect">
            <a:avLst/>
          </a:prstGeom>
          <a:noFill/>
          <a:ln/>
        </p:spPr>
        <p:txBody>
          <a:bodyPr wrap="square" lIns="0" tIns="0" rIns="0" bIns="0" rtlCol="0" anchor="t"/>
          <a:lstStyle/>
          <a:p>
            <a:pPr indent="0" marL="0">
              <a:buNone/>
            </a:pPr>
            <a:r>
              <a:rPr lang="en-US" sz="1600" dirty="0">
                <a:solidFill>
                  <a:srgbClr val="57534E"/>
                </a:solidFill>
                <a:latin typeface="Calibri" pitchFamily="34" charset="0"/>
                <a:ea typeface="Calibri" pitchFamily="34" charset="-122"/>
                <a:cs typeface="Calibri" pitchFamily="34" charset="-120"/>
              </a:rPr>
              <a:t>Sigue trabajando. Nadie lo vio; la cámara sí lo grabó.</a:t>
            </a:r>
            <a:endParaRPr lang="en-US" sz="1600" dirty="0"/>
          </a:p>
        </p:txBody>
      </p:sp>
      <p:sp>
        <p:nvSpPr>
          <p:cNvPr id="15" name="Shape 12"/>
          <p:cNvSpPr/>
          <p:nvPr/>
        </p:nvSpPr>
        <p:spPr>
          <a:xfrm>
            <a:off x="6144768" y="2404872"/>
            <a:ext cx="219456" cy="219456"/>
          </a:xfrm>
          <a:prstGeom prst="ellipse">
            <a:avLst/>
          </a:prstGeom>
          <a:solidFill>
            <a:srgbClr val="57534E"/>
          </a:solidFill>
          <a:ln w="12700">
            <a:solidFill>
              <a:srgbClr val="57534E"/>
            </a:solidFill>
            <a:prstDash val="solid"/>
          </a:ln>
        </p:spPr>
      </p:sp>
      <p:sp>
        <p:nvSpPr>
          <p:cNvPr id="16" name="Text 13"/>
          <p:cNvSpPr/>
          <p:nvPr/>
        </p:nvSpPr>
        <p:spPr>
          <a:xfrm>
            <a:off x="6126480" y="2834640"/>
            <a:ext cx="2468880" cy="502920"/>
          </a:xfrm>
          <a:prstGeom prst="rect">
            <a:avLst/>
          </a:prstGeom>
          <a:noFill/>
          <a:ln/>
        </p:spPr>
        <p:txBody>
          <a:bodyPr wrap="square" lIns="0" tIns="0" rIns="0" bIns="0" rtlCol="0" anchor="t"/>
          <a:lstStyle/>
          <a:p>
            <a:pPr indent="0" marL="0">
              <a:buNone/>
            </a:pPr>
            <a:r>
              <a:rPr lang="en-US" sz="3000" dirty="0">
                <a:solidFill>
                  <a:srgbClr val="1A1A1A"/>
                </a:solidFill>
                <a:latin typeface="Calibri Light" pitchFamily="34" charset="0"/>
                <a:ea typeface="Calibri Light" pitchFamily="34" charset="-122"/>
                <a:cs typeface="Calibri Light" pitchFamily="34" charset="-120"/>
              </a:rPr>
              <a:t>18:00</a:t>
            </a:r>
            <a:endParaRPr lang="en-US" sz="3000" dirty="0"/>
          </a:p>
        </p:txBody>
      </p:sp>
      <p:sp>
        <p:nvSpPr>
          <p:cNvPr id="17" name="Text 14"/>
          <p:cNvSpPr/>
          <p:nvPr/>
        </p:nvSpPr>
        <p:spPr>
          <a:xfrm>
            <a:off x="6126480" y="3383280"/>
            <a:ext cx="2377440" cy="1097280"/>
          </a:xfrm>
          <a:prstGeom prst="rect">
            <a:avLst/>
          </a:prstGeom>
          <a:noFill/>
          <a:ln/>
        </p:spPr>
        <p:txBody>
          <a:bodyPr wrap="square" lIns="0" tIns="0" rIns="0" bIns="0" rtlCol="0" anchor="t"/>
          <a:lstStyle/>
          <a:p>
            <a:pPr indent="0" marL="0">
              <a:buNone/>
            </a:pPr>
            <a:r>
              <a:rPr lang="en-US" sz="1600" dirty="0">
                <a:solidFill>
                  <a:srgbClr val="57534E"/>
                </a:solidFill>
                <a:latin typeface="Calibri" pitchFamily="34" charset="0"/>
                <a:ea typeface="Calibri" pitchFamily="34" charset="-122"/>
                <a:cs typeface="Calibri" pitchFamily="34" charset="-120"/>
              </a:rPr>
              <a:t>Termina el turno: ocho horas de video que nadie revisará.</a:t>
            </a:r>
            <a:endParaRPr lang="en-US" sz="1600" dirty="0"/>
          </a:p>
        </p:txBody>
      </p:sp>
      <p:sp>
        <p:nvSpPr>
          <p:cNvPr id="18" name="Shape 15"/>
          <p:cNvSpPr/>
          <p:nvPr/>
        </p:nvSpPr>
        <p:spPr>
          <a:xfrm>
            <a:off x="8842248" y="2404872"/>
            <a:ext cx="219456" cy="219456"/>
          </a:xfrm>
          <a:prstGeom prst="ellipse">
            <a:avLst/>
          </a:prstGeom>
          <a:solidFill>
            <a:srgbClr val="C2410C"/>
          </a:solidFill>
          <a:ln w="12700">
            <a:solidFill>
              <a:srgbClr val="C2410C"/>
            </a:solidFill>
            <a:prstDash val="solid"/>
          </a:ln>
        </p:spPr>
      </p:sp>
      <p:sp>
        <p:nvSpPr>
          <p:cNvPr id="19" name="Text 16"/>
          <p:cNvSpPr/>
          <p:nvPr/>
        </p:nvSpPr>
        <p:spPr>
          <a:xfrm>
            <a:off x="8823960" y="2834640"/>
            <a:ext cx="2468880" cy="502920"/>
          </a:xfrm>
          <a:prstGeom prst="rect">
            <a:avLst/>
          </a:prstGeom>
          <a:noFill/>
          <a:ln/>
        </p:spPr>
        <p:txBody>
          <a:bodyPr wrap="square" lIns="0" tIns="0" rIns="0" bIns="0" rtlCol="0" anchor="t"/>
          <a:lstStyle/>
          <a:p>
            <a:pPr indent="0" marL="0">
              <a:buNone/>
            </a:pPr>
            <a:r>
              <a:rPr lang="en-US" sz="3000" dirty="0">
                <a:solidFill>
                  <a:srgbClr val="1A1A1A"/>
                </a:solidFill>
                <a:latin typeface="Calibri Light" pitchFamily="34" charset="0"/>
                <a:ea typeface="Calibri Light" pitchFamily="34" charset="-122"/>
                <a:cs typeface="Calibri Light" pitchFamily="34" charset="-120"/>
              </a:rPr>
              <a:t>Mañana</a:t>
            </a:r>
            <a:endParaRPr lang="en-US" sz="3000" dirty="0"/>
          </a:p>
        </p:txBody>
      </p:sp>
      <p:sp>
        <p:nvSpPr>
          <p:cNvPr id="20" name="Text 17"/>
          <p:cNvSpPr/>
          <p:nvPr/>
        </p:nvSpPr>
        <p:spPr>
          <a:xfrm>
            <a:off x="8823960" y="3383280"/>
            <a:ext cx="2377440" cy="1097280"/>
          </a:xfrm>
          <a:prstGeom prst="rect">
            <a:avLst/>
          </a:prstGeom>
          <a:noFill/>
          <a:ln/>
        </p:spPr>
        <p:txBody>
          <a:bodyPr wrap="square" lIns="0" tIns="0" rIns="0" bIns="0" rtlCol="0" anchor="t"/>
          <a:lstStyle/>
          <a:p>
            <a:pPr indent="0" marL="0">
              <a:buNone/>
            </a:pPr>
            <a:r>
              <a:rPr lang="en-US" sz="1600" dirty="0">
                <a:solidFill>
                  <a:srgbClr val="57534E"/>
                </a:solidFill>
                <a:latin typeface="Calibri" pitchFamily="34" charset="0"/>
                <a:ea typeface="Calibri" pitchFamily="34" charset="-122"/>
                <a:cs typeface="Calibri" pitchFamily="34" charset="-120"/>
              </a:rPr>
              <a:t>El mismo riesgo se repite, hasta que un día no es solo un riesgo.</a:t>
            </a:r>
            <a:endParaRPr lang="en-US" sz="1600" dirty="0"/>
          </a:p>
        </p:txBody>
      </p:sp>
      <p:sp>
        <p:nvSpPr>
          <p:cNvPr id="21" name="Text 18"/>
          <p:cNvSpPr/>
          <p:nvPr/>
        </p:nvSpPr>
        <p:spPr>
          <a:xfrm>
            <a:off x="731520" y="4983480"/>
            <a:ext cx="10058400" cy="457200"/>
          </a:xfrm>
          <a:prstGeom prst="rect">
            <a:avLst/>
          </a:prstGeom>
          <a:noFill/>
          <a:ln/>
        </p:spPr>
        <p:txBody>
          <a:bodyPr wrap="square" lIns="0" tIns="0" rIns="0" bIns="0" rtlCol="0" anchor="t"/>
          <a:lstStyle/>
          <a:p>
            <a:pPr indent="0" marL="0">
              <a:buNone/>
            </a:pPr>
            <a:r>
              <a:rPr lang="en-US" sz="2400" dirty="0">
                <a:solidFill>
                  <a:srgbClr val="1A1A1A"/>
                </a:solidFill>
                <a:latin typeface="Calibri Light" pitchFamily="34" charset="0"/>
                <a:ea typeface="Calibri Light" pitchFamily="34" charset="-122"/>
                <a:cs typeface="Calibri Light" pitchFamily="34" charset="-120"/>
              </a:rPr>
              <a:t>El acto inseguro </a:t>
            </a:r>
            <a:pPr indent="0" marL="0">
              <a:buNone/>
            </a:pPr>
            <a:r>
              <a:rPr lang="en-US" sz="2400" b="1" dirty="0">
                <a:solidFill>
                  <a:srgbClr val="1A1A1A"/>
                </a:solidFill>
                <a:latin typeface="Calibri Light" pitchFamily="34" charset="0"/>
                <a:ea typeface="Calibri Light" pitchFamily="34" charset="-122"/>
                <a:cs typeface="Calibri Light" pitchFamily="34" charset="-120"/>
              </a:rPr>
              <a:t>existe</a:t>
            </a:r>
            <a:pPr indent="0" marL="0">
              <a:buNone/>
            </a:pPr>
            <a:r>
              <a:rPr lang="en-US" sz="2400" dirty="0">
                <a:solidFill>
                  <a:srgbClr val="1A1A1A"/>
                </a:solidFill>
                <a:latin typeface="Calibri Light" pitchFamily="34" charset="0"/>
                <a:ea typeface="Calibri Light" pitchFamily="34" charset="-122"/>
                <a:cs typeface="Calibri Light" pitchFamily="34" charset="-120"/>
              </a:rPr>
              <a:t>, pero se detecta </a:t>
            </a:r>
            <a:pPr indent="0" marL="0">
              <a:buNone/>
            </a:pPr>
            <a:r>
              <a:rPr lang="en-US" sz="2400" b="1" dirty="0">
                <a:solidFill>
                  <a:srgbClr val="1A1A1A"/>
                </a:solidFill>
                <a:latin typeface="Calibri Light" pitchFamily="34" charset="0"/>
                <a:ea typeface="Calibri Light" pitchFamily="34" charset="-122"/>
                <a:cs typeface="Calibri Light" pitchFamily="34" charset="-120"/>
              </a:rPr>
              <a:t>tarde o nunca</a:t>
            </a:r>
            <a:pPr indent="0" marL="0">
              <a:buNone/>
            </a:pPr>
            <a:r>
              <a:rPr lang="en-US" sz="2400" dirty="0">
                <a:solidFill>
                  <a:srgbClr val="1A1A1A"/>
                </a:solidFill>
                <a:latin typeface="Calibri Light" pitchFamily="34" charset="0"/>
                <a:ea typeface="Calibri Light" pitchFamily="34" charset="-122"/>
                <a:cs typeface="Calibri Light" pitchFamily="34" charset="-120"/>
              </a:rPr>
              <a:t>.</a:t>
            </a:r>
            <a:endParaRPr lang="en-US" sz="2400" dirty="0"/>
          </a:p>
        </p:txBody>
      </p:sp>
      <p:sp>
        <p:nvSpPr>
          <p:cNvPr id="22" name="Text 19"/>
          <p:cNvSpPr/>
          <p:nvPr/>
        </p:nvSpPr>
        <p:spPr>
          <a:xfrm>
            <a:off x="731520" y="5989320"/>
            <a:ext cx="10728655" cy="274320"/>
          </a:xfrm>
          <a:prstGeom prst="rect">
            <a:avLst/>
          </a:prstGeom>
          <a:noFill/>
          <a:ln/>
        </p:spPr>
        <p:txBody>
          <a:bodyPr wrap="square" lIns="0" tIns="0" rIns="0" bIns="0" rtlCol="0" anchor="t"/>
          <a:lstStyle/>
          <a:p>
            <a:pPr indent="0" marL="0">
              <a:buNone/>
            </a:pPr>
            <a:r>
              <a:rPr lang="en-US" sz="1000" dirty="0">
                <a:solidFill>
                  <a:srgbClr val="8A8984"/>
                </a:solidFill>
                <a:latin typeface="Calibri" pitchFamily="34" charset="0"/>
                <a:ea typeface="Calibri" pitchFamily="34" charset="-122"/>
                <a:cs typeface="Calibri" pitchFamily="34" charset="-120"/>
              </a:rPr>
              <a:t>Escena ilustrativa. Conductas tomadas del conjunto de datos de Önal y Dandıl (2024).</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9"/>
        </a:solidFill>
      </p:bgPr>
    </p:bg>
    <p:spTree>
      <p:nvGrpSpPr>
        <p:cNvPr id="1" name=""/>
        <p:cNvGrpSpPr/>
        <p:nvPr/>
      </p:nvGrpSpPr>
      <p:grpSpPr>
        <a:xfrm>
          <a:off x="0" y="0"/>
          <a:ext cx="0" cy="0"/>
          <a:chOff x="0" y="0"/>
          <a:chExt cx="0" cy="0"/>
        </a:xfrm>
      </p:grpSpPr>
      <p:sp>
        <p:nvSpPr>
          <p:cNvPr id="2" name="Text 0"/>
          <p:cNvSpPr/>
          <p:nvPr/>
        </p:nvSpPr>
        <p:spPr>
          <a:xfrm>
            <a:off x="731520" y="502920"/>
            <a:ext cx="10058400" cy="274320"/>
          </a:xfrm>
          <a:prstGeom prst="rect">
            <a:avLst/>
          </a:prstGeom>
          <a:noFill/>
          <a:ln/>
        </p:spPr>
        <p:txBody>
          <a:bodyPr wrap="square" lIns="0" tIns="0" rIns="0" bIns="0" rtlCol="0" anchor="t"/>
          <a:lstStyle/>
          <a:p>
            <a:pPr indent="0" marL="0">
              <a:buNone/>
            </a:pPr>
            <a:r>
              <a:rPr lang="en-US" sz="1100" b="1" spc="150" kern="0" dirty="0">
                <a:solidFill>
                  <a:srgbClr val="3E63DD"/>
                </a:solidFill>
                <a:latin typeface="Calibri" pitchFamily="34" charset="0"/>
                <a:ea typeface="Calibri" pitchFamily="34" charset="-122"/>
                <a:cs typeface="Calibri" pitchFamily="34" charset="-120"/>
              </a:rPr>
              <a:t>EL PROBLEMA</a:t>
            </a:r>
            <a:endParaRPr lang="en-US" sz="1100" dirty="0"/>
          </a:p>
        </p:txBody>
      </p:sp>
      <p:sp>
        <p:nvSpPr>
          <p:cNvPr id="3" name="Text 1"/>
          <p:cNvSpPr/>
          <p:nvPr/>
        </p:nvSpPr>
        <p:spPr>
          <a:xfrm>
            <a:off x="731520" y="777240"/>
            <a:ext cx="10698480" cy="822960"/>
          </a:xfrm>
          <a:prstGeom prst="rect">
            <a:avLst/>
          </a:prstGeom>
          <a:noFill/>
          <a:ln/>
        </p:spPr>
        <p:txBody>
          <a:bodyPr wrap="square" lIns="0" tIns="0" rIns="0" bIns="0" rtlCol="0" anchor="t"/>
          <a:lstStyle/>
          <a:p>
            <a:pPr indent="0" marL="0">
              <a:buNone/>
            </a:pPr>
            <a:r>
              <a:rPr lang="en-US" sz="3400" dirty="0">
                <a:solidFill>
                  <a:srgbClr val="1A1A1A"/>
                </a:solidFill>
                <a:latin typeface="Calibri Light" pitchFamily="34" charset="0"/>
                <a:ea typeface="Calibri Light" pitchFamily="34" charset="-122"/>
                <a:cs typeface="Calibri Light" pitchFamily="34" charset="-120"/>
              </a:rPr>
              <a:t>¿A quién le duele?</a:t>
            </a:r>
            <a:endParaRPr lang="en-US" sz="3400" dirty="0"/>
          </a:p>
        </p:txBody>
      </p:sp>
      <p:sp>
        <p:nvSpPr>
          <p:cNvPr id="4" name="Text 2"/>
          <p:cNvSpPr/>
          <p:nvPr/>
        </p:nvSpPr>
        <p:spPr>
          <a:xfrm>
            <a:off x="731520" y="6355080"/>
            <a:ext cx="2743200" cy="228600"/>
          </a:xfrm>
          <a:prstGeom prst="rect">
            <a:avLst/>
          </a:prstGeom>
          <a:noFill/>
          <a:ln/>
        </p:spPr>
        <p:txBody>
          <a:bodyPr wrap="square" lIns="0" tIns="0" rIns="0" bIns="0" rtlCol="0" anchor="t"/>
          <a:lstStyle/>
          <a:p>
            <a:pPr indent="0" marL="0">
              <a:buNone/>
            </a:pPr>
            <a:r>
              <a:rPr lang="en-US" sz="1000" b="1" dirty="0">
                <a:solidFill>
                  <a:srgbClr val="8A8984"/>
                </a:solidFill>
                <a:latin typeface="Calibri" pitchFamily="34" charset="0"/>
                <a:ea typeface="Calibri" pitchFamily="34" charset="-122"/>
                <a:cs typeface="Calibri" pitchFamily="34" charset="-120"/>
              </a:rPr>
              <a:t>NewBit</a:t>
            </a:r>
            <a:endParaRPr lang="en-US" sz="1000" dirty="0"/>
          </a:p>
        </p:txBody>
      </p:sp>
      <p:sp>
        <p:nvSpPr>
          <p:cNvPr id="5" name="Text 3"/>
          <p:cNvSpPr/>
          <p:nvPr/>
        </p:nvSpPr>
        <p:spPr>
          <a:xfrm>
            <a:off x="1371600" y="6355080"/>
            <a:ext cx="4572000" cy="228600"/>
          </a:xfrm>
          <a:prstGeom prst="rect">
            <a:avLst/>
          </a:prstGeom>
          <a:noFill/>
          <a:ln/>
        </p:spPr>
        <p:txBody>
          <a:bodyPr wrap="square" lIns="0" tIns="0" rIns="0" bIns="0" rtlCol="0" anchor="t"/>
          <a:lstStyle/>
          <a:p>
            <a:pPr indent="0" marL="0">
              <a:buNone/>
            </a:pPr>
            <a:r>
              <a:rPr lang="en-US" sz="1000" dirty="0">
                <a:solidFill>
                  <a:srgbClr val="8A8984"/>
                </a:solidFill>
                <a:latin typeface="Calibri" pitchFamily="34" charset="0"/>
                <a:ea typeface="Calibri" pitchFamily="34" charset="-122"/>
                <a:cs typeface="Calibri" pitchFamily="34" charset="-120"/>
              </a:rPr>
              <a:t>Producto de la Unidad I · Grupo D3</a:t>
            </a:r>
            <a:endParaRPr lang="en-US" sz="1000" dirty="0"/>
          </a:p>
        </p:txBody>
      </p:sp>
      <p:sp>
        <p:nvSpPr>
          <p:cNvPr id="6" name="Text 4"/>
          <p:cNvSpPr/>
          <p:nvPr/>
        </p:nvSpPr>
        <p:spPr>
          <a:xfrm>
            <a:off x="10728655" y="6355080"/>
            <a:ext cx="731520" cy="228600"/>
          </a:xfrm>
          <a:prstGeom prst="rect">
            <a:avLst/>
          </a:prstGeom>
          <a:noFill/>
          <a:ln/>
        </p:spPr>
        <p:txBody>
          <a:bodyPr wrap="square" lIns="0" tIns="0" rIns="0" bIns="0" rtlCol="0" anchor="t"/>
          <a:lstStyle/>
          <a:p>
            <a:pPr algn="r" indent="0" marL="0">
              <a:buNone/>
            </a:pPr>
            <a:r>
              <a:rPr lang="en-US" sz="1000" dirty="0">
                <a:solidFill>
                  <a:srgbClr val="8A8984"/>
                </a:solidFill>
                <a:latin typeface="Calibri" pitchFamily="34" charset="0"/>
                <a:ea typeface="Calibri" pitchFamily="34" charset="-122"/>
                <a:cs typeface="Calibri" pitchFamily="34" charset="-120"/>
              </a:rPr>
              <a:t>04</a:t>
            </a:r>
            <a:endParaRPr lang="en-US" sz="1000" dirty="0"/>
          </a:p>
        </p:txBody>
      </p:sp>
      <p:sp>
        <p:nvSpPr>
          <p:cNvPr id="8" name="Shape 5"/>
          <p:cNvSpPr/>
          <p:nvPr/>
        </p:nvSpPr>
        <p:spPr>
          <a:xfrm>
            <a:off x="731520" y="1965960"/>
            <a:ext cx="3337560" cy="3017520"/>
          </a:xfrm>
          <a:prstGeom prst="roundRect">
            <a:avLst>
              <a:gd name="adj" fmla="val 2424"/>
            </a:avLst>
          </a:prstGeom>
          <a:solidFill>
            <a:srgbClr val="FFFFFF"/>
          </a:solidFill>
          <a:ln w="9525">
            <a:solidFill>
              <a:srgbClr val="E7E5E4"/>
            </a:solidFill>
            <a:prstDash val="solid"/>
          </a:ln>
        </p:spPr>
      </p:sp>
      <p:pic>
        <p:nvPicPr>
          <p:cNvPr id="9" name="Image 0" descr="/Users/anthony/Documents/Projects/NewBit/curso/semana-06-producto-unidad-1/nuestras-entregas/PPT_Producto_Unidad_1_NewBit/img/iconos/persona-ink.png">    </p:cNvPr>
          <p:cNvPicPr>
            <a:picLocks noChangeAspect="1"/>
          </p:cNvPicPr>
          <p:nvPr/>
        </p:nvPicPr>
        <p:blipFill>
          <a:blip r:embed="rId1"/>
          <a:stretch>
            <a:fillRect/>
          </a:stretch>
        </p:blipFill>
        <p:spPr>
          <a:xfrm>
            <a:off x="1051560" y="2240280"/>
            <a:ext cx="457200" cy="457200"/>
          </a:xfrm>
          <a:prstGeom prst="rect">
            <a:avLst/>
          </a:prstGeom>
        </p:spPr>
      </p:pic>
      <p:sp>
        <p:nvSpPr>
          <p:cNvPr id="10" name="Text 6"/>
          <p:cNvSpPr/>
          <p:nvPr/>
        </p:nvSpPr>
        <p:spPr>
          <a:xfrm>
            <a:off x="1051560" y="2880360"/>
            <a:ext cx="2743200" cy="365760"/>
          </a:xfrm>
          <a:prstGeom prst="rect">
            <a:avLst/>
          </a:prstGeom>
          <a:noFill/>
          <a:ln/>
        </p:spPr>
        <p:txBody>
          <a:bodyPr wrap="square" lIns="0" tIns="0" rIns="0" bIns="0" rtlCol="0" anchor="t"/>
          <a:lstStyle/>
          <a:p>
            <a:pPr indent="0" marL="0">
              <a:buNone/>
            </a:pPr>
            <a:r>
              <a:rPr lang="en-US" sz="2000" b="1" dirty="0">
                <a:solidFill>
                  <a:srgbClr val="1A1A1A"/>
                </a:solidFill>
                <a:latin typeface="Calibri" pitchFamily="34" charset="0"/>
                <a:ea typeface="Calibri" pitchFamily="34" charset="-122"/>
                <a:cs typeface="Calibri" pitchFamily="34" charset="-120"/>
              </a:rPr>
              <a:t>Mariana Torres</a:t>
            </a:r>
            <a:endParaRPr lang="en-US" sz="2000" dirty="0"/>
          </a:p>
        </p:txBody>
      </p:sp>
      <p:sp>
        <p:nvSpPr>
          <p:cNvPr id="11" name="Text 7"/>
          <p:cNvSpPr/>
          <p:nvPr/>
        </p:nvSpPr>
        <p:spPr>
          <a:xfrm>
            <a:off x="1051560" y="3246120"/>
            <a:ext cx="2743200" cy="320040"/>
          </a:xfrm>
          <a:prstGeom prst="rect">
            <a:avLst/>
          </a:prstGeom>
          <a:noFill/>
          <a:ln/>
        </p:spPr>
        <p:txBody>
          <a:bodyPr wrap="square" lIns="0" tIns="0" rIns="0" bIns="0" rtlCol="0" anchor="t"/>
          <a:lstStyle/>
          <a:p>
            <a:pPr indent="0" marL="0">
              <a:buNone/>
            </a:pPr>
            <a:r>
              <a:rPr lang="en-US" sz="1400" dirty="0">
                <a:solidFill>
                  <a:srgbClr val="8A8984"/>
                </a:solidFill>
                <a:latin typeface="Calibri" pitchFamily="34" charset="0"/>
                <a:ea typeface="Calibri" pitchFamily="34" charset="-122"/>
                <a:cs typeface="Calibri" pitchFamily="34" charset="-120"/>
              </a:rPr>
              <a:t>Supervisora de SST</a:t>
            </a:r>
            <a:endParaRPr lang="en-US" sz="1400" dirty="0"/>
          </a:p>
        </p:txBody>
      </p:sp>
      <p:sp>
        <p:nvSpPr>
          <p:cNvPr id="12" name="Text 8"/>
          <p:cNvSpPr/>
          <p:nvPr/>
        </p:nvSpPr>
        <p:spPr>
          <a:xfrm>
            <a:off x="1051560" y="3703320"/>
            <a:ext cx="2743200" cy="1097280"/>
          </a:xfrm>
          <a:prstGeom prst="rect">
            <a:avLst/>
          </a:prstGeom>
          <a:noFill/>
          <a:ln/>
        </p:spPr>
        <p:txBody>
          <a:bodyPr wrap="square" lIns="0" tIns="0" rIns="0" bIns="0" rtlCol="0" anchor="t"/>
          <a:lstStyle/>
          <a:p>
            <a:pPr indent="0" marL="0">
              <a:buNone/>
            </a:pPr>
            <a:r>
              <a:rPr lang="en-US" sz="1600" dirty="0">
                <a:solidFill>
                  <a:srgbClr val="57534E"/>
                </a:solidFill>
                <a:latin typeface="Calibri" pitchFamily="34" charset="0"/>
                <a:ea typeface="Calibri" pitchFamily="34" charset="-122"/>
                <a:cs typeface="Calibri" pitchFamily="34" charset="-120"/>
              </a:rPr>
              <a:t>No puede revisar horas de video. Necesita saber a tiempo qué pasó, dónde y cuándo.</a:t>
            </a:r>
            <a:endParaRPr lang="en-US" sz="1600" dirty="0"/>
          </a:p>
        </p:txBody>
      </p:sp>
      <p:sp>
        <p:nvSpPr>
          <p:cNvPr id="13" name="Shape 9"/>
          <p:cNvSpPr/>
          <p:nvPr/>
        </p:nvSpPr>
        <p:spPr>
          <a:xfrm>
            <a:off x="4343400" y="1965960"/>
            <a:ext cx="3337560" cy="3017520"/>
          </a:xfrm>
          <a:prstGeom prst="roundRect">
            <a:avLst>
              <a:gd name="adj" fmla="val 2424"/>
            </a:avLst>
          </a:prstGeom>
          <a:solidFill>
            <a:srgbClr val="FFFFFF"/>
          </a:solidFill>
          <a:ln w="9525">
            <a:solidFill>
              <a:srgbClr val="E7E5E4"/>
            </a:solidFill>
            <a:prstDash val="solid"/>
          </a:ln>
        </p:spPr>
      </p:sp>
      <p:pic>
        <p:nvPicPr>
          <p:cNvPr id="14" name="Image 1" descr="/Users/anthony/Documents/Projects/NewBit/curso/semana-06-producto-unidad-1/nuestras-entregas/PPT_Producto_Unidad_1_NewBit/img/iconos/persona-ink.png">    </p:cNvPr>
          <p:cNvPicPr>
            <a:picLocks noChangeAspect="1"/>
          </p:cNvPicPr>
          <p:nvPr/>
        </p:nvPicPr>
        <p:blipFill>
          <a:blip r:embed="rId2"/>
          <a:stretch>
            <a:fillRect/>
          </a:stretch>
        </p:blipFill>
        <p:spPr>
          <a:xfrm>
            <a:off x="4663440" y="2240280"/>
            <a:ext cx="457200" cy="457200"/>
          </a:xfrm>
          <a:prstGeom prst="rect">
            <a:avLst/>
          </a:prstGeom>
        </p:spPr>
      </p:pic>
      <p:sp>
        <p:nvSpPr>
          <p:cNvPr id="15" name="Text 10"/>
          <p:cNvSpPr/>
          <p:nvPr/>
        </p:nvSpPr>
        <p:spPr>
          <a:xfrm>
            <a:off x="4663440" y="2880360"/>
            <a:ext cx="2743200" cy="365760"/>
          </a:xfrm>
          <a:prstGeom prst="rect">
            <a:avLst/>
          </a:prstGeom>
          <a:noFill/>
          <a:ln/>
        </p:spPr>
        <p:txBody>
          <a:bodyPr wrap="square" lIns="0" tIns="0" rIns="0" bIns="0" rtlCol="0" anchor="t"/>
          <a:lstStyle/>
          <a:p>
            <a:pPr indent="0" marL="0">
              <a:buNone/>
            </a:pPr>
            <a:r>
              <a:rPr lang="en-US" sz="2000" b="1" dirty="0">
                <a:solidFill>
                  <a:srgbClr val="1A1A1A"/>
                </a:solidFill>
                <a:latin typeface="Calibri" pitchFamily="34" charset="0"/>
                <a:ea typeface="Calibri" pitchFamily="34" charset="-122"/>
                <a:cs typeface="Calibri" pitchFamily="34" charset="-120"/>
              </a:rPr>
              <a:t>Lucía Ramos</a:t>
            </a:r>
            <a:endParaRPr lang="en-US" sz="2000" dirty="0"/>
          </a:p>
        </p:txBody>
      </p:sp>
      <p:sp>
        <p:nvSpPr>
          <p:cNvPr id="16" name="Text 11"/>
          <p:cNvSpPr/>
          <p:nvPr/>
        </p:nvSpPr>
        <p:spPr>
          <a:xfrm>
            <a:off x="4663440" y="3246120"/>
            <a:ext cx="2743200" cy="320040"/>
          </a:xfrm>
          <a:prstGeom prst="rect">
            <a:avLst/>
          </a:prstGeom>
          <a:noFill/>
          <a:ln/>
        </p:spPr>
        <p:txBody>
          <a:bodyPr wrap="square" lIns="0" tIns="0" rIns="0" bIns="0" rtlCol="0" anchor="t"/>
          <a:lstStyle/>
          <a:p>
            <a:pPr indent="0" marL="0">
              <a:buNone/>
            </a:pPr>
            <a:r>
              <a:rPr lang="en-US" sz="1400" dirty="0">
                <a:solidFill>
                  <a:srgbClr val="8A8984"/>
                </a:solidFill>
                <a:latin typeface="Calibri" pitchFamily="34" charset="0"/>
                <a:ea typeface="Calibri" pitchFamily="34" charset="-122"/>
                <a:cs typeface="Calibri" pitchFamily="34" charset="-120"/>
              </a:rPr>
              <a:t>Operadora de monitoreo</a:t>
            </a:r>
            <a:endParaRPr lang="en-US" sz="1400" dirty="0"/>
          </a:p>
        </p:txBody>
      </p:sp>
      <p:sp>
        <p:nvSpPr>
          <p:cNvPr id="17" name="Text 12"/>
          <p:cNvSpPr/>
          <p:nvPr/>
        </p:nvSpPr>
        <p:spPr>
          <a:xfrm>
            <a:off x="4663440" y="3703320"/>
            <a:ext cx="2743200" cy="1097280"/>
          </a:xfrm>
          <a:prstGeom prst="rect">
            <a:avLst/>
          </a:prstGeom>
          <a:noFill/>
          <a:ln/>
        </p:spPr>
        <p:txBody>
          <a:bodyPr wrap="square" lIns="0" tIns="0" rIns="0" bIns="0" rtlCol="0" anchor="t"/>
          <a:lstStyle/>
          <a:p>
            <a:pPr indent="0" marL="0">
              <a:buNone/>
            </a:pPr>
            <a:r>
              <a:rPr lang="en-US" sz="1600" dirty="0">
                <a:solidFill>
                  <a:srgbClr val="57534E"/>
                </a:solidFill>
                <a:latin typeface="Calibri" pitchFamily="34" charset="0"/>
                <a:ea typeface="Calibri" pitchFamily="34" charset="-122"/>
                <a:cs typeface="Calibri" pitchFamily="34" charset="-120"/>
              </a:rPr>
              <a:t>Mira muchas cámaras a la vez. Es fácil que algo se le pase.</a:t>
            </a:r>
            <a:endParaRPr lang="en-US" sz="1600" dirty="0"/>
          </a:p>
        </p:txBody>
      </p:sp>
      <p:sp>
        <p:nvSpPr>
          <p:cNvPr id="18" name="Shape 13"/>
          <p:cNvSpPr/>
          <p:nvPr/>
        </p:nvSpPr>
        <p:spPr>
          <a:xfrm>
            <a:off x="7955280" y="1965960"/>
            <a:ext cx="3337560" cy="3017520"/>
          </a:xfrm>
          <a:prstGeom prst="roundRect">
            <a:avLst>
              <a:gd name="adj" fmla="val 2424"/>
            </a:avLst>
          </a:prstGeom>
          <a:solidFill>
            <a:srgbClr val="FFFFFF"/>
          </a:solidFill>
          <a:ln w="9525">
            <a:solidFill>
              <a:srgbClr val="E7E5E4"/>
            </a:solidFill>
            <a:prstDash val="solid"/>
          </a:ln>
        </p:spPr>
      </p:sp>
      <p:pic>
        <p:nvPicPr>
          <p:cNvPr id="19" name="Image 2" descr="/Users/anthony/Documents/Projects/NewBit/curso/semana-06-producto-unidad-1/nuestras-entregas/PPT_Producto_Unidad_1_NewBit/img/iconos/persona-ink.png">    </p:cNvPr>
          <p:cNvPicPr>
            <a:picLocks noChangeAspect="1"/>
          </p:cNvPicPr>
          <p:nvPr/>
        </p:nvPicPr>
        <p:blipFill>
          <a:blip r:embed="rId3"/>
          <a:stretch>
            <a:fillRect/>
          </a:stretch>
        </p:blipFill>
        <p:spPr>
          <a:xfrm>
            <a:off x="8275320" y="2240280"/>
            <a:ext cx="457200" cy="457200"/>
          </a:xfrm>
          <a:prstGeom prst="rect">
            <a:avLst/>
          </a:prstGeom>
        </p:spPr>
      </p:pic>
      <p:sp>
        <p:nvSpPr>
          <p:cNvPr id="20" name="Text 14"/>
          <p:cNvSpPr/>
          <p:nvPr/>
        </p:nvSpPr>
        <p:spPr>
          <a:xfrm>
            <a:off x="8275320" y="2880360"/>
            <a:ext cx="2743200" cy="365760"/>
          </a:xfrm>
          <a:prstGeom prst="rect">
            <a:avLst/>
          </a:prstGeom>
          <a:noFill/>
          <a:ln/>
        </p:spPr>
        <p:txBody>
          <a:bodyPr wrap="square" lIns="0" tIns="0" rIns="0" bIns="0" rtlCol="0" anchor="t"/>
          <a:lstStyle/>
          <a:p>
            <a:pPr indent="0" marL="0">
              <a:buNone/>
            </a:pPr>
            <a:r>
              <a:rPr lang="en-US" sz="2000" b="1" dirty="0">
                <a:solidFill>
                  <a:srgbClr val="1A1A1A"/>
                </a:solidFill>
                <a:latin typeface="Calibri" pitchFamily="34" charset="0"/>
                <a:ea typeface="Calibri" pitchFamily="34" charset="-122"/>
                <a:cs typeface="Calibri" pitchFamily="34" charset="-120"/>
              </a:rPr>
              <a:t>Ricardo Salcedo</a:t>
            </a:r>
            <a:endParaRPr lang="en-US" sz="2000" dirty="0"/>
          </a:p>
        </p:txBody>
      </p:sp>
      <p:sp>
        <p:nvSpPr>
          <p:cNvPr id="21" name="Text 15"/>
          <p:cNvSpPr/>
          <p:nvPr/>
        </p:nvSpPr>
        <p:spPr>
          <a:xfrm>
            <a:off x="8275320" y="3246120"/>
            <a:ext cx="2743200" cy="320040"/>
          </a:xfrm>
          <a:prstGeom prst="rect">
            <a:avLst/>
          </a:prstGeom>
          <a:noFill/>
          <a:ln/>
        </p:spPr>
        <p:txBody>
          <a:bodyPr wrap="square" lIns="0" tIns="0" rIns="0" bIns="0" rtlCol="0" anchor="t"/>
          <a:lstStyle/>
          <a:p>
            <a:pPr indent="0" marL="0">
              <a:buNone/>
            </a:pPr>
            <a:r>
              <a:rPr lang="en-US" sz="1400" dirty="0">
                <a:solidFill>
                  <a:srgbClr val="8A8984"/>
                </a:solidFill>
                <a:latin typeface="Calibri" pitchFamily="34" charset="0"/>
                <a:ea typeface="Calibri" pitchFamily="34" charset="-122"/>
                <a:cs typeface="Calibri" pitchFamily="34" charset="-120"/>
              </a:rPr>
              <a:t>Gerente general</a:t>
            </a:r>
            <a:endParaRPr lang="en-US" sz="1400" dirty="0"/>
          </a:p>
        </p:txBody>
      </p:sp>
      <p:sp>
        <p:nvSpPr>
          <p:cNvPr id="22" name="Text 16"/>
          <p:cNvSpPr/>
          <p:nvPr/>
        </p:nvSpPr>
        <p:spPr>
          <a:xfrm>
            <a:off x="8275320" y="3703320"/>
            <a:ext cx="2743200" cy="1097280"/>
          </a:xfrm>
          <a:prstGeom prst="rect">
            <a:avLst/>
          </a:prstGeom>
          <a:noFill/>
          <a:ln/>
        </p:spPr>
        <p:txBody>
          <a:bodyPr wrap="square" lIns="0" tIns="0" rIns="0" bIns="0" rtlCol="0" anchor="t"/>
          <a:lstStyle/>
          <a:p>
            <a:pPr indent="0" marL="0">
              <a:buNone/>
            </a:pPr>
            <a:r>
              <a:rPr lang="en-US" sz="1600" dirty="0">
                <a:solidFill>
                  <a:srgbClr val="57534E"/>
                </a:solidFill>
                <a:latin typeface="Calibri" pitchFamily="34" charset="0"/>
                <a:ea typeface="Calibri" pitchFamily="34" charset="-122"/>
                <a:cs typeface="Calibri" pitchFamily="34" charset="-120"/>
              </a:rPr>
              <a:t>Necesita datos claros para decidir dónde invertir en prevención.</a:t>
            </a:r>
            <a:endParaRPr lang="en-US" sz="1600" dirty="0"/>
          </a:p>
        </p:txBody>
      </p:sp>
      <p:sp>
        <p:nvSpPr>
          <p:cNvPr id="23" name="Text 17"/>
          <p:cNvSpPr/>
          <p:nvPr/>
        </p:nvSpPr>
        <p:spPr>
          <a:xfrm>
            <a:off x="731520" y="5989320"/>
            <a:ext cx="10728655" cy="274320"/>
          </a:xfrm>
          <a:prstGeom prst="rect">
            <a:avLst/>
          </a:prstGeom>
          <a:noFill/>
          <a:ln/>
        </p:spPr>
        <p:txBody>
          <a:bodyPr wrap="square" lIns="0" tIns="0" rIns="0" bIns="0" rtlCol="0" anchor="t"/>
          <a:lstStyle/>
          <a:p>
            <a:pPr indent="0" marL="0">
              <a:buNone/>
            </a:pPr>
            <a:r>
              <a:rPr lang="en-US" sz="1000" dirty="0">
                <a:solidFill>
                  <a:srgbClr val="8A8984"/>
                </a:solidFill>
                <a:latin typeface="Calibri" pitchFamily="34" charset="0"/>
                <a:ea typeface="Calibri" pitchFamily="34" charset="-122"/>
                <a:cs typeface="Calibri" pitchFamily="34" charset="-120"/>
              </a:rPr>
              <a:t>Perfiles del caso académico, definidos en el formato FGAP030 (Roles y prototipos).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731520" y="502920"/>
            <a:ext cx="10058400" cy="274320"/>
          </a:xfrm>
          <a:prstGeom prst="rect">
            <a:avLst/>
          </a:prstGeom>
          <a:noFill/>
          <a:ln/>
        </p:spPr>
        <p:txBody>
          <a:bodyPr wrap="square" lIns="0" tIns="0" rIns="0" bIns="0" rtlCol="0" anchor="t"/>
          <a:lstStyle/>
          <a:p>
            <a:pPr indent="0" marL="0">
              <a:buNone/>
            </a:pPr>
            <a:r>
              <a:rPr lang="en-US" sz="1100" b="1" spc="150" kern="0" dirty="0">
                <a:solidFill>
                  <a:srgbClr val="A8A29E"/>
                </a:solidFill>
                <a:latin typeface="Calibri" pitchFamily="34" charset="0"/>
                <a:ea typeface="Calibri" pitchFamily="34" charset="-122"/>
                <a:cs typeface="Calibri" pitchFamily="34" charset="-120"/>
              </a:rPr>
              <a:t>LA IDEA</a:t>
            </a:r>
            <a:endParaRPr lang="en-US" sz="1100" dirty="0"/>
          </a:p>
        </p:txBody>
      </p:sp>
      <p:sp>
        <p:nvSpPr>
          <p:cNvPr id="3" name="Text 1"/>
          <p:cNvSpPr/>
          <p:nvPr/>
        </p:nvSpPr>
        <p:spPr>
          <a:xfrm>
            <a:off x="731520" y="6355080"/>
            <a:ext cx="2743200" cy="228600"/>
          </a:xfrm>
          <a:prstGeom prst="rect">
            <a:avLst/>
          </a:prstGeom>
          <a:noFill/>
          <a:ln/>
        </p:spPr>
        <p:txBody>
          <a:bodyPr wrap="square" lIns="0" tIns="0" rIns="0" bIns="0" rtlCol="0" anchor="t"/>
          <a:lstStyle/>
          <a:p>
            <a:pPr indent="0" marL="0">
              <a:buNone/>
            </a:pPr>
            <a:r>
              <a:rPr lang="en-US" sz="1000" b="1" dirty="0">
                <a:solidFill>
                  <a:srgbClr val="A8A29E"/>
                </a:solidFill>
                <a:latin typeface="Calibri" pitchFamily="34" charset="0"/>
                <a:ea typeface="Calibri" pitchFamily="34" charset="-122"/>
                <a:cs typeface="Calibri" pitchFamily="34" charset="-120"/>
              </a:rPr>
              <a:t>NewBit</a:t>
            </a:r>
            <a:endParaRPr lang="en-US" sz="1000" dirty="0"/>
          </a:p>
        </p:txBody>
      </p:sp>
      <p:sp>
        <p:nvSpPr>
          <p:cNvPr id="4" name="Text 2"/>
          <p:cNvSpPr/>
          <p:nvPr/>
        </p:nvSpPr>
        <p:spPr>
          <a:xfrm>
            <a:off x="1371600" y="6355080"/>
            <a:ext cx="4572000" cy="228600"/>
          </a:xfrm>
          <a:prstGeom prst="rect">
            <a:avLst/>
          </a:prstGeom>
          <a:noFill/>
          <a:ln/>
        </p:spPr>
        <p:txBody>
          <a:bodyPr wrap="square" lIns="0" tIns="0" rIns="0" bIns="0" rtlCol="0" anchor="t"/>
          <a:lstStyle/>
          <a:p>
            <a:pPr indent="0" marL="0">
              <a:buNone/>
            </a:pPr>
            <a:r>
              <a:rPr lang="en-US" sz="1000" dirty="0">
                <a:solidFill>
                  <a:srgbClr val="A8A29E"/>
                </a:solidFill>
                <a:latin typeface="Calibri" pitchFamily="34" charset="0"/>
                <a:ea typeface="Calibri" pitchFamily="34" charset="-122"/>
                <a:cs typeface="Calibri" pitchFamily="34" charset="-120"/>
              </a:rPr>
              <a:t>Producto de la Unidad I · Grupo D3</a:t>
            </a:r>
            <a:endParaRPr lang="en-US" sz="1000" dirty="0"/>
          </a:p>
        </p:txBody>
      </p:sp>
      <p:sp>
        <p:nvSpPr>
          <p:cNvPr id="5" name="Text 3"/>
          <p:cNvSpPr/>
          <p:nvPr/>
        </p:nvSpPr>
        <p:spPr>
          <a:xfrm>
            <a:off x="10728655" y="6355080"/>
            <a:ext cx="731520" cy="228600"/>
          </a:xfrm>
          <a:prstGeom prst="rect">
            <a:avLst/>
          </a:prstGeom>
          <a:noFill/>
          <a:ln/>
        </p:spPr>
        <p:txBody>
          <a:bodyPr wrap="square" lIns="0" tIns="0" rIns="0" bIns="0" rtlCol="0" anchor="t"/>
          <a:lstStyle/>
          <a:p>
            <a:pPr algn="r" indent="0" marL="0">
              <a:buNone/>
            </a:pPr>
            <a:r>
              <a:rPr lang="en-US" sz="1000" dirty="0">
                <a:solidFill>
                  <a:srgbClr val="A8A29E"/>
                </a:solidFill>
                <a:latin typeface="Calibri" pitchFamily="34" charset="0"/>
                <a:ea typeface="Calibri" pitchFamily="34" charset="-122"/>
                <a:cs typeface="Calibri" pitchFamily="34" charset="-120"/>
              </a:rPr>
              <a:t>05</a:t>
            </a:r>
            <a:endParaRPr lang="en-US" sz="1000" dirty="0"/>
          </a:p>
        </p:txBody>
      </p:sp>
      <p:sp>
        <p:nvSpPr>
          <p:cNvPr id="7" name="Text 4"/>
          <p:cNvSpPr/>
          <p:nvPr/>
        </p:nvSpPr>
        <p:spPr>
          <a:xfrm>
            <a:off x="731520" y="1417320"/>
            <a:ext cx="10698480" cy="914400"/>
          </a:xfrm>
          <a:prstGeom prst="rect">
            <a:avLst/>
          </a:prstGeom>
          <a:noFill/>
          <a:ln/>
        </p:spPr>
        <p:txBody>
          <a:bodyPr wrap="square" lIns="0" tIns="0" rIns="0" bIns="0" rtlCol="0" anchor="t"/>
          <a:lstStyle/>
          <a:p>
            <a:pPr indent="0" marL="0">
              <a:buNone/>
            </a:pPr>
            <a:r>
              <a:rPr lang="en-US" sz="5400" dirty="0">
                <a:solidFill>
                  <a:srgbClr val="F5F5F4"/>
                </a:solidFill>
                <a:latin typeface="Calibri Light" pitchFamily="34" charset="0"/>
                <a:ea typeface="Calibri Light" pitchFamily="34" charset="-122"/>
                <a:cs typeface="Calibri Light" pitchFamily="34" charset="-120"/>
              </a:rPr>
              <a:t>NewBit revisa el video por ti</a:t>
            </a:r>
            <a:endParaRPr lang="en-US" sz="5400" dirty="0"/>
          </a:p>
        </p:txBody>
      </p:sp>
      <p:sp>
        <p:nvSpPr>
          <p:cNvPr id="8" name="Text 5"/>
          <p:cNvSpPr/>
          <p:nvPr/>
        </p:nvSpPr>
        <p:spPr>
          <a:xfrm>
            <a:off x="731520" y="2286000"/>
            <a:ext cx="10698480" cy="914400"/>
          </a:xfrm>
          <a:prstGeom prst="rect">
            <a:avLst/>
          </a:prstGeom>
          <a:noFill/>
          <a:ln/>
        </p:spPr>
        <p:txBody>
          <a:bodyPr wrap="square" lIns="0" tIns="0" rIns="0" bIns="0" rtlCol="0" anchor="t"/>
          <a:lstStyle/>
          <a:p>
            <a:pPr indent="0" marL="0">
              <a:buNone/>
            </a:pPr>
            <a:r>
              <a:rPr lang="en-US" sz="5400" dirty="0">
                <a:solidFill>
                  <a:srgbClr val="A8A29E"/>
                </a:solidFill>
                <a:latin typeface="Calibri Light" pitchFamily="34" charset="0"/>
                <a:ea typeface="Calibri Light" pitchFamily="34" charset="-122"/>
                <a:cs typeface="Calibri Light" pitchFamily="34" charset="-120"/>
              </a:rPr>
              <a:t>y te muestra solo los segundos</a:t>
            </a:r>
            <a:endParaRPr lang="en-US" sz="5400" dirty="0"/>
          </a:p>
        </p:txBody>
      </p:sp>
      <p:sp>
        <p:nvSpPr>
          <p:cNvPr id="9" name="Text 6"/>
          <p:cNvSpPr/>
          <p:nvPr/>
        </p:nvSpPr>
        <p:spPr>
          <a:xfrm>
            <a:off x="731520" y="3154680"/>
            <a:ext cx="10698480" cy="914400"/>
          </a:xfrm>
          <a:prstGeom prst="rect">
            <a:avLst/>
          </a:prstGeom>
          <a:noFill/>
          <a:ln/>
        </p:spPr>
        <p:txBody>
          <a:bodyPr wrap="square" lIns="0" tIns="0" rIns="0" bIns="0" rtlCol="0" anchor="t"/>
          <a:lstStyle/>
          <a:p>
            <a:pPr indent="0" marL="0">
              <a:buNone/>
            </a:pPr>
            <a:r>
              <a:rPr lang="en-US" sz="5400" dirty="0">
                <a:solidFill>
                  <a:srgbClr val="A8A29E"/>
                </a:solidFill>
                <a:latin typeface="Calibri Light" pitchFamily="34" charset="0"/>
                <a:ea typeface="Calibri Light" pitchFamily="34" charset="-122"/>
                <a:cs typeface="Calibri Light" pitchFamily="34" charset="-120"/>
              </a:rPr>
              <a:t>que importan.</a:t>
            </a:r>
            <a:endParaRPr lang="en-US" sz="5400" dirty="0"/>
          </a:p>
        </p:txBody>
      </p:sp>
      <p:sp>
        <p:nvSpPr>
          <p:cNvPr id="10" name="Text 7"/>
          <p:cNvSpPr/>
          <p:nvPr/>
        </p:nvSpPr>
        <p:spPr>
          <a:xfrm>
            <a:off x="731520" y="4434840"/>
            <a:ext cx="8229600" cy="457200"/>
          </a:xfrm>
          <a:prstGeom prst="rect">
            <a:avLst/>
          </a:prstGeom>
          <a:noFill/>
          <a:ln/>
        </p:spPr>
        <p:txBody>
          <a:bodyPr wrap="square" lIns="0" tIns="0" rIns="0" bIns="0" rtlCol="0" anchor="t"/>
          <a:lstStyle/>
          <a:p>
            <a:pPr indent="0" marL="0">
              <a:buNone/>
            </a:pPr>
            <a:r>
              <a:rPr lang="en-US" sz="1800" dirty="0">
                <a:solidFill>
                  <a:srgbClr val="A8A29E"/>
                </a:solidFill>
                <a:latin typeface="Calibri" pitchFamily="34" charset="0"/>
                <a:ea typeface="Calibri" pitchFamily="34" charset="-122"/>
                <a:cs typeface="Calibri" pitchFamily="34" charset="-120"/>
              </a:rPr>
              <a:t>Sin cámaras nuevas: usa el video que la planta ya graba.</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9"/>
        </a:solidFill>
      </p:bgPr>
    </p:bg>
    <p:spTree>
      <p:nvGrpSpPr>
        <p:cNvPr id="1" name=""/>
        <p:cNvGrpSpPr/>
        <p:nvPr/>
      </p:nvGrpSpPr>
      <p:grpSpPr>
        <a:xfrm>
          <a:off x="0" y="0"/>
          <a:ext cx="0" cy="0"/>
          <a:chOff x="0" y="0"/>
          <a:chExt cx="0" cy="0"/>
        </a:xfrm>
      </p:grpSpPr>
      <p:sp>
        <p:nvSpPr>
          <p:cNvPr id="2" name="Text 0"/>
          <p:cNvSpPr/>
          <p:nvPr/>
        </p:nvSpPr>
        <p:spPr>
          <a:xfrm>
            <a:off x="731520" y="502920"/>
            <a:ext cx="10058400" cy="274320"/>
          </a:xfrm>
          <a:prstGeom prst="rect">
            <a:avLst/>
          </a:prstGeom>
          <a:noFill/>
          <a:ln/>
        </p:spPr>
        <p:txBody>
          <a:bodyPr wrap="square" lIns="0" tIns="0" rIns="0" bIns="0" rtlCol="0" anchor="t"/>
          <a:lstStyle/>
          <a:p>
            <a:pPr indent="0" marL="0">
              <a:buNone/>
            </a:pPr>
            <a:r>
              <a:rPr lang="en-US" sz="1100" b="1" spc="150" kern="0" dirty="0">
                <a:solidFill>
                  <a:srgbClr val="3E63DD"/>
                </a:solidFill>
                <a:latin typeface="Calibri" pitchFamily="34" charset="0"/>
                <a:ea typeface="Calibri" pitchFamily="34" charset="-122"/>
                <a:cs typeface="Calibri" pitchFamily="34" charset="-120"/>
              </a:rPr>
              <a:t>CÓMO FUNCIONA</a:t>
            </a:r>
            <a:endParaRPr lang="en-US" sz="1100" dirty="0"/>
          </a:p>
        </p:txBody>
      </p:sp>
      <p:sp>
        <p:nvSpPr>
          <p:cNvPr id="3" name="Text 1"/>
          <p:cNvSpPr/>
          <p:nvPr/>
        </p:nvSpPr>
        <p:spPr>
          <a:xfrm>
            <a:off x="731520" y="777240"/>
            <a:ext cx="10698480" cy="822960"/>
          </a:xfrm>
          <a:prstGeom prst="rect">
            <a:avLst/>
          </a:prstGeom>
          <a:noFill/>
          <a:ln/>
        </p:spPr>
        <p:txBody>
          <a:bodyPr wrap="square" lIns="0" tIns="0" rIns="0" bIns="0" rtlCol="0" anchor="t"/>
          <a:lstStyle/>
          <a:p>
            <a:pPr indent="0" marL="0">
              <a:buNone/>
            </a:pPr>
            <a:r>
              <a:rPr lang="en-US" sz="3400" dirty="0">
                <a:solidFill>
                  <a:srgbClr val="1A1A1A"/>
                </a:solidFill>
                <a:latin typeface="Calibri Light" pitchFamily="34" charset="0"/>
                <a:ea typeface="Calibri Light" pitchFamily="34" charset="-122"/>
                <a:cs typeface="Calibri Light" pitchFamily="34" charset="-120"/>
              </a:rPr>
              <a:t>Cuatro pasos, sin tecnicismos</a:t>
            </a:r>
            <a:endParaRPr lang="en-US" sz="3400" dirty="0"/>
          </a:p>
        </p:txBody>
      </p:sp>
      <p:sp>
        <p:nvSpPr>
          <p:cNvPr id="4" name="Text 2"/>
          <p:cNvSpPr/>
          <p:nvPr/>
        </p:nvSpPr>
        <p:spPr>
          <a:xfrm>
            <a:off x="731520" y="6355080"/>
            <a:ext cx="2743200" cy="228600"/>
          </a:xfrm>
          <a:prstGeom prst="rect">
            <a:avLst/>
          </a:prstGeom>
          <a:noFill/>
          <a:ln/>
        </p:spPr>
        <p:txBody>
          <a:bodyPr wrap="square" lIns="0" tIns="0" rIns="0" bIns="0" rtlCol="0" anchor="t"/>
          <a:lstStyle/>
          <a:p>
            <a:pPr indent="0" marL="0">
              <a:buNone/>
            </a:pPr>
            <a:r>
              <a:rPr lang="en-US" sz="1000" b="1" dirty="0">
                <a:solidFill>
                  <a:srgbClr val="8A8984"/>
                </a:solidFill>
                <a:latin typeface="Calibri" pitchFamily="34" charset="0"/>
                <a:ea typeface="Calibri" pitchFamily="34" charset="-122"/>
                <a:cs typeface="Calibri" pitchFamily="34" charset="-120"/>
              </a:rPr>
              <a:t>NewBit</a:t>
            </a:r>
            <a:endParaRPr lang="en-US" sz="1000" dirty="0"/>
          </a:p>
        </p:txBody>
      </p:sp>
      <p:sp>
        <p:nvSpPr>
          <p:cNvPr id="5" name="Text 3"/>
          <p:cNvSpPr/>
          <p:nvPr/>
        </p:nvSpPr>
        <p:spPr>
          <a:xfrm>
            <a:off x="1371600" y="6355080"/>
            <a:ext cx="4572000" cy="228600"/>
          </a:xfrm>
          <a:prstGeom prst="rect">
            <a:avLst/>
          </a:prstGeom>
          <a:noFill/>
          <a:ln/>
        </p:spPr>
        <p:txBody>
          <a:bodyPr wrap="square" lIns="0" tIns="0" rIns="0" bIns="0" rtlCol="0" anchor="t"/>
          <a:lstStyle/>
          <a:p>
            <a:pPr indent="0" marL="0">
              <a:buNone/>
            </a:pPr>
            <a:r>
              <a:rPr lang="en-US" sz="1000" dirty="0">
                <a:solidFill>
                  <a:srgbClr val="8A8984"/>
                </a:solidFill>
                <a:latin typeface="Calibri" pitchFamily="34" charset="0"/>
                <a:ea typeface="Calibri" pitchFamily="34" charset="-122"/>
                <a:cs typeface="Calibri" pitchFamily="34" charset="-120"/>
              </a:rPr>
              <a:t>Producto de la Unidad I · Grupo D3</a:t>
            </a:r>
            <a:endParaRPr lang="en-US" sz="1000" dirty="0"/>
          </a:p>
        </p:txBody>
      </p:sp>
      <p:sp>
        <p:nvSpPr>
          <p:cNvPr id="6" name="Text 4"/>
          <p:cNvSpPr/>
          <p:nvPr/>
        </p:nvSpPr>
        <p:spPr>
          <a:xfrm>
            <a:off x="10728655" y="6355080"/>
            <a:ext cx="731520" cy="228600"/>
          </a:xfrm>
          <a:prstGeom prst="rect">
            <a:avLst/>
          </a:prstGeom>
          <a:noFill/>
          <a:ln/>
        </p:spPr>
        <p:txBody>
          <a:bodyPr wrap="square" lIns="0" tIns="0" rIns="0" bIns="0" rtlCol="0" anchor="t"/>
          <a:lstStyle/>
          <a:p>
            <a:pPr algn="r" indent="0" marL="0">
              <a:buNone/>
            </a:pPr>
            <a:r>
              <a:rPr lang="en-US" sz="1000" dirty="0">
                <a:solidFill>
                  <a:srgbClr val="8A8984"/>
                </a:solidFill>
                <a:latin typeface="Calibri" pitchFamily="34" charset="0"/>
                <a:ea typeface="Calibri" pitchFamily="34" charset="-122"/>
                <a:cs typeface="Calibri" pitchFamily="34" charset="-120"/>
              </a:rPr>
              <a:t>06</a:t>
            </a:r>
            <a:endParaRPr lang="en-US" sz="1000" dirty="0"/>
          </a:p>
        </p:txBody>
      </p:sp>
      <p:sp>
        <p:nvSpPr>
          <p:cNvPr id="8" name="Shape 5"/>
          <p:cNvSpPr/>
          <p:nvPr/>
        </p:nvSpPr>
        <p:spPr>
          <a:xfrm>
            <a:off x="731520" y="1874520"/>
            <a:ext cx="2514600" cy="3063240"/>
          </a:xfrm>
          <a:prstGeom prst="roundRect">
            <a:avLst>
              <a:gd name="adj" fmla="val 2909"/>
            </a:avLst>
          </a:prstGeom>
          <a:solidFill>
            <a:srgbClr val="FFFFFF"/>
          </a:solidFill>
          <a:ln w="9525">
            <a:solidFill>
              <a:srgbClr val="E7E5E4"/>
            </a:solidFill>
            <a:prstDash val="solid"/>
          </a:ln>
        </p:spPr>
      </p:sp>
      <p:sp>
        <p:nvSpPr>
          <p:cNvPr id="9" name="Text 6"/>
          <p:cNvSpPr/>
          <p:nvPr/>
        </p:nvSpPr>
        <p:spPr>
          <a:xfrm>
            <a:off x="1005840" y="2103120"/>
            <a:ext cx="914400" cy="320040"/>
          </a:xfrm>
          <a:prstGeom prst="rect">
            <a:avLst/>
          </a:prstGeom>
          <a:noFill/>
          <a:ln/>
        </p:spPr>
        <p:txBody>
          <a:bodyPr wrap="square" lIns="0" tIns="0" rIns="0" bIns="0" rtlCol="0" anchor="t"/>
          <a:lstStyle/>
          <a:p>
            <a:pPr indent="0" marL="0">
              <a:buNone/>
            </a:pPr>
            <a:r>
              <a:rPr lang="en-US" sz="1300" b="1" dirty="0">
                <a:solidFill>
                  <a:srgbClr val="3E63DD"/>
                </a:solidFill>
                <a:latin typeface="Calibri" pitchFamily="34" charset="0"/>
                <a:ea typeface="Calibri" pitchFamily="34" charset="-122"/>
                <a:cs typeface="Calibri" pitchFamily="34" charset="-120"/>
              </a:rPr>
              <a:t>01</a:t>
            </a:r>
            <a:endParaRPr lang="en-US" sz="1300" dirty="0"/>
          </a:p>
        </p:txBody>
      </p:sp>
      <p:pic>
        <p:nvPicPr>
          <p:cNvPr id="10" name="Image 0" descr="/Users/anthony/Documents/Projects/NewBit/curso/semana-06-producto-unidad-1/nuestras-entregas/PPT_Producto_Unidad_1_NewBit/img/iconos/video-ink.png">    </p:cNvPr>
          <p:cNvPicPr>
            <a:picLocks noChangeAspect="1"/>
          </p:cNvPicPr>
          <p:nvPr/>
        </p:nvPicPr>
        <p:blipFill>
          <a:blip r:embed="rId1"/>
          <a:stretch>
            <a:fillRect/>
          </a:stretch>
        </p:blipFill>
        <p:spPr>
          <a:xfrm>
            <a:off x="2560320" y="2057400"/>
            <a:ext cx="411480" cy="411480"/>
          </a:xfrm>
          <a:prstGeom prst="rect">
            <a:avLst/>
          </a:prstGeom>
        </p:spPr>
      </p:pic>
      <p:sp>
        <p:nvSpPr>
          <p:cNvPr id="11" name="Text 7"/>
          <p:cNvSpPr/>
          <p:nvPr/>
        </p:nvSpPr>
        <p:spPr>
          <a:xfrm>
            <a:off x="1005840" y="2606040"/>
            <a:ext cx="2103120" cy="685800"/>
          </a:xfrm>
          <a:prstGeom prst="rect">
            <a:avLst/>
          </a:prstGeom>
          <a:noFill/>
          <a:ln/>
        </p:spPr>
        <p:txBody>
          <a:bodyPr wrap="square" lIns="0" tIns="0" rIns="0" bIns="0" rtlCol="0" anchor="t"/>
          <a:lstStyle/>
          <a:p>
            <a:pPr indent="0" marL="0">
              <a:buNone/>
            </a:pPr>
            <a:r>
              <a:rPr lang="en-US" sz="1900" b="1" dirty="0">
                <a:solidFill>
                  <a:srgbClr val="1A1A1A"/>
                </a:solidFill>
                <a:latin typeface="Calibri" pitchFamily="34" charset="0"/>
                <a:ea typeface="Calibri" pitchFamily="34" charset="-122"/>
                <a:cs typeface="Calibri" pitchFamily="34" charset="-120"/>
              </a:rPr>
              <a:t>Subes el video</a:t>
            </a:r>
            <a:endParaRPr lang="en-US" sz="1900" dirty="0"/>
          </a:p>
        </p:txBody>
      </p:sp>
      <p:sp>
        <p:nvSpPr>
          <p:cNvPr id="12" name="Text 8"/>
          <p:cNvSpPr/>
          <p:nvPr/>
        </p:nvSpPr>
        <p:spPr>
          <a:xfrm>
            <a:off x="1005840" y="3291840"/>
            <a:ext cx="2057400" cy="1143000"/>
          </a:xfrm>
          <a:prstGeom prst="rect">
            <a:avLst/>
          </a:prstGeom>
          <a:noFill/>
          <a:ln/>
        </p:spPr>
        <p:txBody>
          <a:bodyPr wrap="square" lIns="0" tIns="0" rIns="0" bIns="0" rtlCol="0" anchor="t"/>
          <a:lstStyle/>
          <a:p>
            <a:pPr indent="0" marL="0">
              <a:buNone/>
            </a:pPr>
            <a:r>
              <a:rPr lang="en-US" sz="1400" dirty="0">
                <a:solidFill>
                  <a:srgbClr val="57534E"/>
                </a:solidFill>
                <a:latin typeface="Calibri" pitchFamily="34" charset="0"/>
                <a:ea typeface="Calibri" pitchFamily="34" charset="-122"/>
                <a:cs typeface="Calibri" pitchFamily="34" charset="-120"/>
              </a:rPr>
              <a:t>Cargas los clips que tus cámaras ya graban.</a:t>
            </a:r>
            <a:endParaRPr lang="en-US" sz="1400" dirty="0"/>
          </a:p>
        </p:txBody>
      </p:sp>
      <p:sp>
        <p:nvSpPr>
          <p:cNvPr id="13" name="Text 9"/>
          <p:cNvSpPr/>
          <p:nvPr/>
        </p:nvSpPr>
        <p:spPr>
          <a:xfrm>
            <a:off x="1005840" y="4498848"/>
            <a:ext cx="2103120" cy="274320"/>
          </a:xfrm>
          <a:prstGeom prst="rect">
            <a:avLst/>
          </a:prstGeom>
          <a:noFill/>
          <a:ln/>
        </p:spPr>
        <p:txBody>
          <a:bodyPr wrap="square" lIns="0" tIns="0" rIns="0" bIns="0" rtlCol="0" anchor="t"/>
          <a:lstStyle/>
          <a:p>
            <a:pPr indent="0" marL="0">
              <a:buNone/>
            </a:pPr>
            <a:r>
              <a:rPr lang="en-US" sz="1100" dirty="0">
                <a:solidFill>
                  <a:srgbClr val="8A8984"/>
                </a:solidFill>
                <a:latin typeface="Calibri" pitchFamily="34" charset="0"/>
                <a:ea typeface="Calibri" pitchFamily="34" charset="-122"/>
                <a:cs typeface="Calibri" pitchFamily="34" charset="-120"/>
              </a:rPr>
              <a:t>Por dentro: archivos .mp4 o .avi, por lotes</a:t>
            </a:r>
            <a:endParaRPr lang="en-US" sz="1100" dirty="0"/>
          </a:p>
        </p:txBody>
      </p:sp>
      <p:sp>
        <p:nvSpPr>
          <p:cNvPr id="14" name="Shape 10"/>
          <p:cNvSpPr/>
          <p:nvPr/>
        </p:nvSpPr>
        <p:spPr>
          <a:xfrm>
            <a:off x="3273552" y="3401568"/>
            <a:ext cx="155448" cy="0"/>
          </a:xfrm>
          <a:prstGeom prst="line">
            <a:avLst/>
          </a:prstGeom>
          <a:noFill/>
          <a:ln w="12700">
            <a:solidFill>
              <a:srgbClr val="8A8984"/>
            </a:solidFill>
            <a:prstDash val="solid"/>
            <a:tailEnd type="triangle"/>
          </a:ln>
        </p:spPr>
      </p:sp>
      <p:sp>
        <p:nvSpPr>
          <p:cNvPr id="15" name="Shape 11"/>
          <p:cNvSpPr/>
          <p:nvPr/>
        </p:nvSpPr>
        <p:spPr>
          <a:xfrm>
            <a:off x="3456432" y="1874520"/>
            <a:ext cx="2514600" cy="3063240"/>
          </a:xfrm>
          <a:prstGeom prst="roundRect">
            <a:avLst>
              <a:gd name="adj" fmla="val 2909"/>
            </a:avLst>
          </a:prstGeom>
          <a:solidFill>
            <a:srgbClr val="FFFFFF"/>
          </a:solidFill>
          <a:ln w="9525">
            <a:solidFill>
              <a:srgbClr val="E7E5E4"/>
            </a:solidFill>
            <a:prstDash val="solid"/>
          </a:ln>
        </p:spPr>
      </p:sp>
      <p:sp>
        <p:nvSpPr>
          <p:cNvPr id="16" name="Text 12"/>
          <p:cNvSpPr/>
          <p:nvPr/>
        </p:nvSpPr>
        <p:spPr>
          <a:xfrm>
            <a:off x="3730752" y="2103120"/>
            <a:ext cx="914400" cy="320040"/>
          </a:xfrm>
          <a:prstGeom prst="rect">
            <a:avLst/>
          </a:prstGeom>
          <a:noFill/>
          <a:ln/>
        </p:spPr>
        <p:txBody>
          <a:bodyPr wrap="square" lIns="0" tIns="0" rIns="0" bIns="0" rtlCol="0" anchor="t"/>
          <a:lstStyle/>
          <a:p>
            <a:pPr indent="0" marL="0">
              <a:buNone/>
            </a:pPr>
            <a:r>
              <a:rPr lang="en-US" sz="1300" b="1" dirty="0">
                <a:solidFill>
                  <a:srgbClr val="3E63DD"/>
                </a:solidFill>
                <a:latin typeface="Calibri" pitchFamily="34" charset="0"/>
                <a:ea typeface="Calibri" pitchFamily="34" charset="-122"/>
                <a:cs typeface="Calibri" pitchFamily="34" charset="-120"/>
              </a:rPr>
              <a:t>02</a:t>
            </a:r>
            <a:endParaRPr lang="en-US" sz="1300" dirty="0"/>
          </a:p>
        </p:txBody>
      </p:sp>
      <p:pic>
        <p:nvPicPr>
          <p:cNvPr id="17" name="Image 1" descr="/Users/anthony/Documents/Projects/NewBit/curso/semana-06-producto-unidad-1/nuestras-entregas/PPT_Producto_Unidad_1_NewBit/img/iconos/buscar-ink.png">    </p:cNvPr>
          <p:cNvPicPr>
            <a:picLocks noChangeAspect="1"/>
          </p:cNvPicPr>
          <p:nvPr/>
        </p:nvPicPr>
        <p:blipFill>
          <a:blip r:embed="rId2"/>
          <a:stretch>
            <a:fillRect/>
          </a:stretch>
        </p:blipFill>
        <p:spPr>
          <a:xfrm>
            <a:off x="5285232" y="2057400"/>
            <a:ext cx="411480" cy="411480"/>
          </a:xfrm>
          <a:prstGeom prst="rect">
            <a:avLst/>
          </a:prstGeom>
        </p:spPr>
      </p:pic>
      <p:sp>
        <p:nvSpPr>
          <p:cNvPr id="18" name="Text 13"/>
          <p:cNvSpPr/>
          <p:nvPr/>
        </p:nvSpPr>
        <p:spPr>
          <a:xfrm>
            <a:off x="3730752" y="2606040"/>
            <a:ext cx="2103120" cy="685800"/>
          </a:xfrm>
          <a:prstGeom prst="rect">
            <a:avLst/>
          </a:prstGeom>
          <a:noFill/>
          <a:ln/>
        </p:spPr>
        <p:txBody>
          <a:bodyPr wrap="square" lIns="0" tIns="0" rIns="0" bIns="0" rtlCol="0" anchor="t"/>
          <a:lstStyle/>
          <a:p>
            <a:pPr indent="0" marL="0">
              <a:buNone/>
            </a:pPr>
            <a:r>
              <a:rPr lang="en-US" sz="1900" b="1" dirty="0">
                <a:solidFill>
                  <a:srgbClr val="1A1A1A"/>
                </a:solidFill>
                <a:latin typeface="Calibri" pitchFamily="34" charset="0"/>
                <a:ea typeface="Calibri" pitchFamily="34" charset="-122"/>
                <a:cs typeface="Calibri" pitchFamily="34" charset="-120"/>
              </a:rPr>
              <a:t>Encuentra a las personas</a:t>
            </a:r>
            <a:endParaRPr lang="en-US" sz="1900" dirty="0"/>
          </a:p>
        </p:txBody>
      </p:sp>
      <p:sp>
        <p:nvSpPr>
          <p:cNvPr id="19" name="Text 14"/>
          <p:cNvSpPr/>
          <p:nvPr/>
        </p:nvSpPr>
        <p:spPr>
          <a:xfrm>
            <a:off x="3730752" y="3291840"/>
            <a:ext cx="2057400" cy="1143000"/>
          </a:xfrm>
          <a:prstGeom prst="rect">
            <a:avLst/>
          </a:prstGeom>
          <a:noFill/>
          <a:ln/>
        </p:spPr>
        <p:txBody>
          <a:bodyPr wrap="square" lIns="0" tIns="0" rIns="0" bIns="0" rtlCol="0" anchor="t"/>
          <a:lstStyle/>
          <a:p>
            <a:pPr indent="0" marL="0">
              <a:buNone/>
            </a:pPr>
            <a:r>
              <a:rPr lang="en-US" sz="1400" dirty="0">
                <a:solidFill>
                  <a:srgbClr val="57534E"/>
                </a:solidFill>
                <a:latin typeface="Calibri" pitchFamily="34" charset="0"/>
                <a:ea typeface="Calibri" pitchFamily="34" charset="-122"/>
                <a:cs typeface="Calibri" pitchFamily="34" charset="-120"/>
              </a:rPr>
              <a:t>Revisa cada imagen y marca dónde hay operarios. Lo que no tiene a nadie, lo descarta.</a:t>
            </a:r>
            <a:endParaRPr lang="en-US" sz="1400" dirty="0"/>
          </a:p>
        </p:txBody>
      </p:sp>
      <p:sp>
        <p:nvSpPr>
          <p:cNvPr id="20" name="Text 15"/>
          <p:cNvSpPr/>
          <p:nvPr/>
        </p:nvSpPr>
        <p:spPr>
          <a:xfrm>
            <a:off x="3730752" y="4498848"/>
            <a:ext cx="2103120" cy="274320"/>
          </a:xfrm>
          <a:prstGeom prst="rect">
            <a:avLst/>
          </a:prstGeom>
          <a:noFill/>
          <a:ln/>
        </p:spPr>
        <p:txBody>
          <a:bodyPr wrap="square" lIns="0" tIns="0" rIns="0" bIns="0" rtlCol="0" anchor="t"/>
          <a:lstStyle/>
          <a:p>
            <a:pPr indent="0" marL="0">
              <a:buNone/>
            </a:pPr>
            <a:r>
              <a:rPr lang="en-US" sz="1100" dirty="0">
                <a:solidFill>
                  <a:srgbClr val="8A8984"/>
                </a:solidFill>
                <a:latin typeface="Calibri" pitchFamily="34" charset="0"/>
                <a:ea typeface="Calibri" pitchFamily="34" charset="-122"/>
                <a:cs typeface="Calibri" pitchFamily="34" charset="-120"/>
              </a:rPr>
              <a:t>Por dentro: detector YOLOv8</a:t>
            </a:r>
            <a:endParaRPr lang="en-US" sz="1100" dirty="0"/>
          </a:p>
        </p:txBody>
      </p:sp>
      <p:sp>
        <p:nvSpPr>
          <p:cNvPr id="21" name="Shape 16"/>
          <p:cNvSpPr/>
          <p:nvPr/>
        </p:nvSpPr>
        <p:spPr>
          <a:xfrm>
            <a:off x="5998464" y="3401568"/>
            <a:ext cx="155448" cy="0"/>
          </a:xfrm>
          <a:prstGeom prst="line">
            <a:avLst/>
          </a:prstGeom>
          <a:noFill/>
          <a:ln w="12700">
            <a:solidFill>
              <a:srgbClr val="8A8984"/>
            </a:solidFill>
            <a:prstDash val="solid"/>
            <a:tailEnd type="triangle"/>
          </a:ln>
        </p:spPr>
      </p:sp>
      <p:sp>
        <p:nvSpPr>
          <p:cNvPr id="22" name="Shape 17"/>
          <p:cNvSpPr/>
          <p:nvPr/>
        </p:nvSpPr>
        <p:spPr>
          <a:xfrm>
            <a:off x="6181344" y="1874520"/>
            <a:ext cx="2514600" cy="3063240"/>
          </a:xfrm>
          <a:prstGeom prst="roundRect">
            <a:avLst>
              <a:gd name="adj" fmla="val 2909"/>
            </a:avLst>
          </a:prstGeom>
          <a:solidFill>
            <a:srgbClr val="FFFFFF"/>
          </a:solidFill>
          <a:ln w="9525">
            <a:solidFill>
              <a:srgbClr val="E7E5E4"/>
            </a:solidFill>
            <a:prstDash val="solid"/>
          </a:ln>
        </p:spPr>
      </p:sp>
      <p:sp>
        <p:nvSpPr>
          <p:cNvPr id="23" name="Text 18"/>
          <p:cNvSpPr/>
          <p:nvPr/>
        </p:nvSpPr>
        <p:spPr>
          <a:xfrm>
            <a:off x="6455664" y="2103120"/>
            <a:ext cx="914400" cy="320040"/>
          </a:xfrm>
          <a:prstGeom prst="rect">
            <a:avLst/>
          </a:prstGeom>
          <a:noFill/>
          <a:ln/>
        </p:spPr>
        <p:txBody>
          <a:bodyPr wrap="square" lIns="0" tIns="0" rIns="0" bIns="0" rtlCol="0" anchor="t"/>
          <a:lstStyle/>
          <a:p>
            <a:pPr indent="0" marL="0">
              <a:buNone/>
            </a:pPr>
            <a:r>
              <a:rPr lang="en-US" sz="1300" b="1" dirty="0">
                <a:solidFill>
                  <a:srgbClr val="3E63DD"/>
                </a:solidFill>
                <a:latin typeface="Calibri" pitchFamily="34" charset="0"/>
                <a:ea typeface="Calibri" pitchFamily="34" charset="-122"/>
                <a:cs typeface="Calibri" pitchFamily="34" charset="-120"/>
              </a:rPr>
              <a:t>03</a:t>
            </a:r>
            <a:endParaRPr lang="en-US" sz="1300" dirty="0"/>
          </a:p>
        </p:txBody>
      </p:sp>
      <p:pic>
        <p:nvPicPr>
          <p:cNvPr id="24" name="Image 2" descr="/Users/anthony/Documents/Projects/NewBit/curso/semana-06-producto-unidad-1/nuestras-entregas/PPT_Producto_Unidad_1_NewBit/img/iconos/secuencia-ink.png">    </p:cNvPr>
          <p:cNvPicPr>
            <a:picLocks noChangeAspect="1"/>
          </p:cNvPicPr>
          <p:nvPr/>
        </p:nvPicPr>
        <p:blipFill>
          <a:blip r:embed="rId3"/>
          <a:stretch>
            <a:fillRect/>
          </a:stretch>
        </p:blipFill>
        <p:spPr>
          <a:xfrm>
            <a:off x="8010144" y="2057400"/>
            <a:ext cx="411480" cy="411480"/>
          </a:xfrm>
          <a:prstGeom prst="rect">
            <a:avLst/>
          </a:prstGeom>
        </p:spPr>
      </p:pic>
      <p:sp>
        <p:nvSpPr>
          <p:cNvPr id="25" name="Text 19"/>
          <p:cNvSpPr/>
          <p:nvPr/>
        </p:nvSpPr>
        <p:spPr>
          <a:xfrm>
            <a:off x="6455664" y="2606040"/>
            <a:ext cx="2103120" cy="685800"/>
          </a:xfrm>
          <a:prstGeom prst="rect">
            <a:avLst/>
          </a:prstGeom>
          <a:noFill/>
          <a:ln/>
        </p:spPr>
        <p:txBody>
          <a:bodyPr wrap="square" lIns="0" tIns="0" rIns="0" bIns="0" rtlCol="0" anchor="t"/>
          <a:lstStyle/>
          <a:p>
            <a:pPr indent="0" marL="0">
              <a:buNone/>
            </a:pPr>
            <a:r>
              <a:rPr lang="en-US" sz="1900" b="1" dirty="0">
                <a:solidFill>
                  <a:srgbClr val="1A1A1A"/>
                </a:solidFill>
                <a:latin typeface="Calibri" pitchFamily="34" charset="0"/>
                <a:ea typeface="Calibri" pitchFamily="34" charset="-122"/>
                <a:cs typeface="Calibri" pitchFamily="34" charset="-120"/>
              </a:rPr>
              <a:t>Entiende lo que hacen</a:t>
            </a:r>
            <a:endParaRPr lang="en-US" sz="1900" dirty="0"/>
          </a:p>
        </p:txBody>
      </p:sp>
      <p:sp>
        <p:nvSpPr>
          <p:cNvPr id="26" name="Text 20"/>
          <p:cNvSpPr/>
          <p:nvPr/>
        </p:nvSpPr>
        <p:spPr>
          <a:xfrm>
            <a:off x="6455664" y="3291840"/>
            <a:ext cx="2057400" cy="1143000"/>
          </a:xfrm>
          <a:prstGeom prst="rect">
            <a:avLst/>
          </a:prstGeom>
          <a:noFill/>
          <a:ln/>
        </p:spPr>
        <p:txBody>
          <a:bodyPr wrap="square" lIns="0" tIns="0" rIns="0" bIns="0" rtlCol="0" anchor="t"/>
          <a:lstStyle/>
          <a:p>
            <a:pPr indent="0" marL="0">
              <a:buNone/>
            </a:pPr>
            <a:r>
              <a:rPr lang="en-US" sz="1400" dirty="0">
                <a:solidFill>
                  <a:srgbClr val="57534E"/>
                </a:solidFill>
                <a:latin typeface="Calibri" pitchFamily="34" charset="0"/>
                <a:ea typeface="Calibri" pitchFamily="34" charset="-122"/>
                <a:cs typeface="Calibri" pitchFamily="34" charset="-120"/>
              </a:rPr>
              <a:t>No mira una foto suelta: mira la secuencia, como un video corto, para saber qué conducta es.</a:t>
            </a:r>
            <a:endParaRPr lang="en-US" sz="1400" dirty="0"/>
          </a:p>
        </p:txBody>
      </p:sp>
      <p:sp>
        <p:nvSpPr>
          <p:cNvPr id="27" name="Text 21"/>
          <p:cNvSpPr/>
          <p:nvPr/>
        </p:nvSpPr>
        <p:spPr>
          <a:xfrm>
            <a:off x="6455664" y="4498848"/>
            <a:ext cx="2103120" cy="274320"/>
          </a:xfrm>
          <a:prstGeom prst="rect">
            <a:avLst/>
          </a:prstGeom>
          <a:noFill/>
          <a:ln/>
        </p:spPr>
        <p:txBody>
          <a:bodyPr wrap="square" lIns="0" tIns="0" rIns="0" bIns="0" rtlCol="0" anchor="t"/>
          <a:lstStyle/>
          <a:p>
            <a:pPr indent="0" marL="0">
              <a:buNone/>
            </a:pPr>
            <a:r>
              <a:rPr lang="en-US" sz="1100" dirty="0">
                <a:solidFill>
                  <a:srgbClr val="8A8984"/>
                </a:solidFill>
                <a:latin typeface="Calibri" pitchFamily="34" charset="0"/>
                <a:ea typeface="Calibri" pitchFamily="34" charset="-122"/>
                <a:cs typeface="Calibri" pitchFamily="34" charset="-120"/>
              </a:rPr>
              <a:t>Por dentro: red ConvLSTM</a:t>
            </a:r>
            <a:endParaRPr lang="en-US" sz="1100" dirty="0"/>
          </a:p>
        </p:txBody>
      </p:sp>
      <p:sp>
        <p:nvSpPr>
          <p:cNvPr id="28" name="Shape 22"/>
          <p:cNvSpPr/>
          <p:nvPr/>
        </p:nvSpPr>
        <p:spPr>
          <a:xfrm>
            <a:off x="8723376" y="3401568"/>
            <a:ext cx="155448" cy="0"/>
          </a:xfrm>
          <a:prstGeom prst="line">
            <a:avLst/>
          </a:prstGeom>
          <a:noFill/>
          <a:ln w="12700">
            <a:solidFill>
              <a:srgbClr val="8A8984"/>
            </a:solidFill>
            <a:prstDash val="solid"/>
            <a:tailEnd type="triangle"/>
          </a:ln>
        </p:spPr>
      </p:sp>
      <p:sp>
        <p:nvSpPr>
          <p:cNvPr id="29" name="Shape 23"/>
          <p:cNvSpPr/>
          <p:nvPr/>
        </p:nvSpPr>
        <p:spPr>
          <a:xfrm>
            <a:off x="8906256" y="1874520"/>
            <a:ext cx="2514600" cy="3063240"/>
          </a:xfrm>
          <a:prstGeom prst="roundRect">
            <a:avLst>
              <a:gd name="adj" fmla="val 2909"/>
            </a:avLst>
          </a:prstGeom>
          <a:solidFill>
            <a:srgbClr val="FFFFFF"/>
          </a:solidFill>
          <a:ln w="9525">
            <a:solidFill>
              <a:srgbClr val="E7E5E4"/>
            </a:solidFill>
            <a:prstDash val="solid"/>
          </a:ln>
        </p:spPr>
      </p:sp>
      <p:sp>
        <p:nvSpPr>
          <p:cNvPr id="30" name="Text 24"/>
          <p:cNvSpPr/>
          <p:nvPr/>
        </p:nvSpPr>
        <p:spPr>
          <a:xfrm>
            <a:off x="9180576" y="2103120"/>
            <a:ext cx="914400" cy="320040"/>
          </a:xfrm>
          <a:prstGeom prst="rect">
            <a:avLst/>
          </a:prstGeom>
          <a:noFill/>
          <a:ln/>
        </p:spPr>
        <p:txBody>
          <a:bodyPr wrap="square" lIns="0" tIns="0" rIns="0" bIns="0" rtlCol="0" anchor="t"/>
          <a:lstStyle/>
          <a:p>
            <a:pPr indent="0" marL="0">
              <a:buNone/>
            </a:pPr>
            <a:r>
              <a:rPr lang="en-US" sz="1300" b="1" dirty="0">
                <a:solidFill>
                  <a:srgbClr val="3E63DD"/>
                </a:solidFill>
                <a:latin typeface="Calibri" pitchFamily="34" charset="0"/>
                <a:ea typeface="Calibri" pitchFamily="34" charset="-122"/>
                <a:cs typeface="Calibri" pitchFamily="34" charset="-120"/>
              </a:rPr>
              <a:t>04</a:t>
            </a:r>
            <a:endParaRPr lang="en-US" sz="1300" dirty="0"/>
          </a:p>
        </p:txBody>
      </p:sp>
      <p:pic>
        <p:nvPicPr>
          <p:cNvPr id="31" name="Image 3" descr="/Users/anthony/Documents/Projects/NewBit/curso/semana-06-producto-unidad-1/nuestras-entregas/PPT_Producto_Unidad_1_NewBit/img/iconos/alerta-ink.png">    </p:cNvPr>
          <p:cNvPicPr>
            <a:picLocks noChangeAspect="1"/>
          </p:cNvPicPr>
          <p:nvPr/>
        </p:nvPicPr>
        <p:blipFill>
          <a:blip r:embed="rId4"/>
          <a:stretch>
            <a:fillRect/>
          </a:stretch>
        </p:blipFill>
        <p:spPr>
          <a:xfrm>
            <a:off x="10735056" y="2057400"/>
            <a:ext cx="411480" cy="411480"/>
          </a:xfrm>
          <a:prstGeom prst="rect">
            <a:avLst/>
          </a:prstGeom>
        </p:spPr>
      </p:pic>
      <p:sp>
        <p:nvSpPr>
          <p:cNvPr id="32" name="Text 25"/>
          <p:cNvSpPr/>
          <p:nvPr/>
        </p:nvSpPr>
        <p:spPr>
          <a:xfrm>
            <a:off x="9180576" y="2606040"/>
            <a:ext cx="2103120" cy="685800"/>
          </a:xfrm>
          <a:prstGeom prst="rect">
            <a:avLst/>
          </a:prstGeom>
          <a:noFill/>
          <a:ln/>
        </p:spPr>
        <p:txBody>
          <a:bodyPr wrap="square" lIns="0" tIns="0" rIns="0" bIns="0" rtlCol="0" anchor="t"/>
          <a:lstStyle/>
          <a:p>
            <a:pPr indent="0" marL="0">
              <a:buNone/>
            </a:pPr>
            <a:r>
              <a:rPr lang="en-US" sz="1900" b="1" dirty="0">
                <a:solidFill>
                  <a:srgbClr val="1A1A1A"/>
                </a:solidFill>
                <a:latin typeface="Calibri" pitchFamily="34" charset="0"/>
                <a:ea typeface="Calibri" pitchFamily="34" charset="-122"/>
                <a:cs typeface="Calibri" pitchFamily="34" charset="-120"/>
              </a:rPr>
              <a:t>Te avisa con la prueba</a:t>
            </a:r>
            <a:endParaRPr lang="en-US" sz="1900" dirty="0"/>
          </a:p>
        </p:txBody>
      </p:sp>
      <p:sp>
        <p:nvSpPr>
          <p:cNvPr id="33" name="Text 26"/>
          <p:cNvSpPr/>
          <p:nvPr/>
        </p:nvSpPr>
        <p:spPr>
          <a:xfrm>
            <a:off x="9180576" y="3291840"/>
            <a:ext cx="2057400" cy="1143000"/>
          </a:xfrm>
          <a:prstGeom prst="rect">
            <a:avLst/>
          </a:prstGeom>
          <a:noFill/>
          <a:ln/>
        </p:spPr>
        <p:txBody>
          <a:bodyPr wrap="square" lIns="0" tIns="0" rIns="0" bIns="0" rtlCol="0" anchor="t"/>
          <a:lstStyle/>
          <a:p>
            <a:pPr indent="0" marL="0">
              <a:buNone/>
            </a:pPr>
            <a:r>
              <a:rPr lang="en-US" sz="1400" dirty="0">
                <a:solidFill>
                  <a:srgbClr val="57534E"/>
                </a:solidFill>
                <a:latin typeface="Calibri" pitchFamily="34" charset="0"/>
                <a:ea typeface="Calibri" pitchFamily="34" charset="-122"/>
                <a:cs typeface="Calibri" pitchFamily="34" charset="-120"/>
              </a:rPr>
              <a:t>Si la conducta es insegura, alerta y te muestra el clip. La decisión es tuya.</a:t>
            </a:r>
            <a:endParaRPr lang="en-US" sz="1400" dirty="0"/>
          </a:p>
        </p:txBody>
      </p:sp>
      <p:sp>
        <p:nvSpPr>
          <p:cNvPr id="34" name="Text 27"/>
          <p:cNvSpPr/>
          <p:nvPr/>
        </p:nvSpPr>
        <p:spPr>
          <a:xfrm>
            <a:off x="9180576" y="4498848"/>
            <a:ext cx="2103120" cy="274320"/>
          </a:xfrm>
          <a:prstGeom prst="rect">
            <a:avLst/>
          </a:prstGeom>
          <a:noFill/>
          <a:ln/>
        </p:spPr>
        <p:txBody>
          <a:bodyPr wrap="square" lIns="0" tIns="0" rIns="0" bIns="0" rtlCol="0" anchor="t"/>
          <a:lstStyle/>
          <a:p>
            <a:pPr indent="0" marL="0">
              <a:buNone/>
            </a:pPr>
            <a:r>
              <a:rPr lang="en-US" sz="1100" dirty="0">
                <a:solidFill>
                  <a:srgbClr val="8A8984"/>
                </a:solidFill>
                <a:latin typeface="Calibri" pitchFamily="34" charset="0"/>
                <a:ea typeface="Calibri" pitchFamily="34" charset="-122"/>
                <a:cs typeface="Calibri" pitchFamily="34" charset="-120"/>
              </a:rPr>
              <a:t>Por dentro: alerta y registro</a:t>
            </a:r>
            <a:endParaRPr lang="en-US" sz="1100" dirty="0"/>
          </a:p>
        </p:txBody>
      </p:sp>
      <p:sp>
        <p:nvSpPr>
          <p:cNvPr id="35" name="Text 28"/>
          <p:cNvSpPr/>
          <p:nvPr/>
        </p:nvSpPr>
        <p:spPr>
          <a:xfrm>
            <a:off x="731520" y="5303520"/>
            <a:ext cx="10515600" cy="457200"/>
          </a:xfrm>
          <a:prstGeom prst="rect">
            <a:avLst/>
          </a:prstGeom>
          <a:noFill/>
          <a:ln/>
        </p:spPr>
        <p:txBody>
          <a:bodyPr wrap="square" lIns="0" tIns="0" rIns="0" bIns="0" rtlCol="0" anchor="t"/>
          <a:lstStyle/>
          <a:p>
            <a:pPr indent="0" marL="0">
              <a:buNone/>
            </a:pPr>
            <a:r>
              <a:rPr lang="en-US" sz="2200" dirty="0">
                <a:solidFill>
                  <a:srgbClr val="57534E"/>
                </a:solidFill>
                <a:latin typeface="Calibri Light" pitchFamily="34" charset="0"/>
                <a:ea typeface="Calibri Light" pitchFamily="34" charset="-122"/>
                <a:cs typeface="Calibri Light" pitchFamily="34" charset="-120"/>
              </a:rPr>
              <a:t>Es como un asistente que ve </a:t>
            </a:r>
            <a:pPr indent="0" marL="0">
              <a:buNone/>
            </a:pPr>
            <a:r>
              <a:rPr lang="en-US" sz="2200" b="1" dirty="0">
                <a:solidFill>
                  <a:srgbClr val="57534E"/>
                </a:solidFill>
                <a:latin typeface="Calibri Light" pitchFamily="34" charset="0"/>
                <a:ea typeface="Calibri Light" pitchFamily="34" charset="-122"/>
                <a:cs typeface="Calibri Light" pitchFamily="34" charset="-120"/>
              </a:rPr>
              <a:t>todo</a:t>
            </a:r>
            <a:pPr indent="0" marL="0">
              <a:buNone/>
            </a:pPr>
            <a:r>
              <a:rPr lang="en-US" sz="2200" dirty="0">
                <a:solidFill>
                  <a:srgbClr val="57534E"/>
                </a:solidFill>
                <a:latin typeface="Calibri Light" pitchFamily="34" charset="0"/>
                <a:ea typeface="Calibri Light" pitchFamily="34" charset="-122"/>
                <a:cs typeface="Calibri Light" pitchFamily="34" charset="-120"/>
              </a:rPr>
              <a:t> el video y solo te llama cuando algo merece tu atención.</a:t>
            </a:r>
            <a:endParaRPr lang="en-US" sz="2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9"/>
        </a:solidFill>
      </p:bgPr>
    </p:bg>
    <p:spTree>
      <p:nvGrpSpPr>
        <p:cNvPr id="1" name=""/>
        <p:cNvGrpSpPr/>
        <p:nvPr/>
      </p:nvGrpSpPr>
      <p:grpSpPr>
        <a:xfrm>
          <a:off x="0" y="0"/>
          <a:ext cx="0" cy="0"/>
          <a:chOff x="0" y="0"/>
          <a:chExt cx="0" cy="0"/>
        </a:xfrm>
      </p:grpSpPr>
      <p:sp>
        <p:nvSpPr>
          <p:cNvPr id="2" name="Text 0"/>
          <p:cNvSpPr/>
          <p:nvPr/>
        </p:nvSpPr>
        <p:spPr>
          <a:xfrm>
            <a:off x="731520" y="502920"/>
            <a:ext cx="10058400" cy="274320"/>
          </a:xfrm>
          <a:prstGeom prst="rect">
            <a:avLst/>
          </a:prstGeom>
          <a:noFill/>
          <a:ln/>
        </p:spPr>
        <p:txBody>
          <a:bodyPr wrap="square" lIns="0" tIns="0" rIns="0" bIns="0" rtlCol="0" anchor="t"/>
          <a:lstStyle/>
          <a:p>
            <a:pPr indent="0" marL="0">
              <a:buNone/>
            </a:pPr>
            <a:r>
              <a:rPr lang="en-US" sz="1100" b="1" spc="150" kern="0" dirty="0">
                <a:solidFill>
                  <a:srgbClr val="3E63DD"/>
                </a:solidFill>
                <a:latin typeface="Calibri" pitchFamily="34" charset="0"/>
                <a:ea typeface="Calibri" pitchFamily="34" charset="-122"/>
                <a:cs typeface="Calibri" pitchFamily="34" charset="-120"/>
              </a:rPr>
              <a:t>PRIMERA VERSIÓN</a:t>
            </a:r>
            <a:endParaRPr lang="en-US" sz="1100" dirty="0"/>
          </a:p>
        </p:txBody>
      </p:sp>
      <p:sp>
        <p:nvSpPr>
          <p:cNvPr id="3" name="Text 1"/>
          <p:cNvSpPr/>
          <p:nvPr/>
        </p:nvSpPr>
        <p:spPr>
          <a:xfrm>
            <a:off x="731520" y="777240"/>
            <a:ext cx="10698480" cy="822960"/>
          </a:xfrm>
          <a:prstGeom prst="rect">
            <a:avLst/>
          </a:prstGeom>
          <a:noFill/>
          <a:ln/>
        </p:spPr>
        <p:txBody>
          <a:bodyPr wrap="square" lIns="0" tIns="0" rIns="0" bIns="0" rtlCol="0" anchor="t"/>
          <a:lstStyle/>
          <a:p>
            <a:pPr indent="0" marL="0">
              <a:buNone/>
            </a:pPr>
            <a:r>
              <a:rPr lang="en-US" sz="3400" dirty="0">
                <a:solidFill>
                  <a:srgbClr val="1A1A1A"/>
                </a:solidFill>
                <a:latin typeface="Calibri Light" pitchFamily="34" charset="0"/>
                <a:ea typeface="Calibri Light" pitchFamily="34" charset="-122"/>
                <a:cs typeface="Calibri Light" pitchFamily="34" charset="-120"/>
              </a:rPr>
              <a:t>Qué detecta, por ahora</a:t>
            </a:r>
            <a:endParaRPr lang="en-US" sz="3400" dirty="0"/>
          </a:p>
        </p:txBody>
      </p:sp>
      <p:sp>
        <p:nvSpPr>
          <p:cNvPr id="4" name="Text 2"/>
          <p:cNvSpPr/>
          <p:nvPr/>
        </p:nvSpPr>
        <p:spPr>
          <a:xfrm>
            <a:off x="731520" y="6355080"/>
            <a:ext cx="2743200" cy="228600"/>
          </a:xfrm>
          <a:prstGeom prst="rect">
            <a:avLst/>
          </a:prstGeom>
          <a:noFill/>
          <a:ln/>
        </p:spPr>
        <p:txBody>
          <a:bodyPr wrap="square" lIns="0" tIns="0" rIns="0" bIns="0" rtlCol="0" anchor="t"/>
          <a:lstStyle/>
          <a:p>
            <a:pPr indent="0" marL="0">
              <a:buNone/>
            </a:pPr>
            <a:r>
              <a:rPr lang="en-US" sz="1000" b="1" dirty="0">
                <a:solidFill>
                  <a:srgbClr val="8A8984"/>
                </a:solidFill>
                <a:latin typeface="Calibri" pitchFamily="34" charset="0"/>
                <a:ea typeface="Calibri" pitchFamily="34" charset="-122"/>
                <a:cs typeface="Calibri" pitchFamily="34" charset="-120"/>
              </a:rPr>
              <a:t>NewBit</a:t>
            </a:r>
            <a:endParaRPr lang="en-US" sz="1000" dirty="0"/>
          </a:p>
        </p:txBody>
      </p:sp>
      <p:sp>
        <p:nvSpPr>
          <p:cNvPr id="5" name="Text 3"/>
          <p:cNvSpPr/>
          <p:nvPr/>
        </p:nvSpPr>
        <p:spPr>
          <a:xfrm>
            <a:off x="1371600" y="6355080"/>
            <a:ext cx="4572000" cy="228600"/>
          </a:xfrm>
          <a:prstGeom prst="rect">
            <a:avLst/>
          </a:prstGeom>
          <a:noFill/>
          <a:ln/>
        </p:spPr>
        <p:txBody>
          <a:bodyPr wrap="square" lIns="0" tIns="0" rIns="0" bIns="0" rtlCol="0" anchor="t"/>
          <a:lstStyle/>
          <a:p>
            <a:pPr indent="0" marL="0">
              <a:buNone/>
            </a:pPr>
            <a:r>
              <a:rPr lang="en-US" sz="1000" dirty="0">
                <a:solidFill>
                  <a:srgbClr val="8A8984"/>
                </a:solidFill>
                <a:latin typeface="Calibri" pitchFamily="34" charset="0"/>
                <a:ea typeface="Calibri" pitchFamily="34" charset="-122"/>
                <a:cs typeface="Calibri" pitchFamily="34" charset="-120"/>
              </a:rPr>
              <a:t>Producto de la Unidad I · Grupo D3</a:t>
            </a:r>
            <a:endParaRPr lang="en-US" sz="1000" dirty="0"/>
          </a:p>
        </p:txBody>
      </p:sp>
      <p:sp>
        <p:nvSpPr>
          <p:cNvPr id="6" name="Text 4"/>
          <p:cNvSpPr/>
          <p:nvPr/>
        </p:nvSpPr>
        <p:spPr>
          <a:xfrm>
            <a:off x="10728655" y="6355080"/>
            <a:ext cx="731520" cy="228600"/>
          </a:xfrm>
          <a:prstGeom prst="rect">
            <a:avLst/>
          </a:prstGeom>
          <a:noFill/>
          <a:ln/>
        </p:spPr>
        <p:txBody>
          <a:bodyPr wrap="square" lIns="0" tIns="0" rIns="0" bIns="0" rtlCol="0" anchor="t"/>
          <a:lstStyle/>
          <a:p>
            <a:pPr algn="r" indent="0" marL="0">
              <a:buNone/>
            </a:pPr>
            <a:r>
              <a:rPr lang="en-US" sz="1000" dirty="0">
                <a:solidFill>
                  <a:srgbClr val="8A8984"/>
                </a:solidFill>
                <a:latin typeface="Calibri" pitchFamily="34" charset="0"/>
                <a:ea typeface="Calibri" pitchFamily="34" charset="-122"/>
                <a:cs typeface="Calibri" pitchFamily="34" charset="-120"/>
              </a:rPr>
              <a:t>07</a:t>
            </a:r>
            <a:endParaRPr lang="en-US" sz="1000" dirty="0"/>
          </a:p>
        </p:txBody>
      </p:sp>
      <p:sp>
        <p:nvSpPr>
          <p:cNvPr id="8" name="Text 5"/>
          <p:cNvSpPr/>
          <p:nvPr/>
        </p:nvSpPr>
        <p:spPr>
          <a:xfrm>
            <a:off x="1828800" y="1828800"/>
            <a:ext cx="4572000" cy="274320"/>
          </a:xfrm>
          <a:prstGeom prst="rect">
            <a:avLst/>
          </a:prstGeom>
          <a:noFill/>
          <a:ln/>
        </p:spPr>
        <p:txBody>
          <a:bodyPr wrap="square" lIns="0" tIns="0" rIns="0" bIns="0" rtlCol="0" anchor="t"/>
          <a:lstStyle/>
          <a:p>
            <a:pPr indent="0" marL="0">
              <a:buNone/>
            </a:pPr>
            <a:r>
              <a:rPr lang="en-US" sz="1100" b="1" spc="100" kern="0" dirty="0">
                <a:solidFill>
                  <a:srgbClr val="C2410C"/>
                </a:solidFill>
                <a:latin typeface="Calibri" pitchFamily="34" charset="0"/>
                <a:ea typeface="Calibri" pitchFamily="34" charset="-122"/>
                <a:cs typeface="Calibri" pitchFamily="34" charset="-120"/>
              </a:rPr>
              <a:t>CONDUCTA INSEGURA · ALERTA</a:t>
            </a:r>
            <a:endParaRPr lang="en-US" sz="1100" dirty="0"/>
          </a:p>
        </p:txBody>
      </p:sp>
      <p:sp>
        <p:nvSpPr>
          <p:cNvPr id="9" name="Text 6"/>
          <p:cNvSpPr/>
          <p:nvPr/>
        </p:nvSpPr>
        <p:spPr>
          <a:xfrm>
            <a:off x="6720840" y="1828800"/>
            <a:ext cx="4572000" cy="274320"/>
          </a:xfrm>
          <a:prstGeom prst="rect">
            <a:avLst/>
          </a:prstGeom>
          <a:noFill/>
          <a:ln/>
        </p:spPr>
        <p:txBody>
          <a:bodyPr wrap="square" lIns="0" tIns="0" rIns="0" bIns="0" rtlCol="0" anchor="t"/>
          <a:lstStyle/>
          <a:p>
            <a:pPr indent="0" marL="0">
              <a:buNone/>
            </a:pPr>
            <a:r>
              <a:rPr lang="en-US" sz="1100" b="1" spc="100" kern="0" dirty="0">
                <a:solidFill>
                  <a:srgbClr val="2F855A"/>
                </a:solidFill>
                <a:latin typeface="Calibri" pitchFamily="34" charset="0"/>
                <a:ea typeface="Calibri" pitchFamily="34" charset="-122"/>
                <a:cs typeface="Calibri" pitchFamily="34" charset="-120"/>
              </a:rPr>
              <a:t>CASO SEGURO · CONTRASTE</a:t>
            </a:r>
            <a:endParaRPr lang="en-US" sz="1100" dirty="0"/>
          </a:p>
        </p:txBody>
      </p:sp>
      <p:pic>
        <p:nvPicPr>
          <p:cNvPr id="10" name="Image 0" descr="/Users/anthony/Documents/Projects/NewBit/curso/semana-06-producto-unidad-1/nuestras-entregas/PPT_Producto_Unidad_1_NewBit/img/iconos/via-ink.png">    </p:cNvPr>
          <p:cNvPicPr>
            <a:picLocks noChangeAspect="1"/>
          </p:cNvPicPr>
          <p:nvPr/>
        </p:nvPicPr>
        <p:blipFill>
          <a:blip r:embed="rId1"/>
          <a:stretch>
            <a:fillRect/>
          </a:stretch>
        </p:blipFill>
        <p:spPr>
          <a:xfrm>
            <a:off x="731520" y="2560320"/>
            <a:ext cx="548640" cy="548640"/>
          </a:xfrm>
          <a:prstGeom prst="rect">
            <a:avLst/>
          </a:prstGeom>
        </p:spPr>
      </p:pic>
      <p:sp>
        <p:nvSpPr>
          <p:cNvPr id="11" name="Shape 7"/>
          <p:cNvSpPr/>
          <p:nvPr/>
        </p:nvSpPr>
        <p:spPr>
          <a:xfrm>
            <a:off x="1828800" y="2240280"/>
            <a:ext cx="4663440" cy="1234440"/>
          </a:xfrm>
          <a:prstGeom prst="roundRect">
            <a:avLst>
              <a:gd name="adj" fmla="val 5926"/>
            </a:avLst>
          </a:prstGeom>
          <a:solidFill>
            <a:srgbClr val="FFF4ED"/>
          </a:solidFill>
          <a:ln w="9525">
            <a:solidFill>
              <a:srgbClr val="F5D0BD"/>
            </a:solidFill>
            <a:prstDash val="solid"/>
          </a:ln>
        </p:spPr>
      </p:sp>
      <p:pic>
        <p:nvPicPr>
          <p:cNvPr id="12" name="Image 1" descr="/Users/anthony/Documents/Projects/NewBit/curso/semana-06-producto-unidad-1/nuestras-entregas/PPT_Producto_Unidad_1_NewBit/img/iconos/riesgo-ambar.png">    </p:cNvPr>
          <p:cNvPicPr>
            <a:picLocks noChangeAspect="1"/>
          </p:cNvPicPr>
          <p:nvPr/>
        </p:nvPicPr>
        <p:blipFill>
          <a:blip r:embed="rId2"/>
          <a:stretch>
            <a:fillRect/>
          </a:stretch>
        </p:blipFill>
        <p:spPr>
          <a:xfrm>
            <a:off x="2103120" y="2651760"/>
            <a:ext cx="384048" cy="384048"/>
          </a:xfrm>
          <a:prstGeom prst="rect">
            <a:avLst/>
          </a:prstGeom>
        </p:spPr>
      </p:pic>
      <p:sp>
        <p:nvSpPr>
          <p:cNvPr id="13" name="Text 8"/>
          <p:cNvSpPr/>
          <p:nvPr/>
        </p:nvSpPr>
        <p:spPr>
          <a:xfrm>
            <a:off x="2697480" y="2651760"/>
            <a:ext cx="3657600" cy="457200"/>
          </a:xfrm>
          <a:prstGeom prst="rect">
            <a:avLst/>
          </a:prstGeom>
          <a:noFill/>
          <a:ln/>
        </p:spPr>
        <p:txBody>
          <a:bodyPr wrap="square" lIns="0" tIns="0" rIns="0" bIns="0" rtlCol="0" anchor="t"/>
          <a:lstStyle/>
          <a:p>
            <a:pPr indent="0" marL="0">
              <a:buNone/>
            </a:pPr>
            <a:r>
              <a:rPr lang="en-US" sz="1800" dirty="0">
                <a:solidFill>
                  <a:srgbClr val="1A1A1A"/>
                </a:solidFill>
                <a:latin typeface="Calibri" pitchFamily="34" charset="0"/>
                <a:ea typeface="Calibri" pitchFamily="34" charset="-122"/>
                <a:cs typeface="Calibri" pitchFamily="34" charset="-120"/>
              </a:rPr>
              <a:t>Caminar fuera de la vía peatonal</a:t>
            </a:r>
            <a:endParaRPr lang="en-US" sz="1800" dirty="0"/>
          </a:p>
        </p:txBody>
      </p:sp>
      <p:sp>
        <p:nvSpPr>
          <p:cNvPr id="14" name="Shape 9"/>
          <p:cNvSpPr/>
          <p:nvPr/>
        </p:nvSpPr>
        <p:spPr>
          <a:xfrm>
            <a:off x="6720840" y="2240280"/>
            <a:ext cx="4663440" cy="1234440"/>
          </a:xfrm>
          <a:prstGeom prst="roundRect">
            <a:avLst>
              <a:gd name="adj" fmla="val 5926"/>
            </a:avLst>
          </a:prstGeom>
          <a:solidFill>
            <a:srgbClr val="EEF8F2"/>
          </a:solidFill>
          <a:ln w="9525">
            <a:solidFill>
              <a:srgbClr val="C7E6D4"/>
            </a:solidFill>
            <a:prstDash val="solid"/>
          </a:ln>
        </p:spPr>
      </p:sp>
      <p:pic>
        <p:nvPicPr>
          <p:cNvPr id="15" name="Image 2" descr="/Users/anthony/Documents/Projects/NewBit/curso/semana-06-producto-unidad-1/nuestras-entregas/PPT_Producto_Unidad_1_NewBit/img/iconos/seguro-verde.png">    </p:cNvPr>
          <p:cNvPicPr>
            <a:picLocks noChangeAspect="1"/>
          </p:cNvPicPr>
          <p:nvPr/>
        </p:nvPicPr>
        <p:blipFill>
          <a:blip r:embed="rId3"/>
          <a:stretch>
            <a:fillRect/>
          </a:stretch>
        </p:blipFill>
        <p:spPr>
          <a:xfrm>
            <a:off x="6995160" y="2651760"/>
            <a:ext cx="384048" cy="384048"/>
          </a:xfrm>
          <a:prstGeom prst="rect">
            <a:avLst/>
          </a:prstGeom>
        </p:spPr>
      </p:pic>
      <p:sp>
        <p:nvSpPr>
          <p:cNvPr id="16" name="Text 10"/>
          <p:cNvSpPr/>
          <p:nvPr/>
        </p:nvSpPr>
        <p:spPr>
          <a:xfrm>
            <a:off x="7589520" y="2651760"/>
            <a:ext cx="3657600" cy="457200"/>
          </a:xfrm>
          <a:prstGeom prst="rect">
            <a:avLst/>
          </a:prstGeom>
          <a:noFill/>
          <a:ln/>
        </p:spPr>
        <p:txBody>
          <a:bodyPr wrap="square" lIns="0" tIns="0" rIns="0" bIns="0" rtlCol="0" anchor="t"/>
          <a:lstStyle/>
          <a:p>
            <a:pPr indent="0" marL="0">
              <a:buNone/>
            </a:pPr>
            <a:r>
              <a:rPr lang="en-US" sz="1800" dirty="0">
                <a:solidFill>
                  <a:srgbClr val="1A1A1A"/>
                </a:solidFill>
                <a:latin typeface="Calibri" pitchFamily="34" charset="0"/>
                <a:ea typeface="Calibri" pitchFamily="34" charset="-122"/>
                <a:cs typeface="Calibri" pitchFamily="34" charset="-120"/>
              </a:rPr>
              <a:t>Caminar por la vía peatonal</a:t>
            </a:r>
            <a:endParaRPr lang="en-US" sz="1800" dirty="0"/>
          </a:p>
        </p:txBody>
      </p:sp>
      <p:pic>
        <p:nvPicPr>
          <p:cNvPr id="17" name="Image 3" descr="/Users/anthony/Documents/Projects/NewBit/curso/semana-06-producto-unidad-1/nuestras-entregas/PPT_Producto_Unidad_1_NewBit/img/iconos/tablero-ink.png">    </p:cNvPr>
          <p:cNvPicPr>
            <a:picLocks noChangeAspect="1"/>
          </p:cNvPicPr>
          <p:nvPr/>
        </p:nvPicPr>
        <p:blipFill>
          <a:blip r:embed="rId4"/>
          <a:stretch>
            <a:fillRect/>
          </a:stretch>
        </p:blipFill>
        <p:spPr>
          <a:xfrm>
            <a:off x="731520" y="4069080"/>
            <a:ext cx="548640" cy="548640"/>
          </a:xfrm>
          <a:prstGeom prst="rect">
            <a:avLst/>
          </a:prstGeom>
        </p:spPr>
      </p:pic>
      <p:sp>
        <p:nvSpPr>
          <p:cNvPr id="18" name="Shape 11"/>
          <p:cNvSpPr/>
          <p:nvPr/>
        </p:nvSpPr>
        <p:spPr>
          <a:xfrm>
            <a:off x="1828800" y="3749040"/>
            <a:ext cx="4663440" cy="1234440"/>
          </a:xfrm>
          <a:prstGeom prst="roundRect">
            <a:avLst>
              <a:gd name="adj" fmla="val 5926"/>
            </a:avLst>
          </a:prstGeom>
          <a:solidFill>
            <a:srgbClr val="FFF4ED"/>
          </a:solidFill>
          <a:ln w="9525">
            <a:solidFill>
              <a:srgbClr val="F5D0BD"/>
            </a:solidFill>
            <a:prstDash val="solid"/>
          </a:ln>
        </p:spPr>
      </p:sp>
      <p:pic>
        <p:nvPicPr>
          <p:cNvPr id="19" name="Image 4" descr="/Users/anthony/Documents/Projects/NewBit/curso/semana-06-producto-unidad-1/nuestras-entregas/PPT_Producto_Unidad_1_NewBit/img/iconos/riesgo-ambar.png">    </p:cNvPr>
          <p:cNvPicPr>
            <a:picLocks noChangeAspect="1"/>
          </p:cNvPicPr>
          <p:nvPr/>
        </p:nvPicPr>
        <p:blipFill>
          <a:blip r:embed="rId5"/>
          <a:stretch>
            <a:fillRect/>
          </a:stretch>
        </p:blipFill>
        <p:spPr>
          <a:xfrm>
            <a:off x="2103120" y="4160520"/>
            <a:ext cx="384048" cy="384048"/>
          </a:xfrm>
          <a:prstGeom prst="rect">
            <a:avLst/>
          </a:prstGeom>
        </p:spPr>
      </p:pic>
      <p:sp>
        <p:nvSpPr>
          <p:cNvPr id="20" name="Text 12"/>
          <p:cNvSpPr/>
          <p:nvPr/>
        </p:nvSpPr>
        <p:spPr>
          <a:xfrm>
            <a:off x="2697480" y="4160520"/>
            <a:ext cx="3657600" cy="457200"/>
          </a:xfrm>
          <a:prstGeom prst="rect">
            <a:avLst/>
          </a:prstGeom>
          <a:noFill/>
          <a:ln/>
        </p:spPr>
        <p:txBody>
          <a:bodyPr wrap="square" lIns="0" tIns="0" rIns="0" bIns="0" rtlCol="0" anchor="t"/>
          <a:lstStyle/>
          <a:p>
            <a:pPr indent="0" marL="0">
              <a:buNone/>
            </a:pPr>
            <a:r>
              <a:rPr lang="en-US" sz="1800" dirty="0">
                <a:solidFill>
                  <a:srgbClr val="1A1A1A"/>
                </a:solidFill>
                <a:latin typeface="Calibri" pitchFamily="34" charset="0"/>
                <a:ea typeface="Calibri" pitchFamily="34" charset="-122"/>
                <a:cs typeface="Calibri" pitchFamily="34" charset="-120"/>
              </a:rPr>
              <a:t>Dejar abierto el tablero eléctrico</a:t>
            </a:r>
            <a:endParaRPr lang="en-US" sz="1800" dirty="0"/>
          </a:p>
        </p:txBody>
      </p:sp>
      <p:sp>
        <p:nvSpPr>
          <p:cNvPr id="21" name="Shape 13"/>
          <p:cNvSpPr/>
          <p:nvPr/>
        </p:nvSpPr>
        <p:spPr>
          <a:xfrm>
            <a:off x="6720840" y="3749040"/>
            <a:ext cx="4663440" cy="1234440"/>
          </a:xfrm>
          <a:prstGeom prst="roundRect">
            <a:avLst>
              <a:gd name="adj" fmla="val 5926"/>
            </a:avLst>
          </a:prstGeom>
          <a:solidFill>
            <a:srgbClr val="EEF8F2"/>
          </a:solidFill>
          <a:ln w="9525">
            <a:solidFill>
              <a:srgbClr val="C7E6D4"/>
            </a:solidFill>
            <a:prstDash val="solid"/>
          </a:ln>
        </p:spPr>
      </p:sp>
      <p:pic>
        <p:nvPicPr>
          <p:cNvPr id="22" name="Image 5" descr="/Users/anthony/Documents/Projects/NewBit/curso/semana-06-producto-unidad-1/nuestras-entregas/PPT_Producto_Unidad_1_NewBit/img/iconos/seguro-verde.png">    </p:cNvPr>
          <p:cNvPicPr>
            <a:picLocks noChangeAspect="1"/>
          </p:cNvPicPr>
          <p:nvPr/>
        </p:nvPicPr>
        <p:blipFill>
          <a:blip r:embed="rId6"/>
          <a:stretch>
            <a:fillRect/>
          </a:stretch>
        </p:blipFill>
        <p:spPr>
          <a:xfrm>
            <a:off x="6995160" y="4160520"/>
            <a:ext cx="384048" cy="384048"/>
          </a:xfrm>
          <a:prstGeom prst="rect">
            <a:avLst/>
          </a:prstGeom>
        </p:spPr>
      </p:pic>
      <p:sp>
        <p:nvSpPr>
          <p:cNvPr id="23" name="Text 14"/>
          <p:cNvSpPr/>
          <p:nvPr/>
        </p:nvSpPr>
        <p:spPr>
          <a:xfrm>
            <a:off x="7589520" y="4160520"/>
            <a:ext cx="3657600" cy="457200"/>
          </a:xfrm>
          <a:prstGeom prst="rect">
            <a:avLst/>
          </a:prstGeom>
          <a:noFill/>
          <a:ln/>
        </p:spPr>
        <p:txBody>
          <a:bodyPr wrap="square" lIns="0" tIns="0" rIns="0" bIns="0" rtlCol="0" anchor="t"/>
          <a:lstStyle/>
          <a:p>
            <a:pPr indent="0" marL="0">
              <a:buNone/>
            </a:pPr>
            <a:r>
              <a:rPr lang="en-US" sz="1800" dirty="0">
                <a:solidFill>
                  <a:srgbClr val="1A1A1A"/>
                </a:solidFill>
                <a:latin typeface="Calibri" pitchFamily="34" charset="0"/>
                <a:ea typeface="Calibri" pitchFamily="34" charset="-122"/>
                <a:cs typeface="Calibri" pitchFamily="34" charset="-120"/>
              </a:rPr>
              <a:t>Cerrar el tablero tras la intervención</a:t>
            </a:r>
            <a:endParaRPr lang="en-US" sz="1800" dirty="0"/>
          </a:p>
        </p:txBody>
      </p:sp>
      <p:sp>
        <p:nvSpPr>
          <p:cNvPr id="24" name="Text 15"/>
          <p:cNvSpPr/>
          <p:nvPr/>
        </p:nvSpPr>
        <p:spPr>
          <a:xfrm>
            <a:off x="731520" y="5989320"/>
            <a:ext cx="10728655" cy="274320"/>
          </a:xfrm>
          <a:prstGeom prst="rect">
            <a:avLst/>
          </a:prstGeom>
          <a:noFill/>
          <a:ln/>
        </p:spPr>
        <p:txBody>
          <a:bodyPr wrap="square" lIns="0" tIns="0" rIns="0" bIns="0" rtlCol="0" anchor="t"/>
          <a:lstStyle/>
          <a:p>
            <a:pPr indent="0" marL="0">
              <a:buNone/>
            </a:pPr>
            <a:r>
              <a:rPr lang="en-US" sz="1000" dirty="0">
                <a:solidFill>
                  <a:srgbClr val="8A8984"/>
                </a:solidFill>
                <a:latin typeface="Calibri" pitchFamily="34" charset="0"/>
                <a:ea typeface="Calibri" pitchFamily="34" charset="-122"/>
                <a:cs typeface="Calibri" pitchFamily="34" charset="-120"/>
              </a:rPr>
              <a:t>Conductas «Safe Walkway Violation» y «Opened Panel Cover» del conjunto de datos público de Önal y Dandıl (2024), licencia CC BY 4.0.</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AF9"/>
        </a:solidFill>
      </p:bgPr>
    </p:bg>
    <p:spTree>
      <p:nvGrpSpPr>
        <p:cNvPr id="1" name=""/>
        <p:cNvGrpSpPr/>
        <p:nvPr/>
      </p:nvGrpSpPr>
      <p:grpSpPr>
        <a:xfrm>
          <a:off x="0" y="0"/>
          <a:ext cx="0" cy="0"/>
          <a:chOff x="0" y="0"/>
          <a:chExt cx="0" cy="0"/>
        </a:xfrm>
      </p:grpSpPr>
      <p:sp>
        <p:nvSpPr>
          <p:cNvPr id="2" name="Text 0"/>
          <p:cNvSpPr/>
          <p:nvPr/>
        </p:nvSpPr>
        <p:spPr>
          <a:xfrm>
            <a:off x="731520" y="502920"/>
            <a:ext cx="10058400" cy="274320"/>
          </a:xfrm>
          <a:prstGeom prst="rect">
            <a:avLst/>
          </a:prstGeom>
          <a:noFill/>
          <a:ln/>
        </p:spPr>
        <p:txBody>
          <a:bodyPr wrap="square" lIns="0" tIns="0" rIns="0" bIns="0" rtlCol="0" anchor="t"/>
          <a:lstStyle/>
          <a:p>
            <a:pPr indent="0" marL="0">
              <a:buNone/>
            </a:pPr>
            <a:r>
              <a:rPr lang="en-US" sz="1100" b="1" spc="150" kern="0" dirty="0">
                <a:solidFill>
                  <a:srgbClr val="3E63DD"/>
                </a:solidFill>
                <a:latin typeface="Calibri" pitchFamily="34" charset="0"/>
                <a:ea typeface="Calibri" pitchFamily="34" charset="-122"/>
                <a:cs typeface="Calibri" pitchFamily="34" charset="-120"/>
              </a:rPr>
              <a:t>EVIDENCIA</a:t>
            </a:r>
            <a:endParaRPr lang="en-US" sz="1100" dirty="0"/>
          </a:p>
        </p:txBody>
      </p:sp>
      <p:sp>
        <p:nvSpPr>
          <p:cNvPr id="3" name="Text 1"/>
          <p:cNvSpPr/>
          <p:nvPr/>
        </p:nvSpPr>
        <p:spPr>
          <a:xfrm>
            <a:off x="731520" y="777240"/>
            <a:ext cx="10698480" cy="822960"/>
          </a:xfrm>
          <a:prstGeom prst="rect">
            <a:avLst/>
          </a:prstGeom>
          <a:noFill/>
          <a:ln/>
        </p:spPr>
        <p:txBody>
          <a:bodyPr wrap="square" lIns="0" tIns="0" rIns="0" bIns="0" rtlCol="0" anchor="t"/>
          <a:lstStyle/>
          <a:p>
            <a:pPr indent="0" marL="0">
              <a:buNone/>
            </a:pPr>
            <a:r>
              <a:rPr lang="en-US" sz="3400" dirty="0">
                <a:solidFill>
                  <a:srgbClr val="1A1A1A"/>
                </a:solidFill>
                <a:latin typeface="Calibri Light" pitchFamily="34" charset="0"/>
                <a:ea typeface="Calibri Light" pitchFamily="34" charset="-122"/>
                <a:cs typeface="Calibri Light" pitchFamily="34" charset="-120"/>
              </a:rPr>
              <a:t>¿Por qué creemos que funciona?</a:t>
            </a:r>
            <a:endParaRPr lang="en-US" sz="3400" dirty="0"/>
          </a:p>
        </p:txBody>
      </p:sp>
      <p:sp>
        <p:nvSpPr>
          <p:cNvPr id="4" name="Text 2"/>
          <p:cNvSpPr/>
          <p:nvPr/>
        </p:nvSpPr>
        <p:spPr>
          <a:xfrm>
            <a:off x="731520" y="6355080"/>
            <a:ext cx="2743200" cy="228600"/>
          </a:xfrm>
          <a:prstGeom prst="rect">
            <a:avLst/>
          </a:prstGeom>
          <a:noFill/>
          <a:ln/>
        </p:spPr>
        <p:txBody>
          <a:bodyPr wrap="square" lIns="0" tIns="0" rIns="0" bIns="0" rtlCol="0" anchor="t"/>
          <a:lstStyle/>
          <a:p>
            <a:pPr indent="0" marL="0">
              <a:buNone/>
            </a:pPr>
            <a:r>
              <a:rPr lang="en-US" sz="1000" b="1" dirty="0">
                <a:solidFill>
                  <a:srgbClr val="8A8984"/>
                </a:solidFill>
                <a:latin typeface="Calibri" pitchFamily="34" charset="0"/>
                <a:ea typeface="Calibri" pitchFamily="34" charset="-122"/>
                <a:cs typeface="Calibri" pitchFamily="34" charset="-120"/>
              </a:rPr>
              <a:t>NewBit</a:t>
            </a:r>
            <a:endParaRPr lang="en-US" sz="1000" dirty="0"/>
          </a:p>
        </p:txBody>
      </p:sp>
      <p:sp>
        <p:nvSpPr>
          <p:cNvPr id="5" name="Text 3"/>
          <p:cNvSpPr/>
          <p:nvPr/>
        </p:nvSpPr>
        <p:spPr>
          <a:xfrm>
            <a:off x="1371600" y="6355080"/>
            <a:ext cx="4572000" cy="228600"/>
          </a:xfrm>
          <a:prstGeom prst="rect">
            <a:avLst/>
          </a:prstGeom>
          <a:noFill/>
          <a:ln/>
        </p:spPr>
        <p:txBody>
          <a:bodyPr wrap="square" lIns="0" tIns="0" rIns="0" bIns="0" rtlCol="0" anchor="t"/>
          <a:lstStyle/>
          <a:p>
            <a:pPr indent="0" marL="0">
              <a:buNone/>
            </a:pPr>
            <a:r>
              <a:rPr lang="en-US" sz="1000" dirty="0">
                <a:solidFill>
                  <a:srgbClr val="8A8984"/>
                </a:solidFill>
                <a:latin typeface="Calibri" pitchFamily="34" charset="0"/>
                <a:ea typeface="Calibri" pitchFamily="34" charset="-122"/>
                <a:cs typeface="Calibri" pitchFamily="34" charset="-120"/>
              </a:rPr>
              <a:t>Producto de la Unidad I · Grupo D3</a:t>
            </a:r>
            <a:endParaRPr lang="en-US" sz="1000" dirty="0"/>
          </a:p>
        </p:txBody>
      </p:sp>
      <p:sp>
        <p:nvSpPr>
          <p:cNvPr id="6" name="Text 4"/>
          <p:cNvSpPr/>
          <p:nvPr/>
        </p:nvSpPr>
        <p:spPr>
          <a:xfrm>
            <a:off x="10728655" y="6355080"/>
            <a:ext cx="731520" cy="228600"/>
          </a:xfrm>
          <a:prstGeom prst="rect">
            <a:avLst/>
          </a:prstGeom>
          <a:noFill/>
          <a:ln/>
        </p:spPr>
        <p:txBody>
          <a:bodyPr wrap="square" lIns="0" tIns="0" rIns="0" bIns="0" rtlCol="0" anchor="t"/>
          <a:lstStyle/>
          <a:p>
            <a:pPr algn="r" indent="0" marL="0">
              <a:buNone/>
            </a:pPr>
            <a:r>
              <a:rPr lang="en-US" sz="1000" dirty="0">
                <a:solidFill>
                  <a:srgbClr val="8A8984"/>
                </a:solidFill>
                <a:latin typeface="Calibri" pitchFamily="34" charset="0"/>
                <a:ea typeface="Calibri" pitchFamily="34" charset="-122"/>
                <a:cs typeface="Calibri" pitchFamily="34" charset="-120"/>
              </a:rPr>
              <a:t>08</a:t>
            </a:r>
            <a:endParaRPr lang="en-US" sz="1000" dirty="0"/>
          </a:p>
        </p:txBody>
      </p:sp>
      <p:sp>
        <p:nvSpPr>
          <p:cNvPr id="8" name="Text 5"/>
          <p:cNvSpPr/>
          <p:nvPr/>
        </p:nvSpPr>
        <p:spPr>
          <a:xfrm>
            <a:off x="731520" y="1783080"/>
            <a:ext cx="5486400" cy="1280160"/>
          </a:xfrm>
          <a:prstGeom prst="rect">
            <a:avLst/>
          </a:prstGeom>
          <a:noFill/>
          <a:ln/>
        </p:spPr>
        <p:txBody>
          <a:bodyPr wrap="square" lIns="0" tIns="0" rIns="0" bIns="0" rtlCol="0" anchor="t"/>
          <a:lstStyle/>
          <a:p>
            <a:pPr indent="0" marL="0">
              <a:buNone/>
            </a:pPr>
            <a:r>
              <a:rPr lang="en-US" sz="9600" dirty="0">
                <a:solidFill>
                  <a:srgbClr val="1A1A1A"/>
                </a:solidFill>
                <a:latin typeface="Calibri Light" pitchFamily="34" charset="0"/>
                <a:ea typeface="Calibri Light" pitchFamily="34" charset="-122"/>
                <a:cs typeface="Calibri Light" pitchFamily="34" charset="-120"/>
              </a:rPr>
              <a:t>95.81 %</a:t>
            </a:r>
            <a:endParaRPr lang="en-US" sz="9600" dirty="0"/>
          </a:p>
        </p:txBody>
      </p:sp>
      <p:sp>
        <p:nvSpPr>
          <p:cNvPr id="9" name="Text 6"/>
          <p:cNvSpPr/>
          <p:nvPr/>
        </p:nvSpPr>
        <p:spPr>
          <a:xfrm>
            <a:off x="731520" y="3154680"/>
            <a:ext cx="5120640" cy="822960"/>
          </a:xfrm>
          <a:prstGeom prst="rect">
            <a:avLst/>
          </a:prstGeom>
          <a:noFill/>
          <a:ln/>
        </p:spPr>
        <p:txBody>
          <a:bodyPr wrap="square" lIns="0" tIns="0" rIns="0" bIns="0" rtlCol="0" anchor="t"/>
          <a:lstStyle/>
          <a:p>
            <a:pPr indent="0" marL="0">
              <a:buNone/>
            </a:pPr>
            <a:r>
              <a:rPr lang="en-US" sz="1600" dirty="0">
                <a:solidFill>
                  <a:srgbClr val="57534E"/>
                </a:solidFill>
                <a:latin typeface="Calibri" pitchFamily="34" charset="0"/>
                <a:ea typeface="Calibri" pitchFamily="34" charset="-122"/>
                <a:cs typeface="Calibri" pitchFamily="34" charset="-120"/>
              </a:rPr>
              <a:t>exactitud promedio por clase de Unsafe-Net en su conjunto de datos (Önal y Dandıl, 2025).</a:t>
            </a:r>
            <a:endParaRPr lang="en-US" sz="1600" dirty="0"/>
          </a:p>
        </p:txBody>
      </p:sp>
      <p:pic>
        <p:nvPicPr>
          <p:cNvPr id="10" name="Image 0" descr="/Users/anthony/Documents/Projects/NewBit/curso/semana-06-producto-unidad-1/nuestras-entregas/PPT_Producto_Unidad_1_NewBit/img/iconos/reloj-ink.png">    </p:cNvPr>
          <p:cNvPicPr>
            <a:picLocks noChangeAspect="1"/>
          </p:cNvPicPr>
          <p:nvPr/>
        </p:nvPicPr>
        <p:blipFill>
          <a:blip r:embed="rId1"/>
          <a:stretch>
            <a:fillRect/>
          </a:stretch>
        </p:blipFill>
        <p:spPr>
          <a:xfrm>
            <a:off x="6675120" y="1874520"/>
            <a:ext cx="411480" cy="411480"/>
          </a:xfrm>
          <a:prstGeom prst="rect">
            <a:avLst/>
          </a:prstGeom>
        </p:spPr>
      </p:pic>
      <p:sp>
        <p:nvSpPr>
          <p:cNvPr id="11" name="Text 7"/>
          <p:cNvSpPr/>
          <p:nvPr/>
        </p:nvSpPr>
        <p:spPr>
          <a:xfrm>
            <a:off x="7315200" y="1828800"/>
            <a:ext cx="4114800" cy="365760"/>
          </a:xfrm>
          <a:prstGeom prst="rect">
            <a:avLst/>
          </a:prstGeom>
          <a:noFill/>
          <a:ln/>
        </p:spPr>
        <p:txBody>
          <a:bodyPr wrap="square" lIns="0" tIns="0" rIns="0" bIns="0" rtlCol="0" anchor="t"/>
          <a:lstStyle/>
          <a:p>
            <a:pPr indent="0" marL="0">
              <a:buNone/>
            </a:pPr>
            <a:r>
              <a:rPr lang="en-US" sz="1800" b="1" dirty="0">
                <a:solidFill>
                  <a:srgbClr val="1A1A1A"/>
                </a:solidFill>
                <a:latin typeface="Calibri" pitchFamily="34" charset="0"/>
                <a:ea typeface="Calibri" pitchFamily="34" charset="-122"/>
                <a:cs typeface="Calibri" pitchFamily="34" charset="-120"/>
              </a:rPr>
              <a:t>39 días de video</a:t>
            </a:r>
            <a:endParaRPr lang="en-US" sz="1800" dirty="0"/>
          </a:p>
        </p:txBody>
      </p:sp>
      <p:sp>
        <p:nvSpPr>
          <p:cNvPr id="12" name="Text 8"/>
          <p:cNvSpPr/>
          <p:nvPr/>
        </p:nvSpPr>
        <p:spPr>
          <a:xfrm>
            <a:off x="7315200" y="2212848"/>
            <a:ext cx="4114800" cy="685800"/>
          </a:xfrm>
          <a:prstGeom prst="rect">
            <a:avLst/>
          </a:prstGeom>
          <a:noFill/>
          <a:ln/>
        </p:spPr>
        <p:txBody>
          <a:bodyPr wrap="square" lIns="0" tIns="0" rIns="0" bIns="0" rtlCol="0" anchor="t"/>
          <a:lstStyle/>
          <a:p>
            <a:pPr indent="0" marL="0">
              <a:buNone/>
            </a:pPr>
            <a:r>
              <a:rPr lang="en-US" sz="1400" dirty="0">
                <a:solidFill>
                  <a:srgbClr val="57534E"/>
                </a:solidFill>
                <a:latin typeface="Calibri" pitchFamily="34" charset="0"/>
                <a:ea typeface="Calibri" pitchFamily="34" charset="-122"/>
                <a:cs typeface="Calibri" pitchFamily="34" charset="-120"/>
              </a:rPr>
              <a:t>grabados en una fábrica real, con dos cámaras.</a:t>
            </a:r>
            <a:endParaRPr lang="en-US" sz="1400" dirty="0"/>
          </a:p>
        </p:txBody>
      </p:sp>
      <p:pic>
        <p:nvPicPr>
          <p:cNvPr id="13" name="Image 1" descr="/Users/anthony/Documents/Projects/NewBit/curso/semana-06-producto-unidad-1/nuestras-entregas/PPT_Producto_Unidad_1_NewBit/img/iconos/libro-ink.png">    </p:cNvPr>
          <p:cNvPicPr>
            <a:picLocks noChangeAspect="1"/>
          </p:cNvPicPr>
          <p:nvPr/>
        </p:nvPicPr>
        <p:blipFill>
          <a:blip r:embed="rId2"/>
          <a:stretch>
            <a:fillRect/>
          </a:stretch>
        </p:blipFill>
        <p:spPr>
          <a:xfrm>
            <a:off x="6675120" y="3063240"/>
            <a:ext cx="411480" cy="411480"/>
          </a:xfrm>
          <a:prstGeom prst="rect">
            <a:avLst/>
          </a:prstGeom>
        </p:spPr>
      </p:pic>
      <p:sp>
        <p:nvSpPr>
          <p:cNvPr id="14" name="Text 9"/>
          <p:cNvSpPr/>
          <p:nvPr/>
        </p:nvSpPr>
        <p:spPr>
          <a:xfrm>
            <a:off x="7315200" y="3017520"/>
            <a:ext cx="4114800" cy="365760"/>
          </a:xfrm>
          <a:prstGeom prst="rect">
            <a:avLst/>
          </a:prstGeom>
          <a:noFill/>
          <a:ln/>
        </p:spPr>
        <p:txBody>
          <a:bodyPr wrap="square" lIns="0" tIns="0" rIns="0" bIns="0" rtlCol="0" anchor="t"/>
          <a:lstStyle/>
          <a:p>
            <a:pPr indent="0" marL="0">
              <a:buNone/>
            </a:pPr>
            <a:r>
              <a:rPr lang="en-US" sz="1800" b="1" dirty="0">
                <a:solidFill>
                  <a:srgbClr val="1A1A1A"/>
                </a:solidFill>
                <a:latin typeface="Calibri" pitchFamily="34" charset="0"/>
                <a:ea typeface="Calibri" pitchFamily="34" charset="-122"/>
                <a:cs typeface="Calibri" pitchFamily="34" charset="-120"/>
              </a:rPr>
              <a:t>Datos públicos</a:t>
            </a:r>
            <a:endParaRPr lang="en-US" sz="1800" dirty="0"/>
          </a:p>
        </p:txBody>
      </p:sp>
      <p:sp>
        <p:nvSpPr>
          <p:cNvPr id="15" name="Text 10"/>
          <p:cNvSpPr/>
          <p:nvPr/>
        </p:nvSpPr>
        <p:spPr>
          <a:xfrm>
            <a:off x="7315200" y="3401568"/>
            <a:ext cx="4114800" cy="685800"/>
          </a:xfrm>
          <a:prstGeom prst="rect">
            <a:avLst/>
          </a:prstGeom>
          <a:noFill/>
          <a:ln/>
        </p:spPr>
        <p:txBody>
          <a:bodyPr wrap="square" lIns="0" tIns="0" rIns="0" bIns="0" rtlCol="0" anchor="t"/>
          <a:lstStyle/>
          <a:p>
            <a:pPr indent="0" marL="0">
              <a:buNone/>
            </a:pPr>
            <a:r>
              <a:rPr lang="en-US" sz="1400" dirty="0">
                <a:solidFill>
                  <a:srgbClr val="57534E"/>
                </a:solidFill>
                <a:latin typeface="Calibri" pitchFamily="34" charset="0"/>
                <a:ea typeface="Calibri" pitchFamily="34" charset="-122"/>
                <a:cs typeface="Calibri" pitchFamily="34" charset="-120"/>
              </a:rPr>
              <a:t>el mismo conjunto de datos que NewBit reutiliza, con licencia CC BY 4.0.</a:t>
            </a:r>
            <a:endParaRPr lang="en-US" sz="1400" dirty="0"/>
          </a:p>
        </p:txBody>
      </p:sp>
      <p:pic>
        <p:nvPicPr>
          <p:cNvPr id="16" name="Image 2" descr="/Users/anthony/Documents/Projects/NewBit/curso/semana-06-producto-unidad-1/nuestras-entregas/PPT_Producto_Unidad_1_NewBit/img/iconos/capas-ink.png">    </p:cNvPr>
          <p:cNvPicPr>
            <a:picLocks noChangeAspect="1"/>
          </p:cNvPicPr>
          <p:nvPr/>
        </p:nvPicPr>
        <p:blipFill>
          <a:blip r:embed="rId3"/>
          <a:stretch>
            <a:fillRect/>
          </a:stretch>
        </p:blipFill>
        <p:spPr>
          <a:xfrm>
            <a:off x="6675120" y="4251960"/>
            <a:ext cx="411480" cy="411480"/>
          </a:xfrm>
          <a:prstGeom prst="rect">
            <a:avLst/>
          </a:prstGeom>
        </p:spPr>
      </p:pic>
      <p:sp>
        <p:nvSpPr>
          <p:cNvPr id="17" name="Text 11"/>
          <p:cNvSpPr/>
          <p:nvPr/>
        </p:nvSpPr>
        <p:spPr>
          <a:xfrm>
            <a:off x="7315200" y="4206240"/>
            <a:ext cx="4114800" cy="365760"/>
          </a:xfrm>
          <a:prstGeom prst="rect">
            <a:avLst/>
          </a:prstGeom>
          <a:noFill/>
          <a:ln/>
        </p:spPr>
        <p:txBody>
          <a:bodyPr wrap="square" lIns="0" tIns="0" rIns="0" bIns="0" rtlCol="0" anchor="t"/>
          <a:lstStyle/>
          <a:p>
            <a:pPr indent="0" marL="0">
              <a:buNone/>
            </a:pPr>
            <a:r>
              <a:rPr lang="en-US" sz="1800" b="1" dirty="0">
                <a:solidFill>
                  <a:srgbClr val="1A1A1A"/>
                </a:solidFill>
                <a:latin typeface="Calibri" pitchFamily="34" charset="0"/>
                <a:ea typeface="Calibri" pitchFamily="34" charset="-122"/>
                <a:cs typeface="Calibri" pitchFamily="34" charset="-120"/>
              </a:rPr>
              <a:t>De objetos a conductas</a:t>
            </a:r>
            <a:endParaRPr lang="en-US" sz="1800" dirty="0"/>
          </a:p>
        </p:txBody>
      </p:sp>
      <p:sp>
        <p:nvSpPr>
          <p:cNvPr id="18" name="Text 12"/>
          <p:cNvSpPr/>
          <p:nvPr/>
        </p:nvSpPr>
        <p:spPr>
          <a:xfrm>
            <a:off x="7315200" y="4590288"/>
            <a:ext cx="4114800" cy="685800"/>
          </a:xfrm>
          <a:prstGeom prst="rect">
            <a:avLst/>
          </a:prstGeom>
          <a:noFill/>
          <a:ln/>
        </p:spPr>
        <p:txBody>
          <a:bodyPr wrap="square" lIns="0" tIns="0" rIns="0" bIns="0" rtlCol="0" anchor="t"/>
          <a:lstStyle/>
          <a:p>
            <a:pPr indent="0" marL="0">
              <a:buNone/>
            </a:pPr>
            <a:r>
              <a:rPr lang="en-US" sz="1400" dirty="0">
                <a:solidFill>
                  <a:srgbClr val="57534E"/>
                </a:solidFill>
                <a:latin typeface="Calibri" pitchFamily="34" charset="0"/>
                <a:ea typeface="Calibri" pitchFamily="34" charset="-122"/>
                <a:cs typeface="Calibri" pitchFamily="34" charset="-120"/>
              </a:rPr>
              <a:t>en el Perú ya se detecta EPP en imágenes (PUCP, UCV, UPN); NewBit reconoce acciones en video.</a:t>
            </a:r>
            <a:endParaRPr lang="en-US" sz="1400" dirty="0"/>
          </a:p>
        </p:txBody>
      </p:sp>
      <p:sp>
        <p:nvSpPr>
          <p:cNvPr id="19" name="Text 13"/>
          <p:cNvSpPr/>
          <p:nvPr/>
        </p:nvSpPr>
        <p:spPr>
          <a:xfrm>
            <a:off x="731520" y="5989320"/>
            <a:ext cx="10728655" cy="274320"/>
          </a:xfrm>
          <a:prstGeom prst="rect">
            <a:avLst/>
          </a:prstGeom>
          <a:noFill/>
          <a:ln/>
        </p:spPr>
        <p:txBody>
          <a:bodyPr wrap="square" lIns="0" tIns="0" rIns="0" bIns="0" rtlCol="0" anchor="t"/>
          <a:lstStyle/>
          <a:p>
            <a:pPr indent="0" marL="0">
              <a:buNone/>
            </a:pPr>
            <a:r>
              <a:rPr lang="en-US" sz="1000" dirty="0">
                <a:solidFill>
                  <a:srgbClr val="8A8984"/>
                </a:solidFill>
                <a:latin typeface="Calibri" pitchFamily="34" charset="0"/>
                <a:ea typeface="Calibri" pitchFamily="34" charset="-122"/>
                <a:cs typeface="Calibri" pitchFamily="34" charset="-120"/>
              </a:rPr>
              <a:t>Cifras reportadas por los autores en su propio estudio; no son una promesa para NewBit. Las metas propias se fijarán con la línea base del Sprint 3.</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AF9"/>
        </a:solidFill>
      </p:bgPr>
    </p:bg>
    <p:spTree>
      <p:nvGrpSpPr>
        <p:cNvPr id="1" name=""/>
        <p:cNvGrpSpPr/>
        <p:nvPr/>
      </p:nvGrpSpPr>
      <p:grpSpPr>
        <a:xfrm>
          <a:off x="0" y="0"/>
          <a:ext cx="0" cy="0"/>
          <a:chOff x="0" y="0"/>
          <a:chExt cx="0" cy="0"/>
        </a:xfrm>
      </p:grpSpPr>
      <p:sp>
        <p:nvSpPr>
          <p:cNvPr id="2" name="Text 0"/>
          <p:cNvSpPr/>
          <p:nvPr/>
        </p:nvSpPr>
        <p:spPr>
          <a:xfrm>
            <a:off x="731520" y="502920"/>
            <a:ext cx="10058400" cy="274320"/>
          </a:xfrm>
          <a:prstGeom prst="rect">
            <a:avLst/>
          </a:prstGeom>
          <a:noFill/>
          <a:ln/>
        </p:spPr>
        <p:txBody>
          <a:bodyPr wrap="square" lIns="0" tIns="0" rIns="0" bIns="0" rtlCol="0" anchor="t"/>
          <a:lstStyle/>
          <a:p>
            <a:pPr indent="0" marL="0">
              <a:buNone/>
            </a:pPr>
            <a:r>
              <a:rPr lang="en-US" sz="1100" b="1" spc="150" kern="0" dirty="0">
                <a:solidFill>
                  <a:srgbClr val="3E63DD"/>
                </a:solidFill>
                <a:latin typeface="Calibri" pitchFamily="34" charset="0"/>
                <a:ea typeface="Calibri" pitchFamily="34" charset="-122"/>
                <a:cs typeface="Calibri" pitchFamily="34" charset="-120"/>
              </a:rPr>
              <a:t>BENEFICIO</a:t>
            </a:r>
            <a:endParaRPr lang="en-US" sz="1100" dirty="0"/>
          </a:p>
        </p:txBody>
      </p:sp>
      <p:sp>
        <p:nvSpPr>
          <p:cNvPr id="3" name="Text 1"/>
          <p:cNvSpPr/>
          <p:nvPr/>
        </p:nvSpPr>
        <p:spPr>
          <a:xfrm>
            <a:off x="731520" y="777240"/>
            <a:ext cx="10698480" cy="822960"/>
          </a:xfrm>
          <a:prstGeom prst="rect">
            <a:avLst/>
          </a:prstGeom>
          <a:noFill/>
          <a:ln/>
        </p:spPr>
        <p:txBody>
          <a:bodyPr wrap="square" lIns="0" tIns="0" rIns="0" bIns="0" rtlCol="0" anchor="t"/>
          <a:lstStyle/>
          <a:p>
            <a:pPr indent="0" marL="0">
              <a:buNone/>
            </a:pPr>
            <a:r>
              <a:rPr lang="en-US" sz="3400" dirty="0">
                <a:solidFill>
                  <a:srgbClr val="1A1A1A"/>
                </a:solidFill>
                <a:latin typeface="Calibri Light" pitchFamily="34" charset="0"/>
                <a:ea typeface="Calibri Light" pitchFamily="34" charset="-122"/>
                <a:cs typeface="Calibri Light" pitchFamily="34" charset="-120"/>
              </a:rPr>
              <a:t>Qué gana cada uno</a:t>
            </a:r>
            <a:endParaRPr lang="en-US" sz="3400" dirty="0"/>
          </a:p>
        </p:txBody>
      </p:sp>
      <p:sp>
        <p:nvSpPr>
          <p:cNvPr id="4" name="Text 2"/>
          <p:cNvSpPr/>
          <p:nvPr/>
        </p:nvSpPr>
        <p:spPr>
          <a:xfrm>
            <a:off x="731520" y="6355080"/>
            <a:ext cx="2743200" cy="228600"/>
          </a:xfrm>
          <a:prstGeom prst="rect">
            <a:avLst/>
          </a:prstGeom>
          <a:noFill/>
          <a:ln/>
        </p:spPr>
        <p:txBody>
          <a:bodyPr wrap="square" lIns="0" tIns="0" rIns="0" bIns="0" rtlCol="0" anchor="t"/>
          <a:lstStyle/>
          <a:p>
            <a:pPr indent="0" marL="0">
              <a:buNone/>
            </a:pPr>
            <a:r>
              <a:rPr lang="en-US" sz="1000" b="1" dirty="0">
                <a:solidFill>
                  <a:srgbClr val="8A8984"/>
                </a:solidFill>
                <a:latin typeface="Calibri" pitchFamily="34" charset="0"/>
                <a:ea typeface="Calibri" pitchFamily="34" charset="-122"/>
                <a:cs typeface="Calibri" pitchFamily="34" charset="-120"/>
              </a:rPr>
              <a:t>NewBit</a:t>
            </a:r>
            <a:endParaRPr lang="en-US" sz="1000" dirty="0"/>
          </a:p>
        </p:txBody>
      </p:sp>
      <p:sp>
        <p:nvSpPr>
          <p:cNvPr id="5" name="Text 3"/>
          <p:cNvSpPr/>
          <p:nvPr/>
        </p:nvSpPr>
        <p:spPr>
          <a:xfrm>
            <a:off x="1371600" y="6355080"/>
            <a:ext cx="4572000" cy="228600"/>
          </a:xfrm>
          <a:prstGeom prst="rect">
            <a:avLst/>
          </a:prstGeom>
          <a:noFill/>
          <a:ln/>
        </p:spPr>
        <p:txBody>
          <a:bodyPr wrap="square" lIns="0" tIns="0" rIns="0" bIns="0" rtlCol="0" anchor="t"/>
          <a:lstStyle/>
          <a:p>
            <a:pPr indent="0" marL="0">
              <a:buNone/>
            </a:pPr>
            <a:r>
              <a:rPr lang="en-US" sz="1000" dirty="0">
                <a:solidFill>
                  <a:srgbClr val="8A8984"/>
                </a:solidFill>
                <a:latin typeface="Calibri" pitchFamily="34" charset="0"/>
                <a:ea typeface="Calibri" pitchFamily="34" charset="-122"/>
                <a:cs typeface="Calibri" pitchFamily="34" charset="-120"/>
              </a:rPr>
              <a:t>Producto de la Unidad I · Grupo D3</a:t>
            </a:r>
            <a:endParaRPr lang="en-US" sz="1000" dirty="0"/>
          </a:p>
        </p:txBody>
      </p:sp>
      <p:sp>
        <p:nvSpPr>
          <p:cNvPr id="6" name="Text 4"/>
          <p:cNvSpPr/>
          <p:nvPr/>
        </p:nvSpPr>
        <p:spPr>
          <a:xfrm>
            <a:off x="10728655" y="6355080"/>
            <a:ext cx="731520" cy="228600"/>
          </a:xfrm>
          <a:prstGeom prst="rect">
            <a:avLst/>
          </a:prstGeom>
          <a:noFill/>
          <a:ln/>
        </p:spPr>
        <p:txBody>
          <a:bodyPr wrap="square" lIns="0" tIns="0" rIns="0" bIns="0" rtlCol="0" anchor="t"/>
          <a:lstStyle/>
          <a:p>
            <a:pPr algn="r" indent="0" marL="0">
              <a:buNone/>
            </a:pPr>
            <a:r>
              <a:rPr lang="en-US" sz="1000" dirty="0">
                <a:solidFill>
                  <a:srgbClr val="8A8984"/>
                </a:solidFill>
                <a:latin typeface="Calibri" pitchFamily="34" charset="0"/>
                <a:ea typeface="Calibri" pitchFamily="34" charset="-122"/>
                <a:cs typeface="Calibri" pitchFamily="34" charset="-120"/>
              </a:rPr>
              <a:t>09</a:t>
            </a:r>
            <a:endParaRPr lang="en-US" sz="1000" dirty="0"/>
          </a:p>
        </p:txBody>
      </p:sp>
      <p:sp>
        <p:nvSpPr>
          <p:cNvPr id="8" name="Shape 5"/>
          <p:cNvSpPr/>
          <p:nvPr/>
        </p:nvSpPr>
        <p:spPr>
          <a:xfrm>
            <a:off x="731520" y="1828800"/>
            <a:ext cx="5212080" cy="1645920"/>
          </a:xfrm>
          <a:prstGeom prst="roundRect">
            <a:avLst>
              <a:gd name="adj" fmla="val 4444"/>
            </a:avLst>
          </a:prstGeom>
          <a:solidFill>
            <a:srgbClr val="FFFFFF"/>
          </a:solidFill>
          <a:ln w="9525">
            <a:solidFill>
              <a:srgbClr val="E7E5E4"/>
            </a:solidFill>
            <a:prstDash val="solid"/>
          </a:ln>
        </p:spPr>
      </p:sp>
      <p:pic>
        <p:nvPicPr>
          <p:cNvPr id="9" name="Image 0" descr="/Users/anthony/Documents/Projects/NewBit/curso/semana-06-producto-unidad-1/nuestras-entregas/PPT_Producto_Unidad_1_NewBit/img/iconos/reloj-azul.png">    </p:cNvPr>
          <p:cNvPicPr>
            <a:picLocks noChangeAspect="1"/>
          </p:cNvPicPr>
          <p:nvPr/>
        </p:nvPicPr>
        <p:blipFill>
          <a:blip r:embed="rId1"/>
          <a:stretch>
            <a:fillRect/>
          </a:stretch>
        </p:blipFill>
        <p:spPr>
          <a:xfrm>
            <a:off x="1051560" y="2194560"/>
            <a:ext cx="457200" cy="457200"/>
          </a:xfrm>
          <a:prstGeom prst="rect">
            <a:avLst/>
          </a:prstGeom>
        </p:spPr>
      </p:pic>
      <p:sp>
        <p:nvSpPr>
          <p:cNvPr id="10" name="Text 6"/>
          <p:cNvSpPr/>
          <p:nvPr/>
        </p:nvSpPr>
        <p:spPr>
          <a:xfrm>
            <a:off x="1783080" y="2148840"/>
            <a:ext cx="3931920" cy="365760"/>
          </a:xfrm>
          <a:prstGeom prst="rect">
            <a:avLst/>
          </a:prstGeom>
          <a:noFill/>
          <a:ln/>
        </p:spPr>
        <p:txBody>
          <a:bodyPr wrap="square" lIns="0" tIns="0" rIns="0" bIns="0" rtlCol="0" anchor="t"/>
          <a:lstStyle/>
          <a:p>
            <a:pPr indent="0" marL="0">
              <a:buNone/>
            </a:pPr>
            <a:r>
              <a:rPr lang="en-US" sz="1900" b="1" dirty="0">
                <a:solidFill>
                  <a:srgbClr val="1A1A1A"/>
                </a:solidFill>
                <a:latin typeface="Calibri" pitchFamily="34" charset="0"/>
                <a:ea typeface="Calibri" pitchFamily="34" charset="-122"/>
                <a:cs typeface="Calibri" pitchFamily="34" charset="-120"/>
              </a:rPr>
              <a:t>Supervisora de SST</a:t>
            </a:r>
            <a:endParaRPr lang="en-US" sz="1900" dirty="0"/>
          </a:p>
        </p:txBody>
      </p:sp>
      <p:sp>
        <p:nvSpPr>
          <p:cNvPr id="11" name="Text 7"/>
          <p:cNvSpPr/>
          <p:nvPr/>
        </p:nvSpPr>
        <p:spPr>
          <a:xfrm>
            <a:off x="1783080" y="2560320"/>
            <a:ext cx="3931920" cy="777240"/>
          </a:xfrm>
          <a:prstGeom prst="rect">
            <a:avLst/>
          </a:prstGeom>
          <a:noFill/>
          <a:ln/>
        </p:spPr>
        <p:txBody>
          <a:bodyPr wrap="square" lIns="0" tIns="0" rIns="0" bIns="0" rtlCol="0" anchor="t"/>
          <a:lstStyle/>
          <a:p>
            <a:pPr indent="0" marL="0">
              <a:buNone/>
            </a:pPr>
            <a:r>
              <a:rPr lang="en-US" sz="1500" dirty="0">
                <a:solidFill>
                  <a:srgbClr val="57534E"/>
                </a:solidFill>
                <a:latin typeface="Calibri" pitchFamily="34" charset="0"/>
                <a:ea typeface="Calibri" pitchFamily="34" charset="-122"/>
                <a:cs typeface="Calibri" pitchFamily="34" charset="-120"/>
              </a:rPr>
              <a:t>Menos horas mirando video. La evidencia llega lista para actuar.</a:t>
            </a:r>
            <a:endParaRPr lang="en-US" sz="1500" dirty="0"/>
          </a:p>
        </p:txBody>
      </p:sp>
      <p:sp>
        <p:nvSpPr>
          <p:cNvPr id="12" name="Shape 8"/>
          <p:cNvSpPr/>
          <p:nvPr/>
        </p:nvSpPr>
        <p:spPr>
          <a:xfrm>
            <a:off x="6172200" y="1828800"/>
            <a:ext cx="5212080" cy="1645920"/>
          </a:xfrm>
          <a:prstGeom prst="roundRect">
            <a:avLst>
              <a:gd name="adj" fmla="val 4444"/>
            </a:avLst>
          </a:prstGeom>
          <a:solidFill>
            <a:srgbClr val="FFFFFF"/>
          </a:solidFill>
          <a:ln w="9525">
            <a:solidFill>
              <a:srgbClr val="E7E5E4"/>
            </a:solidFill>
            <a:prstDash val="solid"/>
          </a:ln>
        </p:spPr>
      </p:sp>
      <p:pic>
        <p:nvPicPr>
          <p:cNvPr id="13" name="Image 1" descr="/Users/anthony/Documents/Projects/NewBit/curso/semana-06-producto-unidad-1/nuestras-entregas/PPT_Producto_Unidad_1_NewBit/img/iconos/alerta-azul.png">    </p:cNvPr>
          <p:cNvPicPr>
            <a:picLocks noChangeAspect="1"/>
          </p:cNvPicPr>
          <p:nvPr/>
        </p:nvPicPr>
        <p:blipFill>
          <a:blip r:embed="rId2"/>
          <a:stretch>
            <a:fillRect/>
          </a:stretch>
        </p:blipFill>
        <p:spPr>
          <a:xfrm>
            <a:off x="6492240" y="2194560"/>
            <a:ext cx="457200" cy="457200"/>
          </a:xfrm>
          <a:prstGeom prst="rect">
            <a:avLst/>
          </a:prstGeom>
        </p:spPr>
      </p:pic>
      <p:sp>
        <p:nvSpPr>
          <p:cNvPr id="14" name="Text 9"/>
          <p:cNvSpPr/>
          <p:nvPr/>
        </p:nvSpPr>
        <p:spPr>
          <a:xfrm>
            <a:off x="7223760" y="2148840"/>
            <a:ext cx="3931920" cy="365760"/>
          </a:xfrm>
          <a:prstGeom prst="rect">
            <a:avLst/>
          </a:prstGeom>
          <a:noFill/>
          <a:ln/>
        </p:spPr>
        <p:txBody>
          <a:bodyPr wrap="square" lIns="0" tIns="0" rIns="0" bIns="0" rtlCol="0" anchor="t"/>
          <a:lstStyle/>
          <a:p>
            <a:pPr indent="0" marL="0">
              <a:buNone/>
            </a:pPr>
            <a:r>
              <a:rPr lang="en-US" sz="1900" b="1" dirty="0">
                <a:solidFill>
                  <a:srgbClr val="1A1A1A"/>
                </a:solidFill>
                <a:latin typeface="Calibri" pitchFamily="34" charset="0"/>
                <a:ea typeface="Calibri" pitchFamily="34" charset="-122"/>
                <a:cs typeface="Calibri" pitchFamily="34" charset="-120"/>
              </a:rPr>
              <a:t>Operadora de monitoreo</a:t>
            </a:r>
            <a:endParaRPr lang="en-US" sz="1900" dirty="0"/>
          </a:p>
        </p:txBody>
      </p:sp>
      <p:sp>
        <p:nvSpPr>
          <p:cNvPr id="15" name="Text 10"/>
          <p:cNvSpPr/>
          <p:nvPr/>
        </p:nvSpPr>
        <p:spPr>
          <a:xfrm>
            <a:off x="7223760" y="2560320"/>
            <a:ext cx="3931920" cy="777240"/>
          </a:xfrm>
          <a:prstGeom prst="rect">
            <a:avLst/>
          </a:prstGeom>
          <a:noFill/>
          <a:ln/>
        </p:spPr>
        <p:txBody>
          <a:bodyPr wrap="square" lIns="0" tIns="0" rIns="0" bIns="0" rtlCol="0" anchor="t"/>
          <a:lstStyle/>
          <a:p>
            <a:pPr indent="0" marL="0">
              <a:buNone/>
            </a:pPr>
            <a:r>
              <a:rPr lang="en-US" sz="1500" dirty="0">
                <a:solidFill>
                  <a:srgbClr val="57534E"/>
                </a:solidFill>
                <a:latin typeface="Calibri" pitchFamily="34" charset="0"/>
                <a:ea typeface="Calibri" pitchFamily="34" charset="-122"/>
                <a:cs typeface="Calibri" pitchFamily="34" charset="-120"/>
              </a:rPr>
              <a:t>Ve solo lo importante y confirma o descarta en un clic.</a:t>
            </a:r>
            <a:endParaRPr lang="en-US" sz="1500" dirty="0"/>
          </a:p>
        </p:txBody>
      </p:sp>
      <p:sp>
        <p:nvSpPr>
          <p:cNvPr id="16" name="Shape 11"/>
          <p:cNvSpPr/>
          <p:nvPr/>
        </p:nvSpPr>
        <p:spPr>
          <a:xfrm>
            <a:off x="731520" y="3703320"/>
            <a:ext cx="5212080" cy="1645920"/>
          </a:xfrm>
          <a:prstGeom prst="roundRect">
            <a:avLst>
              <a:gd name="adj" fmla="val 4444"/>
            </a:avLst>
          </a:prstGeom>
          <a:solidFill>
            <a:srgbClr val="FFFFFF"/>
          </a:solidFill>
          <a:ln w="9525">
            <a:solidFill>
              <a:srgbClr val="E7E5E4"/>
            </a:solidFill>
            <a:prstDash val="solid"/>
          </a:ln>
        </p:spPr>
      </p:sp>
      <p:pic>
        <p:nvPicPr>
          <p:cNvPr id="17" name="Image 2" descr="/Users/anthony/Documents/Projects/NewBit/curso/semana-06-producto-unidad-1/nuestras-entregas/PPT_Producto_Unidad_1_NewBit/img/iconos/grafico-azul.png">    </p:cNvPr>
          <p:cNvPicPr>
            <a:picLocks noChangeAspect="1"/>
          </p:cNvPicPr>
          <p:nvPr/>
        </p:nvPicPr>
        <p:blipFill>
          <a:blip r:embed="rId3"/>
          <a:stretch>
            <a:fillRect/>
          </a:stretch>
        </p:blipFill>
        <p:spPr>
          <a:xfrm>
            <a:off x="1051560" y="4069080"/>
            <a:ext cx="457200" cy="457200"/>
          </a:xfrm>
          <a:prstGeom prst="rect">
            <a:avLst/>
          </a:prstGeom>
        </p:spPr>
      </p:pic>
      <p:sp>
        <p:nvSpPr>
          <p:cNvPr id="18" name="Text 12"/>
          <p:cNvSpPr/>
          <p:nvPr/>
        </p:nvSpPr>
        <p:spPr>
          <a:xfrm>
            <a:off x="1783080" y="4023360"/>
            <a:ext cx="3931920" cy="365760"/>
          </a:xfrm>
          <a:prstGeom prst="rect">
            <a:avLst/>
          </a:prstGeom>
          <a:noFill/>
          <a:ln/>
        </p:spPr>
        <p:txBody>
          <a:bodyPr wrap="square" lIns="0" tIns="0" rIns="0" bIns="0" rtlCol="0" anchor="t"/>
          <a:lstStyle/>
          <a:p>
            <a:pPr indent="0" marL="0">
              <a:buNone/>
            </a:pPr>
            <a:r>
              <a:rPr lang="en-US" sz="1900" b="1" dirty="0">
                <a:solidFill>
                  <a:srgbClr val="1A1A1A"/>
                </a:solidFill>
                <a:latin typeface="Calibri" pitchFamily="34" charset="0"/>
                <a:ea typeface="Calibri" pitchFamily="34" charset="-122"/>
                <a:cs typeface="Calibri" pitchFamily="34" charset="-120"/>
              </a:rPr>
              <a:t>Gerencia</a:t>
            </a:r>
            <a:endParaRPr lang="en-US" sz="1900" dirty="0"/>
          </a:p>
        </p:txBody>
      </p:sp>
      <p:sp>
        <p:nvSpPr>
          <p:cNvPr id="19" name="Text 13"/>
          <p:cNvSpPr/>
          <p:nvPr/>
        </p:nvSpPr>
        <p:spPr>
          <a:xfrm>
            <a:off x="1783080" y="4434840"/>
            <a:ext cx="3931920" cy="777240"/>
          </a:xfrm>
          <a:prstGeom prst="rect">
            <a:avLst/>
          </a:prstGeom>
          <a:noFill/>
          <a:ln/>
        </p:spPr>
        <p:txBody>
          <a:bodyPr wrap="square" lIns="0" tIns="0" rIns="0" bIns="0" rtlCol="0" anchor="t"/>
          <a:lstStyle/>
          <a:p>
            <a:pPr indent="0" marL="0">
              <a:buNone/>
            </a:pPr>
            <a:r>
              <a:rPr lang="en-US" sz="1500" dirty="0">
                <a:solidFill>
                  <a:srgbClr val="57534E"/>
                </a:solidFill>
                <a:latin typeface="Calibri" pitchFamily="34" charset="0"/>
                <a:ea typeface="Calibri" pitchFamily="34" charset="-122"/>
                <a:cs typeface="Calibri" pitchFamily="34" charset="-120"/>
              </a:rPr>
              <a:t>Reportes por tipo de conducta, zona y semana para decidir dónde invertir.</a:t>
            </a:r>
            <a:endParaRPr lang="en-US" sz="1500" dirty="0"/>
          </a:p>
        </p:txBody>
      </p:sp>
      <p:sp>
        <p:nvSpPr>
          <p:cNvPr id="20" name="Shape 14"/>
          <p:cNvSpPr/>
          <p:nvPr/>
        </p:nvSpPr>
        <p:spPr>
          <a:xfrm>
            <a:off x="6172200" y="3703320"/>
            <a:ext cx="5212080" cy="1645920"/>
          </a:xfrm>
          <a:prstGeom prst="roundRect">
            <a:avLst>
              <a:gd name="adj" fmla="val 4444"/>
            </a:avLst>
          </a:prstGeom>
          <a:solidFill>
            <a:srgbClr val="FFFFFF"/>
          </a:solidFill>
          <a:ln w="9525">
            <a:solidFill>
              <a:srgbClr val="E7E5E4"/>
            </a:solidFill>
            <a:prstDash val="solid"/>
          </a:ln>
        </p:spPr>
      </p:sp>
      <p:pic>
        <p:nvPicPr>
          <p:cNvPr id="21" name="Image 3" descr="/Users/anthony/Documents/Projects/NewBit/curso/semana-06-producto-unidad-1/nuestras-entregas/PPT_Producto_Unidad_1_NewBit/img/iconos/escudo-azul.png">    </p:cNvPr>
          <p:cNvPicPr>
            <a:picLocks noChangeAspect="1"/>
          </p:cNvPicPr>
          <p:nvPr/>
        </p:nvPicPr>
        <p:blipFill>
          <a:blip r:embed="rId4"/>
          <a:stretch>
            <a:fillRect/>
          </a:stretch>
        </p:blipFill>
        <p:spPr>
          <a:xfrm>
            <a:off x="6492240" y="4069080"/>
            <a:ext cx="457200" cy="457200"/>
          </a:xfrm>
          <a:prstGeom prst="rect">
            <a:avLst/>
          </a:prstGeom>
        </p:spPr>
      </p:pic>
      <p:sp>
        <p:nvSpPr>
          <p:cNvPr id="22" name="Text 15"/>
          <p:cNvSpPr/>
          <p:nvPr/>
        </p:nvSpPr>
        <p:spPr>
          <a:xfrm>
            <a:off x="7223760" y="4023360"/>
            <a:ext cx="3931920" cy="365760"/>
          </a:xfrm>
          <a:prstGeom prst="rect">
            <a:avLst/>
          </a:prstGeom>
          <a:noFill/>
          <a:ln/>
        </p:spPr>
        <p:txBody>
          <a:bodyPr wrap="square" lIns="0" tIns="0" rIns="0" bIns="0" rtlCol="0" anchor="t"/>
          <a:lstStyle/>
          <a:p>
            <a:pPr indent="0" marL="0">
              <a:buNone/>
            </a:pPr>
            <a:r>
              <a:rPr lang="en-US" sz="1900" b="1" dirty="0">
                <a:solidFill>
                  <a:srgbClr val="1A1A1A"/>
                </a:solidFill>
                <a:latin typeface="Calibri" pitchFamily="34" charset="0"/>
                <a:ea typeface="Calibri" pitchFamily="34" charset="-122"/>
                <a:cs typeface="Calibri" pitchFamily="34" charset="-120"/>
              </a:rPr>
              <a:t>Trabajadores</a:t>
            </a:r>
            <a:endParaRPr lang="en-US" sz="1900" dirty="0"/>
          </a:p>
        </p:txBody>
      </p:sp>
      <p:sp>
        <p:nvSpPr>
          <p:cNvPr id="23" name="Text 16"/>
          <p:cNvSpPr/>
          <p:nvPr/>
        </p:nvSpPr>
        <p:spPr>
          <a:xfrm>
            <a:off x="7223760" y="4434840"/>
            <a:ext cx="3931920" cy="777240"/>
          </a:xfrm>
          <a:prstGeom prst="rect">
            <a:avLst/>
          </a:prstGeom>
          <a:noFill/>
          <a:ln/>
        </p:spPr>
        <p:txBody>
          <a:bodyPr wrap="square" lIns="0" tIns="0" rIns="0" bIns="0" rtlCol="0" anchor="t"/>
          <a:lstStyle/>
          <a:p>
            <a:pPr indent="0" marL="0">
              <a:buNone/>
            </a:pPr>
            <a:r>
              <a:rPr lang="en-US" sz="1500" dirty="0">
                <a:solidFill>
                  <a:srgbClr val="57534E"/>
                </a:solidFill>
                <a:latin typeface="Calibri" pitchFamily="34" charset="0"/>
                <a:ea typeface="Calibri" pitchFamily="34" charset="-122"/>
                <a:cs typeface="Calibri" pitchFamily="34" charset="-120"/>
              </a:rPr>
              <a:t>Prevención sin vigilancia: nadie es identificado por su rostro.</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AF9"/>
        </a:solidFill>
      </p:bgPr>
    </p:bg>
    <p:spTree>
      <p:nvGrpSpPr>
        <p:cNvPr id="1" name=""/>
        <p:cNvGrpSpPr/>
        <p:nvPr/>
      </p:nvGrpSpPr>
      <p:grpSpPr>
        <a:xfrm>
          <a:off x="0" y="0"/>
          <a:ext cx="0" cy="0"/>
          <a:chOff x="0" y="0"/>
          <a:chExt cx="0" cy="0"/>
        </a:xfrm>
      </p:grpSpPr>
      <p:sp>
        <p:nvSpPr>
          <p:cNvPr id="2" name="Text 0"/>
          <p:cNvSpPr/>
          <p:nvPr/>
        </p:nvSpPr>
        <p:spPr>
          <a:xfrm>
            <a:off x="731520" y="502920"/>
            <a:ext cx="10058400" cy="274320"/>
          </a:xfrm>
          <a:prstGeom prst="rect">
            <a:avLst/>
          </a:prstGeom>
          <a:noFill/>
          <a:ln/>
        </p:spPr>
        <p:txBody>
          <a:bodyPr wrap="square" lIns="0" tIns="0" rIns="0" bIns="0" rtlCol="0" anchor="t"/>
          <a:lstStyle/>
          <a:p>
            <a:pPr indent="0" marL="0">
              <a:buNone/>
            </a:pPr>
            <a:r>
              <a:rPr lang="en-US" sz="1100" b="1" spc="150" kern="0" dirty="0">
                <a:solidFill>
                  <a:srgbClr val="3E63DD"/>
                </a:solidFill>
                <a:latin typeface="Calibri" pitchFamily="34" charset="0"/>
                <a:ea typeface="Calibri" pitchFamily="34" charset="-122"/>
                <a:cs typeface="Calibri" pitchFamily="34" charset="-120"/>
              </a:rPr>
              <a:t>LÍMITES CLAROS</a:t>
            </a:r>
            <a:endParaRPr lang="en-US" sz="1100" dirty="0"/>
          </a:p>
        </p:txBody>
      </p:sp>
      <p:sp>
        <p:nvSpPr>
          <p:cNvPr id="3" name="Text 1"/>
          <p:cNvSpPr/>
          <p:nvPr/>
        </p:nvSpPr>
        <p:spPr>
          <a:xfrm>
            <a:off x="731520" y="777240"/>
            <a:ext cx="10698480" cy="822960"/>
          </a:xfrm>
          <a:prstGeom prst="rect">
            <a:avLst/>
          </a:prstGeom>
          <a:noFill/>
          <a:ln/>
        </p:spPr>
        <p:txBody>
          <a:bodyPr wrap="square" lIns="0" tIns="0" rIns="0" bIns="0" rtlCol="0" anchor="t"/>
          <a:lstStyle/>
          <a:p>
            <a:pPr indent="0" marL="0">
              <a:buNone/>
            </a:pPr>
            <a:r>
              <a:rPr lang="en-US" sz="3400" dirty="0">
                <a:solidFill>
                  <a:srgbClr val="1A1A1A"/>
                </a:solidFill>
                <a:latin typeface="Calibri Light" pitchFamily="34" charset="0"/>
                <a:ea typeface="Calibri Light" pitchFamily="34" charset="-122"/>
                <a:cs typeface="Calibri Light" pitchFamily="34" charset="-120"/>
              </a:rPr>
              <a:t>Lo que NewBit no hace</a:t>
            </a:r>
            <a:endParaRPr lang="en-US" sz="3400" dirty="0"/>
          </a:p>
        </p:txBody>
      </p:sp>
      <p:sp>
        <p:nvSpPr>
          <p:cNvPr id="4" name="Text 2"/>
          <p:cNvSpPr/>
          <p:nvPr/>
        </p:nvSpPr>
        <p:spPr>
          <a:xfrm>
            <a:off x="731520" y="6355080"/>
            <a:ext cx="2743200" cy="228600"/>
          </a:xfrm>
          <a:prstGeom prst="rect">
            <a:avLst/>
          </a:prstGeom>
          <a:noFill/>
          <a:ln/>
        </p:spPr>
        <p:txBody>
          <a:bodyPr wrap="square" lIns="0" tIns="0" rIns="0" bIns="0" rtlCol="0" anchor="t"/>
          <a:lstStyle/>
          <a:p>
            <a:pPr indent="0" marL="0">
              <a:buNone/>
            </a:pPr>
            <a:r>
              <a:rPr lang="en-US" sz="1000" b="1" dirty="0">
                <a:solidFill>
                  <a:srgbClr val="8A8984"/>
                </a:solidFill>
                <a:latin typeface="Calibri" pitchFamily="34" charset="0"/>
                <a:ea typeface="Calibri" pitchFamily="34" charset="-122"/>
                <a:cs typeface="Calibri" pitchFamily="34" charset="-120"/>
              </a:rPr>
              <a:t>NewBit</a:t>
            </a:r>
            <a:endParaRPr lang="en-US" sz="1000" dirty="0"/>
          </a:p>
        </p:txBody>
      </p:sp>
      <p:sp>
        <p:nvSpPr>
          <p:cNvPr id="5" name="Text 3"/>
          <p:cNvSpPr/>
          <p:nvPr/>
        </p:nvSpPr>
        <p:spPr>
          <a:xfrm>
            <a:off x="1371600" y="6355080"/>
            <a:ext cx="4572000" cy="228600"/>
          </a:xfrm>
          <a:prstGeom prst="rect">
            <a:avLst/>
          </a:prstGeom>
          <a:noFill/>
          <a:ln/>
        </p:spPr>
        <p:txBody>
          <a:bodyPr wrap="square" lIns="0" tIns="0" rIns="0" bIns="0" rtlCol="0" anchor="t"/>
          <a:lstStyle/>
          <a:p>
            <a:pPr indent="0" marL="0">
              <a:buNone/>
            </a:pPr>
            <a:r>
              <a:rPr lang="en-US" sz="1000" dirty="0">
                <a:solidFill>
                  <a:srgbClr val="8A8984"/>
                </a:solidFill>
                <a:latin typeface="Calibri" pitchFamily="34" charset="0"/>
                <a:ea typeface="Calibri" pitchFamily="34" charset="-122"/>
                <a:cs typeface="Calibri" pitchFamily="34" charset="-120"/>
              </a:rPr>
              <a:t>Producto de la Unidad I · Grupo D3</a:t>
            </a:r>
            <a:endParaRPr lang="en-US" sz="1000" dirty="0"/>
          </a:p>
        </p:txBody>
      </p:sp>
      <p:sp>
        <p:nvSpPr>
          <p:cNvPr id="6" name="Text 4"/>
          <p:cNvSpPr/>
          <p:nvPr/>
        </p:nvSpPr>
        <p:spPr>
          <a:xfrm>
            <a:off x="10728655" y="6355080"/>
            <a:ext cx="731520" cy="228600"/>
          </a:xfrm>
          <a:prstGeom prst="rect">
            <a:avLst/>
          </a:prstGeom>
          <a:noFill/>
          <a:ln/>
        </p:spPr>
        <p:txBody>
          <a:bodyPr wrap="square" lIns="0" tIns="0" rIns="0" bIns="0" rtlCol="0" anchor="t"/>
          <a:lstStyle/>
          <a:p>
            <a:pPr algn="r" indent="0" marL="0">
              <a:buNone/>
            </a:pPr>
            <a:r>
              <a:rPr lang="en-US" sz="1000" dirty="0">
                <a:solidFill>
                  <a:srgbClr val="8A8984"/>
                </a:solidFill>
                <a:latin typeface="Calibri" pitchFamily="34" charset="0"/>
                <a:ea typeface="Calibri" pitchFamily="34" charset="-122"/>
                <a:cs typeface="Calibri" pitchFamily="34" charset="-120"/>
              </a:rPr>
              <a:t>10</a:t>
            </a:r>
            <a:endParaRPr lang="en-US" sz="1000" dirty="0"/>
          </a:p>
        </p:txBody>
      </p:sp>
      <p:pic>
        <p:nvPicPr>
          <p:cNvPr id="8" name="Image 0" descr="/Users/anthony/Documents/Projects/NewBit/curso/semana-06-producto-unidad-1/nuestras-entregas/PPT_Producto_Unidad_1_NewBit/img/iconos/no-gris.png">    </p:cNvPr>
          <p:cNvPicPr>
            <a:picLocks noChangeAspect="1"/>
          </p:cNvPicPr>
          <p:nvPr/>
        </p:nvPicPr>
        <p:blipFill>
          <a:blip r:embed="rId1"/>
          <a:stretch>
            <a:fillRect/>
          </a:stretch>
        </p:blipFill>
        <p:spPr>
          <a:xfrm>
            <a:off x="731520" y="1856232"/>
            <a:ext cx="384048" cy="384048"/>
          </a:xfrm>
          <a:prstGeom prst="rect">
            <a:avLst/>
          </a:prstGeom>
        </p:spPr>
      </p:pic>
      <p:sp>
        <p:nvSpPr>
          <p:cNvPr id="9" name="Text 5"/>
          <p:cNvSpPr/>
          <p:nvPr/>
        </p:nvSpPr>
        <p:spPr>
          <a:xfrm>
            <a:off x="1371600" y="1783080"/>
            <a:ext cx="3840480" cy="457200"/>
          </a:xfrm>
          <a:prstGeom prst="rect">
            <a:avLst/>
          </a:prstGeom>
          <a:noFill/>
          <a:ln/>
        </p:spPr>
        <p:txBody>
          <a:bodyPr wrap="square" lIns="0" tIns="0" rIns="0" bIns="0" rtlCol="0" anchor="t"/>
          <a:lstStyle/>
          <a:p>
            <a:pPr indent="0" marL="0">
              <a:buNone/>
            </a:pPr>
            <a:r>
              <a:rPr lang="en-US" sz="2000" b="1" dirty="0">
                <a:solidFill>
                  <a:srgbClr val="1A1A1A"/>
                </a:solidFill>
                <a:latin typeface="Calibri" pitchFamily="34" charset="0"/>
                <a:ea typeface="Calibri" pitchFamily="34" charset="-122"/>
                <a:cs typeface="Calibri" pitchFamily="34" charset="-120"/>
              </a:rPr>
              <a:t>No reconoce rostros</a:t>
            </a:r>
            <a:endParaRPr lang="en-US" sz="2000" dirty="0"/>
          </a:p>
        </p:txBody>
      </p:sp>
      <p:sp>
        <p:nvSpPr>
          <p:cNvPr id="10" name="Text 6"/>
          <p:cNvSpPr/>
          <p:nvPr/>
        </p:nvSpPr>
        <p:spPr>
          <a:xfrm>
            <a:off x="5212080" y="1828800"/>
            <a:ext cx="6217920" cy="548640"/>
          </a:xfrm>
          <a:prstGeom prst="rect">
            <a:avLst/>
          </a:prstGeom>
          <a:noFill/>
          <a:ln/>
        </p:spPr>
        <p:txBody>
          <a:bodyPr wrap="square" lIns="0" tIns="0" rIns="0" bIns="0" rtlCol="0" anchor="t"/>
          <a:lstStyle/>
          <a:p>
            <a:pPr indent="0" marL="0">
              <a:buNone/>
            </a:pPr>
            <a:r>
              <a:rPr lang="en-US" sz="1700" dirty="0">
                <a:solidFill>
                  <a:srgbClr val="57534E"/>
                </a:solidFill>
                <a:latin typeface="Calibri" pitchFamily="34" charset="0"/>
                <a:ea typeface="Calibri" pitchFamily="34" charset="-122"/>
                <a:cs typeface="Calibri" pitchFamily="34" charset="-120"/>
              </a:rPr>
              <a:t>ni identifica a las personas. Analiza conductas, no quién las hace.</a:t>
            </a:r>
            <a:endParaRPr lang="en-US" sz="1700" dirty="0"/>
          </a:p>
        </p:txBody>
      </p:sp>
      <p:sp>
        <p:nvSpPr>
          <p:cNvPr id="11" name="Shape 7"/>
          <p:cNvSpPr/>
          <p:nvPr/>
        </p:nvSpPr>
        <p:spPr>
          <a:xfrm>
            <a:off x="731520" y="2587752"/>
            <a:ext cx="10728655" cy="0"/>
          </a:xfrm>
          <a:prstGeom prst="line">
            <a:avLst/>
          </a:prstGeom>
          <a:noFill/>
          <a:ln w="9525">
            <a:solidFill>
              <a:srgbClr val="E7E5E4"/>
            </a:solidFill>
            <a:prstDash val="solid"/>
          </a:ln>
        </p:spPr>
      </p:sp>
      <p:pic>
        <p:nvPicPr>
          <p:cNvPr id="12" name="Image 1" descr="/Users/anthony/Documents/Projects/NewBit/curso/semana-06-producto-unidad-1/nuestras-entregas/PPT_Producto_Unidad_1_NewBit/img/iconos/no-gris.png">    </p:cNvPr>
          <p:cNvPicPr>
            <a:picLocks noChangeAspect="1"/>
          </p:cNvPicPr>
          <p:nvPr/>
        </p:nvPicPr>
        <p:blipFill>
          <a:blip r:embed="rId2"/>
          <a:stretch>
            <a:fillRect/>
          </a:stretch>
        </p:blipFill>
        <p:spPr>
          <a:xfrm>
            <a:off x="731520" y="2880360"/>
            <a:ext cx="384048" cy="384048"/>
          </a:xfrm>
          <a:prstGeom prst="rect">
            <a:avLst/>
          </a:prstGeom>
        </p:spPr>
      </p:pic>
      <p:sp>
        <p:nvSpPr>
          <p:cNvPr id="13" name="Text 8"/>
          <p:cNvSpPr/>
          <p:nvPr/>
        </p:nvSpPr>
        <p:spPr>
          <a:xfrm>
            <a:off x="1371600" y="2807208"/>
            <a:ext cx="3840480" cy="457200"/>
          </a:xfrm>
          <a:prstGeom prst="rect">
            <a:avLst/>
          </a:prstGeom>
          <a:noFill/>
          <a:ln/>
        </p:spPr>
        <p:txBody>
          <a:bodyPr wrap="square" lIns="0" tIns="0" rIns="0" bIns="0" rtlCol="0" anchor="t"/>
          <a:lstStyle/>
          <a:p>
            <a:pPr indent="0" marL="0">
              <a:buNone/>
            </a:pPr>
            <a:r>
              <a:rPr lang="en-US" sz="2000" b="1" dirty="0">
                <a:solidFill>
                  <a:srgbClr val="1A1A1A"/>
                </a:solidFill>
                <a:latin typeface="Calibri" pitchFamily="34" charset="0"/>
                <a:ea typeface="Calibri" pitchFamily="34" charset="-122"/>
                <a:cs typeface="Calibri" pitchFamily="34" charset="-120"/>
              </a:rPr>
              <a:t>No reemplaza al supervisor</a:t>
            </a:r>
            <a:endParaRPr lang="en-US" sz="2000" dirty="0"/>
          </a:p>
        </p:txBody>
      </p:sp>
      <p:sp>
        <p:nvSpPr>
          <p:cNvPr id="14" name="Text 9"/>
          <p:cNvSpPr/>
          <p:nvPr/>
        </p:nvSpPr>
        <p:spPr>
          <a:xfrm>
            <a:off x="5212080" y="2852928"/>
            <a:ext cx="6217920" cy="548640"/>
          </a:xfrm>
          <a:prstGeom prst="rect">
            <a:avLst/>
          </a:prstGeom>
          <a:noFill/>
          <a:ln/>
        </p:spPr>
        <p:txBody>
          <a:bodyPr wrap="square" lIns="0" tIns="0" rIns="0" bIns="0" rtlCol="0" anchor="t"/>
          <a:lstStyle/>
          <a:p>
            <a:pPr indent="0" marL="0">
              <a:buNone/>
            </a:pPr>
            <a:r>
              <a:rPr lang="en-US" sz="1700" dirty="0">
                <a:solidFill>
                  <a:srgbClr val="57534E"/>
                </a:solidFill>
                <a:latin typeface="Calibri" pitchFamily="34" charset="0"/>
                <a:ea typeface="Calibri" pitchFamily="34" charset="-122"/>
                <a:cs typeface="Calibri" pitchFamily="34" charset="-120"/>
              </a:rPr>
              <a:t>Le entrega evidencia; la decisión siempre es humana.</a:t>
            </a:r>
            <a:endParaRPr lang="en-US" sz="1700" dirty="0"/>
          </a:p>
        </p:txBody>
      </p:sp>
      <p:sp>
        <p:nvSpPr>
          <p:cNvPr id="15" name="Shape 10"/>
          <p:cNvSpPr/>
          <p:nvPr/>
        </p:nvSpPr>
        <p:spPr>
          <a:xfrm>
            <a:off x="731520" y="3611880"/>
            <a:ext cx="10728655" cy="0"/>
          </a:xfrm>
          <a:prstGeom prst="line">
            <a:avLst/>
          </a:prstGeom>
          <a:noFill/>
          <a:ln w="9525">
            <a:solidFill>
              <a:srgbClr val="E7E5E4"/>
            </a:solidFill>
            <a:prstDash val="solid"/>
          </a:ln>
        </p:spPr>
      </p:sp>
      <p:pic>
        <p:nvPicPr>
          <p:cNvPr id="16" name="Image 2" descr="/Users/anthony/Documents/Projects/NewBit/curso/semana-06-producto-unidad-1/nuestras-entregas/PPT_Producto_Unidad_1_NewBit/img/iconos/no-gris.png">    </p:cNvPr>
          <p:cNvPicPr>
            <a:picLocks noChangeAspect="1"/>
          </p:cNvPicPr>
          <p:nvPr/>
        </p:nvPicPr>
        <p:blipFill>
          <a:blip r:embed="rId3"/>
          <a:stretch>
            <a:fillRect/>
          </a:stretch>
        </p:blipFill>
        <p:spPr>
          <a:xfrm>
            <a:off x="731520" y="3904488"/>
            <a:ext cx="384048" cy="384048"/>
          </a:xfrm>
          <a:prstGeom prst="rect">
            <a:avLst/>
          </a:prstGeom>
        </p:spPr>
      </p:pic>
      <p:sp>
        <p:nvSpPr>
          <p:cNvPr id="17" name="Text 11"/>
          <p:cNvSpPr/>
          <p:nvPr/>
        </p:nvSpPr>
        <p:spPr>
          <a:xfrm>
            <a:off x="1371600" y="3831336"/>
            <a:ext cx="3840480" cy="457200"/>
          </a:xfrm>
          <a:prstGeom prst="rect">
            <a:avLst/>
          </a:prstGeom>
          <a:noFill/>
          <a:ln/>
        </p:spPr>
        <p:txBody>
          <a:bodyPr wrap="square" lIns="0" tIns="0" rIns="0" bIns="0" rtlCol="0" anchor="t"/>
          <a:lstStyle/>
          <a:p>
            <a:pPr indent="0" marL="0">
              <a:buNone/>
            </a:pPr>
            <a:r>
              <a:rPr lang="en-US" sz="2000" b="1" dirty="0">
                <a:solidFill>
                  <a:srgbClr val="1A1A1A"/>
                </a:solidFill>
                <a:latin typeface="Calibri" pitchFamily="34" charset="0"/>
                <a:ea typeface="Calibri" pitchFamily="34" charset="-122"/>
                <a:cs typeface="Calibri" pitchFamily="34" charset="-120"/>
              </a:rPr>
              <a:t>No promete sin medir</a:t>
            </a:r>
            <a:endParaRPr lang="en-US" sz="2000" dirty="0"/>
          </a:p>
        </p:txBody>
      </p:sp>
      <p:sp>
        <p:nvSpPr>
          <p:cNvPr id="18" name="Text 12"/>
          <p:cNvSpPr/>
          <p:nvPr/>
        </p:nvSpPr>
        <p:spPr>
          <a:xfrm>
            <a:off x="5212080" y="3877056"/>
            <a:ext cx="6217920" cy="548640"/>
          </a:xfrm>
          <a:prstGeom prst="rect">
            <a:avLst/>
          </a:prstGeom>
          <a:noFill/>
          <a:ln/>
        </p:spPr>
        <p:txBody>
          <a:bodyPr wrap="square" lIns="0" tIns="0" rIns="0" bIns="0" rtlCol="0" anchor="t"/>
          <a:lstStyle/>
          <a:p>
            <a:pPr indent="0" marL="0">
              <a:buNone/>
            </a:pPr>
            <a:r>
              <a:rPr lang="en-US" sz="1700" dirty="0">
                <a:solidFill>
                  <a:srgbClr val="57534E"/>
                </a:solidFill>
                <a:latin typeface="Calibri" pitchFamily="34" charset="0"/>
                <a:ea typeface="Calibri" pitchFamily="34" charset="-122"/>
                <a:cs typeface="Calibri" pitchFamily="34" charset="-120"/>
              </a:rPr>
              <a:t>No afirma que reducirá accidentes hasta tener evidencia propia.</a:t>
            </a:r>
            <a:endParaRPr lang="en-US" sz="1700" dirty="0"/>
          </a:p>
        </p:txBody>
      </p:sp>
      <p:sp>
        <p:nvSpPr>
          <p:cNvPr id="19" name="Shape 13"/>
          <p:cNvSpPr/>
          <p:nvPr/>
        </p:nvSpPr>
        <p:spPr>
          <a:xfrm>
            <a:off x="731520" y="4636008"/>
            <a:ext cx="10728655" cy="0"/>
          </a:xfrm>
          <a:prstGeom prst="line">
            <a:avLst/>
          </a:prstGeom>
          <a:noFill/>
          <a:ln w="9525">
            <a:solidFill>
              <a:srgbClr val="E7E5E4"/>
            </a:solidFill>
            <a:prstDash val="solid"/>
          </a:ln>
        </p:spPr>
      </p:sp>
      <p:pic>
        <p:nvPicPr>
          <p:cNvPr id="20" name="Image 3" descr="/Users/anthony/Documents/Projects/NewBit/curso/semana-06-producto-unidad-1/nuestras-entregas/PPT_Producto_Unidad_1_NewBit/img/iconos/no-gris.png">    </p:cNvPr>
          <p:cNvPicPr>
            <a:picLocks noChangeAspect="1"/>
          </p:cNvPicPr>
          <p:nvPr/>
        </p:nvPicPr>
        <p:blipFill>
          <a:blip r:embed="rId4"/>
          <a:stretch>
            <a:fillRect/>
          </a:stretch>
        </p:blipFill>
        <p:spPr>
          <a:xfrm>
            <a:off x="731520" y="4928616"/>
            <a:ext cx="384048" cy="384048"/>
          </a:xfrm>
          <a:prstGeom prst="rect">
            <a:avLst/>
          </a:prstGeom>
        </p:spPr>
      </p:pic>
      <p:sp>
        <p:nvSpPr>
          <p:cNvPr id="21" name="Text 14"/>
          <p:cNvSpPr/>
          <p:nvPr/>
        </p:nvSpPr>
        <p:spPr>
          <a:xfrm>
            <a:off x="1371600" y="4855464"/>
            <a:ext cx="3840480" cy="457200"/>
          </a:xfrm>
          <a:prstGeom prst="rect">
            <a:avLst/>
          </a:prstGeom>
          <a:noFill/>
          <a:ln/>
        </p:spPr>
        <p:txBody>
          <a:bodyPr wrap="square" lIns="0" tIns="0" rIns="0" bIns="0" rtlCol="0" anchor="t"/>
          <a:lstStyle/>
          <a:p>
            <a:pPr indent="0" marL="0">
              <a:buNone/>
            </a:pPr>
            <a:r>
              <a:rPr lang="en-US" sz="2000" b="1" dirty="0">
                <a:solidFill>
                  <a:srgbClr val="1A1A1A"/>
                </a:solidFill>
                <a:latin typeface="Calibri" pitchFamily="34" charset="0"/>
                <a:ea typeface="Calibri" pitchFamily="34" charset="-122"/>
                <a:cs typeface="Calibri" pitchFamily="34" charset="-120"/>
              </a:rPr>
              <a:t>No instala hardware</a:t>
            </a:r>
            <a:endParaRPr lang="en-US" sz="2000" dirty="0"/>
          </a:p>
        </p:txBody>
      </p:sp>
      <p:sp>
        <p:nvSpPr>
          <p:cNvPr id="22" name="Text 15"/>
          <p:cNvSpPr/>
          <p:nvPr/>
        </p:nvSpPr>
        <p:spPr>
          <a:xfrm>
            <a:off x="5212080" y="4901184"/>
            <a:ext cx="6217920" cy="548640"/>
          </a:xfrm>
          <a:prstGeom prst="rect">
            <a:avLst/>
          </a:prstGeom>
          <a:noFill/>
          <a:ln/>
        </p:spPr>
        <p:txBody>
          <a:bodyPr wrap="square" lIns="0" tIns="0" rIns="0" bIns="0" rtlCol="0" anchor="t"/>
          <a:lstStyle/>
          <a:p>
            <a:pPr indent="0" marL="0">
              <a:buNone/>
            </a:pPr>
            <a:r>
              <a:rPr lang="en-US" sz="1700" dirty="0">
                <a:solidFill>
                  <a:srgbClr val="57534E"/>
                </a:solidFill>
                <a:latin typeface="Calibri" pitchFamily="34" charset="0"/>
                <a:ea typeface="Calibri" pitchFamily="34" charset="-122"/>
                <a:cs typeface="Calibri" pitchFamily="34" charset="-120"/>
              </a:rPr>
              <a:t>Procesa el video que ya existe; no requiere cámaras ni sensores nuevos.</a:t>
            </a:r>
            <a:endParaRPr lang="en-US"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731520" y="502920"/>
            <a:ext cx="10058400" cy="274320"/>
          </a:xfrm>
          <a:prstGeom prst="rect">
            <a:avLst/>
          </a:prstGeom>
          <a:noFill/>
          <a:ln/>
        </p:spPr>
        <p:txBody>
          <a:bodyPr wrap="square" lIns="0" tIns="0" rIns="0" bIns="0" rtlCol="0" anchor="t"/>
          <a:lstStyle/>
          <a:p>
            <a:pPr indent="0" marL="0">
              <a:buNone/>
            </a:pPr>
            <a:r>
              <a:rPr lang="en-US" sz="1100" b="1" spc="150" kern="0" dirty="0">
                <a:solidFill>
                  <a:srgbClr val="A8A29E"/>
                </a:solidFill>
                <a:latin typeface="Calibri" pitchFamily="34" charset="0"/>
                <a:ea typeface="Calibri" pitchFamily="34" charset="-122"/>
                <a:cs typeface="Calibri" pitchFamily="34" charset="-120"/>
              </a:rPr>
              <a:t>PARTE 2</a:t>
            </a:r>
            <a:endParaRPr lang="en-US" sz="1100" dirty="0"/>
          </a:p>
        </p:txBody>
      </p:sp>
      <p:sp>
        <p:nvSpPr>
          <p:cNvPr id="3" name="Text 1"/>
          <p:cNvSpPr/>
          <p:nvPr/>
        </p:nvSpPr>
        <p:spPr>
          <a:xfrm>
            <a:off x="731520" y="6355080"/>
            <a:ext cx="2743200" cy="228600"/>
          </a:xfrm>
          <a:prstGeom prst="rect">
            <a:avLst/>
          </a:prstGeom>
          <a:noFill/>
          <a:ln/>
        </p:spPr>
        <p:txBody>
          <a:bodyPr wrap="square" lIns="0" tIns="0" rIns="0" bIns="0" rtlCol="0" anchor="t"/>
          <a:lstStyle/>
          <a:p>
            <a:pPr indent="0" marL="0">
              <a:buNone/>
            </a:pPr>
            <a:r>
              <a:rPr lang="en-US" sz="1000" b="1" dirty="0">
                <a:solidFill>
                  <a:srgbClr val="A8A29E"/>
                </a:solidFill>
                <a:latin typeface="Calibri" pitchFamily="34" charset="0"/>
                <a:ea typeface="Calibri" pitchFamily="34" charset="-122"/>
                <a:cs typeface="Calibri" pitchFamily="34" charset="-120"/>
              </a:rPr>
              <a:t>NewBit</a:t>
            </a:r>
            <a:endParaRPr lang="en-US" sz="1000" dirty="0"/>
          </a:p>
        </p:txBody>
      </p:sp>
      <p:sp>
        <p:nvSpPr>
          <p:cNvPr id="4" name="Text 2"/>
          <p:cNvSpPr/>
          <p:nvPr/>
        </p:nvSpPr>
        <p:spPr>
          <a:xfrm>
            <a:off x="1371600" y="6355080"/>
            <a:ext cx="4572000" cy="228600"/>
          </a:xfrm>
          <a:prstGeom prst="rect">
            <a:avLst/>
          </a:prstGeom>
          <a:noFill/>
          <a:ln/>
        </p:spPr>
        <p:txBody>
          <a:bodyPr wrap="square" lIns="0" tIns="0" rIns="0" bIns="0" rtlCol="0" anchor="t"/>
          <a:lstStyle/>
          <a:p>
            <a:pPr indent="0" marL="0">
              <a:buNone/>
            </a:pPr>
            <a:r>
              <a:rPr lang="en-US" sz="1000" dirty="0">
                <a:solidFill>
                  <a:srgbClr val="A8A29E"/>
                </a:solidFill>
                <a:latin typeface="Calibri" pitchFamily="34" charset="0"/>
                <a:ea typeface="Calibri" pitchFamily="34" charset="-122"/>
                <a:cs typeface="Calibri" pitchFamily="34" charset="-120"/>
              </a:rPr>
              <a:t>Producto de la Unidad I · Grupo D3</a:t>
            </a:r>
            <a:endParaRPr lang="en-US" sz="1000" dirty="0"/>
          </a:p>
        </p:txBody>
      </p:sp>
      <p:sp>
        <p:nvSpPr>
          <p:cNvPr id="5" name="Text 3"/>
          <p:cNvSpPr/>
          <p:nvPr/>
        </p:nvSpPr>
        <p:spPr>
          <a:xfrm>
            <a:off x="10728655" y="6355080"/>
            <a:ext cx="731520" cy="228600"/>
          </a:xfrm>
          <a:prstGeom prst="rect">
            <a:avLst/>
          </a:prstGeom>
          <a:noFill/>
          <a:ln/>
        </p:spPr>
        <p:txBody>
          <a:bodyPr wrap="square" lIns="0" tIns="0" rIns="0" bIns="0" rtlCol="0" anchor="t"/>
          <a:lstStyle/>
          <a:p>
            <a:pPr algn="r" indent="0" marL="0">
              <a:buNone/>
            </a:pPr>
            <a:r>
              <a:rPr lang="en-US" sz="1000" dirty="0">
                <a:solidFill>
                  <a:srgbClr val="A8A29E"/>
                </a:solidFill>
                <a:latin typeface="Calibri" pitchFamily="34" charset="0"/>
                <a:ea typeface="Calibri" pitchFamily="34" charset="-122"/>
                <a:cs typeface="Calibri" pitchFamily="34" charset="-120"/>
              </a:rPr>
              <a:t>11</a:t>
            </a:r>
            <a:endParaRPr lang="en-US" sz="1000" dirty="0"/>
          </a:p>
        </p:txBody>
      </p:sp>
      <p:sp>
        <p:nvSpPr>
          <p:cNvPr id="7" name="Text 4"/>
          <p:cNvSpPr/>
          <p:nvPr/>
        </p:nvSpPr>
        <p:spPr>
          <a:xfrm>
            <a:off x="731520" y="1828800"/>
            <a:ext cx="10515600" cy="914400"/>
          </a:xfrm>
          <a:prstGeom prst="rect">
            <a:avLst/>
          </a:prstGeom>
          <a:noFill/>
          <a:ln/>
        </p:spPr>
        <p:txBody>
          <a:bodyPr wrap="square" lIns="0" tIns="0" rIns="0" bIns="0" rtlCol="0" anchor="t"/>
          <a:lstStyle/>
          <a:p>
            <a:pPr indent="0" marL="0">
              <a:buNone/>
            </a:pPr>
            <a:r>
              <a:rPr lang="en-US" sz="5400" dirty="0">
                <a:solidFill>
                  <a:srgbClr val="F5F5F4"/>
                </a:solidFill>
                <a:latin typeface="Calibri Light" pitchFamily="34" charset="0"/>
                <a:ea typeface="Calibri Light" pitchFamily="34" charset="-122"/>
                <a:cs typeface="Calibri Light" pitchFamily="34" charset="-120"/>
              </a:rPr>
              <a:t>Cómo lo construimos:</a:t>
            </a:r>
            <a:endParaRPr lang="en-US" sz="5400" dirty="0"/>
          </a:p>
        </p:txBody>
      </p:sp>
      <p:sp>
        <p:nvSpPr>
          <p:cNvPr id="8" name="Text 5"/>
          <p:cNvSpPr/>
          <p:nvPr/>
        </p:nvSpPr>
        <p:spPr>
          <a:xfrm>
            <a:off x="731520" y="2743200"/>
            <a:ext cx="10515600" cy="914400"/>
          </a:xfrm>
          <a:prstGeom prst="rect">
            <a:avLst/>
          </a:prstGeom>
          <a:noFill/>
          <a:ln/>
        </p:spPr>
        <p:txBody>
          <a:bodyPr wrap="square" lIns="0" tIns="0" rIns="0" bIns="0" rtlCol="0" anchor="t"/>
          <a:lstStyle/>
          <a:p>
            <a:pPr indent="0" marL="0">
              <a:buNone/>
            </a:pPr>
            <a:r>
              <a:rPr lang="en-US" sz="5400" dirty="0">
                <a:solidFill>
                  <a:srgbClr val="A8A29E"/>
                </a:solidFill>
                <a:latin typeface="Calibri Light" pitchFamily="34" charset="0"/>
                <a:ea typeface="Calibri Light" pitchFamily="34" charset="-122"/>
                <a:cs typeface="Calibri Light" pitchFamily="34" charset="-120"/>
              </a:rPr>
              <a:t>Scrum, según la Guía SBOK</a:t>
            </a:r>
            <a:endParaRPr lang="en-US" sz="5400" dirty="0"/>
          </a:p>
        </p:txBody>
      </p:sp>
      <p:sp>
        <p:nvSpPr>
          <p:cNvPr id="9" name="Text 6"/>
          <p:cNvSpPr/>
          <p:nvPr/>
        </p:nvSpPr>
        <p:spPr>
          <a:xfrm>
            <a:off x="731520" y="4206240"/>
            <a:ext cx="8229600" cy="365760"/>
          </a:xfrm>
          <a:prstGeom prst="rect">
            <a:avLst/>
          </a:prstGeom>
          <a:noFill/>
          <a:ln/>
        </p:spPr>
        <p:txBody>
          <a:bodyPr wrap="square" lIns="0" tIns="0" rIns="0" bIns="0" rtlCol="0" anchor="t"/>
          <a:lstStyle/>
          <a:p>
            <a:pPr indent="0" marL="0">
              <a:buNone/>
            </a:pPr>
            <a:r>
              <a:rPr lang="en-US" sz="1600" dirty="0">
                <a:solidFill>
                  <a:srgbClr val="A8A29E"/>
                </a:solidFill>
                <a:latin typeface="Calibri" pitchFamily="34" charset="0"/>
                <a:ea typeface="Calibri" pitchFamily="34" charset="-122"/>
                <a:cs typeface="Calibri" pitchFamily="34" charset="-120"/>
              </a:rPr>
              <a:t>SCRUMstudy (2022). Guía de los fundamentos de Scrum, 4.ª ed.</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AF9"/>
        </a:solidFill>
      </p:bgPr>
    </p:bg>
    <p:spTree>
      <p:nvGrpSpPr>
        <p:cNvPr id="1" name=""/>
        <p:cNvGrpSpPr/>
        <p:nvPr/>
      </p:nvGrpSpPr>
      <p:grpSpPr>
        <a:xfrm>
          <a:off x="0" y="0"/>
          <a:ext cx="0" cy="0"/>
          <a:chOff x="0" y="0"/>
          <a:chExt cx="0" cy="0"/>
        </a:xfrm>
      </p:grpSpPr>
      <p:sp>
        <p:nvSpPr>
          <p:cNvPr id="2" name="Text 0"/>
          <p:cNvSpPr/>
          <p:nvPr/>
        </p:nvSpPr>
        <p:spPr>
          <a:xfrm>
            <a:off x="731520" y="502920"/>
            <a:ext cx="10058400" cy="274320"/>
          </a:xfrm>
          <a:prstGeom prst="rect">
            <a:avLst/>
          </a:prstGeom>
          <a:noFill/>
          <a:ln/>
        </p:spPr>
        <p:txBody>
          <a:bodyPr wrap="square" lIns="0" tIns="0" rIns="0" bIns="0" rtlCol="0" anchor="t"/>
          <a:lstStyle/>
          <a:p>
            <a:pPr indent="0" marL="0">
              <a:buNone/>
            </a:pPr>
            <a:r>
              <a:rPr lang="en-US" sz="1100" b="1" spc="150" kern="0" dirty="0">
                <a:solidFill>
                  <a:srgbClr val="3E63DD"/>
                </a:solidFill>
                <a:latin typeface="Calibri" pitchFamily="34" charset="0"/>
                <a:ea typeface="Calibri" pitchFamily="34" charset="-122"/>
                <a:cs typeface="Calibri" pitchFamily="34" charset="-120"/>
              </a:rPr>
              <a:t>SCRUM EN UNA LÁMINA</a:t>
            </a:r>
            <a:endParaRPr lang="en-US" sz="1100" dirty="0"/>
          </a:p>
        </p:txBody>
      </p:sp>
      <p:sp>
        <p:nvSpPr>
          <p:cNvPr id="3" name="Text 1"/>
          <p:cNvSpPr/>
          <p:nvPr/>
        </p:nvSpPr>
        <p:spPr>
          <a:xfrm>
            <a:off x="731520" y="777240"/>
            <a:ext cx="10698480" cy="822960"/>
          </a:xfrm>
          <a:prstGeom prst="rect">
            <a:avLst/>
          </a:prstGeom>
          <a:noFill/>
          <a:ln/>
        </p:spPr>
        <p:txBody>
          <a:bodyPr wrap="square" lIns="0" tIns="0" rIns="0" bIns="0" rtlCol="0" anchor="t"/>
          <a:lstStyle/>
          <a:p>
            <a:pPr indent="0" marL="0">
              <a:buNone/>
            </a:pPr>
            <a:r>
              <a:rPr lang="en-US" sz="3400" dirty="0">
                <a:solidFill>
                  <a:srgbClr val="1A1A1A"/>
                </a:solidFill>
                <a:latin typeface="Calibri Light" pitchFamily="34" charset="0"/>
                <a:ea typeface="Calibri Light" pitchFamily="34" charset="-122"/>
                <a:cs typeface="Calibri Light" pitchFamily="34" charset="-120"/>
              </a:rPr>
              <a:t>Tres roles, un ciclo que se repite</a:t>
            </a:r>
            <a:endParaRPr lang="en-US" sz="3400" dirty="0"/>
          </a:p>
        </p:txBody>
      </p:sp>
      <p:sp>
        <p:nvSpPr>
          <p:cNvPr id="4" name="Text 2"/>
          <p:cNvSpPr/>
          <p:nvPr/>
        </p:nvSpPr>
        <p:spPr>
          <a:xfrm>
            <a:off x="731520" y="6355080"/>
            <a:ext cx="2743200" cy="228600"/>
          </a:xfrm>
          <a:prstGeom prst="rect">
            <a:avLst/>
          </a:prstGeom>
          <a:noFill/>
          <a:ln/>
        </p:spPr>
        <p:txBody>
          <a:bodyPr wrap="square" lIns="0" tIns="0" rIns="0" bIns="0" rtlCol="0" anchor="t"/>
          <a:lstStyle/>
          <a:p>
            <a:pPr indent="0" marL="0">
              <a:buNone/>
            </a:pPr>
            <a:r>
              <a:rPr lang="en-US" sz="1000" b="1" dirty="0">
                <a:solidFill>
                  <a:srgbClr val="8A8984"/>
                </a:solidFill>
                <a:latin typeface="Calibri" pitchFamily="34" charset="0"/>
                <a:ea typeface="Calibri" pitchFamily="34" charset="-122"/>
                <a:cs typeface="Calibri" pitchFamily="34" charset="-120"/>
              </a:rPr>
              <a:t>NewBit</a:t>
            </a:r>
            <a:endParaRPr lang="en-US" sz="1000" dirty="0"/>
          </a:p>
        </p:txBody>
      </p:sp>
      <p:sp>
        <p:nvSpPr>
          <p:cNvPr id="5" name="Text 3"/>
          <p:cNvSpPr/>
          <p:nvPr/>
        </p:nvSpPr>
        <p:spPr>
          <a:xfrm>
            <a:off x="1371600" y="6355080"/>
            <a:ext cx="4572000" cy="228600"/>
          </a:xfrm>
          <a:prstGeom prst="rect">
            <a:avLst/>
          </a:prstGeom>
          <a:noFill/>
          <a:ln/>
        </p:spPr>
        <p:txBody>
          <a:bodyPr wrap="square" lIns="0" tIns="0" rIns="0" bIns="0" rtlCol="0" anchor="t"/>
          <a:lstStyle/>
          <a:p>
            <a:pPr indent="0" marL="0">
              <a:buNone/>
            </a:pPr>
            <a:r>
              <a:rPr lang="en-US" sz="1000" dirty="0">
                <a:solidFill>
                  <a:srgbClr val="8A8984"/>
                </a:solidFill>
                <a:latin typeface="Calibri" pitchFamily="34" charset="0"/>
                <a:ea typeface="Calibri" pitchFamily="34" charset="-122"/>
                <a:cs typeface="Calibri" pitchFamily="34" charset="-120"/>
              </a:rPr>
              <a:t>Producto de la Unidad I · Grupo D3</a:t>
            </a:r>
            <a:endParaRPr lang="en-US" sz="1000" dirty="0"/>
          </a:p>
        </p:txBody>
      </p:sp>
      <p:sp>
        <p:nvSpPr>
          <p:cNvPr id="6" name="Text 4"/>
          <p:cNvSpPr/>
          <p:nvPr/>
        </p:nvSpPr>
        <p:spPr>
          <a:xfrm>
            <a:off x="10728655" y="6355080"/>
            <a:ext cx="731520" cy="228600"/>
          </a:xfrm>
          <a:prstGeom prst="rect">
            <a:avLst/>
          </a:prstGeom>
          <a:noFill/>
          <a:ln/>
        </p:spPr>
        <p:txBody>
          <a:bodyPr wrap="square" lIns="0" tIns="0" rIns="0" bIns="0" rtlCol="0" anchor="t"/>
          <a:lstStyle/>
          <a:p>
            <a:pPr algn="r" indent="0" marL="0">
              <a:buNone/>
            </a:pPr>
            <a:r>
              <a:rPr lang="en-US" sz="1000" dirty="0">
                <a:solidFill>
                  <a:srgbClr val="8A8984"/>
                </a:solidFill>
                <a:latin typeface="Calibri" pitchFamily="34" charset="0"/>
                <a:ea typeface="Calibri" pitchFamily="34" charset="-122"/>
                <a:cs typeface="Calibri" pitchFamily="34" charset="-120"/>
              </a:rPr>
              <a:t>12</a:t>
            </a:r>
            <a:endParaRPr lang="en-US" sz="1000" dirty="0"/>
          </a:p>
        </p:txBody>
      </p:sp>
      <p:sp>
        <p:nvSpPr>
          <p:cNvPr id="8" name="Shape 5"/>
          <p:cNvSpPr/>
          <p:nvPr/>
        </p:nvSpPr>
        <p:spPr>
          <a:xfrm>
            <a:off x="731520" y="1828800"/>
            <a:ext cx="4754880" cy="1097280"/>
          </a:xfrm>
          <a:prstGeom prst="roundRect">
            <a:avLst>
              <a:gd name="adj" fmla="val 6667"/>
            </a:avLst>
          </a:prstGeom>
          <a:solidFill>
            <a:srgbClr val="FFFFFF"/>
          </a:solidFill>
          <a:ln w="9525">
            <a:solidFill>
              <a:srgbClr val="E7E5E4"/>
            </a:solidFill>
            <a:prstDash val="solid"/>
          </a:ln>
        </p:spPr>
      </p:sp>
      <p:sp>
        <p:nvSpPr>
          <p:cNvPr id="9" name="Text 6"/>
          <p:cNvSpPr/>
          <p:nvPr/>
        </p:nvSpPr>
        <p:spPr>
          <a:xfrm>
            <a:off x="1005840" y="2011680"/>
            <a:ext cx="4297680" cy="365760"/>
          </a:xfrm>
          <a:prstGeom prst="rect">
            <a:avLst/>
          </a:prstGeom>
          <a:noFill/>
          <a:ln/>
        </p:spPr>
        <p:txBody>
          <a:bodyPr wrap="square" lIns="0" tIns="0" rIns="0" bIns="0" rtlCol="0" anchor="t"/>
          <a:lstStyle/>
          <a:p>
            <a:pPr indent="0" marL="0">
              <a:buNone/>
            </a:pPr>
            <a:r>
              <a:rPr lang="en-US" sz="1800" b="1" dirty="0">
                <a:solidFill>
                  <a:srgbClr val="1A1A1A"/>
                </a:solidFill>
                <a:latin typeface="Calibri" pitchFamily="34" charset="0"/>
                <a:ea typeface="Calibri" pitchFamily="34" charset="-122"/>
                <a:cs typeface="Calibri" pitchFamily="34" charset="-120"/>
              </a:rPr>
              <a:t>Product Owner</a:t>
            </a:r>
            <a:pPr indent="0" marL="0">
              <a:buNone/>
            </a:pPr>
            <a:r>
              <a:rPr lang="en-US" sz="1800" dirty="0">
                <a:solidFill>
                  <a:srgbClr val="8A8984"/>
                </a:solidFill>
                <a:latin typeface="Calibri" pitchFamily="34" charset="0"/>
                <a:ea typeface="Calibri" pitchFamily="34" charset="-122"/>
                <a:cs typeface="Calibri" pitchFamily="34" charset="-120"/>
              </a:rPr>
              <a:t>  ·  Albert</a:t>
            </a:r>
            <a:endParaRPr lang="en-US" sz="1800" dirty="0"/>
          </a:p>
        </p:txBody>
      </p:sp>
      <p:sp>
        <p:nvSpPr>
          <p:cNvPr id="10" name="Text 7"/>
          <p:cNvSpPr/>
          <p:nvPr/>
        </p:nvSpPr>
        <p:spPr>
          <a:xfrm>
            <a:off x="1005840" y="2395728"/>
            <a:ext cx="4297680" cy="411480"/>
          </a:xfrm>
          <a:prstGeom prst="rect">
            <a:avLst/>
          </a:prstGeom>
          <a:noFill/>
          <a:ln/>
        </p:spPr>
        <p:txBody>
          <a:bodyPr wrap="square" lIns="0" tIns="0" rIns="0" bIns="0" rtlCol="0" anchor="t"/>
          <a:lstStyle/>
          <a:p>
            <a:pPr indent="0" marL="0">
              <a:buNone/>
            </a:pPr>
            <a:r>
              <a:rPr lang="en-US" sz="1500" dirty="0">
                <a:solidFill>
                  <a:srgbClr val="57534E"/>
                </a:solidFill>
                <a:latin typeface="Calibri" pitchFamily="34" charset="0"/>
                <a:ea typeface="Calibri" pitchFamily="34" charset="-122"/>
                <a:cs typeface="Calibri" pitchFamily="34" charset="-120"/>
              </a:rPr>
              <a:t>Decide qué se construye primero y acepta el trabajo.</a:t>
            </a:r>
            <a:endParaRPr lang="en-US" sz="1500" dirty="0"/>
          </a:p>
        </p:txBody>
      </p:sp>
      <p:sp>
        <p:nvSpPr>
          <p:cNvPr id="11" name="Shape 8"/>
          <p:cNvSpPr/>
          <p:nvPr/>
        </p:nvSpPr>
        <p:spPr>
          <a:xfrm>
            <a:off x="731520" y="3108960"/>
            <a:ext cx="4754880" cy="1097280"/>
          </a:xfrm>
          <a:prstGeom prst="roundRect">
            <a:avLst>
              <a:gd name="adj" fmla="val 6667"/>
            </a:avLst>
          </a:prstGeom>
          <a:solidFill>
            <a:srgbClr val="FFFFFF"/>
          </a:solidFill>
          <a:ln w="9525">
            <a:solidFill>
              <a:srgbClr val="E7E5E4"/>
            </a:solidFill>
            <a:prstDash val="solid"/>
          </a:ln>
        </p:spPr>
      </p:sp>
      <p:sp>
        <p:nvSpPr>
          <p:cNvPr id="12" name="Text 9"/>
          <p:cNvSpPr/>
          <p:nvPr/>
        </p:nvSpPr>
        <p:spPr>
          <a:xfrm>
            <a:off x="1005840" y="3291840"/>
            <a:ext cx="4297680" cy="365760"/>
          </a:xfrm>
          <a:prstGeom prst="rect">
            <a:avLst/>
          </a:prstGeom>
          <a:noFill/>
          <a:ln/>
        </p:spPr>
        <p:txBody>
          <a:bodyPr wrap="square" lIns="0" tIns="0" rIns="0" bIns="0" rtlCol="0" anchor="t"/>
          <a:lstStyle/>
          <a:p>
            <a:pPr indent="0" marL="0">
              <a:buNone/>
            </a:pPr>
            <a:r>
              <a:rPr lang="en-US" sz="1800" b="1" dirty="0">
                <a:solidFill>
                  <a:srgbClr val="1A1A1A"/>
                </a:solidFill>
                <a:latin typeface="Calibri" pitchFamily="34" charset="0"/>
                <a:ea typeface="Calibri" pitchFamily="34" charset="-122"/>
                <a:cs typeface="Calibri" pitchFamily="34" charset="-120"/>
              </a:rPr>
              <a:t>Scrum Master</a:t>
            </a:r>
            <a:pPr indent="0" marL="0">
              <a:buNone/>
            </a:pPr>
            <a:r>
              <a:rPr lang="en-US" sz="1800" dirty="0">
                <a:solidFill>
                  <a:srgbClr val="8A8984"/>
                </a:solidFill>
                <a:latin typeface="Calibri" pitchFamily="34" charset="0"/>
                <a:ea typeface="Calibri" pitchFamily="34" charset="-122"/>
                <a:cs typeface="Calibri" pitchFamily="34" charset="-120"/>
              </a:rPr>
              <a:t>  ·  Anthony</a:t>
            </a:r>
            <a:endParaRPr lang="en-US" sz="1800" dirty="0"/>
          </a:p>
        </p:txBody>
      </p:sp>
      <p:sp>
        <p:nvSpPr>
          <p:cNvPr id="13" name="Text 10"/>
          <p:cNvSpPr/>
          <p:nvPr/>
        </p:nvSpPr>
        <p:spPr>
          <a:xfrm>
            <a:off x="1005840" y="3675888"/>
            <a:ext cx="4297680" cy="411480"/>
          </a:xfrm>
          <a:prstGeom prst="rect">
            <a:avLst/>
          </a:prstGeom>
          <a:noFill/>
          <a:ln/>
        </p:spPr>
        <p:txBody>
          <a:bodyPr wrap="square" lIns="0" tIns="0" rIns="0" bIns="0" rtlCol="0" anchor="t"/>
          <a:lstStyle/>
          <a:p>
            <a:pPr indent="0" marL="0">
              <a:buNone/>
            </a:pPr>
            <a:r>
              <a:rPr lang="en-US" sz="1500" dirty="0">
                <a:solidFill>
                  <a:srgbClr val="57534E"/>
                </a:solidFill>
                <a:latin typeface="Calibri" pitchFamily="34" charset="0"/>
                <a:ea typeface="Calibri" pitchFamily="34" charset="-122"/>
                <a:cs typeface="Calibri" pitchFamily="34" charset="-120"/>
              </a:rPr>
              <a:t>Cuida el proceso y quita los obstáculos.</a:t>
            </a:r>
            <a:endParaRPr lang="en-US" sz="1500" dirty="0"/>
          </a:p>
        </p:txBody>
      </p:sp>
      <p:sp>
        <p:nvSpPr>
          <p:cNvPr id="14" name="Shape 11"/>
          <p:cNvSpPr/>
          <p:nvPr/>
        </p:nvSpPr>
        <p:spPr>
          <a:xfrm>
            <a:off x="731520" y="4389120"/>
            <a:ext cx="4754880" cy="1097280"/>
          </a:xfrm>
          <a:prstGeom prst="roundRect">
            <a:avLst>
              <a:gd name="adj" fmla="val 6667"/>
            </a:avLst>
          </a:prstGeom>
          <a:solidFill>
            <a:srgbClr val="FFFFFF"/>
          </a:solidFill>
          <a:ln w="9525">
            <a:solidFill>
              <a:srgbClr val="E7E5E4"/>
            </a:solidFill>
            <a:prstDash val="solid"/>
          </a:ln>
        </p:spPr>
      </p:sp>
      <p:sp>
        <p:nvSpPr>
          <p:cNvPr id="15" name="Text 12"/>
          <p:cNvSpPr/>
          <p:nvPr/>
        </p:nvSpPr>
        <p:spPr>
          <a:xfrm>
            <a:off x="1005840" y="4572000"/>
            <a:ext cx="4297680" cy="365760"/>
          </a:xfrm>
          <a:prstGeom prst="rect">
            <a:avLst/>
          </a:prstGeom>
          <a:noFill/>
          <a:ln/>
        </p:spPr>
        <p:txBody>
          <a:bodyPr wrap="square" lIns="0" tIns="0" rIns="0" bIns="0" rtlCol="0" anchor="t"/>
          <a:lstStyle/>
          <a:p>
            <a:pPr indent="0" marL="0">
              <a:buNone/>
            </a:pPr>
            <a:r>
              <a:rPr lang="en-US" sz="1800" b="1" dirty="0">
                <a:solidFill>
                  <a:srgbClr val="1A1A1A"/>
                </a:solidFill>
                <a:latin typeface="Calibri" pitchFamily="34" charset="0"/>
                <a:ea typeface="Calibri" pitchFamily="34" charset="-122"/>
                <a:cs typeface="Calibri" pitchFamily="34" charset="-120"/>
              </a:rPr>
              <a:t>Equipo Scrum</a:t>
            </a:r>
            <a:pPr indent="0" marL="0">
              <a:buNone/>
            </a:pPr>
            <a:r>
              <a:rPr lang="en-US" sz="1800" dirty="0">
                <a:solidFill>
                  <a:srgbClr val="8A8984"/>
                </a:solidFill>
                <a:latin typeface="Calibri" pitchFamily="34" charset="0"/>
                <a:ea typeface="Calibri" pitchFamily="34" charset="-122"/>
                <a:cs typeface="Calibri" pitchFamily="34" charset="-120"/>
              </a:rPr>
              <a:t>  ·  Anthony y Luis</a:t>
            </a:r>
            <a:endParaRPr lang="en-US" sz="1800" dirty="0"/>
          </a:p>
        </p:txBody>
      </p:sp>
      <p:sp>
        <p:nvSpPr>
          <p:cNvPr id="16" name="Text 13"/>
          <p:cNvSpPr/>
          <p:nvPr/>
        </p:nvSpPr>
        <p:spPr>
          <a:xfrm>
            <a:off x="1005840" y="4956048"/>
            <a:ext cx="4297680" cy="411480"/>
          </a:xfrm>
          <a:prstGeom prst="rect">
            <a:avLst/>
          </a:prstGeom>
          <a:noFill/>
          <a:ln/>
        </p:spPr>
        <p:txBody>
          <a:bodyPr wrap="square" lIns="0" tIns="0" rIns="0" bIns="0" rtlCol="0" anchor="t"/>
          <a:lstStyle/>
          <a:p>
            <a:pPr indent="0" marL="0">
              <a:buNone/>
            </a:pPr>
            <a:r>
              <a:rPr lang="en-US" sz="1500" dirty="0">
                <a:solidFill>
                  <a:srgbClr val="57534E"/>
                </a:solidFill>
                <a:latin typeface="Calibri" pitchFamily="34" charset="0"/>
                <a:ea typeface="Calibri" pitchFamily="34" charset="-122"/>
                <a:cs typeface="Calibri" pitchFamily="34" charset="-120"/>
              </a:rPr>
              <a:t>Estima, construye y prueba.</a:t>
            </a:r>
            <a:endParaRPr lang="en-US" sz="1500" dirty="0"/>
          </a:p>
        </p:txBody>
      </p:sp>
      <p:sp>
        <p:nvSpPr>
          <p:cNvPr id="17" name="Shape 14"/>
          <p:cNvSpPr/>
          <p:nvPr/>
        </p:nvSpPr>
        <p:spPr>
          <a:xfrm>
            <a:off x="7772400" y="2606040"/>
            <a:ext cx="1920240" cy="1920240"/>
          </a:xfrm>
          <a:prstGeom prst="ellipse">
            <a:avLst/>
          </a:prstGeom>
          <a:solidFill>
            <a:srgbClr val="EEF2FF"/>
          </a:solidFill>
          <a:ln w="9525">
            <a:solidFill>
              <a:srgbClr val="C7D2FE"/>
            </a:solidFill>
            <a:prstDash val="solid"/>
          </a:ln>
        </p:spPr>
      </p:sp>
      <p:pic>
        <p:nvPicPr>
          <p:cNvPr id="18" name="Image 0" descr="/Users/anthony/Documents/Projects/NewBit/curso/semana-06-producto-unidad-1/nuestras-entregas/PPT_Producto_Unidad_1_NewBit/img/iconos/ciclo-azul.png">    </p:cNvPr>
          <p:cNvPicPr>
            <a:picLocks noChangeAspect="1"/>
          </p:cNvPicPr>
          <p:nvPr/>
        </p:nvPicPr>
        <p:blipFill>
          <a:blip r:embed="rId1"/>
          <a:stretch>
            <a:fillRect/>
          </a:stretch>
        </p:blipFill>
        <p:spPr>
          <a:xfrm>
            <a:off x="8503920" y="2999232"/>
            <a:ext cx="457200" cy="457200"/>
          </a:xfrm>
          <a:prstGeom prst="rect">
            <a:avLst/>
          </a:prstGeom>
        </p:spPr>
      </p:pic>
      <p:sp>
        <p:nvSpPr>
          <p:cNvPr id="19" name="Text 15"/>
          <p:cNvSpPr/>
          <p:nvPr/>
        </p:nvSpPr>
        <p:spPr>
          <a:xfrm>
            <a:off x="7909560" y="3520440"/>
            <a:ext cx="1645920" cy="320040"/>
          </a:xfrm>
          <a:prstGeom prst="rect">
            <a:avLst/>
          </a:prstGeom>
          <a:noFill/>
          <a:ln/>
        </p:spPr>
        <p:txBody>
          <a:bodyPr wrap="square" lIns="0" tIns="0" rIns="0" bIns="0" rtlCol="0" anchor="t"/>
          <a:lstStyle/>
          <a:p>
            <a:pPr algn="ctr" indent="0" marL="0">
              <a:buNone/>
            </a:pPr>
            <a:r>
              <a:rPr lang="en-US" sz="1800" b="1" dirty="0">
                <a:solidFill>
                  <a:srgbClr val="1A1A1A"/>
                </a:solidFill>
                <a:latin typeface="Calibri" pitchFamily="34" charset="0"/>
                <a:ea typeface="Calibri" pitchFamily="34" charset="-122"/>
                <a:cs typeface="Calibri" pitchFamily="34" charset="-120"/>
              </a:rPr>
              <a:t>Sprint</a:t>
            </a:r>
            <a:endParaRPr lang="en-US" sz="1800" dirty="0"/>
          </a:p>
        </p:txBody>
      </p:sp>
      <p:sp>
        <p:nvSpPr>
          <p:cNvPr id="20" name="Text 16"/>
          <p:cNvSpPr/>
          <p:nvPr/>
        </p:nvSpPr>
        <p:spPr>
          <a:xfrm>
            <a:off x="7909560" y="3858768"/>
            <a:ext cx="1645920" cy="274320"/>
          </a:xfrm>
          <a:prstGeom prst="rect">
            <a:avLst/>
          </a:prstGeom>
          <a:noFill/>
          <a:ln/>
        </p:spPr>
        <p:txBody>
          <a:bodyPr wrap="square" lIns="0" tIns="0" rIns="0" bIns="0" rtlCol="0" anchor="t"/>
          <a:lstStyle/>
          <a:p>
            <a:pPr algn="ctr" indent="0" marL="0">
              <a:buNone/>
            </a:pPr>
            <a:r>
              <a:rPr lang="en-US" sz="1300" dirty="0">
                <a:solidFill>
                  <a:srgbClr val="8A8984"/>
                </a:solidFill>
                <a:latin typeface="Calibri" pitchFamily="34" charset="0"/>
                <a:ea typeface="Calibri" pitchFamily="34" charset="-122"/>
                <a:cs typeface="Calibri" pitchFamily="34" charset="-120"/>
              </a:rPr>
              <a:t>2 semanas</a:t>
            </a:r>
            <a:endParaRPr lang="en-US" sz="1300" dirty="0"/>
          </a:p>
        </p:txBody>
      </p:sp>
      <p:sp>
        <p:nvSpPr>
          <p:cNvPr id="21" name="Shape 17"/>
          <p:cNvSpPr/>
          <p:nvPr/>
        </p:nvSpPr>
        <p:spPr>
          <a:xfrm>
            <a:off x="7909560" y="1691640"/>
            <a:ext cx="1645920" cy="685800"/>
          </a:xfrm>
          <a:prstGeom prst="roundRect">
            <a:avLst>
              <a:gd name="adj" fmla="val 10667"/>
            </a:avLst>
          </a:prstGeom>
          <a:solidFill>
            <a:srgbClr val="FFFFFF"/>
          </a:solidFill>
          <a:ln w="9525">
            <a:solidFill>
              <a:srgbClr val="E7E5E4"/>
            </a:solidFill>
            <a:prstDash val="solid"/>
          </a:ln>
        </p:spPr>
      </p:sp>
      <p:sp>
        <p:nvSpPr>
          <p:cNvPr id="22" name="Text 18"/>
          <p:cNvSpPr/>
          <p:nvPr/>
        </p:nvSpPr>
        <p:spPr>
          <a:xfrm>
            <a:off x="8001000" y="1783080"/>
            <a:ext cx="1463040" cy="274320"/>
          </a:xfrm>
          <a:prstGeom prst="rect">
            <a:avLst/>
          </a:prstGeom>
          <a:noFill/>
          <a:ln/>
        </p:spPr>
        <p:txBody>
          <a:bodyPr wrap="square" lIns="0" tIns="0" rIns="0" bIns="0" rtlCol="0" anchor="t"/>
          <a:lstStyle/>
          <a:p>
            <a:pPr algn="ctr" indent="0" marL="0">
              <a:buNone/>
            </a:pPr>
            <a:r>
              <a:rPr lang="en-US" sz="1400" b="1" dirty="0">
                <a:solidFill>
                  <a:srgbClr val="1A1A1A"/>
                </a:solidFill>
                <a:latin typeface="Calibri" pitchFamily="34" charset="0"/>
                <a:ea typeface="Calibri" pitchFamily="34" charset="-122"/>
                <a:cs typeface="Calibri" pitchFamily="34" charset="-120"/>
              </a:rPr>
              <a:t>Planificación</a:t>
            </a:r>
            <a:endParaRPr lang="en-US" sz="1400" dirty="0"/>
          </a:p>
        </p:txBody>
      </p:sp>
      <p:sp>
        <p:nvSpPr>
          <p:cNvPr id="23" name="Text 19"/>
          <p:cNvSpPr/>
          <p:nvPr/>
        </p:nvSpPr>
        <p:spPr>
          <a:xfrm>
            <a:off x="8001000" y="2075688"/>
            <a:ext cx="1463040" cy="256032"/>
          </a:xfrm>
          <a:prstGeom prst="rect">
            <a:avLst/>
          </a:prstGeom>
          <a:noFill/>
          <a:ln/>
        </p:spPr>
        <p:txBody>
          <a:bodyPr wrap="square" lIns="0" tIns="0" rIns="0" bIns="0" rtlCol="0" anchor="t"/>
          <a:lstStyle/>
          <a:p>
            <a:pPr algn="ctr" indent="0" marL="0">
              <a:buNone/>
            </a:pPr>
            <a:r>
              <a:rPr lang="en-US" sz="1200" dirty="0">
                <a:solidFill>
                  <a:srgbClr val="8A8984"/>
                </a:solidFill>
                <a:latin typeface="Calibri" pitchFamily="34" charset="0"/>
                <a:ea typeface="Calibri" pitchFamily="34" charset="-122"/>
                <a:cs typeface="Calibri" pitchFamily="34" charset="-120"/>
              </a:rPr>
              <a:t>4 h</a:t>
            </a:r>
            <a:endParaRPr lang="en-US" sz="1200" dirty="0"/>
          </a:p>
        </p:txBody>
      </p:sp>
      <p:sp>
        <p:nvSpPr>
          <p:cNvPr id="24" name="Shape 20"/>
          <p:cNvSpPr/>
          <p:nvPr/>
        </p:nvSpPr>
        <p:spPr>
          <a:xfrm>
            <a:off x="9802368" y="3218688"/>
            <a:ext cx="1645920" cy="685800"/>
          </a:xfrm>
          <a:prstGeom prst="roundRect">
            <a:avLst>
              <a:gd name="adj" fmla="val 10667"/>
            </a:avLst>
          </a:prstGeom>
          <a:solidFill>
            <a:srgbClr val="FFFFFF"/>
          </a:solidFill>
          <a:ln w="9525">
            <a:solidFill>
              <a:srgbClr val="E7E5E4"/>
            </a:solidFill>
            <a:prstDash val="solid"/>
          </a:ln>
        </p:spPr>
      </p:sp>
      <p:sp>
        <p:nvSpPr>
          <p:cNvPr id="25" name="Text 21"/>
          <p:cNvSpPr/>
          <p:nvPr/>
        </p:nvSpPr>
        <p:spPr>
          <a:xfrm>
            <a:off x="9893808" y="3310128"/>
            <a:ext cx="1463040" cy="274320"/>
          </a:xfrm>
          <a:prstGeom prst="rect">
            <a:avLst/>
          </a:prstGeom>
          <a:noFill/>
          <a:ln/>
        </p:spPr>
        <p:txBody>
          <a:bodyPr wrap="square" lIns="0" tIns="0" rIns="0" bIns="0" rtlCol="0" anchor="t"/>
          <a:lstStyle/>
          <a:p>
            <a:pPr algn="ctr" indent="0" marL="0">
              <a:buNone/>
            </a:pPr>
            <a:r>
              <a:rPr lang="en-US" sz="1400" b="1" dirty="0">
                <a:solidFill>
                  <a:srgbClr val="1A1A1A"/>
                </a:solidFill>
                <a:latin typeface="Calibri" pitchFamily="34" charset="0"/>
                <a:ea typeface="Calibri" pitchFamily="34" charset="-122"/>
                <a:cs typeface="Calibri" pitchFamily="34" charset="-120"/>
              </a:rPr>
              <a:t>Daily Standup</a:t>
            </a:r>
            <a:endParaRPr lang="en-US" sz="1400" dirty="0"/>
          </a:p>
        </p:txBody>
      </p:sp>
      <p:sp>
        <p:nvSpPr>
          <p:cNvPr id="26" name="Text 22"/>
          <p:cNvSpPr/>
          <p:nvPr/>
        </p:nvSpPr>
        <p:spPr>
          <a:xfrm>
            <a:off x="9893808" y="3602736"/>
            <a:ext cx="1463040" cy="256032"/>
          </a:xfrm>
          <a:prstGeom prst="rect">
            <a:avLst/>
          </a:prstGeom>
          <a:noFill/>
          <a:ln/>
        </p:spPr>
        <p:txBody>
          <a:bodyPr wrap="square" lIns="0" tIns="0" rIns="0" bIns="0" rtlCol="0" anchor="t"/>
          <a:lstStyle/>
          <a:p>
            <a:pPr algn="ctr" indent="0" marL="0">
              <a:buNone/>
            </a:pPr>
            <a:r>
              <a:rPr lang="en-US" sz="1200" dirty="0">
                <a:solidFill>
                  <a:srgbClr val="8A8984"/>
                </a:solidFill>
                <a:latin typeface="Calibri" pitchFamily="34" charset="0"/>
                <a:ea typeface="Calibri" pitchFamily="34" charset="-122"/>
                <a:cs typeface="Calibri" pitchFamily="34" charset="-120"/>
              </a:rPr>
              <a:t>15 min al día</a:t>
            </a:r>
            <a:endParaRPr lang="en-US" sz="1200" dirty="0"/>
          </a:p>
        </p:txBody>
      </p:sp>
      <p:sp>
        <p:nvSpPr>
          <p:cNvPr id="27" name="Shape 23"/>
          <p:cNvSpPr/>
          <p:nvPr/>
        </p:nvSpPr>
        <p:spPr>
          <a:xfrm>
            <a:off x="7909560" y="4754880"/>
            <a:ext cx="1645920" cy="685800"/>
          </a:xfrm>
          <a:prstGeom prst="roundRect">
            <a:avLst>
              <a:gd name="adj" fmla="val 10667"/>
            </a:avLst>
          </a:prstGeom>
          <a:solidFill>
            <a:srgbClr val="FFFFFF"/>
          </a:solidFill>
          <a:ln w="9525">
            <a:solidFill>
              <a:srgbClr val="E7E5E4"/>
            </a:solidFill>
            <a:prstDash val="solid"/>
          </a:ln>
        </p:spPr>
      </p:sp>
      <p:sp>
        <p:nvSpPr>
          <p:cNvPr id="28" name="Text 24"/>
          <p:cNvSpPr/>
          <p:nvPr/>
        </p:nvSpPr>
        <p:spPr>
          <a:xfrm>
            <a:off x="8001000" y="4846320"/>
            <a:ext cx="1463040" cy="274320"/>
          </a:xfrm>
          <a:prstGeom prst="rect">
            <a:avLst/>
          </a:prstGeom>
          <a:noFill/>
          <a:ln/>
        </p:spPr>
        <p:txBody>
          <a:bodyPr wrap="square" lIns="0" tIns="0" rIns="0" bIns="0" rtlCol="0" anchor="t"/>
          <a:lstStyle/>
          <a:p>
            <a:pPr algn="ctr" indent="0" marL="0">
              <a:buNone/>
            </a:pPr>
            <a:r>
              <a:rPr lang="en-US" sz="1400" b="1" dirty="0">
                <a:solidFill>
                  <a:srgbClr val="1A1A1A"/>
                </a:solidFill>
                <a:latin typeface="Calibri" pitchFamily="34" charset="0"/>
                <a:ea typeface="Calibri" pitchFamily="34" charset="-122"/>
                <a:cs typeface="Calibri" pitchFamily="34" charset="-120"/>
              </a:rPr>
              <a:t>Revisión</a:t>
            </a:r>
            <a:endParaRPr lang="en-US" sz="1400" dirty="0"/>
          </a:p>
        </p:txBody>
      </p:sp>
      <p:sp>
        <p:nvSpPr>
          <p:cNvPr id="29" name="Text 25"/>
          <p:cNvSpPr/>
          <p:nvPr/>
        </p:nvSpPr>
        <p:spPr>
          <a:xfrm>
            <a:off x="8001000" y="5138928"/>
            <a:ext cx="1463040" cy="256032"/>
          </a:xfrm>
          <a:prstGeom prst="rect">
            <a:avLst/>
          </a:prstGeom>
          <a:noFill/>
          <a:ln/>
        </p:spPr>
        <p:txBody>
          <a:bodyPr wrap="square" lIns="0" tIns="0" rIns="0" bIns="0" rtlCol="0" anchor="t"/>
          <a:lstStyle/>
          <a:p>
            <a:pPr algn="ctr" indent="0" marL="0">
              <a:buNone/>
            </a:pPr>
            <a:r>
              <a:rPr lang="en-US" sz="1200" dirty="0">
                <a:solidFill>
                  <a:srgbClr val="8A8984"/>
                </a:solidFill>
                <a:latin typeface="Calibri" pitchFamily="34" charset="0"/>
                <a:ea typeface="Calibri" pitchFamily="34" charset="-122"/>
                <a:cs typeface="Calibri" pitchFamily="34" charset="-120"/>
              </a:rPr>
              <a:t>2 h</a:t>
            </a:r>
            <a:endParaRPr lang="en-US" sz="1200" dirty="0"/>
          </a:p>
        </p:txBody>
      </p:sp>
      <p:sp>
        <p:nvSpPr>
          <p:cNvPr id="30" name="Shape 26"/>
          <p:cNvSpPr/>
          <p:nvPr/>
        </p:nvSpPr>
        <p:spPr>
          <a:xfrm>
            <a:off x="6016752" y="3218688"/>
            <a:ext cx="1645920" cy="685800"/>
          </a:xfrm>
          <a:prstGeom prst="roundRect">
            <a:avLst>
              <a:gd name="adj" fmla="val 10667"/>
            </a:avLst>
          </a:prstGeom>
          <a:solidFill>
            <a:srgbClr val="FFFFFF"/>
          </a:solidFill>
          <a:ln w="9525">
            <a:solidFill>
              <a:srgbClr val="E7E5E4"/>
            </a:solidFill>
            <a:prstDash val="solid"/>
          </a:ln>
        </p:spPr>
      </p:sp>
      <p:sp>
        <p:nvSpPr>
          <p:cNvPr id="31" name="Text 27"/>
          <p:cNvSpPr/>
          <p:nvPr/>
        </p:nvSpPr>
        <p:spPr>
          <a:xfrm>
            <a:off x="6108192" y="3310128"/>
            <a:ext cx="1463040" cy="274320"/>
          </a:xfrm>
          <a:prstGeom prst="rect">
            <a:avLst/>
          </a:prstGeom>
          <a:noFill/>
          <a:ln/>
        </p:spPr>
        <p:txBody>
          <a:bodyPr wrap="square" lIns="0" tIns="0" rIns="0" bIns="0" rtlCol="0" anchor="t"/>
          <a:lstStyle/>
          <a:p>
            <a:pPr algn="ctr" indent="0" marL="0">
              <a:buNone/>
            </a:pPr>
            <a:r>
              <a:rPr lang="en-US" sz="1400" b="1" dirty="0">
                <a:solidFill>
                  <a:srgbClr val="1A1A1A"/>
                </a:solidFill>
                <a:latin typeface="Calibri" pitchFamily="34" charset="0"/>
                <a:ea typeface="Calibri" pitchFamily="34" charset="-122"/>
                <a:cs typeface="Calibri" pitchFamily="34" charset="-120"/>
              </a:rPr>
              <a:t>Retrospectiva</a:t>
            </a:r>
            <a:endParaRPr lang="en-US" sz="1400" dirty="0"/>
          </a:p>
        </p:txBody>
      </p:sp>
      <p:sp>
        <p:nvSpPr>
          <p:cNvPr id="32" name="Text 28"/>
          <p:cNvSpPr/>
          <p:nvPr/>
        </p:nvSpPr>
        <p:spPr>
          <a:xfrm>
            <a:off x="6108192" y="3602736"/>
            <a:ext cx="1463040" cy="256032"/>
          </a:xfrm>
          <a:prstGeom prst="rect">
            <a:avLst/>
          </a:prstGeom>
          <a:noFill/>
          <a:ln/>
        </p:spPr>
        <p:txBody>
          <a:bodyPr wrap="square" lIns="0" tIns="0" rIns="0" bIns="0" rtlCol="0" anchor="t"/>
          <a:lstStyle/>
          <a:p>
            <a:pPr algn="ctr" indent="0" marL="0">
              <a:buNone/>
            </a:pPr>
            <a:r>
              <a:rPr lang="en-US" sz="1200" dirty="0">
                <a:solidFill>
                  <a:srgbClr val="8A8984"/>
                </a:solidFill>
                <a:latin typeface="Calibri" pitchFamily="34" charset="0"/>
                <a:ea typeface="Calibri" pitchFamily="34" charset="-122"/>
                <a:cs typeface="Calibri" pitchFamily="34" charset="-120"/>
              </a:rPr>
              <a:t>2 h</a:t>
            </a:r>
            <a:endParaRPr lang="en-US" sz="1200" dirty="0"/>
          </a:p>
        </p:txBody>
      </p:sp>
      <p:sp>
        <p:nvSpPr>
          <p:cNvPr id="33" name="Text 29"/>
          <p:cNvSpPr/>
          <p:nvPr/>
        </p:nvSpPr>
        <p:spPr>
          <a:xfrm>
            <a:off x="731520" y="5989320"/>
            <a:ext cx="10728655" cy="274320"/>
          </a:xfrm>
          <a:prstGeom prst="rect">
            <a:avLst/>
          </a:prstGeom>
          <a:noFill/>
          <a:ln/>
        </p:spPr>
        <p:txBody>
          <a:bodyPr wrap="square" lIns="0" tIns="0" rIns="0" bIns="0" rtlCol="0" anchor="t"/>
          <a:lstStyle/>
          <a:p>
            <a:pPr indent="0" marL="0">
              <a:buNone/>
            </a:pPr>
            <a:r>
              <a:rPr lang="en-US" sz="1000" dirty="0">
                <a:solidFill>
                  <a:srgbClr val="8A8984"/>
                </a:solidFill>
                <a:latin typeface="Calibri" pitchFamily="34" charset="0"/>
                <a:ea typeface="Calibri" pitchFamily="34" charset="-122"/>
                <a:cs typeface="Calibri" pitchFamily="34" charset="-120"/>
              </a:rPr>
              <a:t>Fuente: SCRUMstudy (2022), pp. 35–37 y 42–43.</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AF9"/>
        </a:solidFill>
      </p:bgPr>
    </p:bg>
    <p:spTree>
      <p:nvGrpSpPr>
        <p:cNvPr id="1" name=""/>
        <p:cNvGrpSpPr/>
        <p:nvPr/>
      </p:nvGrpSpPr>
      <p:grpSpPr>
        <a:xfrm>
          <a:off x="0" y="0"/>
          <a:ext cx="0" cy="0"/>
          <a:chOff x="0" y="0"/>
          <a:chExt cx="0" cy="0"/>
        </a:xfrm>
      </p:grpSpPr>
      <p:sp>
        <p:nvSpPr>
          <p:cNvPr id="2" name="Text 0"/>
          <p:cNvSpPr/>
          <p:nvPr/>
        </p:nvSpPr>
        <p:spPr>
          <a:xfrm>
            <a:off x="731520" y="502920"/>
            <a:ext cx="10058400" cy="274320"/>
          </a:xfrm>
          <a:prstGeom prst="rect">
            <a:avLst/>
          </a:prstGeom>
          <a:noFill/>
          <a:ln/>
        </p:spPr>
        <p:txBody>
          <a:bodyPr wrap="square" lIns="0" tIns="0" rIns="0" bIns="0" rtlCol="0" anchor="t"/>
          <a:lstStyle/>
          <a:p>
            <a:pPr indent="0" marL="0">
              <a:buNone/>
            </a:pPr>
            <a:r>
              <a:rPr lang="en-US" sz="1100" b="1" spc="150" kern="0" dirty="0">
                <a:solidFill>
                  <a:srgbClr val="3E63DD"/>
                </a:solidFill>
                <a:latin typeface="Calibri" pitchFamily="34" charset="0"/>
                <a:ea typeface="Calibri" pitchFamily="34" charset="-122"/>
                <a:cs typeface="Calibri" pitchFamily="34" charset="-120"/>
              </a:rPr>
              <a:t>PRINCIPIOS</a:t>
            </a:r>
            <a:endParaRPr lang="en-US" sz="1100" dirty="0"/>
          </a:p>
        </p:txBody>
      </p:sp>
      <p:sp>
        <p:nvSpPr>
          <p:cNvPr id="3" name="Text 1"/>
          <p:cNvSpPr/>
          <p:nvPr/>
        </p:nvSpPr>
        <p:spPr>
          <a:xfrm>
            <a:off x="731520" y="777240"/>
            <a:ext cx="10698480" cy="822960"/>
          </a:xfrm>
          <a:prstGeom prst="rect">
            <a:avLst/>
          </a:prstGeom>
          <a:noFill/>
          <a:ln/>
        </p:spPr>
        <p:txBody>
          <a:bodyPr wrap="square" lIns="0" tIns="0" rIns="0" bIns="0" rtlCol="0" anchor="t"/>
          <a:lstStyle/>
          <a:p>
            <a:pPr indent="0" marL="0">
              <a:buNone/>
            </a:pPr>
            <a:r>
              <a:rPr lang="en-US" sz="3400" dirty="0">
                <a:solidFill>
                  <a:srgbClr val="1A1A1A"/>
                </a:solidFill>
                <a:latin typeface="Calibri Light" pitchFamily="34" charset="0"/>
                <a:ea typeface="Calibri Light" pitchFamily="34" charset="-122"/>
                <a:cs typeface="Calibri Light" pitchFamily="34" charset="-120"/>
              </a:rPr>
              <a:t>Seis principios que no se negocian</a:t>
            </a:r>
            <a:endParaRPr lang="en-US" sz="3400" dirty="0"/>
          </a:p>
        </p:txBody>
      </p:sp>
      <p:sp>
        <p:nvSpPr>
          <p:cNvPr id="4" name="Text 2"/>
          <p:cNvSpPr/>
          <p:nvPr/>
        </p:nvSpPr>
        <p:spPr>
          <a:xfrm>
            <a:off x="731520" y="6355080"/>
            <a:ext cx="2743200" cy="228600"/>
          </a:xfrm>
          <a:prstGeom prst="rect">
            <a:avLst/>
          </a:prstGeom>
          <a:noFill/>
          <a:ln/>
        </p:spPr>
        <p:txBody>
          <a:bodyPr wrap="square" lIns="0" tIns="0" rIns="0" bIns="0" rtlCol="0" anchor="t"/>
          <a:lstStyle/>
          <a:p>
            <a:pPr indent="0" marL="0">
              <a:buNone/>
            </a:pPr>
            <a:r>
              <a:rPr lang="en-US" sz="1000" b="1" dirty="0">
                <a:solidFill>
                  <a:srgbClr val="8A8984"/>
                </a:solidFill>
                <a:latin typeface="Calibri" pitchFamily="34" charset="0"/>
                <a:ea typeface="Calibri" pitchFamily="34" charset="-122"/>
                <a:cs typeface="Calibri" pitchFamily="34" charset="-120"/>
              </a:rPr>
              <a:t>NewBit</a:t>
            </a:r>
            <a:endParaRPr lang="en-US" sz="1000" dirty="0"/>
          </a:p>
        </p:txBody>
      </p:sp>
      <p:sp>
        <p:nvSpPr>
          <p:cNvPr id="5" name="Text 3"/>
          <p:cNvSpPr/>
          <p:nvPr/>
        </p:nvSpPr>
        <p:spPr>
          <a:xfrm>
            <a:off x="1371600" y="6355080"/>
            <a:ext cx="4572000" cy="228600"/>
          </a:xfrm>
          <a:prstGeom prst="rect">
            <a:avLst/>
          </a:prstGeom>
          <a:noFill/>
          <a:ln/>
        </p:spPr>
        <p:txBody>
          <a:bodyPr wrap="square" lIns="0" tIns="0" rIns="0" bIns="0" rtlCol="0" anchor="t"/>
          <a:lstStyle/>
          <a:p>
            <a:pPr indent="0" marL="0">
              <a:buNone/>
            </a:pPr>
            <a:r>
              <a:rPr lang="en-US" sz="1000" dirty="0">
                <a:solidFill>
                  <a:srgbClr val="8A8984"/>
                </a:solidFill>
                <a:latin typeface="Calibri" pitchFamily="34" charset="0"/>
                <a:ea typeface="Calibri" pitchFamily="34" charset="-122"/>
                <a:cs typeface="Calibri" pitchFamily="34" charset="-120"/>
              </a:rPr>
              <a:t>Producto de la Unidad I · Grupo D3</a:t>
            </a:r>
            <a:endParaRPr lang="en-US" sz="1000" dirty="0"/>
          </a:p>
        </p:txBody>
      </p:sp>
      <p:sp>
        <p:nvSpPr>
          <p:cNvPr id="6" name="Text 4"/>
          <p:cNvSpPr/>
          <p:nvPr/>
        </p:nvSpPr>
        <p:spPr>
          <a:xfrm>
            <a:off x="10728655" y="6355080"/>
            <a:ext cx="731520" cy="228600"/>
          </a:xfrm>
          <a:prstGeom prst="rect">
            <a:avLst/>
          </a:prstGeom>
          <a:noFill/>
          <a:ln/>
        </p:spPr>
        <p:txBody>
          <a:bodyPr wrap="square" lIns="0" tIns="0" rIns="0" bIns="0" rtlCol="0" anchor="t"/>
          <a:lstStyle/>
          <a:p>
            <a:pPr algn="r" indent="0" marL="0">
              <a:buNone/>
            </a:pPr>
            <a:r>
              <a:rPr lang="en-US" sz="1000" dirty="0">
                <a:solidFill>
                  <a:srgbClr val="8A8984"/>
                </a:solidFill>
                <a:latin typeface="Calibri" pitchFamily="34" charset="0"/>
                <a:ea typeface="Calibri" pitchFamily="34" charset="-122"/>
                <a:cs typeface="Calibri" pitchFamily="34" charset="-120"/>
              </a:rPr>
              <a:t>13</a:t>
            </a:r>
            <a:endParaRPr lang="en-US" sz="1000" dirty="0"/>
          </a:p>
        </p:txBody>
      </p:sp>
      <p:sp>
        <p:nvSpPr>
          <p:cNvPr id="8" name="Shape 5"/>
          <p:cNvSpPr/>
          <p:nvPr/>
        </p:nvSpPr>
        <p:spPr>
          <a:xfrm>
            <a:off x="731520" y="1828800"/>
            <a:ext cx="3383280" cy="1737360"/>
          </a:xfrm>
          <a:prstGeom prst="roundRect">
            <a:avLst>
              <a:gd name="adj" fmla="val 4211"/>
            </a:avLst>
          </a:prstGeom>
          <a:solidFill>
            <a:srgbClr val="FFFFFF"/>
          </a:solidFill>
          <a:ln w="9525">
            <a:solidFill>
              <a:srgbClr val="E7E5E4"/>
            </a:solidFill>
            <a:prstDash val="solid"/>
          </a:ln>
        </p:spPr>
      </p:sp>
      <p:sp>
        <p:nvSpPr>
          <p:cNvPr id="9" name="Text 6"/>
          <p:cNvSpPr/>
          <p:nvPr/>
        </p:nvSpPr>
        <p:spPr>
          <a:xfrm>
            <a:off x="1005840" y="2057400"/>
            <a:ext cx="548640" cy="274320"/>
          </a:xfrm>
          <a:prstGeom prst="rect">
            <a:avLst/>
          </a:prstGeom>
          <a:noFill/>
          <a:ln/>
        </p:spPr>
        <p:txBody>
          <a:bodyPr wrap="square" lIns="0" tIns="0" rIns="0" bIns="0" rtlCol="0" anchor="t"/>
          <a:lstStyle/>
          <a:p>
            <a:pPr indent="0" marL="0">
              <a:buNone/>
            </a:pPr>
            <a:r>
              <a:rPr lang="en-US" sz="1300" b="1" dirty="0">
                <a:solidFill>
                  <a:srgbClr val="3E63DD"/>
                </a:solidFill>
                <a:latin typeface="Calibri" pitchFamily="34" charset="0"/>
                <a:ea typeface="Calibri" pitchFamily="34" charset="-122"/>
                <a:cs typeface="Calibri" pitchFamily="34" charset="-120"/>
              </a:rPr>
              <a:t>01</a:t>
            </a:r>
            <a:endParaRPr lang="en-US" sz="1300" dirty="0"/>
          </a:p>
        </p:txBody>
      </p:sp>
      <p:sp>
        <p:nvSpPr>
          <p:cNvPr id="10" name="Text 7"/>
          <p:cNvSpPr/>
          <p:nvPr/>
        </p:nvSpPr>
        <p:spPr>
          <a:xfrm>
            <a:off x="3200400" y="2057400"/>
            <a:ext cx="640080" cy="274320"/>
          </a:xfrm>
          <a:prstGeom prst="rect">
            <a:avLst/>
          </a:prstGeom>
          <a:noFill/>
          <a:ln/>
        </p:spPr>
        <p:txBody>
          <a:bodyPr wrap="square" lIns="0" tIns="0" rIns="0" bIns="0" rtlCol="0" anchor="t"/>
          <a:lstStyle/>
          <a:p>
            <a:pPr algn="r" indent="0" marL="0">
              <a:buNone/>
            </a:pPr>
            <a:r>
              <a:rPr lang="en-US" sz="1100" dirty="0">
                <a:solidFill>
                  <a:srgbClr val="8A8984"/>
                </a:solidFill>
                <a:latin typeface="Calibri" pitchFamily="34" charset="0"/>
                <a:ea typeface="Calibri" pitchFamily="34" charset="-122"/>
                <a:cs typeface="Calibri" pitchFamily="34" charset="-120"/>
              </a:rPr>
              <a:t>p. 22</a:t>
            </a:r>
            <a:endParaRPr lang="en-US" sz="1100" dirty="0"/>
          </a:p>
        </p:txBody>
      </p:sp>
      <p:sp>
        <p:nvSpPr>
          <p:cNvPr id="11" name="Text 8"/>
          <p:cNvSpPr/>
          <p:nvPr/>
        </p:nvSpPr>
        <p:spPr>
          <a:xfrm>
            <a:off x="1005840" y="2377440"/>
            <a:ext cx="2926080" cy="365760"/>
          </a:xfrm>
          <a:prstGeom prst="rect">
            <a:avLst/>
          </a:prstGeom>
          <a:noFill/>
          <a:ln/>
        </p:spPr>
        <p:txBody>
          <a:bodyPr wrap="square" lIns="0" tIns="0" rIns="0" bIns="0" rtlCol="0" anchor="t"/>
          <a:lstStyle/>
          <a:p>
            <a:pPr indent="0" marL="0">
              <a:buNone/>
            </a:pPr>
            <a:r>
              <a:rPr lang="en-US" sz="1700" b="1" dirty="0">
                <a:solidFill>
                  <a:srgbClr val="1A1A1A"/>
                </a:solidFill>
                <a:latin typeface="Calibri" pitchFamily="34" charset="0"/>
                <a:ea typeface="Calibri" pitchFamily="34" charset="-122"/>
                <a:cs typeface="Calibri" pitchFamily="34" charset="-120"/>
              </a:rPr>
              <a:t>Control del proceso empírico</a:t>
            </a:r>
            <a:endParaRPr lang="en-US" sz="1700" dirty="0"/>
          </a:p>
        </p:txBody>
      </p:sp>
      <p:sp>
        <p:nvSpPr>
          <p:cNvPr id="12" name="Text 9"/>
          <p:cNvSpPr/>
          <p:nvPr/>
        </p:nvSpPr>
        <p:spPr>
          <a:xfrm>
            <a:off x="1005840" y="2788920"/>
            <a:ext cx="2880360" cy="731520"/>
          </a:xfrm>
          <a:prstGeom prst="rect">
            <a:avLst/>
          </a:prstGeom>
          <a:noFill/>
          <a:ln/>
        </p:spPr>
        <p:txBody>
          <a:bodyPr wrap="square" lIns="0" tIns="0" rIns="0" bIns="0" rtlCol="0" anchor="t"/>
          <a:lstStyle/>
          <a:p>
            <a:pPr indent="0" marL="0">
              <a:buNone/>
            </a:pPr>
            <a:r>
              <a:rPr lang="en-US" sz="1350" dirty="0">
                <a:solidFill>
                  <a:srgbClr val="57534E"/>
                </a:solidFill>
                <a:latin typeface="Calibri" pitchFamily="34" charset="0"/>
                <a:ea typeface="Calibri" pitchFamily="34" charset="-122"/>
                <a:cs typeface="Calibri" pitchFamily="34" charset="-120"/>
              </a:rPr>
              <a:t>Mostramos, revisamos y ajustamos. La idea cambió tres veces antes del primer sprint.</a:t>
            </a:r>
            <a:endParaRPr lang="en-US" sz="1350" dirty="0"/>
          </a:p>
        </p:txBody>
      </p:sp>
      <p:sp>
        <p:nvSpPr>
          <p:cNvPr id="13" name="Shape 10"/>
          <p:cNvSpPr/>
          <p:nvPr/>
        </p:nvSpPr>
        <p:spPr>
          <a:xfrm>
            <a:off x="4343400" y="1828800"/>
            <a:ext cx="3383280" cy="1737360"/>
          </a:xfrm>
          <a:prstGeom prst="roundRect">
            <a:avLst>
              <a:gd name="adj" fmla="val 4211"/>
            </a:avLst>
          </a:prstGeom>
          <a:solidFill>
            <a:srgbClr val="FFFFFF"/>
          </a:solidFill>
          <a:ln w="9525">
            <a:solidFill>
              <a:srgbClr val="E7E5E4"/>
            </a:solidFill>
            <a:prstDash val="solid"/>
          </a:ln>
        </p:spPr>
      </p:sp>
      <p:sp>
        <p:nvSpPr>
          <p:cNvPr id="14" name="Text 11"/>
          <p:cNvSpPr/>
          <p:nvPr/>
        </p:nvSpPr>
        <p:spPr>
          <a:xfrm>
            <a:off x="4617720" y="2057400"/>
            <a:ext cx="548640" cy="274320"/>
          </a:xfrm>
          <a:prstGeom prst="rect">
            <a:avLst/>
          </a:prstGeom>
          <a:noFill/>
          <a:ln/>
        </p:spPr>
        <p:txBody>
          <a:bodyPr wrap="square" lIns="0" tIns="0" rIns="0" bIns="0" rtlCol="0" anchor="t"/>
          <a:lstStyle/>
          <a:p>
            <a:pPr indent="0" marL="0">
              <a:buNone/>
            </a:pPr>
            <a:r>
              <a:rPr lang="en-US" sz="1300" b="1" dirty="0">
                <a:solidFill>
                  <a:srgbClr val="3E63DD"/>
                </a:solidFill>
                <a:latin typeface="Calibri" pitchFamily="34" charset="0"/>
                <a:ea typeface="Calibri" pitchFamily="34" charset="-122"/>
                <a:cs typeface="Calibri" pitchFamily="34" charset="-120"/>
              </a:rPr>
              <a:t>02</a:t>
            </a:r>
            <a:endParaRPr lang="en-US" sz="1300" dirty="0"/>
          </a:p>
        </p:txBody>
      </p:sp>
      <p:sp>
        <p:nvSpPr>
          <p:cNvPr id="15" name="Text 12"/>
          <p:cNvSpPr/>
          <p:nvPr/>
        </p:nvSpPr>
        <p:spPr>
          <a:xfrm>
            <a:off x="6812280" y="2057400"/>
            <a:ext cx="640080" cy="274320"/>
          </a:xfrm>
          <a:prstGeom prst="rect">
            <a:avLst/>
          </a:prstGeom>
          <a:noFill/>
          <a:ln/>
        </p:spPr>
        <p:txBody>
          <a:bodyPr wrap="square" lIns="0" tIns="0" rIns="0" bIns="0" rtlCol="0" anchor="t"/>
          <a:lstStyle/>
          <a:p>
            <a:pPr algn="r" indent="0" marL="0">
              <a:buNone/>
            </a:pPr>
            <a:r>
              <a:rPr lang="en-US" sz="1100" dirty="0">
                <a:solidFill>
                  <a:srgbClr val="8A8984"/>
                </a:solidFill>
                <a:latin typeface="Calibri" pitchFamily="34" charset="0"/>
                <a:ea typeface="Calibri" pitchFamily="34" charset="-122"/>
                <a:cs typeface="Calibri" pitchFamily="34" charset="-120"/>
              </a:rPr>
              <a:t>p. 27</a:t>
            </a:r>
            <a:endParaRPr lang="en-US" sz="1100" dirty="0"/>
          </a:p>
        </p:txBody>
      </p:sp>
      <p:sp>
        <p:nvSpPr>
          <p:cNvPr id="16" name="Text 13"/>
          <p:cNvSpPr/>
          <p:nvPr/>
        </p:nvSpPr>
        <p:spPr>
          <a:xfrm>
            <a:off x="4617720" y="2377440"/>
            <a:ext cx="2926080" cy="365760"/>
          </a:xfrm>
          <a:prstGeom prst="rect">
            <a:avLst/>
          </a:prstGeom>
          <a:noFill/>
          <a:ln/>
        </p:spPr>
        <p:txBody>
          <a:bodyPr wrap="square" lIns="0" tIns="0" rIns="0" bIns="0" rtlCol="0" anchor="t"/>
          <a:lstStyle/>
          <a:p>
            <a:pPr indent="0" marL="0">
              <a:buNone/>
            </a:pPr>
            <a:r>
              <a:rPr lang="en-US" sz="1700" b="1" dirty="0">
                <a:solidFill>
                  <a:srgbClr val="1A1A1A"/>
                </a:solidFill>
                <a:latin typeface="Calibri" pitchFamily="34" charset="0"/>
                <a:ea typeface="Calibri" pitchFamily="34" charset="-122"/>
                <a:cs typeface="Calibri" pitchFamily="34" charset="-120"/>
              </a:rPr>
              <a:t>Autoorganización</a:t>
            </a:r>
            <a:endParaRPr lang="en-US" sz="1700" dirty="0"/>
          </a:p>
        </p:txBody>
      </p:sp>
      <p:sp>
        <p:nvSpPr>
          <p:cNvPr id="17" name="Text 14"/>
          <p:cNvSpPr/>
          <p:nvPr/>
        </p:nvSpPr>
        <p:spPr>
          <a:xfrm>
            <a:off x="4617720" y="2788920"/>
            <a:ext cx="2880360" cy="731520"/>
          </a:xfrm>
          <a:prstGeom prst="rect">
            <a:avLst/>
          </a:prstGeom>
          <a:noFill/>
          <a:ln/>
        </p:spPr>
        <p:txBody>
          <a:bodyPr wrap="square" lIns="0" tIns="0" rIns="0" bIns="0" rtlCol="0" anchor="t"/>
          <a:lstStyle/>
          <a:p>
            <a:pPr indent="0" marL="0">
              <a:buNone/>
            </a:pPr>
            <a:r>
              <a:rPr lang="en-US" sz="1350" dirty="0">
                <a:solidFill>
                  <a:srgbClr val="57534E"/>
                </a:solidFill>
                <a:latin typeface="Calibri" pitchFamily="34" charset="0"/>
                <a:ea typeface="Calibri" pitchFamily="34" charset="-122"/>
                <a:cs typeface="Calibri" pitchFamily="34" charset="-120"/>
              </a:rPr>
              <a:t>El equipo decide cómo hacer el trabajo en cada planificación.</a:t>
            </a:r>
            <a:endParaRPr lang="en-US" sz="1350" dirty="0"/>
          </a:p>
        </p:txBody>
      </p:sp>
      <p:sp>
        <p:nvSpPr>
          <p:cNvPr id="18" name="Shape 15"/>
          <p:cNvSpPr/>
          <p:nvPr/>
        </p:nvSpPr>
        <p:spPr>
          <a:xfrm>
            <a:off x="7955280" y="1828800"/>
            <a:ext cx="3383280" cy="1737360"/>
          </a:xfrm>
          <a:prstGeom prst="roundRect">
            <a:avLst>
              <a:gd name="adj" fmla="val 4211"/>
            </a:avLst>
          </a:prstGeom>
          <a:solidFill>
            <a:srgbClr val="FFFFFF"/>
          </a:solidFill>
          <a:ln w="9525">
            <a:solidFill>
              <a:srgbClr val="E7E5E4"/>
            </a:solidFill>
            <a:prstDash val="solid"/>
          </a:ln>
        </p:spPr>
      </p:sp>
      <p:sp>
        <p:nvSpPr>
          <p:cNvPr id="19" name="Text 16"/>
          <p:cNvSpPr/>
          <p:nvPr/>
        </p:nvSpPr>
        <p:spPr>
          <a:xfrm>
            <a:off x="8229600" y="2057400"/>
            <a:ext cx="548640" cy="274320"/>
          </a:xfrm>
          <a:prstGeom prst="rect">
            <a:avLst/>
          </a:prstGeom>
          <a:noFill/>
          <a:ln/>
        </p:spPr>
        <p:txBody>
          <a:bodyPr wrap="square" lIns="0" tIns="0" rIns="0" bIns="0" rtlCol="0" anchor="t"/>
          <a:lstStyle/>
          <a:p>
            <a:pPr indent="0" marL="0">
              <a:buNone/>
            </a:pPr>
            <a:r>
              <a:rPr lang="en-US" sz="1300" b="1" dirty="0">
                <a:solidFill>
                  <a:srgbClr val="3E63DD"/>
                </a:solidFill>
                <a:latin typeface="Calibri" pitchFamily="34" charset="0"/>
                <a:ea typeface="Calibri" pitchFamily="34" charset="-122"/>
                <a:cs typeface="Calibri" pitchFamily="34" charset="-120"/>
              </a:rPr>
              <a:t>03</a:t>
            </a:r>
            <a:endParaRPr lang="en-US" sz="1300" dirty="0"/>
          </a:p>
        </p:txBody>
      </p:sp>
      <p:sp>
        <p:nvSpPr>
          <p:cNvPr id="20" name="Text 17"/>
          <p:cNvSpPr/>
          <p:nvPr/>
        </p:nvSpPr>
        <p:spPr>
          <a:xfrm>
            <a:off x="10424160" y="2057400"/>
            <a:ext cx="640080" cy="274320"/>
          </a:xfrm>
          <a:prstGeom prst="rect">
            <a:avLst/>
          </a:prstGeom>
          <a:noFill/>
          <a:ln/>
        </p:spPr>
        <p:txBody>
          <a:bodyPr wrap="square" lIns="0" tIns="0" rIns="0" bIns="0" rtlCol="0" anchor="t"/>
          <a:lstStyle/>
          <a:p>
            <a:pPr algn="r" indent="0" marL="0">
              <a:buNone/>
            </a:pPr>
            <a:r>
              <a:rPr lang="en-US" sz="1100" dirty="0">
                <a:solidFill>
                  <a:srgbClr val="8A8984"/>
                </a:solidFill>
                <a:latin typeface="Calibri" pitchFamily="34" charset="0"/>
                <a:ea typeface="Calibri" pitchFamily="34" charset="-122"/>
                <a:cs typeface="Calibri" pitchFamily="34" charset="-120"/>
              </a:rPr>
              <a:t>p. 29</a:t>
            </a:r>
            <a:endParaRPr lang="en-US" sz="1100" dirty="0"/>
          </a:p>
        </p:txBody>
      </p:sp>
      <p:sp>
        <p:nvSpPr>
          <p:cNvPr id="21" name="Text 18"/>
          <p:cNvSpPr/>
          <p:nvPr/>
        </p:nvSpPr>
        <p:spPr>
          <a:xfrm>
            <a:off x="8229600" y="2377440"/>
            <a:ext cx="2926080" cy="365760"/>
          </a:xfrm>
          <a:prstGeom prst="rect">
            <a:avLst/>
          </a:prstGeom>
          <a:noFill/>
          <a:ln/>
        </p:spPr>
        <p:txBody>
          <a:bodyPr wrap="square" lIns="0" tIns="0" rIns="0" bIns="0" rtlCol="0" anchor="t"/>
          <a:lstStyle/>
          <a:p>
            <a:pPr indent="0" marL="0">
              <a:buNone/>
            </a:pPr>
            <a:r>
              <a:rPr lang="en-US" sz="1700" b="1" dirty="0">
                <a:solidFill>
                  <a:srgbClr val="1A1A1A"/>
                </a:solidFill>
                <a:latin typeface="Calibri" pitchFamily="34" charset="0"/>
                <a:ea typeface="Calibri" pitchFamily="34" charset="-122"/>
                <a:cs typeface="Calibri" pitchFamily="34" charset="-120"/>
              </a:rPr>
              <a:t>Colaboración</a:t>
            </a:r>
            <a:endParaRPr lang="en-US" sz="1700" dirty="0"/>
          </a:p>
        </p:txBody>
      </p:sp>
      <p:sp>
        <p:nvSpPr>
          <p:cNvPr id="22" name="Text 19"/>
          <p:cNvSpPr/>
          <p:nvPr/>
        </p:nvSpPr>
        <p:spPr>
          <a:xfrm>
            <a:off x="8229600" y="2788920"/>
            <a:ext cx="2880360" cy="731520"/>
          </a:xfrm>
          <a:prstGeom prst="rect">
            <a:avLst/>
          </a:prstGeom>
          <a:noFill/>
          <a:ln/>
        </p:spPr>
        <p:txBody>
          <a:bodyPr wrap="square" lIns="0" tIns="0" rIns="0" bIns="0" rtlCol="0" anchor="t"/>
          <a:lstStyle/>
          <a:p>
            <a:pPr indent="0" marL="0">
              <a:buNone/>
            </a:pPr>
            <a:r>
              <a:rPr lang="en-US" sz="1350" dirty="0">
                <a:solidFill>
                  <a:srgbClr val="57534E"/>
                </a:solidFill>
                <a:latin typeface="Calibri" pitchFamily="34" charset="0"/>
                <a:ea typeface="Calibri" pitchFamily="34" charset="-122"/>
                <a:cs typeface="Calibri" pitchFamily="34" charset="-120"/>
              </a:rPr>
              <a:t>PO, equipo y usuarios validan juntos; revisamos el código entre pares.</a:t>
            </a:r>
            <a:endParaRPr lang="en-US" sz="1350" dirty="0"/>
          </a:p>
        </p:txBody>
      </p:sp>
      <p:sp>
        <p:nvSpPr>
          <p:cNvPr id="23" name="Shape 20"/>
          <p:cNvSpPr/>
          <p:nvPr/>
        </p:nvSpPr>
        <p:spPr>
          <a:xfrm>
            <a:off x="731520" y="3794760"/>
            <a:ext cx="3383280" cy="1737360"/>
          </a:xfrm>
          <a:prstGeom prst="roundRect">
            <a:avLst>
              <a:gd name="adj" fmla="val 4211"/>
            </a:avLst>
          </a:prstGeom>
          <a:solidFill>
            <a:srgbClr val="FFFFFF"/>
          </a:solidFill>
          <a:ln w="9525">
            <a:solidFill>
              <a:srgbClr val="E7E5E4"/>
            </a:solidFill>
            <a:prstDash val="solid"/>
          </a:ln>
        </p:spPr>
      </p:sp>
      <p:sp>
        <p:nvSpPr>
          <p:cNvPr id="24" name="Text 21"/>
          <p:cNvSpPr/>
          <p:nvPr/>
        </p:nvSpPr>
        <p:spPr>
          <a:xfrm>
            <a:off x="1005840" y="4023360"/>
            <a:ext cx="548640" cy="274320"/>
          </a:xfrm>
          <a:prstGeom prst="rect">
            <a:avLst/>
          </a:prstGeom>
          <a:noFill/>
          <a:ln/>
        </p:spPr>
        <p:txBody>
          <a:bodyPr wrap="square" lIns="0" tIns="0" rIns="0" bIns="0" rtlCol="0" anchor="t"/>
          <a:lstStyle/>
          <a:p>
            <a:pPr indent="0" marL="0">
              <a:buNone/>
            </a:pPr>
            <a:r>
              <a:rPr lang="en-US" sz="1300" b="1" dirty="0">
                <a:solidFill>
                  <a:srgbClr val="3E63DD"/>
                </a:solidFill>
                <a:latin typeface="Calibri" pitchFamily="34" charset="0"/>
                <a:ea typeface="Calibri" pitchFamily="34" charset="-122"/>
                <a:cs typeface="Calibri" pitchFamily="34" charset="-120"/>
              </a:rPr>
              <a:t>04</a:t>
            </a:r>
            <a:endParaRPr lang="en-US" sz="1300" dirty="0"/>
          </a:p>
        </p:txBody>
      </p:sp>
      <p:sp>
        <p:nvSpPr>
          <p:cNvPr id="25" name="Text 22"/>
          <p:cNvSpPr/>
          <p:nvPr/>
        </p:nvSpPr>
        <p:spPr>
          <a:xfrm>
            <a:off x="3200400" y="4023360"/>
            <a:ext cx="640080" cy="274320"/>
          </a:xfrm>
          <a:prstGeom prst="rect">
            <a:avLst/>
          </a:prstGeom>
          <a:noFill/>
          <a:ln/>
        </p:spPr>
        <p:txBody>
          <a:bodyPr wrap="square" lIns="0" tIns="0" rIns="0" bIns="0" rtlCol="0" anchor="t"/>
          <a:lstStyle/>
          <a:p>
            <a:pPr algn="r" indent="0" marL="0">
              <a:buNone/>
            </a:pPr>
            <a:r>
              <a:rPr lang="en-US" sz="1100" dirty="0">
                <a:solidFill>
                  <a:srgbClr val="8A8984"/>
                </a:solidFill>
                <a:latin typeface="Calibri" pitchFamily="34" charset="0"/>
                <a:ea typeface="Calibri" pitchFamily="34" charset="-122"/>
                <a:cs typeface="Calibri" pitchFamily="34" charset="-120"/>
              </a:rPr>
              <a:t>p. 33</a:t>
            </a:r>
            <a:endParaRPr lang="en-US" sz="1100" dirty="0"/>
          </a:p>
        </p:txBody>
      </p:sp>
      <p:sp>
        <p:nvSpPr>
          <p:cNvPr id="26" name="Text 23"/>
          <p:cNvSpPr/>
          <p:nvPr/>
        </p:nvSpPr>
        <p:spPr>
          <a:xfrm>
            <a:off x="1005840" y="4343400"/>
            <a:ext cx="2926080" cy="365760"/>
          </a:xfrm>
          <a:prstGeom prst="rect">
            <a:avLst/>
          </a:prstGeom>
          <a:noFill/>
          <a:ln/>
        </p:spPr>
        <p:txBody>
          <a:bodyPr wrap="square" lIns="0" tIns="0" rIns="0" bIns="0" rtlCol="0" anchor="t"/>
          <a:lstStyle/>
          <a:p>
            <a:pPr indent="0" marL="0">
              <a:buNone/>
            </a:pPr>
            <a:r>
              <a:rPr lang="en-US" sz="1700" b="1" dirty="0">
                <a:solidFill>
                  <a:srgbClr val="1A1A1A"/>
                </a:solidFill>
                <a:latin typeface="Calibri" pitchFamily="34" charset="0"/>
                <a:ea typeface="Calibri" pitchFamily="34" charset="-122"/>
                <a:cs typeface="Calibri" pitchFamily="34" charset="-120"/>
              </a:rPr>
              <a:t>Priorización basada en valor</a:t>
            </a:r>
            <a:endParaRPr lang="en-US" sz="1700" dirty="0"/>
          </a:p>
        </p:txBody>
      </p:sp>
      <p:sp>
        <p:nvSpPr>
          <p:cNvPr id="27" name="Text 24"/>
          <p:cNvSpPr/>
          <p:nvPr/>
        </p:nvSpPr>
        <p:spPr>
          <a:xfrm>
            <a:off x="1005840" y="4754880"/>
            <a:ext cx="2880360" cy="731520"/>
          </a:xfrm>
          <a:prstGeom prst="rect">
            <a:avLst/>
          </a:prstGeom>
          <a:noFill/>
          <a:ln/>
        </p:spPr>
        <p:txBody>
          <a:bodyPr wrap="square" lIns="0" tIns="0" rIns="0" bIns="0" rtlCol="0" anchor="t"/>
          <a:lstStyle/>
          <a:p>
            <a:pPr indent="0" marL="0">
              <a:buNone/>
            </a:pPr>
            <a:r>
              <a:rPr lang="en-US" sz="1350" dirty="0">
                <a:solidFill>
                  <a:srgbClr val="57534E"/>
                </a:solidFill>
                <a:latin typeface="Calibri" pitchFamily="34" charset="0"/>
                <a:ea typeface="Calibri" pitchFamily="34" charset="-122"/>
                <a:cs typeface="Calibri" pitchFamily="34" charset="-120"/>
              </a:rPr>
              <a:t>Primero lo que más valor da, respetando las dependencias.</a:t>
            </a:r>
            <a:endParaRPr lang="en-US" sz="1350" dirty="0"/>
          </a:p>
        </p:txBody>
      </p:sp>
      <p:sp>
        <p:nvSpPr>
          <p:cNvPr id="28" name="Shape 25"/>
          <p:cNvSpPr/>
          <p:nvPr/>
        </p:nvSpPr>
        <p:spPr>
          <a:xfrm>
            <a:off x="4343400" y="3794760"/>
            <a:ext cx="3383280" cy="1737360"/>
          </a:xfrm>
          <a:prstGeom prst="roundRect">
            <a:avLst>
              <a:gd name="adj" fmla="val 4211"/>
            </a:avLst>
          </a:prstGeom>
          <a:solidFill>
            <a:srgbClr val="FFFFFF"/>
          </a:solidFill>
          <a:ln w="9525">
            <a:solidFill>
              <a:srgbClr val="E7E5E4"/>
            </a:solidFill>
            <a:prstDash val="solid"/>
          </a:ln>
        </p:spPr>
      </p:sp>
      <p:sp>
        <p:nvSpPr>
          <p:cNvPr id="29" name="Text 26"/>
          <p:cNvSpPr/>
          <p:nvPr/>
        </p:nvSpPr>
        <p:spPr>
          <a:xfrm>
            <a:off x="4617720" y="4023360"/>
            <a:ext cx="548640" cy="274320"/>
          </a:xfrm>
          <a:prstGeom prst="rect">
            <a:avLst/>
          </a:prstGeom>
          <a:noFill/>
          <a:ln/>
        </p:spPr>
        <p:txBody>
          <a:bodyPr wrap="square" lIns="0" tIns="0" rIns="0" bIns="0" rtlCol="0" anchor="t"/>
          <a:lstStyle/>
          <a:p>
            <a:pPr indent="0" marL="0">
              <a:buNone/>
            </a:pPr>
            <a:r>
              <a:rPr lang="en-US" sz="1300" b="1" dirty="0">
                <a:solidFill>
                  <a:srgbClr val="3E63DD"/>
                </a:solidFill>
                <a:latin typeface="Calibri" pitchFamily="34" charset="0"/>
                <a:ea typeface="Calibri" pitchFamily="34" charset="-122"/>
                <a:cs typeface="Calibri" pitchFamily="34" charset="-120"/>
              </a:rPr>
              <a:t>05</a:t>
            </a:r>
            <a:endParaRPr lang="en-US" sz="1300" dirty="0"/>
          </a:p>
        </p:txBody>
      </p:sp>
      <p:sp>
        <p:nvSpPr>
          <p:cNvPr id="30" name="Text 27"/>
          <p:cNvSpPr/>
          <p:nvPr/>
        </p:nvSpPr>
        <p:spPr>
          <a:xfrm>
            <a:off x="6812280" y="4023360"/>
            <a:ext cx="640080" cy="274320"/>
          </a:xfrm>
          <a:prstGeom prst="rect">
            <a:avLst/>
          </a:prstGeom>
          <a:noFill/>
          <a:ln/>
        </p:spPr>
        <p:txBody>
          <a:bodyPr wrap="square" lIns="0" tIns="0" rIns="0" bIns="0" rtlCol="0" anchor="t"/>
          <a:lstStyle/>
          <a:p>
            <a:pPr algn="r" indent="0" marL="0">
              <a:buNone/>
            </a:pPr>
            <a:r>
              <a:rPr lang="en-US" sz="1100" dirty="0">
                <a:solidFill>
                  <a:srgbClr val="8A8984"/>
                </a:solidFill>
                <a:latin typeface="Calibri" pitchFamily="34" charset="0"/>
                <a:ea typeface="Calibri" pitchFamily="34" charset="-122"/>
                <a:cs typeface="Calibri" pitchFamily="34" charset="-120"/>
              </a:rPr>
              <a:t>p. 35</a:t>
            </a:r>
            <a:endParaRPr lang="en-US" sz="1100" dirty="0"/>
          </a:p>
        </p:txBody>
      </p:sp>
      <p:sp>
        <p:nvSpPr>
          <p:cNvPr id="31" name="Text 28"/>
          <p:cNvSpPr/>
          <p:nvPr/>
        </p:nvSpPr>
        <p:spPr>
          <a:xfrm>
            <a:off x="4617720" y="4343400"/>
            <a:ext cx="2926080" cy="365760"/>
          </a:xfrm>
          <a:prstGeom prst="rect">
            <a:avLst/>
          </a:prstGeom>
          <a:noFill/>
          <a:ln/>
        </p:spPr>
        <p:txBody>
          <a:bodyPr wrap="square" lIns="0" tIns="0" rIns="0" bIns="0" rtlCol="0" anchor="t"/>
          <a:lstStyle/>
          <a:p>
            <a:pPr indent="0" marL="0">
              <a:buNone/>
            </a:pPr>
            <a:r>
              <a:rPr lang="en-US" sz="1700" b="1" dirty="0">
                <a:solidFill>
                  <a:srgbClr val="1A1A1A"/>
                </a:solidFill>
                <a:latin typeface="Calibri" pitchFamily="34" charset="0"/>
                <a:ea typeface="Calibri" pitchFamily="34" charset="-122"/>
                <a:cs typeface="Calibri" pitchFamily="34" charset="-120"/>
              </a:rPr>
              <a:t>Time-boxing</a:t>
            </a:r>
            <a:endParaRPr lang="en-US" sz="1700" dirty="0"/>
          </a:p>
        </p:txBody>
      </p:sp>
      <p:sp>
        <p:nvSpPr>
          <p:cNvPr id="32" name="Text 29"/>
          <p:cNvSpPr/>
          <p:nvPr/>
        </p:nvSpPr>
        <p:spPr>
          <a:xfrm>
            <a:off x="4617720" y="4754880"/>
            <a:ext cx="2880360" cy="731520"/>
          </a:xfrm>
          <a:prstGeom prst="rect">
            <a:avLst/>
          </a:prstGeom>
          <a:noFill/>
          <a:ln/>
        </p:spPr>
        <p:txBody>
          <a:bodyPr wrap="square" lIns="0" tIns="0" rIns="0" bIns="0" rtlCol="0" anchor="t"/>
          <a:lstStyle/>
          <a:p>
            <a:pPr indent="0" marL="0">
              <a:buNone/>
            </a:pPr>
            <a:r>
              <a:rPr lang="en-US" sz="1350" dirty="0">
                <a:solidFill>
                  <a:srgbClr val="57534E"/>
                </a:solidFill>
                <a:latin typeface="Calibri" pitchFamily="34" charset="0"/>
                <a:ea typeface="Calibri" pitchFamily="34" charset="-122"/>
                <a:cs typeface="Calibri" pitchFamily="34" charset="-120"/>
              </a:rPr>
              <a:t>Tiempos fijos: sprints de dos semanas y reuniones con duración máxima.</a:t>
            </a:r>
            <a:endParaRPr lang="en-US" sz="1350" dirty="0"/>
          </a:p>
        </p:txBody>
      </p:sp>
      <p:sp>
        <p:nvSpPr>
          <p:cNvPr id="33" name="Shape 30"/>
          <p:cNvSpPr/>
          <p:nvPr/>
        </p:nvSpPr>
        <p:spPr>
          <a:xfrm>
            <a:off x="7955280" y="3794760"/>
            <a:ext cx="3383280" cy="1737360"/>
          </a:xfrm>
          <a:prstGeom prst="roundRect">
            <a:avLst>
              <a:gd name="adj" fmla="val 4211"/>
            </a:avLst>
          </a:prstGeom>
          <a:solidFill>
            <a:srgbClr val="FFFFFF"/>
          </a:solidFill>
          <a:ln w="9525">
            <a:solidFill>
              <a:srgbClr val="E7E5E4"/>
            </a:solidFill>
            <a:prstDash val="solid"/>
          </a:ln>
        </p:spPr>
      </p:sp>
      <p:sp>
        <p:nvSpPr>
          <p:cNvPr id="34" name="Text 31"/>
          <p:cNvSpPr/>
          <p:nvPr/>
        </p:nvSpPr>
        <p:spPr>
          <a:xfrm>
            <a:off x="8229600" y="4023360"/>
            <a:ext cx="548640" cy="274320"/>
          </a:xfrm>
          <a:prstGeom prst="rect">
            <a:avLst/>
          </a:prstGeom>
          <a:noFill/>
          <a:ln/>
        </p:spPr>
        <p:txBody>
          <a:bodyPr wrap="square" lIns="0" tIns="0" rIns="0" bIns="0" rtlCol="0" anchor="t"/>
          <a:lstStyle/>
          <a:p>
            <a:pPr indent="0" marL="0">
              <a:buNone/>
            </a:pPr>
            <a:r>
              <a:rPr lang="en-US" sz="1300" b="1" dirty="0">
                <a:solidFill>
                  <a:srgbClr val="3E63DD"/>
                </a:solidFill>
                <a:latin typeface="Calibri" pitchFamily="34" charset="0"/>
                <a:ea typeface="Calibri" pitchFamily="34" charset="-122"/>
                <a:cs typeface="Calibri" pitchFamily="34" charset="-120"/>
              </a:rPr>
              <a:t>06</a:t>
            </a:r>
            <a:endParaRPr lang="en-US" sz="1300" dirty="0"/>
          </a:p>
        </p:txBody>
      </p:sp>
      <p:sp>
        <p:nvSpPr>
          <p:cNvPr id="35" name="Text 32"/>
          <p:cNvSpPr/>
          <p:nvPr/>
        </p:nvSpPr>
        <p:spPr>
          <a:xfrm>
            <a:off x="10424160" y="4023360"/>
            <a:ext cx="640080" cy="274320"/>
          </a:xfrm>
          <a:prstGeom prst="rect">
            <a:avLst/>
          </a:prstGeom>
          <a:noFill/>
          <a:ln/>
        </p:spPr>
        <p:txBody>
          <a:bodyPr wrap="square" lIns="0" tIns="0" rIns="0" bIns="0" rtlCol="0" anchor="t"/>
          <a:lstStyle/>
          <a:p>
            <a:pPr algn="r" indent="0" marL="0">
              <a:buNone/>
            </a:pPr>
            <a:r>
              <a:rPr lang="en-US" sz="1100" dirty="0">
                <a:solidFill>
                  <a:srgbClr val="8A8984"/>
                </a:solidFill>
                <a:latin typeface="Calibri" pitchFamily="34" charset="0"/>
                <a:ea typeface="Calibri" pitchFamily="34" charset="-122"/>
                <a:cs typeface="Calibri" pitchFamily="34" charset="-120"/>
              </a:rPr>
              <a:t>p. 38</a:t>
            </a:r>
            <a:endParaRPr lang="en-US" sz="1100" dirty="0"/>
          </a:p>
        </p:txBody>
      </p:sp>
      <p:sp>
        <p:nvSpPr>
          <p:cNvPr id="36" name="Text 33"/>
          <p:cNvSpPr/>
          <p:nvPr/>
        </p:nvSpPr>
        <p:spPr>
          <a:xfrm>
            <a:off x="8229600" y="4343400"/>
            <a:ext cx="2926080" cy="365760"/>
          </a:xfrm>
          <a:prstGeom prst="rect">
            <a:avLst/>
          </a:prstGeom>
          <a:noFill/>
          <a:ln/>
        </p:spPr>
        <p:txBody>
          <a:bodyPr wrap="square" lIns="0" tIns="0" rIns="0" bIns="0" rtlCol="0" anchor="t"/>
          <a:lstStyle/>
          <a:p>
            <a:pPr indent="0" marL="0">
              <a:buNone/>
            </a:pPr>
            <a:r>
              <a:rPr lang="en-US" sz="1700" b="1" dirty="0">
                <a:solidFill>
                  <a:srgbClr val="1A1A1A"/>
                </a:solidFill>
                <a:latin typeface="Calibri" pitchFamily="34" charset="0"/>
                <a:ea typeface="Calibri" pitchFamily="34" charset="-122"/>
                <a:cs typeface="Calibri" pitchFamily="34" charset="-120"/>
              </a:rPr>
              <a:t>Desarrollo iterativo</a:t>
            </a:r>
            <a:endParaRPr lang="en-US" sz="1700" dirty="0"/>
          </a:p>
        </p:txBody>
      </p:sp>
      <p:sp>
        <p:nvSpPr>
          <p:cNvPr id="37" name="Text 34"/>
          <p:cNvSpPr/>
          <p:nvPr/>
        </p:nvSpPr>
        <p:spPr>
          <a:xfrm>
            <a:off x="8229600" y="4754880"/>
            <a:ext cx="2880360" cy="731520"/>
          </a:xfrm>
          <a:prstGeom prst="rect">
            <a:avLst/>
          </a:prstGeom>
          <a:noFill/>
          <a:ln/>
        </p:spPr>
        <p:txBody>
          <a:bodyPr wrap="square" lIns="0" tIns="0" rIns="0" bIns="0" rtlCol="0" anchor="t"/>
          <a:lstStyle/>
          <a:p>
            <a:pPr indent="0" marL="0">
              <a:buNone/>
            </a:pPr>
            <a:r>
              <a:rPr lang="en-US" sz="1350" dirty="0">
                <a:solidFill>
                  <a:srgbClr val="57534E"/>
                </a:solidFill>
                <a:latin typeface="Calibri" pitchFamily="34" charset="0"/>
                <a:ea typeface="Calibri" pitchFamily="34" charset="-122"/>
                <a:cs typeface="Calibri" pitchFamily="34" charset="-120"/>
              </a:rPr>
              <a:t>Un incremento revisable al final de cada sprint.</a:t>
            </a:r>
            <a:endParaRPr lang="en-US" sz="1350" dirty="0"/>
          </a:p>
        </p:txBody>
      </p:sp>
      <p:sp>
        <p:nvSpPr>
          <p:cNvPr id="38" name="Text 35"/>
          <p:cNvSpPr/>
          <p:nvPr/>
        </p:nvSpPr>
        <p:spPr>
          <a:xfrm>
            <a:off x="731520" y="5989320"/>
            <a:ext cx="10728655" cy="274320"/>
          </a:xfrm>
          <a:prstGeom prst="rect">
            <a:avLst/>
          </a:prstGeom>
          <a:noFill/>
          <a:ln/>
        </p:spPr>
        <p:txBody>
          <a:bodyPr wrap="square" lIns="0" tIns="0" rIns="0" bIns="0" rtlCol="0" anchor="t"/>
          <a:lstStyle/>
          <a:p>
            <a:pPr indent="0" marL="0">
              <a:buNone/>
            </a:pPr>
            <a:r>
              <a:rPr lang="en-US" sz="1000" dirty="0">
                <a:solidFill>
                  <a:srgbClr val="8A8984"/>
                </a:solidFill>
                <a:latin typeface="Calibri" pitchFamily="34" charset="0"/>
                <a:ea typeface="Calibri" pitchFamily="34" charset="-122"/>
                <a:cs typeface="Calibri" pitchFamily="34" charset="-120"/>
              </a:rPr>
              <a:t>Fuente: SCRUMstudy (2022), pp. 21–40.</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AF9"/>
        </a:solidFill>
      </p:bgPr>
    </p:bg>
    <p:spTree>
      <p:nvGrpSpPr>
        <p:cNvPr id="1" name=""/>
        <p:cNvGrpSpPr/>
        <p:nvPr/>
      </p:nvGrpSpPr>
      <p:grpSpPr>
        <a:xfrm>
          <a:off x="0" y="0"/>
          <a:ext cx="0" cy="0"/>
          <a:chOff x="0" y="0"/>
          <a:chExt cx="0" cy="0"/>
        </a:xfrm>
      </p:grpSpPr>
      <p:sp>
        <p:nvSpPr>
          <p:cNvPr id="2" name="Text 0"/>
          <p:cNvSpPr/>
          <p:nvPr/>
        </p:nvSpPr>
        <p:spPr>
          <a:xfrm>
            <a:off x="731520" y="502920"/>
            <a:ext cx="10058400" cy="274320"/>
          </a:xfrm>
          <a:prstGeom prst="rect">
            <a:avLst/>
          </a:prstGeom>
          <a:noFill/>
          <a:ln/>
        </p:spPr>
        <p:txBody>
          <a:bodyPr wrap="square" lIns="0" tIns="0" rIns="0" bIns="0" rtlCol="0" anchor="t"/>
          <a:lstStyle/>
          <a:p>
            <a:pPr indent="0" marL="0">
              <a:buNone/>
            </a:pPr>
            <a:r>
              <a:rPr lang="en-US" sz="1100" b="1" spc="150" kern="0" dirty="0">
                <a:solidFill>
                  <a:srgbClr val="3E63DD"/>
                </a:solidFill>
                <a:latin typeface="Calibri" pitchFamily="34" charset="0"/>
                <a:ea typeface="Calibri" pitchFamily="34" charset="-122"/>
                <a:cs typeface="Calibri" pitchFamily="34" charset="-120"/>
              </a:rPr>
              <a:t>GUÍA SBOK → FORMATOS DEL CURSO</a:t>
            </a:r>
            <a:endParaRPr lang="en-US" sz="1100" dirty="0"/>
          </a:p>
        </p:txBody>
      </p:sp>
      <p:sp>
        <p:nvSpPr>
          <p:cNvPr id="3" name="Text 1"/>
          <p:cNvSpPr/>
          <p:nvPr/>
        </p:nvSpPr>
        <p:spPr>
          <a:xfrm>
            <a:off x="731520" y="777240"/>
            <a:ext cx="10698480" cy="822960"/>
          </a:xfrm>
          <a:prstGeom prst="rect">
            <a:avLst/>
          </a:prstGeom>
          <a:noFill/>
          <a:ln/>
        </p:spPr>
        <p:txBody>
          <a:bodyPr wrap="square" lIns="0" tIns="0" rIns="0" bIns="0" rtlCol="0" anchor="t"/>
          <a:lstStyle/>
          <a:p>
            <a:pPr indent="0" marL="0">
              <a:buNone/>
            </a:pPr>
            <a:r>
              <a:rPr lang="en-US" sz="3400" dirty="0">
                <a:solidFill>
                  <a:srgbClr val="1A1A1A"/>
                </a:solidFill>
                <a:latin typeface="Calibri Light" pitchFamily="34" charset="0"/>
                <a:ea typeface="Calibri Light" pitchFamily="34" charset="-122"/>
                <a:cs typeface="Calibri Light" pitchFamily="34" charset="-120"/>
              </a:rPr>
              <a:t>La Unidad I es la fase de Inicio</a:t>
            </a:r>
            <a:endParaRPr lang="en-US" sz="3400" dirty="0"/>
          </a:p>
        </p:txBody>
      </p:sp>
      <p:sp>
        <p:nvSpPr>
          <p:cNvPr id="4" name="Text 2"/>
          <p:cNvSpPr/>
          <p:nvPr/>
        </p:nvSpPr>
        <p:spPr>
          <a:xfrm>
            <a:off x="731520" y="6355080"/>
            <a:ext cx="2743200" cy="228600"/>
          </a:xfrm>
          <a:prstGeom prst="rect">
            <a:avLst/>
          </a:prstGeom>
          <a:noFill/>
          <a:ln/>
        </p:spPr>
        <p:txBody>
          <a:bodyPr wrap="square" lIns="0" tIns="0" rIns="0" bIns="0" rtlCol="0" anchor="t"/>
          <a:lstStyle/>
          <a:p>
            <a:pPr indent="0" marL="0">
              <a:buNone/>
            </a:pPr>
            <a:r>
              <a:rPr lang="en-US" sz="1000" b="1" dirty="0">
                <a:solidFill>
                  <a:srgbClr val="8A8984"/>
                </a:solidFill>
                <a:latin typeface="Calibri" pitchFamily="34" charset="0"/>
                <a:ea typeface="Calibri" pitchFamily="34" charset="-122"/>
                <a:cs typeface="Calibri" pitchFamily="34" charset="-120"/>
              </a:rPr>
              <a:t>NewBit</a:t>
            </a:r>
            <a:endParaRPr lang="en-US" sz="1000" dirty="0"/>
          </a:p>
        </p:txBody>
      </p:sp>
      <p:sp>
        <p:nvSpPr>
          <p:cNvPr id="5" name="Text 3"/>
          <p:cNvSpPr/>
          <p:nvPr/>
        </p:nvSpPr>
        <p:spPr>
          <a:xfrm>
            <a:off x="1371600" y="6355080"/>
            <a:ext cx="4572000" cy="228600"/>
          </a:xfrm>
          <a:prstGeom prst="rect">
            <a:avLst/>
          </a:prstGeom>
          <a:noFill/>
          <a:ln/>
        </p:spPr>
        <p:txBody>
          <a:bodyPr wrap="square" lIns="0" tIns="0" rIns="0" bIns="0" rtlCol="0" anchor="t"/>
          <a:lstStyle/>
          <a:p>
            <a:pPr indent="0" marL="0">
              <a:buNone/>
            </a:pPr>
            <a:r>
              <a:rPr lang="en-US" sz="1000" dirty="0">
                <a:solidFill>
                  <a:srgbClr val="8A8984"/>
                </a:solidFill>
                <a:latin typeface="Calibri" pitchFamily="34" charset="0"/>
                <a:ea typeface="Calibri" pitchFamily="34" charset="-122"/>
                <a:cs typeface="Calibri" pitchFamily="34" charset="-120"/>
              </a:rPr>
              <a:t>Producto de la Unidad I · Grupo D3</a:t>
            </a:r>
            <a:endParaRPr lang="en-US" sz="1000" dirty="0"/>
          </a:p>
        </p:txBody>
      </p:sp>
      <p:sp>
        <p:nvSpPr>
          <p:cNvPr id="6" name="Text 4"/>
          <p:cNvSpPr/>
          <p:nvPr/>
        </p:nvSpPr>
        <p:spPr>
          <a:xfrm>
            <a:off x="10728655" y="6355080"/>
            <a:ext cx="731520" cy="228600"/>
          </a:xfrm>
          <a:prstGeom prst="rect">
            <a:avLst/>
          </a:prstGeom>
          <a:noFill/>
          <a:ln/>
        </p:spPr>
        <p:txBody>
          <a:bodyPr wrap="square" lIns="0" tIns="0" rIns="0" bIns="0" rtlCol="0" anchor="t"/>
          <a:lstStyle/>
          <a:p>
            <a:pPr algn="r" indent="0" marL="0">
              <a:buNone/>
            </a:pPr>
            <a:r>
              <a:rPr lang="en-US" sz="1000" dirty="0">
                <a:solidFill>
                  <a:srgbClr val="8A8984"/>
                </a:solidFill>
                <a:latin typeface="Calibri" pitchFamily="34" charset="0"/>
                <a:ea typeface="Calibri" pitchFamily="34" charset="-122"/>
                <a:cs typeface="Calibri" pitchFamily="34" charset="-120"/>
              </a:rPr>
              <a:t>14</a:t>
            </a:r>
            <a:endParaRPr lang="en-US" sz="1000" dirty="0"/>
          </a:p>
        </p:txBody>
      </p:sp>
      <p:sp>
        <p:nvSpPr>
          <p:cNvPr id="8" name="Text 5"/>
          <p:cNvSpPr/>
          <p:nvPr/>
        </p:nvSpPr>
        <p:spPr>
          <a:xfrm>
            <a:off x="731520" y="1874520"/>
            <a:ext cx="1645920" cy="365760"/>
          </a:xfrm>
          <a:prstGeom prst="rect">
            <a:avLst/>
          </a:prstGeom>
          <a:noFill/>
          <a:ln/>
        </p:spPr>
        <p:txBody>
          <a:bodyPr wrap="square" lIns="0" tIns="0" rIns="0" bIns="0" rtlCol="0" anchor="t"/>
          <a:lstStyle/>
          <a:p>
            <a:pPr indent="0" marL="0">
              <a:buNone/>
            </a:pPr>
            <a:r>
              <a:rPr lang="en-US" sz="2800" dirty="0">
                <a:solidFill>
                  <a:srgbClr val="3E63DD"/>
                </a:solidFill>
                <a:latin typeface="Calibri Light" pitchFamily="34" charset="0"/>
                <a:ea typeface="Calibri Light" pitchFamily="34" charset="-122"/>
                <a:cs typeface="Calibri Light" pitchFamily="34" charset="-120"/>
              </a:rPr>
              <a:t>8.1</a:t>
            </a:r>
            <a:endParaRPr lang="en-US" sz="2800" dirty="0"/>
          </a:p>
        </p:txBody>
      </p:sp>
      <p:sp>
        <p:nvSpPr>
          <p:cNvPr id="9" name="Shape 6"/>
          <p:cNvSpPr/>
          <p:nvPr/>
        </p:nvSpPr>
        <p:spPr>
          <a:xfrm>
            <a:off x="731520" y="2377440"/>
            <a:ext cx="1600200" cy="0"/>
          </a:xfrm>
          <a:prstGeom prst="line">
            <a:avLst/>
          </a:prstGeom>
          <a:noFill/>
          <a:ln w="19050">
            <a:solidFill>
              <a:srgbClr val="3E63DD"/>
            </a:solidFill>
            <a:prstDash val="solid"/>
          </a:ln>
        </p:spPr>
      </p:sp>
      <p:sp>
        <p:nvSpPr>
          <p:cNvPr id="10" name="Text 7"/>
          <p:cNvSpPr/>
          <p:nvPr/>
        </p:nvSpPr>
        <p:spPr>
          <a:xfrm>
            <a:off x="731520" y="2560320"/>
            <a:ext cx="1645920" cy="731520"/>
          </a:xfrm>
          <a:prstGeom prst="rect">
            <a:avLst/>
          </a:prstGeom>
          <a:noFill/>
          <a:ln/>
        </p:spPr>
        <p:txBody>
          <a:bodyPr wrap="square" lIns="0" tIns="0" rIns="0" bIns="0" rtlCol="0" anchor="t"/>
          <a:lstStyle/>
          <a:p>
            <a:pPr indent="0" marL="0">
              <a:buNone/>
            </a:pPr>
            <a:r>
              <a:rPr lang="en-US" sz="1600" b="1" dirty="0">
                <a:solidFill>
                  <a:srgbClr val="1A1A1A"/>
                </a:solidFill>
                <a:latin typeface="Calibri" pitchFamily="34" charset="0"/>
                <a:ea typeface="Calibri" pitchFamily="34" charset="-122"/>
                <a:cs typeface="Calibri" pitchFamily="34" charset="-120"/>
              </a:rPr>
              <a:t>Crear la visión</a:t>
            </a:r>
            <a:endParaRPr lang="en-US" sz="1600" dirty="0"/>
          </a:p>
        </p:txBody>
      </p:sp>
      <p:sp>
        <p:nvSpPr>
          <p:cNvPr id="11" name="Text 8"/>
          <p:cNvSpPr/>
          <p:nvPr/>
        </p:nvSpPr>
        <p:spPr>
          <a:xfrm>
            <a:off x="731520" y="3291840"/>
            <a:ext cx="1645920" cy="1097280"/>
          </a:xfrm>
          <a:prstGeom prst="rect">
            <a:avLst/>
          </a:prstGeom>
          <a:noFill/>
          <a:ln/>
        </p:spPr>
        <p:txBody>
          <a:bodyPr wrap="square" lIns="0" tIns="0" rIns="0" bIns="0" rtlCol="0" anchor="t"/>
          <a:lstStyle/>
          <a:p>
            <a:pPr indent="0" marL="0">
              <a:buNone/>
            </a:pPr>
            <a:r>
              <a:rPr lang="en-US" sz="1300" dirty="0">
                <a:solidFill>
                  <a:srgbClr val="57534E"/>
                </a:solidFill>
                <a:latin typeface="Calibri" pitchFamily="34" charset="0"/>
                <a:ea typeface="Calibri" pitchFamily="34" charset="-122"/>
                <a:cs typeface="Calibri" pitchFamily="34" charset="-120"/>
              </a:rPr>
              <a:t>Acta FGAP010 · Justificación EGAP015</a:t>
            </a:r>
            <a:endParaRPr lang="en-US" sz="1300" dirty="0"/>
          </a:p>
        </p:txBody>
      </p:sp>
      <p:sp>
        <p:nvSpPr>
          <p:cNvPr id="12" name="Text 9"/>
          <p:cNvSpPr/>
          <p:nvPr/>
        </p:nvSpPr>
        <p:spPr>
          <a:xfrm>
            <a:off x="2542032" y="1874520"/>
            <a:ext cx="1645920" cy="365760"/>
          </a:xfrm>
          <a:prstGeom prst="rect">
            <a:avLst/>
          </a:prstGeom>
          <a:noFill/>
          <a:ln/>
        </p:spPr>
        <p:txBody>
          <a:bodyPr wrap="square" lIns="0" tIns="0" rIns="0" bIns="0" rtlCol="0" anchor="t"/>
          <a:lstStyle/>
          <a:p>
            <a:pPr indent="0" marL="0">
              <a:buNone/>
            </a:pPr>
            <a:r>
              <a:rPr lang="en-US" sz="2800" dirty="0">
                <a:solidFill>
                  <a:srgbClr val="3E63DD"/>
                </a:solidFill>
                <a:latin typeface="Calibri Light" pitchFamily="34" charset="0"/>
                <a:ea typeface="Calibri Light" pitchFamily="34" charset="-122"/>
                <a:cs typeface="Calibri Light" pitchFamily="34" charset="-120"/>
              </a:rPr>
              <a:t>8.2</a:t>
            </a:r>
            <a:endParaRPr lang="en-US" sz="2800" dirty="0"/>
          </a:p>
        </p:txBody>
      </p:sp>
      <p:sp>
        <p:nvSpPr>
          <p:cNvPr id="13" name="Shape 10"/>
          <p:cNvSpPr/>
          <p:nvPr/>
        </p:nvSpPr>
        <p:spPr>
          <a:xfrm>
            <a:off x="2542032" y="2377440"/>
            <a:ext cx="1600200" cy="0"/>
          </a:xfrm>
          <a:prstGeom prst="line">
            <a:avLst/>
          </a:prstGeom>
          <a:noFill/>
          <a:ln w="19050">
            <a:solidFill>
              <a:srgbClr val="3E63DD"/>
            </a:solidFill>
            <a:prstDash val="solid"/>
          </a:ln>
        </p:spPr>
      </p:sp>
      <p:sp>
        <p:nvSpPr>
          <p:cNvPr id="14" name="Text 11"/>
          <p:cNvSpPr/>
          <p:nvPr/>
        </p:nvSpPr>
        <p:spPr>
          <a:xfrm>
            <a:off x="2542032" y="2560320"/>
            <a:ext cx="1645920" cy="731520"/>
          </a:xfrm>
          <a:prstGeom prst="rect">
            <a:avLst/>
          </a:prstGeom>
          <a:noFill/>
          <a:ln/>
        </p:spPr>
        <p:txBody>
          <a:bodyPr wrap="square" lIns="0" tIns="0" rIns="0" bIns="0" rtlCol="0" anchor="t"/>
          <a:lstStyle/>
          <a:p>
            <a:pPr indent="0" marL="0">
              <a:buNone/>
            </a:pPr>
            <a:r>
              <a:rPr lang="en-US" sz="1600" b="1" dirty="0">
                <a:solidFill>
                  <a:srgbClr val="1A1A1A"/>
                </a:solidFill>
                <a:latin typeface="Calibri" pitchFamily="34" charset="0"/>
                <a:ea typeface="Calibri" pitchFamily="34" charset="-122"/>
                <a:cs typeface="Calibri" pitchFamily="34" charset="-120"/>
              </a:rPr>
              <a:t>Identificar interesados</a:t>
            </a:r>
            <a:endParaRPr lang="en-US" sz="1600" dirty="0"/>
          </a:p>
        </p:txBody>
      </p:sp>
      <p:sp>
        <p:nvSpPr>
          <p:cNvPr id="15" name="Text 12"/>
          <p:cNvSpPr/>
          <p:nvPr/>
        </p:nvSpPr>
        <p:spPr>
          <a:xfrm>
            <a:off x="2542032" y="3291840"/>
            <a:ext cx="1645920" cy="1097280"/>
          </a:xfrm>
          <a:prstGeom prst="rect">
            <a:avLst/>
          </a:prstGeom>
          <a:noFill/>
          <a:ln/>
        </p:spPr>
        <p:txBody>
          <a:bodyPr wrap="square" lIns="0" tIns="0" rIns="0" bIns="0" rtlCol="0" anchor="t"/>
          <a:lstStyle/>
          <a:p>
            <a:pPr indent="0" marL="0">
              <a:buNone/>
            </a:pPr>
            <a:r>
              <a:rPr lang="en-US" sz="1300" dirty="0">
                <a:solidFill>
                  <a:srgbClr val="57534E"/>
                </a:solidFill>
                <a:latin typeface="Calibri" pitchFamily="34" charset="0"/>
                <a:ea typeface="Calibri" pitchFamily="34" charset="-122"/>
                <a:cs typeface="Calibri" pitchFamily="34" charset="-120"/>
              </a:rPr>
              <a:t>Registro FGAP020</a:t>
            </a:r>
            <a:endParaRPr lang="en-US" sz="1300" dirty="0"/>
          </a:p>
        </p:txBody>
      </p:sp>
      <p:sp>
        <p:nvSpPr>
          <p:cNvPr id="16" name="Text 13"/>
          <p:cNvSpPr/>
          <p:nvPr/>
        </p:nvSpPr>
        <p:spPr>
          <a:xfrm>
            <a:off x="4352544" y="1874520"/>
            <a:ext cx="1645920" cy="365760"/>
          </a:xfrm>
          <a:prstGeom prst="rect">
            <a:avLst/>
          </a:prstGeom>
          <a:noFill/>
          <a:ln/>
        </p:spPr>
        <p:txBody>
          <a:bodyPr wrap="square" lIns="0" tIns="0" rIns="0" bIns="0" rtlCol="0" anchor="t"/>
          <a:lstStyle/>
          <a:p>
            <a:pPr indent="0" marL="0">
              <a:buNone/>
            </a:pPr>
            <a:r>
              <a:rPr lang="en-US" sz="2800" dirty="0">
                <a:solidFill>
                  <a:srgbClr val="3E63DD"/>
                </a:solidFill>
                <a:latin typeface="Calibri Light" pitchFamily="34" charset="0"/>
                <a:ea typeface="Calibri Light" pitchFamily="34" charset="-122"/>
                <a:cs typeface="Calibri Light" pitchFamily="34" charset="-120"/>
              </a:rPr>
              <a:t>8.3</a:t>
            </a:r>
            <a:endParaRPr lang="en-US" sz="2800" dirty="0"/>
          </a:p>
        </p:txBody>
      </p:sp>
      <p:sp>
        <p:nvSpPr>
          <p:cNvPr id="17" name="Shape 14"/>
          <p:cNvSpPr/>
          <p:nvPr/>
        </p:nvSpPr>
        <p:spPr>
          <a:xfrm>
            <a:off x="4352544" y="2377440"/>
            <a:ext cx="1600200" cy="0"/>
          </a:xfrm>
          <a:prstGeom prst="line">
            <a:avLst/>
          </a:prstGeom>
          <a:noFill/>
          <a:ln w="19050">
            <a:solidFill>
              <a:srgbClr val="3E63DD"/>
            </a:solidFill>
            <a:prstDash val="solid"/>
          </a:ln>
        </p:spPr>
      </p:sp>
      <p:sp>
        <p:nvSpPr>
          <p:cNvPr id="18" name="Text 15"/>
          <p:cNvSpPr/>
          <p:nvPr/>
        </p:nvSpPr>
        <p:spPr>
          <a:xfrm>
            <a:off x="4352544" y="2560320"/>
            <a:ext cx="1645920" cy="731520"/>
          </a:xfrm>
          <a:prstGeom prst="rect">
            <a:avLst/>
          </a:prstGeom>
          <a:noFill/>
          <a:ln/>
        </p:spPr>
        <p:txBody>
          <a:bodyPr wrap="square" lIns="0" tIns="0" rIns="0" bIns="0" rtlCol="0" anchor="t"/>
          <a:lstStyle/>
          <a:p>
            <a:pPr indent="0" marL="0">
              <a:buNone/>
            </a:pPr>
            <a:r>
              <a:rPr lang="en-US" sz="1600" b="1" dirty="0">
                <a:solidFill>
                  <a:srgbClr val="1A1A1A"/>
                </a:solidFill>
                <a:latin typeface="Calibri" pitchFamily="34" charset="0"/>
                <a:ea typeface="Calibri" pitchFamily="34" charset="-122"/>
                <a:cs typeface="Calibri" pitchFamily="34" charset="-120"/>
              </a:rPr>
              <a:t>Formar el equipo</a:t>
            </a:r>
            <a:endParaRPr lang="en-US" sz="1600" dirty="0"/>
          </a:p>
        </p:txBody>
      </p:sp>
      <p:sp>
        <p:nvSpPr>
          <p:cNvPr id="19" name="Text 16"/>
          <p:cNvSpPr/>
          <p:nvPr/>
        </p:nvSpPr>
        <p:spPr>
          <a:xfrm>
            <a:off x="4352544" y="3291840"/>
            <a:ext cx="1645920" cy="1097280"/>
          </a:xfrm>
          <a:prstGeom prst="rect">
            <a:avLst/>
          </a:prstGeom>
          <a:noFill/>
          <a:ln/>
        </p:spPr>
        <p:txBody>
          <a:bodyPr wrap="square" lIns="0" tIns="0" rIns="0" bIns="0" rtlCol="0" anchor="t"/>
          <a:lstStyle/>
          <a:p>
            <a:pPr indent="0" marL="0">
              <a:buNone/>
            </a:pPr>
            <a:r>
              <a:rPr lang="en-US" sz="1300" dirty="0">
                <a:solidFill>
                  <a:srgbClr val="57534E"/>
                </a:solidFill>
                <a:latin typeface="Calibri" pitchFamily="34" charset="0"/>
                <a:ea typeface="Calibri" pitchFamily="34" charset="-122"/>
                <a:cs typeface="Calibri" pitchFamily="34" charset="-120"/>
              </a:rPr>
              <a:t>Roles FGAP030</a:t>
            </a:r>
            <a:endParaRPr lang="en-US" sz="1300" dirty="0"/>
          </a:p>
        </p:txBody>
      </p:sp>
      <p:sp>
        <p:nvSpPr>
          <p:cNvPr id="20" name="Text 17"/>
          <p:cNvSpPr/>
          <p:nvPr/>
        </p:nvSpPr>
        <p:spPr>
          <a:xfrm>
            <a:off x="6163056" y="1874520"/>
            <a:ext cx="1645920" cy="365760"/>
          </a:xfrm>
          <a:prstGeom prst="rect">
            <a:avLst/>
          </a:prstGeom>
          <a:noFill/>
          <a:ln/>
        </p:spPr>
        <p:txBody>
          <a:bodyPr wrap="square" lIns="0" tIns="0" rIns="0" bIns="0" rtlCol="0" anchor="t"/>
          <a:lstStyle/>
          <a:p>
            <a:pPr indent="0" marL="0">
              <a:buNone/>
            </a:pPr>
            <a:r>
              <a:rPr lang="en-US" sz="2800" dirty="0">
                <a:solidFill>
                  <a:srgbClr val="3E63DD"/>
                </a:solidFill>
                <a:latin typeface="Calibri Light" pitchFamily="34" charset="0"/>
                <a:ea typeface="Calibri Light" pitchFamily="34" charset="-122"/>
                <a:cs typeface="Calibri Light" pitchFamily="34" charset="-120"/>
              </a:rPr>
              <a:t>8.4</a:t>
            </a:r>
            <a:endParaRPr lang="en-US" sz="2800" dirty="0"/>
          </a:p>
        </p:txBody>
      </p:sp>
      <p:sp>
        <p:nvSpPr>
          <p:cNvPr id="21" name="Shape 18"/>
          <p:cNvSpPr/>
          <p:nvPr/>
        </p:nvSpPr>
        <p:spPr>
          <a:xfrm>
            <a:off x="6163056" y="2377440"/>
            <a:ext cx="1600200" cy="0"/>
          </a:xfrm>
          <a:prstGeom prst="line">
            <a:avLst/>
          </a:prstGeom>
          <a:noFill/>
          <a:ln w="19050">
            <a:solidFill>
              <a:srgbClr val="3E63DD"/>
            </a:solidFill>
            <a:prstDash val="solid"/>
          </a:ln>
        </p:spPr>
      </p:sp>
      <p:sp>
        <p:nvSpPr>
          <p:cNvPr id="22" name="Text 19"/>
          <p:cNvSpPr/>
          <p:nvPr/>
        </p:nvSpPr>
        <p:spPr>
          <a:xfrm>
            <a:off x="6163056" y="2560320"/>
            <a:ext cx="1645920" cy="731520"/>
          </a:xfrm>
          <a:prstGeom prst="rect">
            <a:avLst/>
          </a:prstGeom>
          <a:noFill/>
          <a:ln/>
        </p:spPr>
        <p:txBody>
          <a:bodyPr wrap="square" lIns="0" tIns="0" rIns="0" bIns="0" rtlCol="0" anchor="t"/>
          <a:lstStyle/>
          <a:p>
            <a:pPr indent="0" marL="0">
              <a:buNone/>
            </a:pPr>
            <a:r>
              <a:rPr lang="en-US" sz="1600" b="1" dirty="0">
                <a:solidFill>
                  <a:srgbClr val="1A1A1A"/>
                </a:solidFill>
                <a:latin typeface="Calibri" pitchFamily="34" charset="0"/>
                <a:ea typeface="Calibri" pitchFamily="34" charset="-122"/>
                <a:cs typeface="Calibri" pitchFamily="34" charset="-120"/>
              </a:rPr>
              <a:t>Desarrollar épicas</a:t>
            </a:r>
            <a:endParaRPr lang="en-US" sz="1600" dirty="0"/>
          </a:p>
        </p:txBody>
      </p:sp>
      <p:sp>
        <p:nvSpPr>
          <p:cNvPr id="23" name="Text 20"/>
          <p:cNvSpPr/>
          <p:nvPr/>
        </p:nvSpPr>
        <p:spPr>
          <a:xfrm>
            <a:off x="6163056" y="3291840"/>
            <a:ext cx="1645920" cy="1097280"/>
          </a:xfrm>
          <a:prstGeom prst="rect">
            <a:avLst/>
          </a:prstGeom>
          <a:noFill/>
          <a:ln/>
        </p:spPr>
        <p:txBody>
          <a:bodyPr wrap="square" lIns="0" tIns="0" rIns="0" bIns="0" rtlCol="0" anchor="t"/>
          <a:lstStyle/>
          <a:p>
            <a:pPr indent="0" marL="0">
              <a:buNone/>
            </a:pPr>
            <a:r>
              <a:rPr lang="en-US" sz="1300" dirty="0">
                <a:solidFill>
                  <a:srgbClr val="57534E"/>
                </a:solidFill>
                <a:latin typeface="Calibri" pitchFamily="34" charset="0"/>
                <a:ea typeface="Calibri" pitchFamily="34" charset="-122"/>
                <a:cs typeface="Calibri" pitchFamily="34" charset="-120"/>
              </a:rPr>
              <a:t>Épicas FGAP040 · personajes</a:t>
            </a:r>
            <a:endParaRPr lang="en-US" sz="1300" dirty="0"/>
          </a:p>
        </p:txBody>
      </p:sp>
      <p:sp>
        <p:nvSpPr>
          <p:cNvPr id="24" name="Text 21"/>
          <p:cNvSpPr/>
          <p:nvPr/>
        </p:nvSpPr>
        <p:spPr>
          <a:xfrm>
            <a:off x="7973568" y="1874520"/>
            <a:ext cx="1645920" cy="365760"/>
          </a:xfrm>
          <a:prstGeom prst="rect">
            <a:avLst/>
          </a:prstGeom>
          <a:noFill/>
          <a:ln/>
        </p:spPr>
        <p:txBody>
          <a:bodyPr wrap="square" lIns="0" tIns="0" rIns="0" bIns="0" rtlCol="0" anchor="t"/>
          <a:lstStyle/>
          <a:p>
            <a:pPr indent="0" marL="0">
              <a:buNone/>
            </a:pPr>
            <a:r>
              <a:rPr lang="en-US" sz="2800" dirty="0">
                <a:solidFill>
                  <a:srgbClr val="3E63DD"/>
                </a:solidFill>
                <a:latin typeface="Calibri Light" pitchFamily="34" charset="0"/>
                <a:ea typeface="Calibri Light" pitchFamily="34" charset="-122"/>
                <a:cs typeface="Calibri Light" pitchFamily="34" charset="-120"/>
              </a:rPr>
              <a:t>8.5</a:t>
            </a:r>
            <a:endParaRPr lang="en-US" sz="2800" dirty="0"/>
          </a:p>
        </p:txBody>
      </p:sp>
      <p:sp>
        <p:nvSpPr>
          <p:cNvPr id="25" name="Shape 22"/>
          <p:cNvSpPr/>
          <p:nvPr/>
        </p:nvSpPr>
        <p:spPr>
          <a:xfrm>
            <a:off x="7973568" y="2377440"/>
            <a:ext cx="1600200" cy="0"/>
          </a:xfrm>
          <a:prstGeom prst="line">
            <a:avLst/>
          </a:prstGeom>
          <a:noFill/>
          <a:ln w="19050">
            <a:solidFill>
              <a:srgbClr val="3E63DD"/>
            </a:solidFill>
            <a:prstDash val="solid"/>
          </a:ln>
        </p:spPr>
      </p:sp>
      <p:sp>
        <p:nvSpPr>
          <p:cNvPr id="26" name="Text 23"/>
          <p:cNvSpPr/>
          <p:nvPr/>
        </p:nvSpPr>
        <p:spPr>
          <a:xfrm>
            <a:off x="7973568" y="2560320"/>
            <a:ext cx="1645920" cy="731520"/>
          </a:xfrm>
          <a:prstGeom prst="rect">
            <a:avLst/>
          </a:prstGeom>
          <a:noFill/>
          <a:ln/>
        </p:spPr>
        <p:txBody>
          <a:bodyPr wrap="square" lIns="0" tIns="0" rIns="0" bIns="0" rtlCol="0" anchor="t"/>
          <a:lstStyle/>
          <a:p>
            <a:pPr indent="0" marL="0">
              <a:buNone/>
            </a:pPr>
            <a:r>
              <a:rPr lang="en-US" sz="1600" b="1" dirty="0">
                <a:solidFill>
                  <a:srgbClr val="1A1A1A"/>
                </a:solidFill>
                <a:latin typeface="Calibri" pitchFamily="34" charset="0"/>
                <a:ea typeface="Calibri" pitchFamily="34" charset="-122"/>
                <a:cs typeface="Calibri" pitchFamily="34" charset="-120"/>
              </a:rPr>
              <a:t>Crear el backlog priorizado</a:t>
            </a:r>
            <a:endParaRPr lang="en-US" sz="1600" dirty="0"/>
          </a:p>
        </p:txBody>
      </p:sp>
      <p:sp>
        <p:nvSpPr>
          <p:cNvPr id="27" name="Text 24"/>
          <p:cNvSpPr/>
          <p:nvPr/>
        </p:nvSpPr>
        <p:spPr>
          <a:xfrm>
            <a:off x="7973568" y="3291840"/>
            <a:ext cx="1645920" cy="1097280"/>
          </a:xfrm>
          <a:prstGeom prst="rect">
            <a:avLst/>
          </a:prstGeom>
          <a:noFill/>
          <a:ln/>
        </p:spPr>
        <p:txBody>
          <a:bodyPr wrap="square" lIns="0" tIns="0" rIns="0" bIns="0" rtlCol="0" anchor="t"/>
          <a:lstStyle/>
          <a:p>
            <a:pPr indent="0" marL="0">
              <a:buNone/>
            </a:pPr>
            <a:r>
              <a:rPr lang="en-US" sz="1300" dirty="0">
                <a:solidFill>
                  <a:srgbClr val="57534E"/>
                </a:solidFill>
                <a:latin typeface="Calibri" pitchFamily="34" charset="0"/>
                <a:ea typeface="Calibri" pitchFamily="34" charset="-122"/>
                <a:cs typeface="Calibri" pitchFamily="34" charset="-120"/>
              </a:rPr>
              <a:t>Backlog FGAP060 · Terminado FGAP070 · Listo</a:t>
            </a:r>
            <a:endParaRPr lang="en-US" sz="1300" dirty="0"/>
          </a:p>
        </p:txBody>
      </p:sp>
      <p:sp>
        <p:nvSpPr>
          <p:cNvPr id="28" name="Text 25"/>
          <p:cNvSpPr/>
          <p:nvPr/>
        </p:nvSpPr>
        <p:spPr>
          <a:xfrm>
            <a:off x="9784080" y="1874520"/>
            <a:ext cx="1645920" cy="365760"/>
          </a:xfrm>
          <a:prstGeom prst="rect">
            <a:avLst/>
          </a:prstGeom>
          <a:noFill/>
          <a:ln/>
        </p:spPr>
        <p:txBody>
          <a:bodyPr wrap="square" lIns="0" tIns="0" rIns="0" bIns="0" rtlCol="0" anchor="t"/>
          <a:lstStyle/>
          <a:p>
            <a:pPr indent="0" marL="0">
              <a:buNone/>
            </a:pPr>
            <a:r>
              <a:rPr lang="en-US" sz="2800" dirty="0">
                <a:solidFill>
                  <a:srgbClr val="3E63DD"/>
                </a:solidFill>
                <a:latin typeface="Calibri Light" pitchFamily="34" charset="0"/>
                <a:ea typeface="Calibri Light" pitchFamily="34" charset="-122"/>
                <a:cs typeface="Calibri Light" pitchFamily="34" charset="-120"/>
              </a:rPr>
              <a:t>8.6</a:t>
            </a:r>
            <a:endParaRPr lang="en-US" sz="2800" dirty="0"/>
          </a:p>
        </p:txBody>
      </p:sp>
      <p:sp>
        <p:nvSpPr>
          <p:cNvPr id="29" name="Shape 26"/>
          <p:cNvSpPr/>
          <p:nvPr/>
        </p:nvSpPr>
        <p:spPr>
          <a:xfrm>
            <a:off x="9784080" y="2377440"/>
            <a:ext cx="1600200" cy="0"/>
          </a:xfrm>
          <a:prstGeom prst="line">
            <a:avLst/>
          </a:prstGeom>
          <a:noFill/>
          <a:ln w="19050">
            <a:solidFill>
              <a:srgbClr val="3E63DD"/>
            </a:solidFill>
            <a:prstDash val="solid"/>
          </a:ln>
        </p:spPr>
      </p:sp>
      <p:sp>
        <p:nvSpPr>
          <p:cNvPr id="30" name="Text 27"/>
          <p:cNvSpPr/>
          <p:nvPr/>
        </p:nvSpPr>
        <p:spPr>
          <a:xfrm>
            <a:off x="9784080" y="2560320"/>
            <a:ext cx="1645920" cy="731520"/>
          </a:xfrm>
          <a:prstGeom prst="rect">
            <a:avLst/>
          </a:prstGeom>
          <a:noFill/>
          <a:ln/>
        </p:spPr>
        <p:txBody>
          <a:bodyPr wrap="square" lIns="0" tIns="0" rIns="0" bIns="0" rtlCol="0" anchor="t"/>
          <a:lstStyle/>
          <a:p>
            <a:pPr indent="0" marL="0">
              <a:buNone/>
            </a:pPr>
            <a:r>
              <a:rPr lang="en-US" sz="1600" b="1" dirty="0">
                <a:solidFill>
                  <a:srgbClr val="1A1A1A"/>
                </a:solidFill>
                <a:latin typeface="Calibri" pitchFamily="34" charset="0"/>
                <a:ea typeface="Calibri" pitchFamily="34" charset="-122"/>
                <a:cs typeface="Calibri" pitchFamily="34" charset="-120"/>
              </a:rPr>
              <a:t>Planificar la liberación</a:t>
            </a:r>
            <a:endParaRPr lang="en-US" sz="1600" dirty="0"/>
          </a:p>
        </p:txBody>
      </p:sp>
      <p:sp>
        <p:nvSpPr>
          <p:cNvPr id="31" name="Text 28"/>
          <p:cNvSpPr/>
          <p:nvPr/>
        </p:nvSpPr>
        <p:spPr>
          <a:xfrm>
            <a:off x="9784080" y="3291840"/>
            <a:ext cx="1645920" cy="1097280"/>
          </a:xfrm>
          <a:prstGeom prst="rect">
            <a:avLst/>
          </a:prstGeom>
          <a:noFill/>
          <a:ln/>
        </p:spPr>
        <p:txBody>
          <a:bodyPr wrap="square" lIns="0" tIns="0" rIns="0" bIns="0" rtlCol="0" anchor="t"/>
          <a:lstStyle/>
          <a:p>
            <a:pPr indent="0" marL="0">
              <a:buNone/>
            </a:pPr>
            <a:r>
              <a:rPr lang="en-US" sz="1300" dirty="0">
                <a:solidFill>
                  <a:srgbClr val="57534E"/>
                </a:solidFill>
                <a:latin typeface="Calibri" pitchFamily="34" charset="0"/>
                <a:ea typeface="Calibri" pitchFamily="34" charset="-122"/>
                <a:cs typeface="Calibri" pitchFamily="34" charset="-120"/>
              </a:rPr>
              <a:t>Sprints de 2 semanas · cierre 14–18/12</a:t>
            </a:r>
            <a:endParaRPr lang="en-US" sz="1300" dirty="0"/>
          </a:p>
        </p:txBody>
      </p:sp>
      <p:sp>
        <p:nvSpPr>
          <p:cNvPr id="32" name="Shape 29"/>
          <p:cNvSpPr/>
          <p:nvPr/>
        </p:nvSpPr>
        <p:spPr>
          <a:xfrm>
            <a:off x="731520" y="4617720"/>
            <a:ext cx="10728655" cy="960120"/>
          </a:xfrm>
          <a:prstGeom prst="roundRect">
            <a:avLst>
              <a:gd name="adj" fmla="val 7619"/>
            </a:avLst>
          </a:prstGeom>
          <a:solidFill>
            <a:srgbClr val="EEF2FF"/>
          </a:solidFill>
          <a:ln w="9525">
            <a:solidFill>
              <a:srgbClr val="C7D2FE"/>
            </a:solidFill>
            <a:prstDash val="solid"/>
          </a:ln>
        </p:spPr>
      </p:sp>
      <p:sp>
        <p:nvSpPr>
          <p:cNvPr id="33" name="Text 30"/>
          <p:cNvSpPr/>
          <p:nvPr/>
        </p:nvSpPr>
        <p:spPr>
          <a:xfrm>
            <a:off x="1051560" y="4892040"/>
            <a:ext cx="10088575" cy="457200"/>
          </a:xfrm>
          <a:prstGeom prst="rect">
            <a:avLst/>
          </a:prstGeom>
          <a:noFill/>
          <a:ln/>
        </p:spPr>
        <p:txBody>
          <a:bodyPr wrap="square" lIns="0" tIns="0" rIns="0" bIns="0" rtlCol="0" anchor="t"/>
          <a:lstStyle/>
          <a:p>
            <a:pPr indent="0" marL="0">
              <a:buNone/>
            </a:pPr>
            <a:r>
              <a:rPr lang="en-US" sz="1600" dirty="0">
                <a:solidFill>
                  <a:srgbClr val="1A1A1A"/>
                </a:solidFill>
                <a:latin typeface="Calibri" pitchFamily="34" charset="0"/>
                <a:ea typeface="Calibri" pitchFamily="34" charset="-122"/>
                <a:cs typeface="Calibri" pitchFamily="34" charset="-120"/>
              </a:rPr>
              <a:t>Y de la fase siguiente: </a:t>
            </a:r>
            <a:pPr indent="0" marL="0">
              <a:buNone/>
            </a:pPr>
            <a:r>
              <a:rPr lang="en-US" sz="1600" b="1" dirty="0">
                <a:solidFill>
                  <a:srgbClr val="1A1A1A"/>
                </a:solidFill>
                <a:latin typeface="Calibri" pitchFamily="34" charset="0"/>
                <a:ea typeface="Calibri" pitchFamily="34" charset="-122"/>
                <a:cs typeface="Calibri" pitchFamily="34" charset="-120"/>
              </a:rPr>
              <a:t>9.1 Crear historias</a:t>
            </a:r>
            <a:pPr indent="0" marL="0">
              <a:buNone/>
            </a:pPr>
            <a:r>
              <a:rPr lang="en-US" sz="1600" dirty="0">
                <a:solidFill>
                  <a:srgbClr val="1A1A1A"/>
                </a:solidFill>
                <a:latin typeface="Calibri" pitchFamily="34" charset="0"/>
                <a:ea typeface="Calibri" pitchFamily="34" charset="-122"/>
                <a:cs typeface="Calibri" pitchFamily="34" charset="-120"/>
              </a:rPr>
              <a:t> (FGAP040) y </a:t>
            </a:r>
            <a:pPr indent="0" marL="0">
              <a:buNone/>
            </a:pPr>
            <a:r>
              <a:rPr lang="en-US" sz="1600" b="1" dirty="0">
                <a:solidFill>
                  <a:srgbClr val="1A1A1A"/>
                </a:solidFill>
                <a:latin typeface="Calibri" pitchFamily="34" charset="0"/>
                <a:ea typeface="Calibri" pitchFamily="34" charset="-122"/>
                <a:cs typeface="Calibri" pitchFamily="34" charset="-120"/>
              </a:rPr>
              <a:t>9.2 Estimar historias</a:t>
            </a:r>
            <a:pPr indent="0" marL="0">
              <a:buNone/>
            </a:pPr>
            <a:r>
              <a:rPr lang="en-US" sz="1600" dirty="0">
                <a:solidFill>
                  <a:srgbClr val="1A1A1A"/>
                </a:solidFill>
                <a:latin typeface="Calibri" pitchFamily="34" charset="0"/>
                <a:ea typeface="Calibri" pitchFamily="34" charset="-122"/>
                <a:cs typeface="Calibri" pitchFamily="34" charset="-120"/>
              </a:rPr>
              <a:t> (puño de cinco).</a:t>
            </a:r>
            <a:endParaRPr lang="en-US" sz="1600" dirty="0"/>
          </a:p>
        </p:txBody>
      </p:sp>
      <p:sp>
        <p:nvSpPr>
          <p:cNvPr id="34" name="Text 31"/>
          <p:cNvSpPr/>
          <p:nvPr/>
        </p:nvSpPr>
        <p:spPr>
          <a:xfrm>
            <a:off x="731520" y="5989320"/>
            <a:ext cx="10728655" cy="274320"/>
          </a:xfrm>
          <a:prstGeom prst="rect">
            <a:avLst/>
          </a:prstGeom>
          <a:noFill/>
          <a:ln/>
        </p:spPr>
        <p:txBody>
          <a:bodyPr wrap="square" lIns="0" tIns="0" rIns="0" bIns="0" rtlCol="0" anchor="t"/>
          <a:lstStyle/>
          <a:p>
            <a:pPr indent="0" marL="0">
              <a:buNone/>
            </a:pPr>
            <a:r>
              <a:rPr lang="en-US" sz="1000" dirty="0">
                <a:solidFill>
                  <a:srgbClr val="8A8984"/>
                </a:solidFill>
                <a:latin typeface="Calibri" pitchFamily="34" charset="0"/>
                <a:ea typeface="Calibri" pitchFamily="34" charset="-122"/>
                <a:cs typeface="Calibri" pitchFamily="34" charset="-120"/>
              </a:rPr>
              <a:t>Fuente: SCRUMstudy (2022), tabla 1-1 (p. 15) y procesos 8.1–9.2 (pp. 139–195).</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AF9"/>
        </a:solidFill>
      </p:bgPr>
    </p:bg>
    <p:spTree>
      <p:nvGrpSpPr>
        <p:cNvPr id="1" name=""/>
        <p:cNvGrpSpPr/>
        <p:nvPr/>
      </p:nvGrpSpPr>
      <p:grpSpPr>
        <a:xfrm>
          <a:off x="0" y="0"/>
          <a:ext cx="0" cy="0"/>
          <a:chOff x="0" y="0"/>
          <a:chExt cx="0" cy="0"/>
        </a:xfrm>
      </p:grpSpPr>
      <p:sp>
        <p:nvSpPr>
          <p:cNvPr id="2" name="Text 0"/>
          <p:cNvSpPr/>
          <p:nvPr/>
        </p:nvSpPr>
        <p:spPr>
          <a:xfrm>
            <a:off x="731520" y="502920"/>
            <a:ext cx="10058400" cy="274320"/>
          </a:xfrm>
          <a:prstGeom prst="rect">
            <a:avLst/>
          </a:prstGeom>
          <a:noFill/>
          <a:ln/>
        </p:spPr>
        <p:txBody>
          <a:bodyPr wrap="square" lIns="0" tIns="0" rIns="0" bIns="0" rtlCol="0" anchor="t"/>
          <a:lstStyle/>
          <a:p>
            <a:pPr indent="0" marL="0">
              <a:buNone/>
            </a:pPr>
            <a:r>
              <a:rPr lang="en-US" sz="1100" b="1" spc="150" kern="0" dirty="0">
                <a:solidFill>
                  <a:srgbClr val="3E63DD"/>
                </a:solidFill>
                <a:latin typeface="Calibri" pitchFamily="34" charset="0"/>
                <a:ea typeface="Calibri" pitchFamily="34" charset="-122"/>
                <a:cs typeface="Calibri" pitchFamily="34" charset="-120"/>
              </a:rPr>
              <a:t>INSPECCIONAR Y ADAPTAR</a:t>
            </a:r>
            <a:endParaRPr lang="en-US" sz="1100" dirty="0"/>
          </a:p>
        </p:txBody>
      </p:sp>
      <p:sp>
        <p:nvSpPr>
          <p:cNvPr id="3" name="Text 1"/>
          <p:cNvSpPr/>
          <p:nvPr/>
        </p:nvSpPr>
        <p:spPr>
          <a:xfrm>
            <a:off x="731520" y="777240"/>
            <a:ext cx="10698480" cy="822960"/>
          </a:xfrm>
          <a:prstGeom prst="rect">
            <a:avLst/>
          </a:prstGeom>
          <a:noFill/>
          <a:ln/>
        </p:spPr>
        <p:txBody>
          <a:bodyPr wrap="square" lIns="0" tIns="0" rIns="0" bIns="0" rtlCol="0" anchor="t"/>
          <a:lstStyle/>
          <a:p>
            <a:pPr indent="0" marL="0">
              <a:buNone/>
            </a:pPr>
            <a:r>
              <a:rPr lang="en-US" sz="3400" dirty="0">
                <a:solidFill>
                  <a:srgbClr val="1A1A1A"/>
                </a:solidFill>
                <a:latin typeface="Calibri Light" pitchFamily="34" charset="0"/>
                <a:ea typeface="Calibri Light" pitchFamily="34" charset="-122"/>
                <a:cs typeface="Calibri Light" pitchFamily="34" charset="-120"/>
              </a:rPr>
              <a:t>Cómo evolucionó la idea</a:t>
            </a:r>
            <a:endParaRPr lang="en-US" sz="3400" dirty="0"/>
          </a:p>
        </p:txBody>
      </p:sp>
      <p:sp>
        <p:nvSpPr>
          <p:cNvPr id="4" name="Text 2"/>
          <p:cNvSpPr/>
          <p:nvPr/>
        </p:nvSpPr>
        <p:spPr>
          <a:xfrm>
            <a:off x="731520" y="6355080"/>
            <a:ext cx="2743200" cy="228600"/>
          </a:xfrm>
          <a:prstGeom prst="rect">
            <a:avLst/>
          </a:prstGeom>
          <a:noFill/>
          <a:ln/>
        </p:spPr>
        <p:txBody>
          <a:bodyPr wrap="square" lIns="0" tIns="0" rIns="0" bIns="0" rtlCol="0" anchor="t"/>
          <a:lstStyle/>
          <a:p>
            <a:pPr indent="0" marL="0">
              <a:buNone/>
            </a:pPr>
            <a:r>
              <a:rPr lang="en-US" sz="1000" b="1" dirty="0">
                <a:solidFill>
                  <a:srgbClr val="8A8984"/>
                </a:solidFill>
                <a:latin typeface="Calibri" pitchFamily="34" charset="0"/>
                <a:ea typeface="Calibri" pitchFamily="34" charset="-122"/>
                <a:cs typeface="Calibri" pitchFamily="34" charset="-120"/>
              </a:rPr>
              <a:t>NewBit</a:t>
            </a:r>
            <a:endParaRPr lang="en-US" sz="1000" dirty="0"/>
          </a:p>
        </p:txBody>
      </p:sp>
      <p:sp>
        <p:nvSpPr>
          <p:cNvPr id="5" name="Text 3"/>
          <p:cNvSpPr/>
          <p:nvPr/>
        </p:nvSpPr>
        <p:spPr>
          <a:xfrm>
            <a:off x="1371600" y="6355080"/>
            <a:ext cx="4572000" cy="228600"/>
          </a:xfrm>
          <a:prstGeom prst="rect">
            <a:avLst/>
          </a:prstGeom>
          <a:noFill/>
          <a:ln/>
        </p:spPr>
        <p:txBody>
          <a:bodyPr wrap="square" lIns="0" tIns="0" rIns="0" bIns="0" rtlCol="0" anchor="t"/>
          <a:lstStyle/>
          <a:p>
            <a:pPr indent="0" marL="0">
              <a:buNone/>
            </a:pPr>
            <a:r>
              <a:rPr lang="en-US" sz="1000" dirty="0">
                <a:solidFill>
                  <a:srgbClr val="8A8984"/>
                </a:solidFill>
                <a:latin typeface="Calibri" pitchFamily="34" charset="0"/>
                <a:ea typeface="Calibri" pitchFamily="34" charset="-122"/>
                <a:cs typeface="Calibri" pitchFamily="34" charset="-120"/>
              </a:rPr>
              <a:t>Producto de la Unidad I · Grupo D3</a:t>
            </a:r>
            <a:endParaRPr lang="en-US" sz="1000" dirty="0"/>
          </a:p>
        </p:txBody>
      </p:sp>
      <p:sp>
        <p:nvSpPr>
          <p:cNvPr id="6" name="Text 4"/>
          <p:cNvSpPr/>
          <p:nvPr/>
        </p:nvSpPr>
        <p:spPr>
          <a:xfrm>
            <a:off x="10728655" y="6355080"/>
            <a:ext cx="731520" cy="228600"/>
          </a:xfrm>
          <a:prstGeom prst="rect">
            <a:avLst/>
          </a:prstGeom>
          <a:noFill/>
          <a:ln/>
        </p:spPr>
        <p:txBody>
          <a:bodyPr wrap="square" lIns="0" tIns="0" rIns="0" bIns="0" rtlCol="0" anchor="t"/>
          <a:lstStyle/>
          <a:p>
            <a:pPr algn="r" indent="0" marL="0">
              <a:buNone/>
            </a:pPr>
            <a:r>
              <a:rPr lang="en-US" sz="1000" dirty="0">
                <a:solidFill>
                  <a:srgbClr val="8A8984"/>
                </a:solidFill>
                <a:latin typeface="Calibri" pitchFamily="34" charset="0"/>
                <a:ea typeface="Calibri" pitchFamily="34" charset="-122"/>
                <a:cs typeface="Calibri" pitchFamily="34" charset="-120"/>
              </a:rPr>
              <a:t>15</a:t>
            </a:r>
            <a:endParaRPr lang="en-US" sz="1000" dirty="0"/>
          </a:p>
        </p:txBody>
      </p:sp>
      <p:sp>
        <p:nvSpPr>
          <p:cNvPr id="8" name="Text 5"/>
          <p:cNvSpPr/>
          <p:nvPr/>
        </p:nvSpPr>
        <p:spPr>
          <a:xfrm>
            <a:off x="731520" y="1828800"/>
            <a:ext cx="3291840" cy="274320"/>
          </a:xfrm>
          <a:prstGeom prst="rect">
            <a:avLst/>
          </a:prstGeom>
          <a:noFill/>
          <a:ln/>
        </p:spPr>
        <p:txBody>
          <a:bodyPr wrap="square" lIns="0" tIns="0" rIns="0" bIns="0" rtlCol="0" anchor="t"/>
          <a:lstStyle/>
          <a:p>
            <a:pPr indent="0" marL="0">
              <a:buNone/>
            </a:pPr>
            <a:r>
              <a:rPr lang="en-US" sz="1100" b="1" spc="100" kern="0" dirty="0">
                <a:solidFill>
                  <a:srgbClr val="8A8984"/>
                </a:solidFill>
                <a:latin typeface="Calibri" pitchFamily="34" charset="0"/>
                <a:ea typeface="Calibri" pitchFamily="34" charset="-122"/>
                <a:cs typeface="Calibri" pitchFamily="34" charset="-120"/>
              </a:rPr>
              <a:t>SEMANAS 2–3</a:t>
            </a:r>
            <a:endParaRPr lang="en-US" sz="1100" dirty="0"/>
          </a:p>
        </p:txBody>
      </p:sp>
      <p:sp>
        <p:nvSpPr>
          <p:cNvPr id="9" name="Text 6"/>
          <p:cNvSpPr/>
          <p:nvPr/>
        </p:nvSpPr>
        <p:spPr>
          <a:xfrm>
            <a:off x="731520" y="2148840"/>
            <a:ext cx="3291840" cy="457200"/>
          </a:xfrm>
          <a:prstGeom prst="rect">
            <a:avLst/>
          </a:prstGeom>
          <a:noFill/>
          <a:ln/>
        </p:spPr>
        <p:txBody>
          <a:bodyPr wrap="square" lIns="0" tIns="0" rIns="0" bIns="0" rtlCol="0" anchor="t"/>
          <a:lstStyle/>
          <a:p>
            <a:pPr indent="0" marL="0">
              <a:buNone/>
            </a:pPr>
            <a:r>
              <a:rPr lang="en-US" sz="2800" dirty="0">
                <a:solidFill>
                  <a:srgbClr val="1A1A1A"/>
                </a:solidFill>
                <a:latin typeface="Calibri Light" pitchFamily="34" charset="0"/>
                <a:ea typeface="Calibri Light" pitchFamily="34" charset="-122"/>
                <a:cs typeface="Calibri Light" pitchFamily="34" charset="-120"/>
              </a:rPr>
              <a:t>VIGIA Industrial</a:t>
            </a:r>
            <a:endParaRPr lang="en-US" sz="2800" dirty="0"/>
          </a:p>
        </p:txBody>
      </p:sp>
      <p:sp>
        <p:nvSpPr>
          <p:cNvPr id="10" name="Text 7"/>
          <p:cNvSpPr/>
          <p:nvPr/>
        </p:nvSpPr>
        <p:spPr>
          <a:xfrm>
            <a:off x="731520" y="2743200"/>
            <a:ext cx="3200400" cy="822960"/>
          </a:xfrm>
          <a:prstGeom prst="rect">
            <a:avLst/>
          </a:prstGeom>
          <a:noFill/>
          <a:ln/>
        </p:spPr>
        <p:txBody>
          <a:bodyPr wrap="square" lIns="0" tIns="0" rIns="0" bIns="0" rtlCol="0" anchor="t"/>
          <a:lstStyle/>
          <a:p>
            <a:pPr indent="0" marL="0">
              <a:buNone/>
            </a:pPr>
            <a:r>
              <a:rPr lang="en-US" sz="1500" dirty="0">
                <a:solidFill>
                  <a:srgbClr val="57534E"/>
                </a:solidFill>
                <a:latin typeface="Calibri" pitchFamily="34" charset="0"/>
                <a:ea typeface="Calibri" pitchFamily="34" charset="-122"/>
                <a:cs typeface="Calibri" pitchFamily="34" charset="-120"/>
              </a:rPr>
              <a:t>Detectaba casco y chaleco en cámaras en vivo.</a:t>
            </a:r>
            <a:endParaRPr lang="en-US" sz="1500" dirty="0"/>
          </a:p>
        </p:txBody>
      </p:sp>
      <p:sp>
        <p:nvSpPr>
          <p:cNvPr id="11" name="Text 8"/>
          <p:cNvSpPr/>
          <p:nvPr/>
        </p:nvSpPr>
        <p:spPr>
          <a:xfrm>
            <a:off x="731520" y="3611880"/>
            <a:ext cx="3200400" cy="731520"/>
          </a:xfrm>
          <a:prstGeom prst="rect">
            <a:avLst/>
          </a:prstGeom>
          <a:noFill/>
          <a:ln/>
        </p:spPr>
        <p:txBody>
          <a:bodyPr wrap="square" lIns="0" tIns="0" rIns="0" bIns="0" rtlCol="0" anchor="t"/>
          <a:lstStyle/>
          <a:p>
            <a:pPr indent="0" marL="0">
              <a:buNone/>
            </a:pPr>
            <a:r>
              <a:rPr lang="en-US" sz="1500" b="1" dirty="0">
                <a:solidFill>
                  <a:srgbClr val="C2410C"/>
                </a:solidFill>
                <a:latin typeface="Calibri" pitchFamily="34" charset="0"/>
                <a:ea typeface="Calibri" pitchFamily="34" charset="-122"/>
                <a:cs typeface="Calibri" pitchFamily="34" charset="-120"/>
              </a:rPr>
              <a:t>Problema: veía objetos, no conductas.</a:t>
            </a:r>
            <a:endParaRPr lang="en-US" sz="1500" dirty="0"/>
          </a:p>
        </p:txBody>
      </p:sp>
      <p:sp>
        <p:nvSpPr>
          <p:cNvPr id="12" name="Shape 9"/>
          <p:cNvSpPr/>
          <p:nvPr/>
        </p:nvSpPr>
        <p:spPr>
          <a:xfrm>
            <a:off x="3977640" y="2423160"/>
            <a:ext cx="320040" cy="0"/>
          </a:xfrm>
          <a:prstGeom prst="line">
            <a:avLst/>
          </a:prstGeom>
          <a:noFill/>
          <a:ln w="12700">
            <a:solidFill>
              <a:srgbClr val="8A8984"/>
            </a:solidFill>
            <a:prstDash val="solid"/>
            <a:tailEnd type="triangle"/>
          </a:ln>
        </p:spPr>
      </p:sp>
      <p:sp>
        <p:nvSpPr>
          <p:cNvPr id="13" name="Text 10"/>
          <p:cNvSpPr/>
          <p:nvPr/>
        </p:nvSpPr>
        <p:spPr>
          <a:xfrm>
            <a:off x="4370832" y="1828800"/>
            <a:ext cx="3291840" cy="274320"/>
          </a:xfrm>
          <a:prstGeom prst="rect">
            <a:avLst/>
          </a:prstGeom>
          <a:noFill/>
          <a:ln/>
        </p:spPr>
        <p:txBody>
          <a:bodyPr wrap="square" lIns="0" tIns="0" rIns="0" bIns="0" rtlCol="0" anchor="t"/>
          <a:lstStyle/>
          <a:p>
            <a:pPr indent="0" marL="0">
              <a:buNone/>
            </a:pPr>
            <a:r>
              <a:rPr lang="en-US" sz="1100" b="1" spc="100" kern="0" dirty="0">
                <a:solidFill>
                  <a:srgbClr val="8A8984"/>
                </a:solidFill>
                <a:latin typeface="Calibri" pitchFamily="34" charset="0"/>
                <a:ea typeface="Calibri" pitchFamily="34" charset="-122"/>
                <a:cs typeface="Calibri" pitchFamily="34" charset="-120"/>
              </a:rPr>
              <a:t>SEMANA 4</a:t>
            </a:r>
            <a:endParaRPr lang="en-US" sz="1100" dirty="0"/>
          </a:p>
        </p:txBody>
      </p:sp>
      <p:sp>
        <p:nvSpPr>
          <p:cNvPr id="14" name="Text 11"/>
          <p:cNvSpPr/>
          <p:nvPr/>
        </p:nvSpPr>
        <p:spPr>
          <a:xfrm>
            <a:off x="4370832" y="2148840"/>
            <a:ext cx="3291840" cy="457200"/>
          </a:xfrm>
          <a:prstGeom prst="rect">
            <a:avLst/>
          </a:prstGeom>
          <a:noFill/>
          <a:ln/>
        </p:spPr>
        <p:txBody>
          <a:bodyPr wrap="square" lIns="0" tIns="0" rIns="0" bIns="0" rtlCol="0" anchor="t"/>
          <a:lstStyle/>
          <a:p>
            <a:pPr indent="0" marL="0">
              <a:buNone/>
            </a:pPr>
            <a:r>
              <a:rPr lang="en-US" sz="2800" dirty="0">
                <a:solidFill>
                  <a:srgbClr val="1A1A1A"/>
                </a:solidFill>
                <a:latin typeface="Calibri Light" pitchFamily="34" charset="0"/>
                <a:ea typeface="Calibri Light" pitchFamily="34" charset="-122"/>
                <a:cs typeface="Calibri Light" pitchFamily="34" charset="-120"/>
              </a:rPr>
              <a:t>Elegimos Unsafe-Net</a:t>
            </a:r>
            <a:endParaRPr lang="en-US" sz="2800" dirty="0"/>
          </a:p>
        </p:txBody>
      </p:sp>
      <p:sp>
        <p:nvSpPr>
          <p:cNvPr id="15" name="Text 12"/>
          <p:cNvSpPr/>
          <p:nvPr/>
        </p:nvSpPr>
        <p:spPr>
          <a:xfrm>
            <a:off x="4370832" y="2743200"/>
            <a:ext cx="3200400" cy="822960"/>
          </a:xfrm>
          <a:prstGeom prst="rect">
            <a:avLst/>
          </a:prstGeom>
          <a:noFill/>
          <a:ln/>
        </p:spPr>
        <p:txBody>
          <a:bodyPr wrap="square" lIns="0" tIns="0" rIns="0" bIns="0" rtlCol="0" anchor="t"/>
          <a:lstStyle/>
          <a:p>
            <a:pPr indent="0" marL="0">
              <a:buNone/>
            </a:pPr>
            <a:r>
              <a:rPr lang="en-US" sz="1500" dirty="0">
                <a:solidFill>
                  <a:srgbClr val="57534E"/>
                </a:solidFill>
                <a:latin typeface="Calibri" pitchFamily="34" charset="0"/>
                <a:ea typeface="Calibri" pitchFamily="34" charset="-122"/>
                <a:cs typeface="Calibri" pitchFamily="34" charset="-120"/>
              </a:rPr>
              <a:t>Una investigación que reconoce conductas en el tiempo.</a:t>
            </a:r>
            <a:endParaRPr lang="en-US" sz="1500" dirty="0"/>
          </a:p>
        </p:txBody>
      </p:sp>
      <p:sp>
        <p:nvSpPr>
          <p:cNvPr id="16" name="Text 13"/>
          <p:cNvSpPr/>
          <p:nvPr/>
        </p:nvSpPr>
        <p:spPr>
          <a:xfrm>
            <a:off x="4370832" y="3611880"/>
            <a:ext cx="3200400" cy="731520"/>
          </a:xfrm>
          <a:prstGeom prst="rect">
            <a:avLst/>
          </a:prstGeom>
          <a:noFill/>
          <a:ln/>
        </p:spPr>
        <p:txBody>
          <a:bodyPr wrap="square" lIns="0" tIns="0" rIns="0" bIns="0" rtlCol="0" anchor="t"/>
          <a:lstStyle/>
          <a:p>
            <a:pPr indent="0" marL="0">
              <a:buNone/>
            </a:pPr>
            <a:r>
              <a:rPr lang="en-US" sz="1500" b="1" dirty="0">
                <a:solidFill>
                  <a:srgbClr val="2F855A"/>
                </a:solidFill>
                <a:latin typeface="Calibri" pitchFamily="34" charset="0"/>
                <a:ea typeface="Calibri" pitchFamily="34" charset="-122"/>
                <a:cs typeface="Calibri" pitchFamily="34" charset="-120"/>
              </a:rPr>
              <a:t>Ganancia: datos públicos; se va el mayor riesgo.</a:t>
            </a:r>
            <a:endParaRPr lang="en-US" sz="1500" dirty="0"/>
          </a:p>
        </p:txBody>
      </p:sp>
      <p:sp>
        <p:nvSpPr>
          <p:cNvPr id="17" name="Shape 14"/>
          <p:cNvSpPr/>
          <p:nvPr/>
        </p:nvSpPr>
        <p:spPr>
          <a:xfrm>
            <a:off x="7616952" y="2423160"/>
            <a:ext cx="320040" cy="0"/>
          </a:xfrm>
          <a:prstGeom prst="line">
            <a:avLst/>
          </a:prstGeom>
          <a:noFill/>
          <a:ln w="12700">
            <a:solidFill>
              <a:srgbClr val="8A8984"/>
            </a:solidFill>
            <a:prstDash val="solid"/>
            <a:tailEnd type="triangle"/>
          </a:ln>
        </p:spPr>
      </p:sp>
      <p:sp>
        <p:nvSpPr>
          <p:cNvPr id="18" name="Text 15"/>
          <p:cNvSpPr/>
          <p:nvPr/>
        </p:nvSpPr>
        <p:spPr>
          <a:xfrm>
            <a:off x="8010144" y="1828800"/>
            <a:ext cx="3291840" cy="274320"/>
          </a:xfrm>
          <a:prstGeom prst="rect">
            <a:avLst/>
          </a:prstGeom>
          <a:noFill/>
          <a:ln/>
        </p:spPr>
        <p:txBody>
          <a:bodyPr wrap="square" lIns="0" tIns="0" rIns="0" bIns="0" rtlCol="0" anchor="t"/>
          <a:lstStyle/>
          <a:p>
            <a:pPr indent="0" marL="0">
              <a:buNone/>
            </a:pPr>
            <a:r>
              <a:rPr lang="en-US" sz="1100" b="1" spc="100" kern="0" dirty="0">
                <a:solidFill>
                  <a:srgbClr val="8A8984"/>
                </a:solidFill>
                <a:latin typeface="Calibri" pitchFamily="34" charset="0"/>
                <a:ea typeface="Calibri" pitchFamily="34" charset="-122"/>
                <a:cs typeface="Calibri" pitchFamily="34" charset="-120"/>
              </a:rPr>
              <a:t>SEMANA 5</a:t>
            </a:r>
            <a:endParaRPr lang="en-US" sz="1100" dirty="0"/>
          </a:p>
        </p:txBody>
      </p:sp>
      <p:sp>
        <p:nvSpPr>
          <p:cNvPr id="19" name="Text 16"/>
          <p:cNvSpPr/>
          <p:nvPr/>
        </p:nvSpPr>
        <p:spPr>
          <a:xfrm>
            <a:off x="8010144" y="2148840"/>
            <a:ext cx="3291840" cy="457200"/>
          </a:xfrm>
          <a:prstGeom prst="rect">
            <a:avLst/>
          </a:prstGeom>
          <a:noFill/>
          <a:ln/>
        </p:spPr>
        <p:txBody>
          <a:bodyPr wrap="square" lIns="0" tIns="0" rIns="0" bIns="0" rtlCol="0" anchor="t"/>
          <a:lstStyle/>
          <a:p>
            <a:pPr indent="0" marL="0">
              <a:buNone/>
            </a:pPr>
            <a:r>
              <a:rPr lang="en-US" sz="2800" dirty="0">
                <a:solidFill>
                  <a:srgbClr val="1A1A1A"/>
                </a:solidFill>
                <a:latin typeface="Calibri Light" pitchFamily="34" charset="0"/>
                <a:ea typeface="Calibri Light" pitchFamily="34" charset="-122"/>
                <a:cs typeface="Calibri Light" pitchFamily="34" charset="-120"/>
              </a:rPr>
              <a:t>NewBit</a:t>
            </a:r>
            <a:endParaRPr lang="en-US" sz="2800" dirty="0"/>
          </a:p>
        </p:txBody>
      </p:sp>
      <p:sp>
        <p:nvSpPr>
          <p:cNvPr id="20" name="Text 17"/>
          <p:cNvSpPr/>
          <p:nvPr/>
        </p:nvSpPr>
        <p:spPr>
          <a:xfrm>
            <a:off x="8010144" y="2743200"/>
            <a:ext cx="3200400" cy="822960"/>
          </a:xfrm>
          <a:prstGeom prst="rect">
            <a:avLst/>
          </a:prstGeom>
          <a:noFill/>
          <a:ln/>
        </p:spPr>
        <p:txBody>
          <a:bodyPr wrap="square" lIns="0" tIns="0" rIns="0" bIns="0" rtlCol="0" anchor="t"/>
          <a:lstStyle/>
          <a:p>
            <a:pPr indent="0" marL="0">
              <a:buNone/>
            </a:pPr>
            <a:r>
              <a:rPr lang="en-US" sz="1500" dirty="0">
                <a:solidFill>
                  <a:srgbClr val="57534E"/>
                </a:solidFill>
                <a:latin typeface="Calibri" pitchFamily="34" charset="0"/>
                <a:ea typeface="Calibri" pitchFamily="34" charset="-122"/>
                <a:cs typeface="Calibri" pitchFamily="34" charset="-120"/>
              </a:rPr>
              <a:t>Taller metalmecánico, video por lotes y 12 historias con criterios.</a:t>
            </a:r>
            <a:endParaRPr lang="en-US" sz="1500" dirty="0"/>
          </a:p>
        </p:txBody>
      </p:sp>
      <p:sp>
        <p:nvSpPr>
          <p:cNvPr id="21" name="Text 18"/>
          <p:cNvSpPr/>
          <p:nvPr/>
        </p:nvSpPr>
        <p:spPr>
          <a:xfrm>
            <a:off x="8010144" y="3611880"/>
            <a:ext cx="3200400" cy="731520"/>
          </a:xfrm>
          <a:prstGeom prst="rect">
            <a:avLst/>
          </a:prstGeom>
          <a:noFill/>
          <a:ln/>
        </p:spPr>
        <p:txBody>
          <a:bodyPr wrap="square" lIns="0" tIns="0" rIns="0" bIns="0" rtlCol="0" anchor="t"/>
          <a:lstStyle/>
          <a:p>
            <a:pPr indent="0" marL="0">
              <a:buNone/>
            </a:pPr>
            <a:r>
              <a:rPr lang="en-US" sz="1500" b="1" dirty="0">
                <a:solidFill>
                  <a:srgbClr val="2F855A"/>
                </a:solidFill>
                <a:latin typeface="Calibri" pitchFamily="34" charset="0"/>
                <a:ea typeface="Calibri" pitchFamily="34" charset="-122"/>
                <a:cs typeface="Calibri" pitchFamily="34" charset="-120"/>
              </a:rPr>
              <a:t>Resultado: formatos coherentes entre sí.</a:t>
            </a:r>
            <a:endParaRPr lang="en-US" sz="1500" dirty="0"/>
          </a:p>
        </p:txBody>
      </p:sp>
      <p:sp>
        <p:nvSpPr>
          <p:cNvPr id="22" name="Shape 19"/>
          <p:cNvSpPr/>
          <p:nvPr/>
        </p:nvSpPr>
        <p:spPr>
          <a:xfrm>
            <a:off x="731520" y="4709160"/>
            <a:ext cx="10728655" cy="0"/>
          </a:xfrm>
          <a:prstGeom prst="line">
            <a:avLst/>
          </a:prstGeom>
          <a:noFill/>
          <a:ln w="9525">
            <a:solidFill>
              <a:srgbClr val="E7E5E4"/>
            </a:solidFill>
            <a:prstDash val="solid"/>
          </a:ln>
        </p:spPr>
      </p:sp>
      <p:sp>
        <p:nvSpPr>
          <p:cNvPr id="23" name="Text 20"/>
          <p:cNvSpPr/>
          <p:nvPr/>
        </p:nvSpPr>
        <p:spPr>
          <a:xfrm>
            <a:off x="731520" y="4892040"/>
            <a:ext cx="10728655" cy="548640"/>
          </a:xfrm>
          <a:prstGeom prst="rect">
            <a:avLst/>
          </a:prstGeom>
          <a:noFill/>
          <a:ln/>
        </p:spPr>
        <p:txBody>
          <a:bodyPr wrap="square" lIns="0" tIns="0" rIns="0" bIns="0" rtlCol="0" anchor="t"/>
          <a:lstStyle/>
          <a:p>
            <a:pPr indent="0" marL="0">
              <a:buNone/>
            </a:pPr>
            <a:r>
              <a:rPr lang="en-US" sz="1600" dirty="0">
                <a:solidFill>
                  <a:srgbClr val="57534E"/>
                </a:solidFill>
                <a:latin typeface="Calibri" pitchFamily="34" charset="0"/>
                <a:ea typeface="Calibri" pitchFamily="34" charset="-122"/>
                <a:cs typeface="Calibri" pitchFamily="34" charset="-120"/>
              </a:rPr>
              <a:t>Lo que </a:t>
            </a:r>
            <a:pPr indent="0" marL="0">
              <a:buNone/>
            </a:pPr>
            <a:r>
              <a:rPr lang="en-US" sz="1600" b="1" dirty="0">
                <a:solidFill>
                  <a:srgbClr val="57534E"/>
                </a:solidFill>
                <a:latin typeface="Calibri" pitchFamily="34" charset="0"/>
                <a:ea typeface="Calibri" pitchFamily="34" charset="-122"/>
                <a:cs typeface="Calibri" pitchFamily="34" charset="-120"/>
              </a:rPr>
              <a:t>no</a:t>
            </a:r>
            <a:pPr indent="0" marL="0">
              <a:buNone/>
            </a:pPr>
            <a:r>
              <a:rPr lang="en-US" sz="1600" dirty="0">
                <a:solidFill>
                  <a:srgbClr val="57534E"/>
                </a:solidFill>
                <a:latin typeface="Calibri" pitchFamily="34" charset="0"/>
                <a:ea typeface="Calibri" pitchFamily="34" charset="-122"/>
                <a:cs typeface="Calibri" pitchFamily="34" charset="-120"/>
              </a:rPr>
              <a:t> cambió: sin reconocimiento facial · la decisión final es humana · se evalúa el evento completo, no una imagen suelta.</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731520" y="502920"/>
            <a:ext cx="10058400" cy="274320"/>
          </a:xfrm>
          <a:prstGeom prst="rect">
            <a:avLst/>
          </a:prstGeom>
          <a:noFill/>
          <a:ln/>
        </p:spPr>
        <p:txBody>
          <a:bodyPr wrap="square" lIns="0" tIns="0" rIns="0" bIns="0" rtlCol="0" anchor="t"/>
          <a:lstStyle/>
          <a:p>
            <a:pPr indent="0" marL="0">
              <a:buNone/>
            </a:pPr>
            <a:r>
              <a:rPr lang="en-US" sz="1100" b="1" spc="150" kern="0" dirty="0">
                <a:solidFill>
                  <a:srgbClr val="A8A29E"/>
                </a:solidFill>
                <a:latin typeface="Calibri" pitchFamily="34" charset="0"/>
                <a:ea typeface="Calibri" pitchFamily="34" charset="-122"/>
                <a:cs typeface="Calibri" pitchFamily="34" charset="-120"/>
              </a:rPr>
              <a:t>PARTE 3</a:t>
            </a:r>
            <a:endParaRPr lang="en-US" sz="1100" dirty="0"/>
          </a:p>
        </p:txBody>
      </p:sp>
      <p:sp>
        <p:nvSpPr>
          <p:cNvPr id="3" name="Text 1"/>
          <p:cNvSpPr/>
          <p:nvPr/>
        </p:nvSpPr>
        <p:spPr>
          <a:xfrm>
            <a:off x="731520" y="6355080"/>
            <a:ext cx="2743200" cy="228600"/>
          </a:xfrm>
          <a:prstGeom prst="rect">
            <a:avLst/>
          </a:prstGeom>
          <a:noFill/>
          <a:ln/>
        </p:spPr>
        <p:txBody>
          <a:bodyPr wrap="square" lIns="0" tIns="0" rIns="0" bIns="0" rtlCol="0" anchor="t"/>
          <a:lstStyle/>
          <a:p>
            <a:pPr indent="0" marL="0">
              <a:buNone/>
            </a:pPr>
            <a:r>
              <a:rPr lang="en-US" sz="1000" b="1" dirty="0">
                <a:solidFill>
                  <a:srgbClr val="A8A29E"/>
                </a:solidFill>
                <a:latin typeface="Calibri" pitchFamily="34" charset="0"/>
                <a:ea typeface="Calibri" pitchFamily="34" charset="-122"/>
                <a:cs typeface="Calibri" pitchFamily="34" charset="-120"/>
              </a:rPr>
              <a:t>NewBit</a:t>
            </a:r>
            <a:endParaRPr lang="en-US" sz="1000" dirty="0"/>
          </a:p>
        </p:txBody>
      </p:sp>
      <p:sp>
        <p:nvSpPr>
          <p:cNvPr id="4" name="Text 2"/>
          <p:cNvSpPr/>
          <p:nvPr/>
        </p:nvSpPr>
        <p:spPr>
          <a:xfrm>
            <a:off x="1371600" y="6355080"/>
            <a:ext cx="4572000" cy="228600"/>
          </a:xfrm>
          <a:prstGeom prst="rect">
            <a:avLst/>
          </a:prstGeom>
          <a:noFill/>
          <a:ln/>
        </p:spPr>
        <p:txBody>
          <a:bodyPr wrap="square" lIns="0" tIns="0" rIns="0" bIns="0" rtlCol="0" anchor="t"/>
          <a:lstStyle/>
          <a:p>
            <a:pPr indent="0" marL="0">
              <a:buNone/>
            </a:pPr>
            <a:r>
              <a:rPr lang="en-US" sz="1000" dirty="0">
                <a:solidFill>
                  <a:srgbClr val="A8A29E"/>
                </a:solidFill>
                <a:latin typeface="Calibri" pitchFamily="34" charset="0"/>
                <a:ea typeface="Calibri" pitchFamily="34" charset="-122"/>
                <a:cs typeface="Calibri" pitchFamily="34" charset="-120"/>
              </a:rPr>
              <a:t>Producto de la Unidad I · Grupo D3</a:t>
            </a:r>
            <a:endParaRPr lang="en-US" sz="1000" dirty="0"/>
          </a:p>
        </p:txBody>
      </p:sp>
      <p:sp>
        <p:nvSpPr>
          <p:cNvPr id="5" name="Text 3"/>
          <p:cNvSpPr/>
          <p:nvPr/>
        </p:nvSpPr>
        <p:spPr>
          <a:xfrm>
            <a:off x="10728655" y="6355080"/>
            <a:ext cx="731520" cy="228600"/>
          </a:xfrm>
          <a:prstGeom prst="rect">
            <a:avLst/>
          </a:prstGeom>
          <a:noFill/>
          <a:ln/>
        </p:spPr>
        <p:txBody>
          <a:bodyPr wrap="square" lIns="0" tIns="0" rIns="0" bIns="0" rtlCol="0" anchor="t"/>
          <a:lstStyle/>
          <a:p>
            <a:pPr algn="r" indent="0" marL="0">
              <a:buNone/>
            </a:pPr>
            <a:r>
              <a:rPr lang="en-US" sz="1000" dirty="0">
                <a:solidFill>
                  <a:srgbClr val="A8A29E"/>
                </a:solidFill>
                <a:latin typeface="Calibri" pitchFamily="34" charset="0"/>
                <a:ea typeface="Calibri" pitchFamily="34" charset="-122"/>
                <a:cs typeface="Calibri" pitchFamily="34" charset="-120"/>
              </a:rPr>
              <a:t>16</a:t>
            </a:r>
            <a:endParaRPr lang="en-US" sz="1000" dirty="0"/>
          </a:p>
        </p:txBody>
      </p:sp>
      <p:sp>
        <p:nvSpPr>
          <p:cNvPr id="7" name="Text 4"/>
          <p:cNvSpPr/>
          <p:nvPr/>
        </p:nvSpPr>
        <p:spPr>
          <a:xfrm>
            <a:off x="731520" y="1828800"/>
            <a:ext cx="10515600" cy="914400"/>
          </a:xfrm>
          <a:prstGeom prst="rect">
            <a:avLst/>
          </a:prstGeom>
          <a:noFill/>
          <a:ln/>
        </p:spPr>
        <p:txBody>
          <a:bodyPr wrap="square" lIns="0" tIns="0" rIns="0" bIns="0" rtlCol="0" anchor="t"/>
          <a:lstStyle/>
          <a:p>
            <a:pPr indent="0" marL="0">
              <a:buNone/>
            </a:pPr>
            <a:r>
              <a:rPr lang="en-US" sz="5400" dirty="0">
                <a:solidFill>
                  <a:srgbClr val="F5F5F4"/>
                </a:solidFill>
                <a:latin typeface="Calibri Light" pitchFamily="34" charset="0"/>
                <a:ea typeface="Calibri Light" pitchFamily="34" charset="-122"/>
                <a:cs typeface="Calibri Light" pitchFamily="34" charset="-120"/>
              </a:rPr>
              <a:t>Lo que entregamos,</a:t>
            </a:r>
            <a:endParaRPr lang="en-US" sz="5400" dirty="0"/>
          </a:p>
        </p:txBody>
      </p:sp>
      <p:sp>
        <p:nvSpPr>
          <p:cNvPr id="8" name="Text 5"/>
          <p:cNvSpPr/>
          <p:nvPr/>
        </p:nvSpPr>
        <p:spPr>
          <a:xfrm>
            <a:off x="731520" y="2743200"/>
            <a:ext cx="10515600" cy="914400"/>
          </a:xfrm>
          <a:prstGeom prst="rect">
            <a:avLst/>
          </a:prstGeom>
          <a:noFill/>
          <a:ln/>
        </p:spPr>
        <p:txBody>
          <a:bodyPr wrap="square" lIns="0" tIns="0" rIns="0" bIns="0" rtlCol="0" anchor="t"/>
          <a:lstStyle/>
          <a:p>
            <a:pPr indent="0" marL="0">
              <a:buNone/>
            </a:pPr>
            <a:r>
              <a:rPr lang="en-US" sz="5400" dirty="0">
                <a:solidFill>
                  <a:srgbClr val="A8A29E"/>
                </a:solidFill>
                <a:latin typeface="Calibri Light" pitchFamily="34" charset="0"/>
                <a:ea typeface="Calibri Light" pitchFamily="34" charset="-122"/>
                <a:cs typeface="Calibri Light" pitchFamily="34" charset="-120"/>
              </a:rPr>
              <a:t>semana a semana</a:t>
            </a:r>
            <a:endParaRPr lang="en-US" sz="5400" dirty="0"/>
          </a:p>
        </p:txBody>
      </p:sp>
      <p:sp>
        <p:nvSpPr>
          <p:cNvPr id="9" name="Text 6"/>
          <p:cNvSpPr/>
          <p:nvPr/>
        </p:nvSpPr>
        <p:spPr>
          <a:xfrm>
            <a:off x="731520" y="4343400"/>
            <a:ext cx="2103120" cy="548640"/>
          </a:xfrm>
          <a:prstGeom prst="rect">
            <a:avLst/>
          </a:prstGeom>
          <a:noFill/>
          <a:ln/>
        </p:spPr>
        <p:txBody>
          <a:bodyPr wrap="square" lIns="0" tIns="0" rIns="0" bIns="0" rtlCol="0" anchor="t"/>
          <a:lstStyle/>
          <a:p>
            <a:pPr indent="0" marL="0">
              <a:buNone/>
            </a:pPr>
            <a:r>
              <a:rPr lang="en-US" sz="1400" dirty="0">
                <a:solidFill>
                  <a:srgbClr val="A8A29E"/>
                </a:solidFill>
                <a:latin typeface="Calibri" pitchFamily="34" charset="0"/>
                <a:ea typeface="Calibri" pitchFamily="34" charset="-122"/>
                <a:cs typeface="Calibri" pitchFamily="34" charset="-120"/>
              </a:rPr>
              <a:t>Semana 2 · Acta</a:t>
            </a:r>
            <a:endParaRPr lang="en-US" sz="1400" dirty="0"/>
          </a:p>
        </p:txBody>
      </p:sp>
      <p:sp>
        <p:nvSpPr>
          <p:cNvPr id="10" name="Shape 7"/>
          <p:cNvSpPr/>
          <p:nvPr/>
        </p:nvSpPr>
        <p:spPr>
          <a:xfrm>
            <a:off x="731520" y="4206240"/>
            <a:ext cx="1920240" cy="0"/>
          </a:xfrm>
          <a:prstGeom prst="line">
            <a:avLst/>
          </a:prstGeom>
          <a:noFill/>
          <a:ln w="19050">
            <a:solidFill>
              <a:srgbClr val="2B2B2A"/>
            </a:solidFill>
            <a:prstDash val="solid"/>
          </a:ln>
        </p:spPr>
      </p:sp>
      <p:sp>
        <p:nvSpPr>
          <p:cNvPr id="11" name="Text 8"/>
          <p:cNvSpPr/>
          <p:nvPr/>
        </p:nvSpPr>
        <p:spPr>
          <a:xfrm>
            <a:off x="2926080" y="4343400"/>
            <a:ext cx="2103120" cy="548640"/>
          </a:xfrm>
          <a:prstGeom prst="rect">
            <a:avLst/>
          </a:prstGeom>
          <a:noFill/>
          <a:ln/>
        </p:spPr>
        <p:txBody>
          <a:bodyPr wrap="square" lIns="0" tIns="0" rIns="0" bIns="0" rtlCol="0" anchor="t"/>
          <a:lstStyle/>
          <a:p>
            <a:pPr indent="0" marL="0">
              <a:buNone/>
            </a:pPr>
            <a:r>
              <a:rPr lang="en-US" sz="1400" dirty="0">
                <a:solidFill>
                  <a:srgbClr val="A8A29E"/>
                </a:solidFill>
                <a:latin typeface="Calibri" pitchFamily="34" charset="0"/>
                <a:ea typeface="Calibri" pitchFamily="34" charset="-122"/>
                <a:cs typeface="Calibri" pitchFamily="34" charset="-120"/>
              </a:rPr>
              <a:t>Semana 3 · Roles y visión</a:t>
            </a:r>
            <a:endParaRPr lang="en-US" sz="1400" dirty="0"/>
          </a:p>
        </p:txBody>
      </p:sp>
      <p:sp>
        <p:nvSpPr>
          <p:cNvPr id="12" name="Shape 9"/>
          <p:cNvSpPr/>
          <p:nvPr/>
        </p:nvSpPr>
        <p:spPr>
          <a:xfrm>
            <a:off x="2926080" y="4206240"/>
            <a:ext cx="1920240" cy="0"/>
          </a:xfrm>
          <a:prstGeom prst="line">
            <a:avLst/>
          </a:prstGeom>
          <a:noFill/>
          <a:ln w="19050">
            <a:solidFill>
              <a:srgbClr val="2B2B2A"/>
            </a:solidFill>
            <a:prstDash val="solid"/>
          </a:ln>
        </p:spPr>
      </p:sp>
      <p:sp>
        <p:nvSpPr>
          <p:cNvPr id="13" name="Text 10"/>
          <p:cNvSpPr/>
          <p:nvPr/>
        </p:nvSpPr>
        <p:spPr>
          <a:xfrm>
            <a:off x="5120640" y="4343400"/>
            <a:ext cx="2103120" cy="548640"/>
          </a:xfrm>
          <a:prstGeom prst="rect">
            <a:avLst/>
          </a:prstGeom>
          <a:noFill/>
          <a:ln/>
        </p:spPr>
        <p:txBody>
          <a:bodyPr wrap="square" lIns="0" tIns="0" rIns="0" bIns="0" rtlCol="0" anchor="t"/>
          <a:lstStyle/>
          <a:p>
            <a:pPr indent="0" marL="0">
              <a:buNone/>
            </a:pPr>
            <a:r>
              <a:rPr lang="en-US" sz="1400" dirty="0">
                <a:solidFill>
                  <a:srgbClr val="A8A29E"/>
                </a:solidFill>
                <a:latin typeface="Calibri" pitchFamily="34" charset="0"/>
                <a:ea typeface="Calibri" pitchFamily="34" charset="-122"/>
                <a:cs typeface="Calibri" pitchFamily="34" charset="-120"/>
              </a:rPr>
              <a:t>Semana 4 · Justificación y épicas</a:t>
            </a:r>
            <a:endParaRPr lang="en-US" sz="1400" dirty="0"/>
          </a:p>
        </p:txBody>
      </p:sp>
      <p:sp>
        <p:nvSpPr>
          <p:cNvPr id="14" name="Shape 11"/>
          <p:cNvSpPr/>
          <p:nvPr/>
        </p:nvSpPr>
        <p:spPr>
          <a:xfrm>
            <a:off x="5120640" y="4206240"/>
            <a:ext cx="1920240" cy="0"/>
          </a:xfrm>
          <a:prstGeom prst="line">
            <a:avLst/>
          </a:prstGeom>
          <a:noFill/>
          <a:ln w="19050">
            <a:solidFill>
              <a:srgbClr val="2B2B2A"/>
            </a:solidFill>
            <a:prstDash val="solid"/>
          </a:ln>
        </p:spPr>
      </p:sp>
      <p:sp>
        <p:nvSpPr>
          <p:cNvPr id="15" name="Text 12"/>
          <p:cNvSpPr/>
          <p:nvPr/>
        </p:nvSpPr>
        <p:spPr>
          <a:xfrm>
            <a:off x="7315200" y="4343400"/>
            <a:ext cx="2103120" cy="548640"/>
          </a:xfrm>
          <a:prstGeom prst="rect">
            <a:avLst/>
          </a:prstGeom>
          <a:noFill/>
          <a:ln/>
        </p:spPr>
        <p:txBody>
          <a:bodyPr wrap="square" lIns="0" tIns="0" rIns="0" bIns="0" rtlCol="0" anchor="t"/>
          <a:lstStyle/>
          <a:p>
            <a:pPr indent="0" marL="0">
              <a:buNone/>
            </a:pPr>
            <a:r>
              <a:rPr lang="en-US" sz="1400" dirty="0">
                <a:solidFill>
                  <a:srgbClr val="A8A29E"/>
                </a:solidFill>
                <a:latin typeface="Calibri" pitchFamily="34" charset="0"/>
                <a:ea typeface="Calibri" pitchFamily="34" charset="-122"/>
                <a:cs typeface="Calibri" pitchFamily="34" charset="-120"/>
              </a:rPr>
              <a:t>Semana 5 · Backlog y calidad</a:t>
            </a:r>
            <a:endParaRPr lang="en-US" sz="1400" dirty="0"/>
          </a:p>
        </p:txBody>
      </p:sp>
      <p:sp>
        <p:nvSpPr>
          <p:cNvPr id="16" name="Shape 13"/>
          <p:cNvSpPr/>
          <p:nvPr/>
        </p:nvSpPr>
        <p:spPr>
          <a:xfrm>
            <a:off x="7315200" y="4206240"/>
            <a:ext cx="1920240" cy="0"/>
          </a:xfrm>
          <a:prstGeom prst="line">
            <a:avLst/>
          </a:prstGeom>
          <a:noFill/>
          <a:ln w="19050">
            <a:solidFill>
              <a:srgbClr val="2B2B2A"/>
            </a:solidFill>
            <a:prstDash val="solid"/>
          </a:ln>
        </p:spPr>
      </p:sp>
      <p:sp>
        <p:nvSpPr>
          <p:cNvPr id="17" name="Text 14"/>
          <p:cNvSpPr/>
          <p:nvPr/>
        </p:nvSpPr>
        <p:spPr>
          <a:xfrm>
            <a:off x="9509760" y="4343400"/>
            <a:ext cx="2103120" cy="548640"/>
          </a:xfrm>
          <a:prstGeom prst="rect">
            <a:avLst/>
          </a:prstGeom>
          <a:noFill/>
          <a:ln/>
        </p:spPr>
        <p:txBody>
          <a:bodyPr wrap="square" lIns="0" tIns="0" rIns="0" bIns="0" rtlCol="0" anchor="t"/>
          <a:lstStyle/>
          <a:p>
            <a:pPr indent="0" marL="0">
              <a:buNone/>
            </a:pPr>
            <a:r>
              <a:rPr lang="en-US" sz="1400" dirty="0">
                <a:solidFill>
                  <a:srgbClr val="A8A29E"/>
                </a:solidFill>
                <a:latin typeface="Calibri" pitchFamily="34" charset="0"/>
                <a:ea typeface="Calibri" pitchFamily="34" charset="-122"/>
                <a:cs typeface="Calibri" pitchFamily="34" charset="-120"/>
              </a:rPr>
              <a:t>Semana 6 · Lo que faltaba</a:t>
            </a:r>
            <a:endParaRPr lang="en-US" sz="1400" dirty="0"/>
          </a:p>
        </p:txBody>
      </p:sp>
      <p:sp>
        <p:nvSpPr>
          <p:cNvPr id="18" name="Shape 15"/>
          <p:cNvSpPr/>
          <p:nvPr/>
        </p:nvSpPr>
        <p:spPr>
          <a:xfrm>
            <a:off x="9509760" y="4206240"/>
            <a:ext cx="1920240" cy="0"/>
          </a:xfrm>
          <a:prstGeom prst="line">
            <a:avLst/>
          </a:prstGeom>
          <a:noFill/>
          <a:ln w="19050">
            <a:solidFill>
              <a:srgbClr val="2B2B2A"/>
            </a:solidFill>
            <a:prstDash val="solid"/>
          </a:ln>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AF9"/>
        </a:solidFill>
      </p:bgPr>
    </p:bg>
    <p:spTree>
      <p:nvGrpSpPr>
        <p:cNvPr id="1" name=""/>
        <p:cNvGrpSpPr/>
        <p:nvPr/>
      </p:nvGrpSpPr>
      <p:grpSpPr>
        <a:xfrm>
          <a:off x="0" y="0"/>
          <a:ext cx="0" cy="0"/>
          <a:chOff x="0" y="0"/>
          <a:chExt cx="0" cy="0"/>
        </a:xfrm>
      </p:grpSpPr>
      <p:sp>
        <p:nvSpPr>
          <p:cNvPr id="2" name="Text 0"/>
          <p:cNvSpPr/>
          <p:nvPr/>
        </p:nvSpPr>
        <p:spPr>
          <a:xfrm>
            <a:off x="731520" y="502920"/>
            <a:ext cx="10058400" cy="274320"/>
          </a:xfrm>
          <a:prstGeom prst="rect">
            <a:avLst/>
          </a:prstGeom>
          <a:noFill/>
          <a:ln/>
        </p:spPr>
        <p:txBody>
          <a:bodyPr wrap="square" lIns="0" tIns="0" rIns="0" bIns="0" rtlCol="0" anchor="t"/>
          <a:lstStyle/>
          <a:p>
            <a:pPr indent="0" marL="0">
              <a:buNone/>
            </a:pPr>
            <a:r>
              <a:rPr lang="en-US" sz="1100" b="1" spc="150" kern="0" dirty="0">
                <a:solidFill>
                  <a:srgbClr val="3E63DD"/>
                </a:solidFill>
                <a:latin typeface="Calibri" pitchFamily="34" charset="0"/>
                <a:ea typeface="Calibri" pitchFamily="34" charset="-122"/>
                <a:cs typeface="Calibri" pitchFamily="34" charset="-120"/>
              </a:rPr>
              <a:t>SEMANA 2 · ACTA DE CONSTITUCIÓN (FGAP010)</a:t>
            </a:r>
            <a:endParaRPr lang="en-US" sz="1100" dirty="0"/>
          </a:p>
        </p:txBody>
      </p:sp>
      <p:sp>
        <p:nvSpPr>
          <p:cNvPr id="3" name="Text 1"/>
          <p:cNvSpPr/>
          <p:nvPr/>
        </p:nvSpPr>
        <p:spPr>
          <a:xfrm>
            <a:off x="731520" y="777240"/>
            <a:ext cx="10698480" cy="822960"/>
          </a:xfrm>
          <a:prstGeom prst="rect">
            <a:avLst/>
          </a:prstGeom>
          <a:noFill/>
          <a:ln/>
        </p:spPr>
        <p:txBody>
          <a:bodyPr wrap="square" lIns="0" tIns="0" rIns="0" bIns="0" rtlCol="0" anchor="t"/>
          <a:lstStyle/>
          <a:p>
            <a:pPr indent="0" marL="0">
              <a:buNone/>
            </a:pPr>
            <a:r>
              <a:rPr lang="en-US" sz="3400" dirty="0">
                <a:solidFill>
                  <a:srgbClr val="1A1A1A"/>
                </a:solidFill>
                <a:latin typeface="Calibri Light" pitchFamily="34" charset="0"/>
                <a:ea typeface="Calibri Light" pitchFamily="34" charset="-122"/>
                <a:cs typeface="Calibri Light" pitchFamily="34" charset="-120"/>
              </a:rPr>
              <a:t>El proyecto en una página</a:t>
            </a:r>
            <a:endParaRPr lang="en-US" sz="3400" dirty="0"/>
          </a:p>
        </p:txBody>
      </p:sp>
      <p:sp>
        <p:nvSpPr>
          <p:cNvPr id="4" name="Text 2"/>
          <p:cNvSpPr/>
          <p:nvPr/>
        </p:nvSpPr>
        <p:spPr>
          <a:xfrm>
            <a:off x="731520" y="6355080"/>
            <a:ext cx="2743200" cy="228600"/>
          </a:xfrm>
          <a:prstGeom prst="rect">
            <a:avLst/>
          </a:prstGeom>
          <a:noFill/>
          <a:ln/>
        </p:spPr>
        <p:txBody>
          <a:bodyPr wrap="square" lIns="0" tIns="0" rIns="0" bIns="0" rtlCol="0" anchor="t"/>
          <a:lstStyle/>
          <a:p>
            <a:pPr indent="0" marL="0">
              <a:buNone/>
            </a:pPr>
            <a:r>
              <a:rPr lang="en-US" sz="1000" b="1" dirty="0">
                <a:solidFill>
                  <a:srgbClr val="8A8984"/>
                </a:solidFill>
                <a:latin typeface="Calibri" pitchFamily="34" charset="0"/>
                <a:ea typeface="Calibri" pitchFamily="34" charset="-122"/>
                <a:cs typeface="Calibri" pitchFamily="34" charset="-120"/>
              </a:rPr>
              <a:t>NewBit</a:t>
            </a:r>
            <a:endParaRPr lang="en-US" sz="1000" dirty="0"/>
          </a:p>
        </p:txBody>
      </p:sp>
      <p:sp>
        <p:nvSpPr>
          <p:cNvPr id="5" name="Text 3"/>
          <p:cNvSpPr/>
          <p:nvPr/>
        </p:nvSpPr>
        <p:spPr>
          <a:xfrm>
            <a:off x="1371600" y="6355080"/>
            <a:ext cx="4572000" cy="228600"/>
          </a:xfrm>
          <a:prstGeom prst="rect">
            <a:avLst/>
          </a:prstGeom>
          <a:noFill/>
          <a:ln/>
        </p:spPr>
        <p:txBody>
          <a:bodyPr wrap="square" lIns="0" tIns="0" rIns="0" bIns="0" rtlCol="0" anchor="t"/>
          <a:lstStyle/>
          <a:p>
            <a:pPr indent="0" marL="0">
              <a:buNone/>
            </a:pPr>
            <a:r>
              <a:rPr lang="en-US" sz="1000" dirty="0">
                <a:solidFill>
                  <a:srgbClr val="8A8984"/>
                </a:solidFill>
                <a:latin typeface="Calibri" pitchFamily="34" charset="0"/>
                <a:ea typeface="Calibri" pitchFamily="34" charset="-122"/>
                <a:cs typeface="Calibri" pitchFamily="34" charset="-120"/>
              </a:rPr>
              <a:t>Producto de la Unidad I · Grupo D3</a:t>
            </a:r>
            <a:endParaRPr lang="en-US" sz="1000" dirty="0"/>
          </a:p>
        </p:txBody>
      </p:sp>
      <p:sp>
        <p:nvSpPr>
          <p:cNvPr id="6" name="Text 4"/>
          <p:cNvSpPr/>
          <p:nvPr/>
        </p:nvSpPr>
        <p:spPr>
          <a:xfrm>
            <a:off x="10728655" y="6355080"/>
            <a:ext cx="731520" cy="228600"/>
          </a:xfrm>
          <a:prstGeom prst="rect">
            <a:avLst/>
          </a:prstGeom>
          <a:noFill/>
          <a:ln/>
        </p:spPr>
        <p:txBody>
          <a:bodyPr wrap="square" lIns="0" tIns="0" rIns="0" bIns="0" rtlCol="0" anchor="t"/>
          <a:lstStyle/>
          <a:p>
            <a:pPr algn="r" indent="0" marL="0">
              <a:buNone/>
            </a:pPr>
            <a:r>
              <a:rPr lang="en-US" sz="1000" dirty="0">
                <a:solidFill>
                  <a:srgbClr val="8A8984"/>
                </a:solidFill>
                <a:latin typeface="Calibri" pitchFamily="34" charset="0"/>
                <a:ea typeface="Calibri" pitchFamily="34" charset="-122"/>
                <a:cs typeface="Calibri" pitchFamily="34" charset="-120"/>
              </a:rPr>
              <a:t>17</a:t>
            </a:r>
            <a:endParaRPr lang="en-US" sz="1000" dirty="0"/>
          </a:p>
        </p:txBody>
      </p:sp>
      <p:sp>
        <p:nvSpPr>
          <p:cNvPr id="8" name="Text 5"/>
          <p:cNvSpPr/>
          <p:nvPr/>
        </p:nvSpPr>
        <p:spPr>
          <a:xfrm>
            <a:off x="731520" y="1828800"/>
            <a:ext cx="2651760" cy="685800"/>
          </a:xfrm>
          <a:prstGeom prst="rect">
            <a:avLst/>
          </a:prstGeom>
          <a:noFill/>
          <a:ln/>
        </p:spPr>
        <p:txBody>
          <a:bodyPr wrap="square" lIns="0" tIns="0" rIns="0" bIns="0" rtlCol="0" anchor="t"/>
          <a:lstStyle/>
          <a:p>
            <a:pPr indent="0" marL="0">
              <a:buNone/>
            </a:pPr>
            <a:r>
              <a:rPr lang="en-US" sz="3600" dirty="0">
                <a:solidFill>
                  <a:srgbClr val="1A1A1A"/>
                </a:solidFill>
                <a:latin typeface="Calibri Light" pitchFamily="34" charset="0"/>
                <a:ea typeface="Calibri Light" pitchFamily="34" charset="-122"/>
                <a:cs typeface="Calibri Light" pitchFamily="34" charset="-120"/>
              </a:rPr>
              <a:t>2</a:t>
            </a:r>
            <a:endParaRPr lang="en-US" sz="3600" dirty="0"/>
          </a:p>
        </p:txBody>
      </p:sp>
      <p:sp>
        <p:nvSpPr>
          <p:cNvPr id="9" name="Text 6"/>
          <p:cNvSpPr/>
          <p:nvPr/>
        </p:nvSpPr>
        <p:spPr>
          <a:xfrm>
            <a:off x="731520" y="2542032"/>
            <a:ext cx="2560320" cy="320040"/>
          </a:xfrm>
          <a:prstGeom prst="rect">
            <a:avLst/>
          </a:prstGeom>
          <a:noFill/>
          <a:ln/>
        </p:spPr>
        <p:txBody>
          <a:bodyPr wrap="square" lIns="0" tIns="0" rIns="0" bIns="0" rtlCol="0" anchor="t"/>
          <a:lstStyle/>
          <a:p>
            <a:pPr indent="0" marL="0">
              <a:buNone/>
            </a:pPr>
            <a:r>
              <a:rPr lang="en-US" sz="1500" b="1" dirty="0">
                <a:solidFill>
                  <a:srgbClr val="1A1A1A"/>
                </a:solidFill>
                <a:latin typeface="Calibri" pitchFamily="34" charset="0"/>
                <a:ea typeface="Calibri" pitchFamily="34" charset="-122"/>
                <a:cs typeface="Calibri" pitchFamily="34" charset="-120"/>
              </a:rPr>
              <a:t>conductas priorizadas</a:t>
            </a:r>
            <a:endParaRPr lang="en-US" sz="1500" dirty="0"/>
          </a:p>
        </p:txBody>
      </p:sp>
      <p:sp>
        <p:nvSpPr>
          <p:cNvPr id="10" name="Text 7"/>
          <p:cNvSpPr/>
          <p:nvPr/>
        </p:nvSpPr>
        <p:spPr>
          <a:xfrm>
            <a:off x="731520" y="2862072"/>
            <a:ext cx="2560320" cy="548640"/>
          </a:xfrm>
          <a:prstGeom prst="rect">
            <a:avLst/>
          </a:prstGeom>
          <a:noFill/>
          <a:ln/>
        </p:spPr>
        <p:txBody>
          <a:bodyPr wrap="square" lIns="0" tIns="0" rIns="0" bIns="0" rtlCol="0" anchor="t"/>
          <a:lstStyle/>
          <a:p>
            <a:pPr indent="0" marL="0">
              <a:buNone/>
            </a:pPr>
            <a:r>
              <a:rPr lang="en-US" sz="1300" dirty="0">
                <a:solidFill>
                  <a:srgbClr val="8A8984"/>
                </a:solidFill>
                <a:latin typeface="Calibri" pitchFamily="34" charset="0"/>
                <a:ea typeface="Calibri" pitchFamily="34" charset="-122"/>
                <a:cs typeface="Calibri" pitchFamily="34" charset="-120"/>
              </a:rPr>
              <a:t>con sus casos seguros de contraste</a:t>
            </a:r>
            <a:endParaRPr lang="en-US" sz="1300" dirty="0"/>
          </a:p>
        </p:txBody>
      </p:sp>
      <p:sp>
        <p:nvSpPr>
          <p:cNvPr id="11" name="Text 8"/>
          <p:cNvSpPr/>
          <p:nvPr/>
        </p:nvSpPr>
        <p:spPr>
          <a:xfrm>
            <a:off x="3474720" y="1828800"/>
            <a:ext cx="2651760" cy="685800"/>
          </a:xfrm>
          <a:prstGeom prst="rect">
            <a:avLst/>
          </a:prstGeom>
          <a:noFill/>
          <a:ln/>
        </p:spPr>
        <p:txBody>
          <a:bodyPr wrap="square" lIns="0" tIns="0" rIns="0" bIns="0" rtlCol="0" anchor="t"/>
          <a:lstStyle/>
          <a:p>
            <a:pPr indent="0" marL="0">
              <a:buNone/>
            </a:pPr>
            <a:r>
              <a:rPr lang="en-US" sz="3600" dirty="0">
                <a:solidFill>
                  <a:srgbClr val="1A1A1A"/>
                </a:solidFill>
                <a:latin typeface="Calibri Light" pitchFamily="34" charset="0"/>
                <a:ea typeface="Calibri Light" pitchFamily="34" charset="-122"/>
                <a:cs typeface="Calibri Light" pitchFamily="34" charset="-120"/>
              </a:rPr>
              <a:t>S/ 20 768</a:t>
            </a:r>
            <a:endParaRPr lang="en-US" sz="3600" dirty="0"/>
          </a:p>
        </p:txBody>
      </p:sp>
      <p:sp>
        <p:nvSpPr>
          <p:cNvPr id="12" name="Text 9"/>
          <p:cNvSpPr/>
          <p:nvPr/>
        </p:nvSpPr>
        <p:spPr>
          <a:xfrm>
            <a:off x="3474720" y="2542032"/>
            <a:ext cx="2560320" cy="320040"/>
          </a:xfrm>
          <a:prstGeom prst="rect">
            <a:avLst/>
          </a:prstGeom>
          <a:noFill/>
          <a:ln/>
        </p:spPr>
        <p:txBody>
          <a:bodyPr wrap="square" lIns="0" tIns="0" rIns="0" bIns="0" rtlCol="0" anchor="t"/>
          <a:lstStyle/>
          <a:p>
            <a:pPr indent="0" marL="0">
              <a:buNone/>
            </a:pPr>
            <a:r>
              <a:rPr lang="en-US" sz="1500" b="1" dirty="0">
                <a:solidFill>
                  <a:srgbClr val="1A1A1A"/>
                </a:solidFill>
                <a:latin typeface="Calibri" pitchFamily="34" charset="0"/>
                <a:ea typeface="Calibri" pitchFamily="34" charset="-122"/>
                <a:cs typeface="Calibri" pitchFamily="34" charset="-120"/>
              </a:rPr>
              <a:t>de presupuesto</a:t>
            </a:r>
            <a:endParaRPr lang="en-US" sz="1500" dirty="0"/>
          </a:p>
        </p:txBody>
      </p:sp>
      <p:sp>
        <p:nvSpPr>
          <p:cNvPr id="13" name="Text 10"/>
          <p:cNvSpPr/>
          <p:nvPr/>
        </p:nvSpPr>
        <p:spPr>
          <a:xfrm>
            <a:off x="3474720" y="2862072"/>
            <a:ext cx="2560320" cy="548640"/>
          </a:xfrm>
          <a:prstGeom prst="rect">
            <a:avLst/>
          </a:prstGeom>
          <a:noFill/>
          <a:ln/>
        </p:spPr>
        <p:txBody>
          <a:bodyPr wrap="square" lIns="0" tIns="0" rIns="0" bIns="0" rtlCol="0" anchor="t"/>
          <a:lstStyle/>
          <a:p>
            <a:pPr indent="0" marL="0">
              <a:buNone/>
            </a:pPr>
            <a:r>
              <a:rPr lang="en-US" sz="1300" dirty="0">
                <a:solidFill>
                  <a:srgbClr val="8A8984"/>
                </a:solidFill>
                <a:latin typeface="Calibri" pitchFamily="34" charset="0"/>
                <a:ea typeface="Calibri" pitchFamily="34" charset="-122"/>
                <a:cs typeface="Calibri" pitchFamily="34" charset="-120"/>
              </a:rPr>
              <a:t>90 % es dedicación valorizada del equipo</a:t>
            </a:r>
            <a:endParaRPr lang="en-US" sz="1300" dirty="0"/>
          </a:p>
        </p:txBody>
      </p:sp>
      <p:sp>
        <p:nvSpPr>
          <p:cNvPr id="14" name="Text 11"/>
          <p:cNvSpPr/>
          <p:nvPr/>
        </p:nvSpPr>
        <p:spPr>
          <a:xfrm>
            <a:off x="731520" y="3749040"/>
            <a:ext cx="2651760" cy="685800"/>
          </a:xfrm>
          <a:prstGeom prst="rect">
            <a:avLst/>
          </a:prstGeom>
          <a:noFill/>
          <a:ln/>
        </p:spPr>
        <p:txBody>
          <a:bodyPr wrap="square" lIns="0" tIns="0" rIns="0" bIns="0" rtlCol="0" anchor="t"/>
          <a:lstStyle/>
          <a:p>
            <a:pPr indent="0" marL="0">
              <a:buNone/>
            </a:pPr>
            <a:r>
              <a:rPr lang="en-US" sz="3600" dirty="0">
                <a:solidFill>
                  <a:srgbClr val="1A1A1A"/>
                </a:solidFill>
                <a:latin typeface="Calibri Light" pitchFamily="34" charset="0"/>
                <a:ea typeface="Calibri Light" pitchFamily="34" charset="-122"/>
                <a:cs typeface="Calibri Light" pitchFamily="34" charset="-120"/>
              </a:rPr>
              <a:t>11 semanas</a:t>
            </a:r>
            <a:endParaRPr lang="en-US" sz="3600" dirty="0"/>
          </a:p>
        </p:txBody>
      </p:sp>
      <p:sp>
        <p:nvSpPr>
          <p:cNvPr id="15" name="Text 12"/>
          <p:cNvSpPr/>
          <p:nvPr/>
        </p:nvSpPr>
        <p:spPr>
          <a:xfrm>
            <a:off x="731520" y="4462272"/>
            <a:ext cx="2560320" cy="320040"/>
          </a:xfrm>
          <a:prstGeom prst="rect">
            <a:avLst/>
          </a:prstGeom>
          <a:noFill/>
          <a:ln/>
        </p:spPr>
        <p:txBody>
          <a:bodyPr wrap="square" lIns="0" tIns="0" rIns="0" bIns="0" rtlCol="0" anchor="t"/>
          <a:lstStyle/>
          <a:p>
            <a:pPr indent="0" marL="0">
              <a:buNone/>
            </a:pPr>
            <a:r>
              <a:rPr lang="en-US" sz="1500" b="1" dirty="0">
                <a:solidFill>
                  <a:srgbClr val="1A1A1A"/>
                </a:solidFill>
                <a:latin typeface="Calibri" pitchFamily="34" charset="0"/>
                <a:ea typeface="Calibri" pitchFamily="34" charset="-122"/>
                <a:cs typeface="Calibri" pitchFamily="34" charset="-120"/>
              </a:rPr>
              <a:t>del 05/10 al 18/12</a:t>
            </a:r>
            <a:endParaRPr lang="en-US" sz="1500" dirty="0"/>
          </a:p>
        </p:txBody>
      </p:sp>
      <p:sp>
        <p:nvSpPr>
          <p:cNvPr id="16" name="Text 13"/>
          <p:cNvSpPr/>
          <p:nvPr/>
        </p:nvSpPr>
        <p:spPr>
          <a:xfrm>
            <a:off x="731520" y="4782312"/>
            <a:ext cx="2560320" cy="548640"/>
          </a:xfrm>
          <a:prstGeom prst="rect">
            <a:avLst/>
          </a:prstGeom>
          <a:noFill/>
          <a:ln/>
        </p:spPr>
        <p:txBody>
          <a:bodyPr wrap="square" lIns="0" tIns="0" rIns="0" bIns="0" rtlCol="0" anchor="t"/>
          <a:lstStyle/>
          <a:p>
            <a:pPr indent="0" marL="0">
              <a:buNone/>
            </a:pPr>
            <a:r>
              <a:rPr lang="en-US" sz="1300" dirty="0">
                <a:solidFill>
                  <a:srgbClr val="8A8984"/>
                </a:solidFill>
                <a:latin typeface="Calibri" pitchFamily="34" charset="0"/>
                <a:ea typeface="Calibri" pitchFamily="34" charset="-122"/>
                <a:cs typeface="Calibri" pitchFamily="34" charset="-120"/>
              </a:rPr>
              <a:t>inicio, cuatro sprints y cierre</a:t>
            </a:r>
            <a:endParaRPr lang="en-US" sz="1300" dirty="0"/>
          </a:p>
        </p:txBody>
      </p:sp>
      <p:sp>
        <p:nvSpPr>
          <p:cNvPr id="17" name="Text 14"/>
          <p:cNvSpPr/>
          <p:nvPr/>
        </p:nvSpPr>
        <p:spPr>
          <a:xfrm>
            <a:off x="3474720" y="3749040"/>
            <a:ext cx="2651760" cy="685800"/>
          </a:xfrm>
          <a:prstGeom prst="rect">
            <a:avLst/>
          </a:prstGeom>
          <a:noFill/>
          <a:ln/>
        </p:spPr>
        <p:txBody>
          <a:bodyPr wrap="square" lIns="0" tIns="0" rIns="0" bIns="0" rtlCol="0" anchor="t"/>
          <a:lstStyle/>
          <a:p>
            <a:pPr indent="0" marL="0">
              <a:buNone/>
            </a:pPr>
            <a:r>
              <a:rPr lang="en-US" sz="3600" dirty="0">
                <a:solidFill>
                  <a:srgbClr val="1A1A1A"/>
                </a:solidFill>
                <a:latin typeface="Calibri Light" pitchFamily="34" charset="0"/>
                <a:ea typeface="Calibri Light" pitchFamily="34" charset="-122"/>
                <a:cs typeface="Calibri Light" pitchFamily="34" charset="-120"/>
              </a:rPr>
              <a:t>7 riesgos</a:t>
            </a:r>
            <a:endParaRPr lang="en-US" sz="3600" dirty="0"/>
          </a:p>
        </p:txBody>
      </p:sp>
      <p:sp>
        <p:nvSpPr>
          <p:cNvPr id="18" name="Text 15"/>
          <p:cNvSpPr/>
          <p:nvPr/>
        </p:nvSpPr>
        <p:spPr>
          <a:xfrm>
            <a:off x="3474720" y="4462272"/>
            <a:ext cx="2560320" cy="320040"/>
          </a:xfrm>
          <a:prstGeom prst="rect">
            <a:avLst/>
          </a:prstGeom>
          <a:noFill/>
          <a:ln/>
        </p:spPr>
        <p:txBody>
          <a:bodyPr wrap="square" lIns="0" tIns="0" rIns="0" bIns="0" rtlCol="0" anchor="t"/>
          <a:lstStyle/>
          <a:p>
            <a:pPr indent="0" marL="0">
              <a:buNone/>
            </a:pPr>
            <a:r>
              <a:rPr lang="en-US" sz="1500" b="1" dirty="0">
                <a:solidFill>
                  <a:srgbClr val="1A1A1A"/>
                </a:solidFill>
                <a:latin typeface="Calibri" pitchFamily="34" charset="0"/>
                <a:ea typeface="Calibri" pitchFamily="34" charset="-122"/>
                <a:cs typeface="Calibri" pitchFamily="34" charset="-120"/>
              </a:rPr>
              <a:t>con respuesta prevista</a:t>
            </a:r>
            <a:endParaRPr lang="en-US" sz="1500" dirty="0"/>
          </a:p>
        </p:txBody>
      </p:sp>
      <p:sp>
        <p:nvSpPr>
          <p:cNvPr id="19" name="Text 16"/>
          <p:cNvSpPr/>
          <p:nvPr/>
        </p:nvSpPr>
        <p:spPr>
          <a:xfrm>
            <a:off x="3474720" y="4782312"/>
            <a:ext cx="2560320" cy="548640"/>
          </a:xfrm>
          <a:prstGeom prst="rect">
            <a:avLst/>
          </a:prstGeom>
          <a:noFill/>
          <a:ln/>
        </p:spPr>
        <p:txBody>
          <a:bodyPr wrap="square" lIns="0" tIns="0" rIns="0" bIns="0" rtlCol="0" anchor="t"/>
          <a:lstStyle/>
          <a:p>
            <a:pPr indent="0" marL="0">
              <a:buNone/>
            </a:pPr>
            <a:r>
              <a:rPr lang="en-US" sz="1300" dirty="0">
                <a:solidFill>
                  <a:srgbClr val="8A8984"/>
                </a:solidFill>
                <a:latin typeface="Calibri" pitchFamily="34" charset="0"/>
                <a:ea typeface="Calibri" pitchFamily="34" charset="-122"/>
                <a:cs typeface="Calibri" pitchFamily="34" charset="-120"/>
              </a:rPr>
              <a:t>el mayor: ajustar el modelo temporal</a:t>
            </a:r>
            <a:endParaRPr lang="en-US" sz="1300" dirty="0"/>
          </a:p>
        </p:txBody>
      </p:sp>
      <p:pic>
        <p:nvPicPr>
          <p:cNvPr id="20" name="Image 0" descr="/Users/anthony/Documents/Projects/NewBit/curso/semana-06-producto-unidad-1/nuestras-entregas/PPT_Producto_Unidad_1_NewBit/img/cuadro-principios.png">    </p:cNvPr>
          <p:cNvPicPr>
            <a:picLocks noChangeAspect="1"/>
          </p:cNvPicPr>
          <p:nvPr/>
        </p:nvPicPr>
        <p:blipFill>
          <a:blip r:embed="rId1"/>
          <a:stretch>
            <a:fillRect/>
          </a:stretch>
        </p:blipFill>
        <p:spPr>
          <a:xfrm>
            <a:off x="6446520" y="1828800"/>
            <a:ext cx="5010912" cy="2816352"/>
          </a:xfrm>
          <a:prstGeom prst="rect">
            <a:avLst/>
          </a:prstGeom>
        </p:spPr>
      </p:pic>
      <p:sp>
        <p:nvSpPr>
          <p:cNvPr id="21" name="Shape 17"/>
          <p:cNvSpPr/>
          <p:nvPr/>
        </p:nvSpPr>
        <p:spPr>
          <a:xfrm>
            <a:off x="6446520" y="1828800"/>
            <a:ext cx="5010912" cy="2816352"/>
          </a:xfrm>
          <a:prstGeom prst="rect">
            <a:avLst/>
          </a:prstGeom>
          <a:ln w="9525">
            <a:solidFill>
              <a:srgbClr val="E7E5E4"/>
            </a:solidFill>
            <a:prstDash val="solid"/>
          </a:ln>
        </p:spPr>
      </p:sp>
      <p:sp>
        <p:nvSpPr>
          <p:cNvPr id="22" name="Text 18"/>
          <p:cNvSpPr/>
          <p:nvPr/>
        </p:nvSpPr>
        <p:spPr>
          <a:xfrm>
            <a:off x="6446520" y="4754880"/>
            <a:ext cx="5029200" cy="457200"/>
          </a:xfrm>
          <a:prstGeom prst="rect">
            <a:avLst/>
          </a:prstGeom>
          <a:noFill/>
          <a:ln/>
        </p:spPr>
        <p:txBody>
          <a:bodyPr wrap="square" lIns="0" tIns="0" rIns="0" bIns="0" rtlCol="0" anchor="t"/>
          <a:lstStyle/>
          <a:p>
            <a:pPr indent="0" marL="0">
              <a:buNone/>
            </a:pPr>
            <a:r>
              <a:rPr lang="en-US" sz="1200" dirty="0">
                <a:solidFill>
                  <a:srgbClr val="8A8984"/>
                </a:solidFill>
                <a:latin typeface="Calibri" pitchFamily="34" charset="0"/>
                <a:ea typeface="Calibri" pitchFamily="34" charset="-122"/>
                <a:cs typeface="Calibri" pitchFamily="34" charset="-120"/>
              </a:rPr>
              <a:t>También en la semana 2: cuadro comparativo de los principios de Scrum.</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AF9"/>
        </a:solidFill>
      </p:bgPr>
    </p:bg>
    <p:spTree>
      <p:nvGrpSpPr>
        <p:cNvPr id="1" name=""/>
        <p:cNvGrpSpPr/>
        <p:nvPr/>
      </p:nvGrpSpPr>
      <p:grpSpPr>
        <a:xfrm>
          <a:off x="0" y="0"/>
          <a:ext cx="0" cy="0"/>
          <a:chOff x="0" y="0"/>
          <a:chExt cx="0" cy="0"/>
        </a:xfrm>
      </p:grpSpPr>
      <p:sp>
        <p:nvSpPr>
          <p:cNvPr id="2" name="Text 0"/>
          <p:cNvSpPr/>
          <p:nvPr/>
        </p:nvSpPr>
        <p:spPr>
          <a:xfrm>
            <a:off x="731520" y="502920"/>
            <a:ext cx="10058400" cy="274320"/>
          </a:xfrm>
          <a:prstGeom prst="rect">
            <a:avLst/>
          </a:prstGeom>
          <a:noFill/>
          <a:ln/>
        </p:spPr>
        <p:txBody>
          <a:bodyPr wrap="square" lIns="0" tIns="0" rIns="0" bIns="0" rtlCol="0" anchor="t"/>
          <a:lstStyle/>
          <a:p>
            <a:pPr indent="0" marL="0">
              <a:buNone/>
            </a:pPr>
            <a:r>
              <a:rPr lang="en-US" sz="1100" b="1" spc="150" kern="0" dirty="0">
                <a:solidFill>
                  <a:srgbClr val="3E63DD"/>
                </a:solidFill>
                <a:latin typeface="Calibri" pitchFamily="34" charset="0"/>
                <a:ea typeface="Calibri" pitchFamily="34" charset="-122"/>
                <a:cs typeface="Calibri" pitchFamily="34" charset="-120"/>
              </a:rPr>
              <a:t>SEMANA 3 · ROLES Y PROTOTIPOS (FGAP030)</a:t>
            </a:r>
            <a:endParaRPr lang="en-US" sz="1100" dirty="0"/>
          </a:p>
        </p:txBody>
      </p:sp>
      <p:sp>
        <p:nvSpPr>
          <p:cNvPr id="3" name="Text 1"/>
          <p:cNvSpPr/>
          <p:nvPr/>
        </p:nvSpPr>
        <p:spPr>
          <a:xfrm>
            <a:off x="731520" y="777240"/>
            <a:ext cx="10698480" cy="822960"/>
          </a:xfrm>
          <a:prstGeom prst="rect">
            <a:avLst/>
          </a:prstGeom>
          <a:noFill/>
          <a:ln/>
        </p:spPr>
        <p:txBody>
          <a:bodyPr wrap="square" lIns="0" tIns="0" rIns="0" bIns="0" rtlCol="0" anchor="t"/>
          <a:lstStyle/>
          <a:p>
            <a:pPr indent="0" marL="0">
              <a:buNone/>
            </a:pPr>
            <a:r>
              <a:rPr lang="en-US" sz="3400" dirty="0">
                <a:solidFill>
                  <a:srgbClr val="1A1A1A"/>
                </a:solidFill>
                <a:latin typeface="Calibri Light" pitchFamily="34" charset="0"/>
                <a:ea typeface="Calibri Light" pitchFamily="34" charset="-122"/>
                <a:cs typeface="Calibri Light" pitchFamily="34" charset="-120"/>
              </a:rPr>
              <a:t>Cinco personas usan NewBit</a:t>
            </a:r>
            <a:endParaRPr lang="en-US" sz="3400" dirty="0"/>
          </a:p>
        </p:txBody>
      </p:sp>
      <p:sp>
        <p:nvSpPr>
          <p:cNvPr id="4" name="Text 2"/>
          <p:cNvSpPr/>
          <p:nvPr/>
        </p:nvSpPr>
        <p:spPr>
          <a:xfrm>
            <a:off x="731520" y="6355080"/>
            <a:ext cx="2743200" cy="228600"/>
          </a:xfrm>
          <a:prstGeom prst="rect">
            <a:avLst/>
          </a:prstGeom>
          <a:noFill/>
          <a:ln/>
        </p:spPr>
        <p:txBody>
          <a:bodyPr wrap="square" lIns="0" tIns="0" rIns="0" bIns="0" rtlCol="0" anchor="t"/>
          <a:lstStyle/>
          <a:p>
            <a:pPr indent="0" marL="0">
              <a:buNone/>
            </a:pPr>
            <a:r>
              <a:rPr lang="en-US" sz="1000" b="1" dirty="0">
                <a:solidFill>
                  <a:srgbClr val="8A8984"/>
                </a:solidFill>
                <a:latin typeface="Calibri" pitchFamily="34" charset="0"/>
                <a:ea typeface="Calibri" pitchFamily="34" charset="-122"/>
                <a:cs typeface="Calibri" pitchFamily="34" charset="-120"/>
              </a:rPr>
              <a:t>NewBit</a:t>
            </a:r>
            <a:endParaRPr lang="en-US" sz="1000" dirty="0"/>
          </a:p>
        </p:txBody>
      </p:sp>
      <p:sp>
        <p:nvSpPr>
          <p:cNvPr id="5" name="Text 3"/>
          <p:cNvSpPr/>
          <p:nvPr/>
        </p:nvSpPr>
        <p:spPr>
          <a:xfrm>
            <a:off x="1371600" y="6355080"/>
            <a:ext cx="4572000" cy="228600"/>
          </a:xfrm>
          <a:prstGeom prst="rect">
            <a:avLst/>
          </a:prstGeom>
          <a:noFill/>
          <a:ln/>
        </p:spPr>
        <p:txBody>
          <a:bodyPr wrap="square" lIns="0" tIns="0" rIns="0" bIns="0" rtlCol="0" anchor="t"/>
          <a:lstStyle/>
          <a:p>
            <a:pPr indent="0" marL="0">
              <a:buNone/>
            </a:pPr>
            <a:r>
              <a:rPr lang="en-US" sz="1000" dirty="0">
                <a:solidFill>
                  <a:srgbClr val="8A8984"/>
                </a:solidFill>
                <a:latin typeface="Calibri" pitchFamily="34" charset="0"/>
                <a:ea typeface="Calibri" pitchFamily="34" charset="-122"/>
                <a:cs typeface="Calibri" pitchFamily="34" charset="-120"/>
              </a:rPr>
              <a:t>Producto de la Unidad I · Grupo D3</a:t>
            </a:r>
            <a:endParaRPr lang="en-US" sz="1000" dirty="0"/>
          </a:p>
        </p:txBody>
      </p:sp>
      <p:sp>
        <p:nvSpPr>
          <p:cNvPr id="6" name="Text 4"/>
          <p:cNvSpPr/>
          <p:nvPr/>
        </p:nvSpPr>
        <p:spPr>
          <a:xfrm>
            <a:off x="10728655" y="6355080"/>
            <a:ext cx="731520" cy="228600"/>
          </a:xfrm>
          <a:prstGeom prst="rect">
            <a:avLst/>
          </a:prstGeom>
          <a:noFill/>
          <a:ln/>
        </p:spPr>
        <p:txBody>
          <a:bodyPr wrap="square" lIns="0" tIns="0" rIns="0" bIns="0" rtlCol="0" anchor="t"/>
          <a:lstStyle/>
          <a:p>
            <a:pPr algn="r" indent="0" marL="0">
              <a:buNone/>
            </a:pPr>
            <a:r>
              <a:rPr lang="en-US" sz="1000" dirty="0">
                <a:solidFill>
                  <a:srgbClr val="8A8984"/>
                </a:solidFill>
                <a:latin typeface="Calibri" pitchFamily="34" charset="0"/>
                <a:ea typeface="Calibri" pitchFamily="34" charset="-122"/>
                <a:cs typeface="Calibri" pitchFamily="34" charset="-120"/>
              </a:rPr>
              <a:t>18</a:t>
            </a:r>
            <a:endParaRPr lang="en-US" sz="1000" dirty="0"/>
          </a:p>
        </p:txBody>
      </p:sp>
      <p:sp>
        <p:nvSpPr>
          <p:cNvPr id="8" name="Shape 5"/>
          <p:cNvSpPr/>
          <p:nvPr/>
        </p:nvSpPr>
        <p:spPr>
          <a:xfrm>
            <a:off x="731520" y="1828800"/>
            <a:ext cx="2011680" cy="3383280"/>
          </a:xfrm>
          <a:prstGeom prst="roundRect">
            <a:avLst>
              <a:gd name="adj" fmla="val 3636"/>
            </a:avLst>
          </a:prstGeom>
          <a:solidFill>
            <a:srgbClr val="FFFFFF"/>
          </a:solidFill>
          <a:ln w="9525">
            <a:solidFill>
              <a:srgbClr val="E7E5E4"/>
            </a:solidFill>
            <a:prstDash val="solid"/>
          </a:ln>
        </p:spPr>
      </p:sp>
      <p:sp>
        <p:nvSpPr>
          <p:cNvPr id="9" name="Shape 6"/>
          <p:cNvSpPr/>
          <p:nvPr/>
        </p:nvSpPr>
        <p:spPr>
          <a:xfrm>
            <a:off x="1005840" y="2103120"/>
            <a:ext cx="640080" cy="640080"/>
          </a:xfrm>
          <a:prstGeom prst="ellipse">
            <a:avLst/>
          </a:prstGeom>
          <a:solidFill>
            <a:srgbClr val="EEF2FF"/>
          </a:solidFill>
          <a:ln w="12700">
            <a:solidFill>
              <a:srgbClr val="C7D2FE"/>
            </a:solidFill>
            <a:prstDash val="solid"/>
          </a:ln>
        </p:spPr>
      </p:sp>
      <p:sp>
        <p:nvSpPr>
          <p:cNvPr id="10" name="Text 7"/>
          <p:cNvSpPr/>
          <p:nvPr/>
        </p:nvSpPr>
        <p:spPr>
          <a:xfrm>
            <a:off x="1005840" y="2258568"/>
            <a:ext cx="640080" cy="320040"/>
          </a:xfrm>
          <a:prstGeom prst="rect">
            <a:avLst/>
          </a:prstGeom>
          <a:noFill/>
          <a:ln/>
        </p:spPr>
        <p:txBody>
          <a:bodyPr wrap="square" lIns="0" tIns="0" rIns="0" bIns="0" rtlCol="0" anchor="t"/>
          <a:lstStyle/>
          <a:p>
            <a:pPr algn="ctr" indent="0" marL="0">
              <a:buNone/>
            </a:pPr>
            <a:r>
              <a:rPr lang="en-US" sz="1500" b="1" dirty="0">
                <a:solidFill>
                  <a:srgbClr val="3E63DD"/>
                </a:solidFill>
                <a:latin typeface="Calibri" pitchFamily="34" charset="0"/>
                <a:ea typeface="Calibri" pitchFamily="34" charset="-122"/>
                <a:cs typeface="Calibri" pitchFamily="34" charset="-120"/>
              </a:rPr>
              <a:t>JP</a:t>
            </a:r>
            <a:endParaRPr lang="en-US" sz="1500" dirty="0"/>
          </a:p>
        </p:txBody>
      </p:sp>
      <p:sp>
        <p:nvSpPr>
          <p:cNvPr id="11" name="Text 8"/>
          <p:cNvSpPr/>
          <p:nvPr/>
        </p:nvSpPr>
        <p:spPr>
          <a:xfrm>
            <a:off x="1005840" y="2926080"/>
            <a:ext cx="1645920" cy="320040"/>
          </a:xfrm>
          <a:prstGeom prst="rect">
            <a:avLst/>
          </a:prstGeom>
          <a:noFill/>
          <a:ln/>
        </p:spPr>
        <p:txBody>
          <a:bodyPr wrap="square" lIns="0" tIns="0" rIns="0" bIns="0" rtlCol="0" anchor="t"/>
          <a:lstStyle/>
          <a:p>
            <a:pPr indent="0" marL="0">
              <a:buNone/>
            </a:pPr>
            <a:r>
              <a:rPr lang="en-US" sz="1600" b="1" dirty="0">
                <a:solidFill>
                  <a:srgbClr val="1A1A1A"/>
                </a:solidFill>
                <a:latin typeface="Calibri" pitchFamily="34" charset="0"/>
                <a:ea typeface="Calibri" pitchFamily="34" charset="-122"/>
                <a:cs typeface="Calibri" pitchFamily="34" charset="-120"/>
              </a:rPr>
              <a:t>Jorge Ponce</a:t>
            </a:r>
            <a:endParaRPr lang="en-US" sz="1600" dirty="0"/>
          </a:p>
        </p:txBody>
      </p:sp>
      <p:sp>
        <p:nvSpPr>
          <p:cNvPr id="12" name="Text 9"/>
          <p:cNvSpPr/>
          <p:nvPr/>
        </p:nvSpPr>
        <p:spPr>
          <a:xfrm>
            <a:off x="1005840" y="3246120"/>
            <a:ext cx="1645920" cy="502920"/>
          </a:xfrm>
          <a:prstGeom prst="rect">
            <a:avLst/>
          </a:prstGeom>
          <a:noFill/>
          <a:ln/>
        </p:spPr>
        <p:txBody>
          <a:bodyPr wrap="square" lIns="0" tIns="0" rIns="0" bIns="0" rtlCol="0" anchor="t"/>
          <a:lstStyle/>
          <a:p>
            <a:pPr indent="0" marL="0">
              <a:buNone/>
            </a:pPr>
            <a:r>
              <a:rPr lang="en-US" sz="1250" dirty="0">
                <a:solidFill>
                  <a:srgbClr val="8A8984"/>
                </a:solidFill>
                <a:latin typeface="Calibri" pitchFamily="34" charset="0"/>
                <a:ea typeface="Calibri" pitchFamily="34" charset="-122"/>
                <a:cs typeface="Calibri" pitchFamily="34" charset="-120"/>
              </a:rPr>
              <a:t>Administrador (TI)</a:t>
            </a:r>
            <a:endParaRPr lang="en-US" sz="1250" dirty="0"/>
          </a:p>
        </p:txBody>
      </p:sp>
      <p:sp>
        <p:nvSpPr>
          <p:cNvPr id="13" name="Text 10"/>
          <p:cNvSpPr/>
          <p:nvPr/>
        </p:nvSpPr>
        <p:spPr>
          <a:xfrm>
            <a:off x="1005840" y="3794760"/>
            <a:ext cx="1600200" cy="1280160"/>
          </a:xfrm>
          <a:prstGeom prst="rect">
            <a:avLst/>
          </a:prstGeom>
          <a:noFill/>
          <a:ln/>
        </p:spPr>
        <p:txBody>
          <a:bodyPr wrap="square" lIns="0" tIns="0" rIns="0" bIns="0" rtlCol="0" anchor="t"/>
          <a:lstStyle/>
          <a:p>
            <a:pPr indent="0" marL="0">
              <a:buNone/>
            </a:pPr>
            <a:r>
              <a:rPr lang="en-US" sz="1350" dirty="0">
                <a:solidFill>
                  <a:srgbClr val="57534E"/>
                </a:solidFill>
                <a:latin typeface="Calibri" pitchFamily="34" charset="0"/>
                <a:ea typeface="Calibri" pitchFamily="34" charset="-122"/>
                <a:cs typeface="Calibri" pitchFamily="34" charset="-120"/>
              </a:rPr>
              <a:t>Cargar videos y ajustar la sensibilidad sin tocar código.</a:t>
            </a:r>
            <a:endParaRPr lang="en-US" sz="1350" dirty="0"/>
          </a:p>
        </p:txBody>
      </p:sp>
      <p:sp>
        <p:nvSpPr>
          <p:cNvPr id="14" name="Shape 11"/>
          <p:cNvSpPr/>
          <p:nvPr/>
        </p:nvSpPr>
        <p:spPr>
          <a:xfrm>
            <a:off x="2898648" y="1828800"/>
            <a:ext cx="2011680" cy="3383280"/>
          </a:xfrm>
          <a:prstGeom prst="roundRect">
            <a:avLst>
              <a:gd name="adj" fmla="val 3636"/>
            </a:avLst>
          </a:prstGeom>
          <a:solidFill>
            <a:srgbClr val="FFFFFF"/>
          </a:solidFill>
          <a:ln w="9525">
            <a:solidFill>
              <a:srgbClr val="E7E5E4"/>
            </a:solidFill>
            <a:prstDash val="solid"/>
          </a:ln>
        </p:spPr>
      </p:sp>
      <p:sp>
        <p:nvSpPr>
          <p:cNvPr id="15" name="Shape 12"/>
          <p:cNvSpPr/>
          <p:nvPr/>
        </p:nvSpPr>
        <p:spPr>
          <a:xfrm>
            <a:off x="3172968" y="2103120"/>
            <a:ext cx="640080" cy="640080"/>
          </a:xfrm>
          <a:prstGeom prst="ellipse">
            <a:avLst/>
          </a:prstGeom>
          <a:solidFill>
            <a:srgbClr val="EEF2FF"/>
          </a:solidFill>
          <a:ln w="12700">
            <a:solidFill>
              <a:srgbClr val="C7D2FE"/>
            </a:solidFill>
            <a:prstDash val="solid"/>
          </a:ln>
        </p:spPr>
      </p:sp>
      <p:sp>
        <p:nvSpPr>
          <p:cNvPr id="16" name="Text 13"/>
          <p:cNvSpPr/>
          <p:nvPr/>
        </p:nvSpPr>
        <p:spPr>
          <a:xfrm>
            <a:off x="3172968" y="2258568"/>
            <a:ext cx="640080" cy="320040"/>
          </a:xfrm>
          <a:prstGeom prst="rect">
            <a:avLst/>
          </a:prstGeom>
          <a:noFill/>
          <a:ln/>
        </p:spPr>
        <p:txBody>
          <a:bodyPr wrap="square" lIns="0" tIns="0" rIns="0" bIns="0" rtlCol="0" anchor="t"/>
          <a:lstStyle/>
          <a:p>
            <a:pPr algn="ctr" indent="0" marL="0">
              <a:buNone/>
            </a:pPr>
            <a:r>
              <a:rPr lang="en-US" sz="1500" b="1" dirty="0">
                <a:solidFill>
                  <a:srgbClr val="3E63DD"/>
                </a:solidFill>
                <a:latin typeface="Calibri" pitchFamily="34" charset="0"/>
                <a:ea typeface="Calibri" pitchFamily="34" charset="-122"/>
                <a:cs typeface="Calibri" pitchFamily="34" charset="-120"/>
              </a:rPr>
              <a:t>MT</a:t>
            </a:r>
            <a:endParaRPr lang="en-US" sz="1500" dirty="0"/>
          </a:p>
        </p:txBody>
      </p:sp>
      <p:sp>
        <p:nvSpPr>
          <p:cNvPr id="17" name="Text 14"/>
          <p:cNvSpPr/>
          <p:nvPr/>
        </p:nvSpPr>
        <p:spPr>
          <a:xfrm>
            <a:off x="3172968" y="2926080"/>
            <a:ext cx="1645920" cy="320040"/>
          </a:xfrm>
          <a:prstGeom prst="rect">
            <a:avLst/>
          </a:prstGeom>
          <a:noFill/>
          <a:ln/>
        </p:spPr>
        <p:txBody>
          <a:bodyPr wrap="square" lIns="0" tIns="0" rIns="0" bIns="0" rtlCol="0" anchor="t"/>
          <a:lstStyle/>
          <a:p>
            <a:pPr indent="0" marL="0">
              <a:buNone/>
            </a:pPr>
            <a:r>
              <a:rPr lang="en-US" sz="1600" b="1" dirty="0">
                <a:solidFill>
                  <a:srgbClr val="1A1A1A"/>
                </a:solidFill>
                <a:latin typeface="Calibri" pitchFamily="34" charset="0"/>
                <a:ea typeface="Calibri" pitchFamily="34" charset="-122"/>
                <a:cs typeface="Calibri" pitchFamily="34" charset="-120"/>
              </a:rPr>
              <a:t>Mariana Torres</a:t>
            </a:r>
            <a:endParaRPr lang="en-US" sz="1600" dirty="0"/>
          </a:p>
        </p:txBody>
      </p:sp>
      <p:sp>
        <p:nvSpPr>
          <p:cNvPr id="18" name="Text 15"/>
          <p:cNvSpPr/>
          <p:nvPr/>
        </p:nvSpPr>
        <p:spPr>
          <a:xfrm>
            <a:off x="3172968" y="3246120"/>
            <a:ext cx="1645920" cy="502920"/>
          </a:xfrm>
          <a:prstGeom prst="rect">
            <a:avLst/>
          </a:prstGeom>
          <a:noFill/>
          <a:ln/>
        </p:spPr>
        <p:txBody>
          <a:bodyPr wrap="square" lIns="0" tIns="0" rIns="0" bIns="0" rtlCol="0" anchor="t"/>
          <a:lstStyle/>
          <a:p>
            <a:pPr indent="0" marL="0">
              <a:buNone/>
            </a:pPr>
            <a:r>
              <a:rPr lang="en-US" sz="1250" dirty="0">
                <a:solidFill>
                  <a:srgbClr val="8A8984"/>
                </a:solidFill>
                <a:latin typeface="Calibri" pitchFamily="34" charset="0"/>
                <a:ea typeface="Calibri" pitchFamily="34" charset="-122"/>
                <a:cs typeface="Calibri" pitchFamily="34" charset="-120"/>
              </a:rPr>
              <a:t>Supervisora de SST</a:t>
            </a:r>
            <a:endParaRPr lang="en-US" sz="1250" dirty="0"/>
          </a:p>
        </p:txBody>
      </p:sp>
      <p:sp>
        <p:nvSpPr>
          <p:cNvPr id="19" name="Text 16"/>
          <p:cNvSpPr/>
          <p:nvPr/>
        </p:nvSpPr>
        <p:spPr>
          <a:xfrm>
            <a:off x="3172968" y="3794760"/>
            <a:ext cx="1600200" cy="1280160"/>
          </a:xfrm>
          <a:prstGeom prst="rect">
            <a:avLst/>
          </a:prstGeom>
          <a:noFill/>
          <a:ln/>
        </p:spPr>
        <p:txBody>
          <a:bodyPr wrap="square" lIns="0" tIns="0" rIns="0" bIns="0" rtlCol="0" anchor="t"/>
          <a:lstStyle/>
          <a:p>
            <a:pPr indent="0" marL="0">
              <a:buNone/>
            </a:pPr>
            <a:r>
              <a:rPr lang="en-US" sz="1350" dirty="0">
                <a:solidFill>
                  <a:srgbClr val="57534E"/>
                </a:solidFill>
                <a:latin typeface="Calibri" pitchFamily="34" charset="0"/>
                <a:ea typeface="Calibri" pitchFamily="34" charset="-122"/>
                <a:cs typeface="Calibri" pitchFamily="34" charset="-120"/>
              </a:rPr>
              <a:t>Alertas con un clip corto de evidencia.</a:t>
            </a:r>
            <a:endParaRPr lang="en-US" sz="1350" dirty="0"/>
          </a:p>
        </p:txBody>
      </p:sp>
      <p:sp>
        <p:nvSpPr>
          <p:cNvPr id="20" name="Shape 17"/>
          <p:cNvSpPr/>
          <p:nvPr/>
        </p:nvSpPr>
        <p:spPr>
          <a:xfrm>
            <a:off x="5065776" y="1828800"/>
            <a:ext cx="2011680" cy="3383280"/>
          </a:xfrm>
          <a:prstGeom prst="roundRect">
            <a:avLst>
              <a:gd name="adj" fmla="val 3636"/>
            </a:avLst>
          </a:prstGeom>
          <a:solidFill>
            <a:srgbClr val="FFFFFF"/>
          </a:solidFill>
          <a:ln w="9525">
            <a:solidFill>
              <a:srgbClr val="E7E5E4"/>
            </a:solidFill>
            <a:prstDash val="solid"/>
          </a:ln>
        </p:spPr>
      </p:sp>
      <p:sp>
        <p:nvSpPr>
          <p:cNvPr id="21" name="Shape 18"/>
          <p:cNvSpPr/>
          <p:nvPr/>
        </p:nvSpPr>
        <p:spPr>
          <a:xfrm>
            <a:off x="5340096" y="2103120"/>
            <a:ext cx="640080" cy="640080"/>
          </a:xfrm>
          <a:prstGeom prst="ellipse">
            <a:avLst/>
          </a:prstGeom>
          <a:solidFill>
            <a:srgbClr val="EEF2FF"/>
          </a:solidFill>
          <a:ln w="12700">
            <a:solidFill>
              <a:srgbClr val="C7D2FE"/>
            </a:solidFill>
            <a:prstDash val="solid"/>
          </a:ln>
        </p:spPr>
      </p:sp>
      <p:sp>
        <p:nvSpPr>
          <p:cNvPr id="22" name="Text 19"/>
          <p:cNvSpPr/>
          <p:nvPr/>
        </p:nvSpPr>
        <p:spPr>
          <a:xfrm>
            <a:off x="5340096" y="2258568"/>
            <a:ext cx="640080" cy="320040"/>
          </a:xfrm>
          <a:prstGeom prst="rect">
            <a:avLst/>
          </a:prstGeom>
          <a:noFill/>
          <a:ln/>
        </p:spPr>
        <p:txBody>
          <a:bodyPr wrap="square" lIns="0" tIns="0" rIns="0" bIns="0" rtlCol="0" anchor="t"/>
          <a:lstStyle/>
          <a:p>
            <a:pPr algn="ctr" indent="0" marL="0">
              <a:buNone/>
            </a:pPr>
            <a:r>
              <a:rPr lang="en-US" sz="1500" b="1" dirty="0">
                <a:solidFill>
                  <a:srgbClr val="3E63DD"/>
                </a:solidFill>
                <a:latin typeface="Calibri" pitchFamily="34" charset="0"/>
                <a:ea typeface="Calibri" pitchFamily="34" charset="-122"/>
                <a:cs typeface="Calibri" pitchFamily="34" charset="-120"/>
              </a:rPr>
              <a:t>CV</a:t>
            </a:r>
            <a:endParaRPr lang="en-US" sz="1500" dirty="0"/>
          </a:p>
        </p:txBody>
      </p:sp>
      <p:sp>
        <p:nvSpPr>
          <p:cNvPr id="23" name="Text 20"/>
          <p:cNvSpPr/>
          <p:nvPr/>
        </p:nvSpPr>
        <p:spPr>
          <a:xfrm>
            <a:off x="5340096" y="2926080"/>
            <a:ext cx="1645920" cy="320040"/>
          </a:xfrm>
          <a:prstGeom prst="rect">
            <a:avLst/>
          </a:prstGeom>
          <a:noFill/>
          <a:ln/>
        </p:spPr>
        <p:txBody>
          <a:bodyPr wrap="square" lIns="0" tIns="0" rIns="0" bIns="0" rtlCol="0" anchor="t"/>
          <a:lstStyle/>
          <a:p>
            <a:pPr indent="0" marL="0">
              <a:buNone/>
            </a:pPr>
            <a:r>
              <a:rPr lang="en-US" sz="1600" b="1" dirty="0">
                <a:solidFill>
                  <a:srgbClr val="1A1A1A"/>
                </a:solidFill>
                <a:latin typeface="Calibri" pitchFamily="34" charset="0"/>
                <a:ea typeface="Calibri" pitchFamily="34" charset="-122"/>
                <a:cs typeface="Calibri" pitchFamily="34" charset="-120"/>
              </a:rPr>
              <a:t>César Vásquez</a:t>
            </a:r>
            <a:endParaRPr lang="en-US" sz="1600" dirty="0"/>
          </a:p>
        </p:txBody>
      </p:sp>
      <p:sp>
        <p:nvSpPr>
          <p:cNvPr id="24" name="Text 21"/>
          <p:cNvSpPr/>
          <p:nvPr/>
        </p:nvSpPr>
        <p:spPr>
          <a:xfrm>
            <a:off x="5340096" y="3246120"/>
            <a:ext cx="1645920" cy="502920"/>
          </a:xfrm>
          <a:prstGeom prst="rect">
            <a:avLst/>
          </a:prstGeom>
          <a:noFill/>
          <a:ln/>
        </p:spPr>
        <p:txBody>
          <a:bodyPr wrap="square" lIns="0" tIns="0" rIns="0" bIns="0" rtlCol="0" anchor="t"/>
          <a:lstStyle/>
          <a:p>
            <a:pPr indent="0" marL="0">
              <a:buNone/>
            </a:pPr>
            <a:r>
              <a:rPr lang="en-US" sz="1250" dirty="0">
                <a:solidFill>
                  <a:srgbClr val="8A8984"/>
                </a:solidFill>
                <a:latin typeface="Calibri" pitchFamily="34" charset="0"/>
                <a:ea typeface="Calibri" pitchFamily="34" charset="-122"/>
                <a:cs typeface="Calibri" pitchFamily="34" charset="-120"/>
              </a:rPr>
              <a:t>Supervisor de turno</a:t>
            </a:r>
            <a:endParaRPr lang="en-US" sz="1250" dirty="0"/>
          </a:p>
        </p:txBody>
      </p:sp>
      <p:sp>
        <p:nvSpPr>
          <p:cNvPr id="25" name="Text 22"/>
          <p:cNvSpPr/>
          <p:nvPr/>
        </p:nvSpPr>
        <p:spPr>
          <a:xfrm>
            <a:off x="5340096" y="3794760"/>
            <a:ext cx="1600200" cy="1280160"/>
          </a:xfrm>
          <a:prstGeom prst="rect">
            <a:avLst/>
          </a:prstGeom>
          <a:noFill/>
          <a:ln/>
        </p:spPr>
        <p:txBody>
          <a:bodyPr wrap="square" lIns="0" tIns="0" rIns="0" bIns="0" rtlCol="0" anchor="t"/>
          <a:lstStyle/>
          <a:p>
            <a:pPr indent="0" marL="0">
              <a:buNone/>
            </a:pPr>
            <a:r>
              <a:rPr lang="en-US" sz="1350" dirty="0">
                <a:solidFill>
                  <a:srgbClr val="57534E"/>
                </a:solidFill>
                <a:latin typeface="Calibri" pitchFamily="34" charset="0"/>
                <a:ea typeface="Calibri" pitchFamily="34" charset="-122"/>
                <a:cs typeface="Calibri" pitchFamily="34" charset="-120"/>
              </a:rPr>
              <a:t>Saber qué pasó, dónde y cuándo, sin alertas repetidas.</a:t>
            </a:r>
            <a:endParaRPr lang="en-US" sz="1350" dirty="0"/>
          </a:p>
        </p:txBody>
      </p:sp>
      <p:sp>
        <p:nvSpPr>
          <p:cNvPr id="26" name="Shape 23"/>
          <p:cNvSpPr/>
          <p:nvPr/>
        </p:nvSpPr>
        <p:spPr>
          <a:xfrm>
            <a:off x="7232904" y="1828800"/>
            <a:ext cx="2011680" cy="3383280"/>
          </a:xfrm>
          <a:prstGeom prst="roundRect">
            <a:avLst>
              <a:gd name="adj" fmla="val 3636"/>
            </a:avLst>
          </a:prstGeom>
          <a:solidFill>
            <a:srgbClr val="FFFFFF"/>
          </a:solidFill>
          <a:ln w="9525">
            <a:solidFill>
              <a:srgbClr val="E7E5E4"/>
            </a:solidFill>
            <a:prstDash val="solid"/>
          </a:ln>
        </p:spPr>
      </p:sp>
      <p:sp>
        <p:nvSpPr>
          <p:cNvPr id="27" name="Shape 24"/>
          <p:cNvSpPr/>
          <p:nvPr/>
        </p:nvSpPr>
        <p:spPr>
          <a:xfrm>
            <a:off x="7507224" y="2103120"/>
            <a:ext cx="640080" cy="640080"/>
          </a:xfrm>
          <a:prstGeom prst="ellipse">
            <a:avLst/>
          </a:prstGeom>
          <a:solidFill>
            <a:srgbClr val="EEF2FF"/>
          </a:solidFill>
          <a:ln w="12700">
            <a:solidFill>
              <a:srgbClr val="C7D2FE"/>
            </a:solidFill>
            <a:prstDash val="solid"/>
          </a:ln>
        </p:spPr>
      </p:sp>
      <p:sp>
        <p:nvSpPr>
          <p:cNvPr id="28" name="Text 25"/>
          <p:cNvSpPr/>
          <p:nvPr/>
        </p:nvSpPr>
        <p:spPr>
          <a:xfrm>
            <a:off x="7507224" y="2258568"/>
            <a:ext cx="640080" cy="320040"/>
          </a:xfrm>
          <a:prstGeom prst="rect">
            <a:avLst/>
          </a:prstGeom>
          <a:noFill/>
          <a:ln/>
        </p:spPr>
        <p:txBody>
          <a:bodyPr wrap="square" lIns="0" tIns="0" rIns="0" bIns="0" rtlCol="0" anchor="t"/>
          <a:lstStyle/>
          <a:p>
            <a:pPr algn="ctr" indent="0" marL="0">
              <a:buNone/>
            </a:pPr>
            <a:r>
              <a:rPr lang="en-US" sz="1500" b="1" dirty="0">
                <a:solidFill>
                  <a:srgbClr val="3E63DD"/>
                </a:solidFill>
                <a:latin typeface="Calibri" pitchFamily="34" charset="0"/>
                <a:ea typeface="Calibri" pitchFamily="34" charset="-122"/>
                <a:cs typeface="Calibri" pitchFamily="34" charset="-120"/>
              </a:rPr>
              <a:t>LR</a:t>
            </a:r>
            <a:endParaRPr lang="en-US" sz="1500" dirty="0"/>
          </a:p>
        </p:txBody>
      </p:sp>
      <p:sp>
        <p:nvSpPr>
          <p:cNvPr id="29" name="Text 26"/>
          <p:cNvSpPr/>
          <p:nvPr/>
        </p:nvSpPr>
        <p:spPr>
          <a:xfrm>
            <a:off x="7507224" y="2926080"/>
            <a:ext cx="1645920" cy="320040"/>
          </a:xfrm>
          <a:prstGeom prst="rect">
            <a:avLst/>
          </a:prstGeom>
          <a:noFill/>
          <a:ln/>
        </p:spPr>
        <p:txBody>
          <a:bodyPr wrap="square" lIns="0" tIns="0" rIns="0" bIns="0" rtlCol="0" anchor="t"/>
          <a:lstStyle/>
          <a:p>
            <a:pPr indent="0" marL="0">
              <a:buNone/>
            </a:pPr>
            <a:r>
              <a:rPr lang="en-US" sz="1600" b="1" dirty="0">
                <a:solidFill>
                  <a:srgbClr val="1A1A1A"/>
                </a:solidFill>
                <a:latin typeface="Calibri" pitchFamily="34" charset="0"/>
                <a:ea typeface="Calibri" pitchFamily="34" charset="-122"/>
                <a:cs typeface="Calibri" pitchFamily="34" charset="-120"/>
              </a:rPr>
              <a:t>Lucía Ramos</a:t>
            </a:r>
            <a:endParaRPr lang="en-US" sz="1600" dirty="0"/>
          </a:p>
        </p:txBody>
      </p:sp>
      <p:sp>
        <p:nvSpPr>
          <p:cNvPr id="30" name="Text 27"/>
          <p:cNvSpPr/>
          <p:nvPr/>
        </p:nvSpPr>
        <p:spPr>
          <a:xfrm>
            <a:off x="7507224" y="3246120"/>
            <a:ext cx="1645920" cy="502920"/>
          </a:xfrm>
          <a:prstGeom prst="rect">
            <a:avLst/>
          </a:prstGeom>
          <a:noFill/>
          <a:ln/>
        </p:spPr>
        <p:txBody>
          <a:bodyPr wrap="square" lIns="0" tIns="0" rIns="0" bIns="0" rtlCol="0" anchor="t"/>
          <a:lstStyle/>
          <a:p>
            <a:pPr indent="0" marL="0">
              <a:buNone/>
            </a:pPr>
            <a:r>
              <a:rPr lang="en-US" sz="1250" dirty="0">
                <a:solidFill>
                  <a:srgbClr val="8A8984"/>
                </a:solidFill>
                <a:latin typeface="Calibri" pitchFamily="34" charset="0"/>
                <a:ea typeface="Calibri" pitchFamily="34" charset="-122"/>
                <a:cs typeface="Calibri" pitchFamily="34" charset="-120"/>
              </a:rPr>
              <a:t>Operadora de monitoreo</a:t>
            </a:r>
            <a:endParaRPr lang="en-US" sz="1250" dirty="0"/>
          </a:p>
        </p:txBody>
      </p:sp>
      <p:sp>
        <p:nvSpPr>
          <p:cNvPr id="31" name="Text 28"/>
          <p:cNvSpPr/>
          <p:nvPr/>
        </p:nvSpPr>
        <p:spPr>
          <a:xfrm>
            <a:off x="7507224" y="3794760"/>
            <a:ext cx="1600200" cy="1280160"/>
          </a:xfrm>
          <a:prstGeom prst="rect">
            <a:avLst/>
          </a:prstGeom>
          <a:noFill/>
          <a:ln/>
        </p:spPr>
        <p:txBody>
          <a:bodyPr wrap="square" lIns="0" tIns="0" rIns="0" bIns="0" rtlCol="0" anchor="t"/>
          <a:lstStyle/>
          <a:p>
            <a:pPr indent="0" marL="0">
              <a:buNone/>
            </a:pPr>
            <a:r>
              <a:rPr lang="en-US" sz="1350" dirty="0">
                <a:solidFill>
                  <a:srgbClr val="57534E"/>
                </a:solidFill>
                <a:latin typeface="Calibri" pitchFamily="34" charset="0"/>
                <a:ea typeface="Calibri" pitchFamily="34" charset="-122"/>
                <a:cs typeface="Calibri" pitchFamily="34" charset="-120"/>
              </a:rPr>
              <a:t>Ver solo lo importante y confirmar en un clic.</a:t>
            </a:r>
            <a:endParaRPr lang="en-US" sz="1350" dirty="0"/>
          </a:p>
        </p:txBody>
      </p:sp>
      <p:sp>
        <p:nvSpPr>
          <p:cNvPr id="32" name="Shape 29"/>
          <p:cNvSpPr/>
          <p:nvPr/>
        </p:nvSpPr>
        <p:spPr>
          <a:xfrm>
            <a:off x="9400032" y="1828800"/>
            <a:ext cx="2011680" cy="3383280"/>
          </a:xfrm>
          <a:prstGeom prst="roundRect">
            <a:avLst>
              <a:gd name="adj" fmla="val 3636"/>
            </a:avLst>
          </a:prstGeom>
          <a:solidFill>
            <a:srgbClr val="FFFFFF"/>
          </a:solidFill>
          <a:ln w="9525">
            <a:solidFill>
              <a:srgbClr val="E7E5E4"/>
            </a:solidFill>
            <a:prstDash val="solid"/>
          </a:ln>
        </p:spPr>
      </p:sp>
      <p:sp>
        <p:nvSpPr>
          <p:cNvPr id="33" name="Shape 30"/>
          <p:cNvSpPr/>
          <p:nvPr/>
        </p:nvSpPr>
        <p:spPr>
          <a:xfrm>
            <a:off x="9674352" y="2103120"/>
            <a:ext cx="640080" cy="640080"/>
          </a:xfrm>
          <a:prstGeom prst="ellipse">
            <a:avLst/>
          </a:prstGeom>
          <a:solidFill>
            <a:srgbClr val="EEF2FF"/>
          </a:solidFill>
          <a:ln w="12700">
            <a:solidFill>
              <a:srgbClr val="C7D2FE"/>
            </a:solidFill>
            <a:prstDash val="solid"/>
          </a:ln>
        </p:spPr>
      </p:sp>
      <p:sp>
        <p:nvSpPr>
          <p:cNvPr id="34" name="Text 31"/>
          <p:cNvSpPr/>
          <p:nvPr/>
        </p:nvSpPr>
        <p:spPr>
          <a:xfrm>
            <a:off x="9674352" y="2258568"/>
            <a:ext cx="640080" cy="320040"/>
          </a:xfrm>
          <a:prstGeom prst="rect">
            <a:avLst/>
          </a:prstGeom>
          <a:noFill/>
          <a:ln/>
        </p:spPr>
        <p:txBody>
          <a:bodyPr wrap="square" lIns="0" tIns="0" rIns="0" bIns="0" rtlCol="0" anchor="t"/>
          <a:lstStyle/>
          <a:p>
            <a:pPr algn="ctr" indent="0" marL="0">
              <a:buNone/>
            </a:pPr>
            <a:r>
              <a:rPr lang="en-US" sz="1500" b="1" dirty="0">
                <a:solidFill>
                  <a:srgbClr val="3E63DD"/>
                </a:solidFill>
                <a:latin typeface="Calibri" pitchFamily="34" charset="0"/>
                <a:ea typeface="Calibri" pitchFamily="34" charset="-122"/>
                <a:cs typeface="Calibri" pitchFamily="34" charset="-120"/>
              </a:rPr>
              <a:t>RS</a:t>
            </a:r>
            <a:endParaRPr lang="en-US" sz="1500" dirty="0"/>
          </a:p>
        </p:txBody>
      </p:sp>
      <p:sp>
        <p:nvSpPr>
          <p:cNvPr id="35" name="Text 32"/>
          <p:cNvSpPr/>
          <p:nvPr/>
        </p:nvSpPr>
        <p:spPr>
          <a:xfrm>
            <a:off x="9674352" y="2926080"/>
            <a:ext cx="1645920" cy="320040"/>
          </a:xfrm>
          <a:prstGeom prst="rect">
            <a:avLst/>
          </a:prstGeom>
          <a:noFill/>
          <a:ln/>
        </p:spPr>
        <p:txBody>
          <a:bodyPr wrap="square" lIns="0" tIns="0" rIns="0" bIns="0" rtlCol="0" anchor="t"/>
          <a:lstStyle/>
          <a:p>
            <a:pPr indent="0" marL="0">
              <a:buNone/>
            </a:pPr>
            <a:r>
              <a:rPr lang="en-US" sz="1600" b="1" dirty="0">
                <a:solidFill>
                  <a:srgbClr val="1A1A1A"/>
                </a:solidFill>
                <a:latin typeface="Calibri" pitchFamily="34" charset="0"/>
                <a:ea typeface="Calibri" pitchFamily="34" charset="-122"/>
                <a:cs typeface="Calibri" pitchFamily="34" charset="-120"/>
              </a:rPr>
              <a:t>Ricardo Salcedo</a:t>
            </a:r>
            <a:endParaRPr lang="en-US" sz="1600" dirty="0"/>
          </a:p>
        </p:txBody>
      </p:sp>
      <p:sp>
        <p:nvSpPr>
          <p:cNvPr id="36" name="Text 33"/>
          <p:cNvSpPr/>
          <p:nvPr/>
        </p:nvSpPr>
        <p:spPr>
          <a:xfrm>
            <a:off x="9674352" y="3246120"/>
            <a:ext cx="1645920" cy="502920"/>
          </a:xfrm>
          <a:prstGeom prst="rect">
            <a:avLst/>
          </a:prstGeom>
          <a:noFill/>
          <a:ln/>
        </p:spPr>
        <p:txBody>
          <a:bodyPr wrap="square" lIns="0" tIns="0" rIns="0" bIns="0" rtlCol="0" anchor="t"/>
          <a:lstStyle/>
          <a:p>
            <a:pPr indent="0" marL="0">
              <a:buNone/>
            </a:pPr>
            <a:r>
              <a:rPr lang="en-US" sz="1250" dirty="0">
                <a:solidFill>
                  <a:srgbClr val="8A8984"/>
                </a:solidFill>
                <a:latin typeface="Calibri" pitchFamily="34" charset="0"/>
                <a:ea typeface="Calibri" pitchFamily="34" charset="-122"/>
                <a:cs typeface="Calibri" pitchFamily="34" charset="-120"/>
              </a:rPr>
              <a:t>Gerente general (sponsor)</a:t>
            </a:r>
            <a:endParaRPr lang="en-US" sz="1250" dirty="0"/>
          </a:p>
        </p:txBody>
      </p:sp>
      <p:sp>
        <p:nvSpPr>
          <p:cNvPr id="37" name="Text 34"/>
          <p:cNvSpPr/>
          <p:nvPr/>
        </p:nvSpPr>
        <p:spPr>
          <a:xfrm>
            <a:off x="9674352" y="3794760"/>
            <a:ext cx="1600200" cy="1280160"/>
          </a:xfrm>
          <a:prstGeom prst="rect">
            <a:avLst/>
          </a:prstGeom>
          <a:noFill/>
          <a:ln/>
        </p:spPr>
        <p:txBody>
          <a:bodyPr wrap="square" lIns="0" tIns="0" rIns="0" bIns="0" rtlCol="0" anchor="t"/>
          <a:lstStyle/>
          <a:p>
            <a:pPr indent="0" marL="0">
              <a:buNone/>
            </a:pPr>
            <a:r>
              <a:rPr lang="en-US" sz="1350" dirty="0">
                <a:solidFill>
                  <a:srgbClr val="57534E"/>
                </a:solidFill>
                <a:latin typeface="Calibri" pitchFamily="34" charset="0"/>
                <a:ea typeface="Calibri" pitchFamily="34" charset="-122"/>
                <a:cs typeface="Calibri" pitchFamily="34" charset="-120"/>
              </a:rPr>
              <a:t>Reportes por tipo, zona y semana.</a:t>
            </a:r>
            <a:endParaRPr lang="en-US" sz="1350" dirty="0"/>
          </a:p>
        </p:txBody>
      </p:sp>
      <p:sp>
        <p:nvSpPr>
          <p:cNvPr id="38" name="Text 35"/>
          <p:cNvSpPr/>
          <p:nvPr/>
        </p:nvSpPr>
        <p:spPr>
          <a:xfrm>
            <a:off x="731520" y="5989320"/>
            <a:ext cx="10728655" cy="274320"/>
          </a:xfrm>
          <a:prstGeom prst="rect">
            <a:avLst/>
          </a:prstGeom>
          <a:noFill/>
          <a:ln/>
        </p:spPr>
        <p:txBody>
          <a:bodyPr wrap="square" lIns="0" tIns="0" rIns="0" bIns="0" rtlCol="0" anchor="t"/>
          <a:lstStyle/>
          <a:p>
            <a:pPr indent="0" marL="0">
              <a:buNone/>
            </a:pPr>
            <a:r>
              <a:rPr lang="en-US" sz="1000" dirty="0">
                <a:solidFill>
                  <a:srgbClr val="8A8984"/>
                </a:solidFill>
                <a:latin typeface="Calibri" pitchFamily="34" charset="0"/>
                <a:ea typeface="Calibri" pitchFamily="34" charset="-122"/>
                <a:cs typeface="Calibri" pitchFamily="34" charset="-120"/>
              </a:rPr>
              <a:t>Perfiles ficticios de un caso académico. Fuente del concepto de personajes: SCRUMstudy (2022), p. 164.</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AF9"/>
        </a:solidFill>
      </p:bgPr>
    </p:bg>
    <p:spTree>
      <p:nvGrpSpPr>
        <p:cNvPr id="1" name=""/>
        <p:cNvGrpSpPr/>
        <p:nvPr/>
      </p:nvGrpSpPr>
      <p:grpSpPr>
        <a:xfrm>
          <a:off x="0" y="0"/>
          <a:ext cx="0" cy="0"/>
          <a:chOff x="0" y="0"/>
          <a:chExt cx="0" cy="0"/>
        </a:xfrm>
      </p:grpSpPr>
      <p:sp>
        <p:nvSpPr>
          <p:cNvPr id="2" name="Text 0"/>
          <p:cNvSpPr/>
          <p:nvPr/>
        </p:nvSpPr>
        <p:spPr>
          <a:xfrm>
            <a:off x="731520" y="502920"/>
            <a:ext cx="10058400" cy="274320"/>
          </a:xfrm>
          <a:prstGeom prst="rect">
            <a:avLst/>
          </a:prstGeom>
          <a:noFill/>
          <a:ln/>
        </p:spPr>
        <p:txBody>
          <a:bodyPr wrap="square" lIns="0" tIns="0" rIns="0" bIns="0" rtlCol="0" anchor="t"/>
          <a:lstStyle/>
          <a:p>
            <a:pPr indent="0" marL="0">
              <a:buNone/>
            </a:pPr>
            <a:r>
              <a:rPr lang="en-US" sz="1100" b="1" spc="150" kern="0" dirty="0">
                <a:solidFill>
                  <a:srgbClr val="3E63DD"/>
                </a:solidFill>
                <a:latin typeface="Calibri" pitchFamily="34" charset="0"/>
                <a:ea typeface="Calibri" pitchFamily="34" charset="-122"/>
                <a:cs typeface="Calibri" pitchFamily="34" charset="-120"/>
              </a:rPr>
              <a:t>SEMANA 3 · VISIÓN DEL PRODUCTO</a:t>
            </a:r>
            <a:endParaRPr lang="en-US" sz="1100" dirty="0"/>
          </a:p>
        </p:txBody>
      </p:sp>
      <p:sp>
        <p:nvSpPr>
          <p:cNvPr id="3" name="Text 1"/>
          <p:cNvSpPr/>
          <p:nvPr/>
        </p:nvSpPr>
        <p:spPr>
          <a:xfrm>
            <a:off x="731520" y="777240"/>
            <a:ext cx="10698480" cy="822960"/>
          </a:xfrm>
          <a:prstGeom prst="rect">
            <a:avLst/>
          </a:prstGeom>
          <a:noFill/>
          <a:ln/>
        </p:spPr>
        <p:txBody>
          <a:bodyPr wrap="square" lIns="0" tIns="0" rIns="0" bIns="0" rtlCol="0" anchor="t"/>
          <a:lstStyle/>
          <a:p>
            <a:pPr indent="0" marL="0">
              <a:buNone/>
            </a:pPr>
            <a:r>
              <a:rPr lang="en-US" sz="3400" dirty="0">
                <a:solidFill>
                  <a:srgbClr val="1A1A1A"/>
                </a:solidFill>
                <a:latin typeface="Calibri Light" pitchFamily="34" charset="0"/>
                <a:ea typeface="Calibri Light" pitchFamily="34" charset="-122"/>
                <a:cs typeface="Calibri Light" pitchFamily="34" charset="-120"/>
              </a:rPr>
              <a:t>Cómo comunicamos la idea</a:t>
            </a:r>
            <a:endParaRPr lang="en-US" sz="3400" dirty="0"/>
          </a:p>
        </p:txBody>
      </p:sp>
      <p:sp>
        <p:nvSpPr>
          <p:cNvPr id="4" name="Text 2"/>
          <p:cNvSpPr/>
          <p:nvPr/>
        </p:nvSpPr>
        <p:spPr>
          <a:xfrm>
            <a:off x="731520" y="6355080"/>
            <a:ext cx="2743200" cy="228600"/>
          </a:xfrm>
          <a:prstGeom prst="rect">
            <a:avLst/>
          </a:prstGeom>
          <a:noFill/>
          <a:ln/>
        </p:spPr>
        <p:txBody>
          <a:bodyPr wrap="square" lIns="0" tIns="0" rIns="0" bIns="0" rtlCol="0" anchor="t"/>
          <a:lstStyle/>
          <a:p>
            <a:pPr indent="0" marL="0">
              <a:buNone/>
            </a:pPr>
            <a:r>
              <a:rPr lang="en-US" sz="1000" b="1" dirty="0">
                <a:solidFill>
                  <a:srgbClr val="8A8984"/>
                </a:solidFill>
                <a:latin typeface="Calibri" pitchFamily="34" charset="0"/>
                <a:ea typeface="Calibri" pitchFamily="34" charset="-122"/>
                <a:cs typeface="Calibri" pitchFamily="34" charset="-120"/>
              </a:rPr>
              <a:t>NewBit</a:t>
            </a:r>
            <a:endParaRPr lang="en-US" sz="1000" dirty="0"/>
          </a:p>
        </p:txBody>
      </p:sp>
      <p:sp>
        <p:nvSpPr>
          <p:cNvPr id="5" name="Text 3"/>
          <p:cNvSpPr/>
          <p:nvPr/>
        </p:nvSpPr>
        <p:spPr>
          <a:xfrm>
            <a:off x="1371600" y="6355080"/>
            <a:ext cx="4572000" cy="228600"/>
          </a:xfrm>
          <a:prstGeom prst="rect">
            <a:avLst/>
          </a:prstGeom>
          <a:noFill/>
          <a:ln/>
        </p:spPr>
        <p:txBody>
          <a:bodyPr wrap="square" lIns="0" tIns="0" rIns="0" bIns="0" rtlCol="0" anchor="t"/>
          <a:lstStyle/>
          <a:p>
            <a:pPr indent="0" marL="0">
              <a:buNone/>
            </a:pPr>
            <a:r>
              <a:rPr lang="en-US" sz="1000" dirty="0">
                <a:solidFill>
                  <a:srgbClr val="8A8984"/>
                </a:solidFill>
                <a:latin typeface="Calibri" pitchFamily="34" charset="0"/>
                <a:ea typeface="Calibri" pitchFamily="34" charset="-122"/>
                <a:cs typeface="Calibri" pitchFamily="34" charset="-120"/>
              </a:rPr>
              <a:t>Producto de la Unidad I · Grupo D3</a:t>
            </a:r>
            <a:endParaRPr lang="en-US" sz="1000" dirty="0"/>
          </a:p>
        </p:txBody>
      </p:sp>
      <p:sp>
        <p:nvSpPr>
          <p:cNvPr id="6" name="Text 4"/>
          <p:cNvSpPr/>
          <p:nvPr/>
        </p:nvSpPr>
        <p:spPr>
          <a:xfrm>
            <a:off x="10728655" y="6355080"/>
            <a:ext cx="731520" cy="228600"/>
          </a:xfrm>
          <a:prstGeom prst="rect">
            <a:avLst/>
          </a:prstGeom>
          <a:noFill/>
          <a:ln/>
        </p:spPr>
        <p:txBody>
          <a:bodyPr wrap="square" lIns="0" tIns="0" rIns="0" bIns="0" rtlCol="0" anchor="t"/>
          <a:lstStyle/>
          <a:p>
            <a:pPr algn="r" indent="0" marL="0">
              <a:buNone/>
            </a:pPr>
            <a:r>
              <a:rPr lang="en-US" sz="1000" dirty="0">
                <a:solidFill>
                  <a:srgbClr val="8A8984"/>
                </a:solidFill>
                <a:latin typeface="Calibri" pitchFamily="34" charset="0"/>
                <a:ea typeface="Calibri" pitchFamily="34" charset="-122"/>
                <a:cs typeface="Calibri" pitchFamily="34" charset="-120"/>
              </a:rPr>
              <a:t>19</a:t>
            </a:r>
            <a:endParaRPr lang="en-US" sz="1000" dirty="0"/>
          </a:p>
        </p:txBody>
      </p:sp>
      <p:pic>
        <p:nvPicPr>
          <p:cNvPr id="8" name="Image 0" descr="/Users/anthony/Documents/Projects/NewBit/curso/semana-06-producto-unidad-1/nuestras-entregas/PPT_Producto_Unidad_1_NewBit/img/infografia-pasos-1-6.png">    </p:cNvPr>
          <p:cNvPicPr>
            <a:picLocks noChangeAspect="1"/>
          </p:cNvPicPr>
          <p:nvPr/>
        </p:nvPicPr>
        <p:blipFill>
          <a:blip r:embed="rId1"/>
          <a:stretch>
            <a:fillRect/>
          </a:stretch>
        </p:blipFill>
        <p:spPr>
          <a:xfrm>
            <a:off x="971550" y="1783080"/>
            <a:ext cx="4640580" cy="3977640"/>
          </a:xfrm>
          <a:prstGeom prst="rect">
            <a:avLst/>
          </a:prstGeom>
        </p:spPr>
      </p:pic>
      <p:sp>
        <p:nvSpPr>
          <p:cNvPr id="9" name="Shape 5"/>
          <p:cNvSpPr/>
          <p:nvPr/>
        </p:nvSpPr>
        <p:spPr>
          <a:xfrm>
            <a:off x="971550" y="1783080"/>
            <a:ext cx="4640580" cy="3977640"/>
          </a:xfrm>
          <a:prstGeom prst="rect">
            <a:avLst/>
          </a:prstGeom>
          <a:ln w="9525">
            <a:solidFill>
              <a:srgbClr val="E7E5E4"/>
            </a:solidFill>
            <a:prstDash val="solid"/>
          </a:ln>
        </p:spPr>
      </p:sp>
      <p:sp>
        <p:nvSpPr>
          <p:cNvPr id="10" name="Text 6"/>
          <p:cNvSpPr/>
          <p:nvPr/>
        </p:nvSpPr>
        <p:spPr>
          <a:xfrm>
            <a:off x="731520" y="5870448"/>
            <a:ext cx="5120640" cy="274320"/>
          </a:xfrm>
          <a:prstGeom prst="rect">
            <a:avLst/>
          </a:prstGeom>
          <a:noFill/>
          <a:ln/>
        </p:spPr>
        <p:txBody>
          <a:bodyPr wrap="square" lIns="0" tIns="0" rIns="0" bIns="0" rtlCol="0" anchor="t"/>
          <a:lstStyle/>
          <a:p>
            <a:pPr algn="ctr" indent="0" marL="0">
              <a:buNone/>
            </a:pPr>
            <a:r>
              <a:rPr lang="en-US" sz="1200" dirty="0">
                <a:solidFill>
                  <a:srgbClr val="8A8984"/>
                </a:solidFill>
                <a:latin typeface="Calibri" pitchFamily="34" charset="0"/>
                <a:ea typeface="Calibri" pitchFamily="34" charset="-122"/>
                <a:cs typeface="Calibri" pitchFamily="34" charset="-120"/>
              </a:rPr>
              <a:t>Infografía «Pasos para desarrollar NewBit» (pasos 1 a 6)</a:t>
            </a:r>
            <a:endParaRPr lang="en-US" sz="1200" dirty="0"/>
          </a:p>
        </p:txBody>
      </p:sp>
      <p:pic>
        <p:nvPicPr>
          <p:cNvPr id="11" name="Image 1" descr="/Users/anthony/Documents/Projects/NewBit/curso/semana-06-producto-unidad-1/nuestras-entregas/PPT_Producto_Unidad_1_NewBit/img/diagrama-arquitectura.png">    </p:cNvPr>
          <p:cNvPicPr>
            <a:picLocks noChangeAspect="1"/>
          </p:cNvPicPr>
          <p:nvPr/>
        </p:nvPicPr>
        <p:blipFill>
          <a:blip r:embed="rId2"/>
          <a:stretch>
            <a:fillRect/>
          </a:stretch>
        </p:blipFill>
        <p:spPr>
          <a:xfrm>
            <a:off x="6436463" y="1783080"/>
            <a:ext cx="4957873" cy="3977640"/>
          </a:xfrm>
          <a:prstGeom prst="rect">
            <a:avLst/>
          </a:prstGeom>
        </p:spPr>
      </p:pic>
      <p:sp>
        <p:nvSpPr>
          <p:cNvPr id="12" name="Shape 7"/>
          <p:cNvSpPr/>
          <p:nvPr/>
        </p:nvSpPr>
        <p:spPr>
          <a:xfrm>
            <a:off x="6436463" y="1783080"/>
            <a:ext cx="4957873" cy="3977640"/>
          </a:xfrm>
          <a:prstGeom prst="rect">
            <a:avLst/>
          </a:prstGeom>
          <a:ln w="9525">
            <a:solidFill>
              <a:srgbClr val="E7E5E4"/>
            </a:solidFill>
            <a:prstDash val="solid"/>
          </a:ln>
        </p:spPr>
      </p:sp>
      <p:sp>
        <p:nvSpPr>
          <p:cNvPr id="13" name="Text 8"/>
          <p:cNvSpPr/>
          <p:nvPr/>
        </p:nvSpPr>
        <p:spPr>
          <a:xfrm>
            <a:off x="6355080" y="5870448"/>
            <a:ext cx="5120640" cy="274320"/>
          </a:xfrm>
          <a:prstGeom prst="rect">
            <a:avLst/>
          </a:prstGeom>
          <a:noFill/>
          <a:ln/>
        </p:spPr>
        <p:txBody>
          <a:bodyPr wrap="square" lIns="0" tIns="0" rIns="0" bIns="0" rtlCol="0" anchor="t"/>
          <a:lstStyle/>
          <a:p>
            <a:pPr algn="ctr" indent="0" marL="0">
              <a:buNone/>
            </a:pPr>
            <a:r>
              <a:rPr lang="en-US" sz="1200" dirty="0">
                <a:solidFill>
                  <a:srgbClr val="8A8984"/>
                </a:solidFill>
                <a:latin typeface="Calibri" pitchFamily="34" charset="0"/>
                <a:ea typeface="Calibri" pitchFamily="34" charset="-122"/>
                <a:cs typeface="Calibri" pitchFamily="34" charset="-120"/>
              </a:rPr>
              <a:t>Diagrama de arquitectura: el flujo en siete etapas</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AF9"/>
        </a:solidFill>
      </p:bgPr>
    </p:bg>
    <p:spTree>
      <p:nvGrpSpPr>
        <p:cNvPr id="1" name=""/>
        <p:cNvGrpSpPr/>
        <p:nvPr/>
      </p:nvGrpSpPr>
      <p:grpSpPr>
        <a:xfrm>
          <a:off x="0" y="0"/>
          <a:ext cx="0" cy="0"/>
          <a:chOff x="0" y="0"/>
          <a:chExt cx="0" cy="0"/>
        </a:xfrm>
      </p:grpSpPr>
      <p:sp>
        <p:nvSpPr>
          <p:cNvPr id="2" name="Text 0"/>
          <p:cNvSpPr/>
          <p:nvPr/>
        </p:nvSpPr>
        <p:spPr>
          <a:xfrm>
            <a:off x="731520" y="502920"/>
            <a:ext cx="10058400" cy="274320"/>
          </a:xfrm>
          <a:prstGeom prst="rect">
            <a:avLst/>
          </a:prstGeom>
          <a:noFill/>
          <a:ln/>
        </p:spPr>
        <p:txBody>
          <a:bodyPr wrap="square" lIns="0" tIns="0" rIns="0" bIns="0" rtlCol="0" anchor="t"/>
          <a:lstStyle/>
          <a:p>
            <a:pPr indent="0" marL="0">
              <a:buNone/>
            </a:pPr>
            <a:r>
              <a:rPr lang="en-US" sz="1100" b="1" spc="150" kern="0" dirty="0">
                <a:solidFill>
                  <a:srgbClr val="3E63DD"/>
                </a:solidFill>
                <a:latin typeface="Calibri" pitchFamily="34" charset="0"/>
                <a:ea typeface="Calibri" pitchFamily="34" charset="-122"/>
                <a:cs typeface="Calibri" pitchFamily="34" charset="-120"/>
              </a:rPr>
              <a:t>SEMANA 4 · JUSTIFICACIÓN (EGAP015)</a:t>
            </a:r>
            <a:endParaRPr lang="en-US" sz="1100" dirty="0"/>
          </a:p>
        </p:txBody>
      </p:sp>
      <p:sp>
        <p:nvSpPr>
          <p:cNvPr id="3" name="Text 1"/>
          <p:cNvSpPr/>
          <p:nvPr/>
        </p:nvSpPr>
        <p:spPr>
          <a:xfrm>
            <a:off x="731520" y="777240"/>
            <a:ext cx="10698480" cy="822960"/>
          </a:xfrm>
          <a:prstGeom prst="rect">
            <a:avLst/>
          </a:prstGeom>
          <a:noFill/>
          <a:ln/>
        </p:spPr>
        <p:txBody>
          <a:bodyPr wrap="square" lIns="0" tIns="0" rIns="0" bIns="0" rtlCol="0" anchor="t"/>
          <a:lstStyle/>
          <a:p>
            <a:pPr indent="0" marL="0">
              <a:buNone/>
            </a:pPr>
            <a:r>
              <a:rPr lang="en-US" sz="3400" dirty="0">
                <a:solidFill>
                  <a:srgbClr val="1A1A1A"/>
                </a:solidFill>
                <a:latin typeface="Calibri Light" pitchFamily="34" charset="0"/>
                <a:ea typeface="Calibri Light" pitchFamily="34" charset="-122"/>
                <a:cs typeface="Calibri Light" pitchFamily="34" charset="-120"/>
              </a:rPr>
              <a:t>¿Por qué vale la pena hacerlo?</a:t>
            </a:r>
            <a:endParaRPr lang="en-US" sz="3400" dirty="0"/>
          </a:p>
        </p:txBody>
      </p:sp>
      <p:sp>
        <p:nvSpPr>
          <p:cNvPr id="4" name="Text 2"/>
          <p:cNvSpPr/>
          <p:nvPr/>
        </p:nvSpPr>
        <p:spPr>
          <a:xfrm>
            <a:off x="731520" y="6355080"/>
            <a:ext cx="2743200" cy="228600"/>
          </a:xfrm>
          <a:prstGeom prst="rect">
            <a:avLst/>
          </a:prstGeom>
          <a:noFill/>
          <a:ln/>
        </p:spPr>
        <p:txBody>
          <a:bodyPr wrap="square" lIns="0" tIns="0" rIns="0" bIns="0" rtlCol="0" anchor="t"/>
          <a:lstStyle/>
          <a:p>
            <a:pPr indent="0" marL="0">
              <a:buNone/>
            </a:pPr>
            <a:r>
              <a:rPr lang="en-US" sz="1000" b="1" dirty="0">
                <a:solidFill>
                  <a:srgbClr val="8A8984"/>
                </a:solidFill>
                <a:latin typeface="Calibri" pitchFamily="34" charset="0"/>
                <a:ea typeface="Calibri" pitchFamily="34" charset="-122"/>
                <a:cs typeface="Calibri" pitchFamily="34" charset="-120"/>
              </a:rPr>
              <a:t>NewBit</a:t>
            </a:r>
            <a:endParaRPr lang="en-US" sz="1000" dirty="0"/>
          </a:p>
        </p:txBody>
      </p:sp>
      <p:sp>
        <p:nvSpPr>
          <p:cNvPr id="5" name="Text 3"/>
          <p:cNvSpPr/>
          <p:nvPr/>
        </p:nvSpPr>
        <p:spPr>
          <a:xfrm>
            <a:off x="1371600" y="6355080"/>
            <a:ext cx="4572000" cy="228600"/>
          </a:xfrm>
          <a:prstGeom prst="rect">
            <a:avLst/>
          </a:prstGeom>
          <a:noFill/>
          <a:ln/>
        </p:spPr>
        <p:txBody>
          <a:bodyPr wrap="square" lIns="0" tIns="0" rIns="0" bIns="0" rtlCol="0" anchor="t"/>
          <a:lstStyle/>
          <a:p>
            <a:pPr indent="0" marL="0">
              <a:buNone/>
            </a:pPr>
            <a:r>
              <a:rPr lang="en-US" sz="1000" dirty="0">
                <a:solidFill>
                  <a:srgbClr val="8A8984"/>
                </a:solidFill>
                <a:latin typeface="Calibri" pitchFamily="34" charset="0"/>
                <a:ea typeface="Calibri" pitchFamily="34" charset="-122"/>
                <a:cs typeface="Calibri" pitchFamily="34" charset="-120"/>
              </a:rPr>
              <a:t>Producto de la Unidad I · Grupo D3</a:t>
            </a:r>
            <a:endParaRPr lang="en-US" sz="1000" dirty="0"/>
          </a:p>
        </p:txBody>
      </p:sp>
      <p:sp>
        <p:nvSpPr>
          <p:cNvPr id="6" name="Text 4"/>
          <p:cNvSpPr/>
          <p:nvPr/>
        </p:nvSpPr>
        <p:spPr>
          <a:xfrm>
            <a:off x="10728655" y="6355080"/>
            <a:ext cx="731520" cy="228600"/>
          </a:xfrm>
          <a:prstGeom prst="rect">
            <a:avLst/>
          </a:prstGeom>
          <a:noFill/>
          <a:ln/>
        </p:spPr>
        <p:txBody>
          <a:bodyPr wrap="square" lIns="0" tIns="0" rIns="0" bIns="0" rtlCol="0" anchor="t"/>
          <a:lstStyle/>
          <a:p>
            <a:pPr algn="r" indent="0" marL="0">
              <a:buNone/>
            </a:pPr>
            <a:r>
              <a:rPr lang="en-US" sz="1000" dirty="0">
                <a:solidFill>
                  <a:srgbClr val="8A8984"/>
                </a:solidFill>
                <a:latin typeface="Calibri" pitchFamily="34" charset="0"/>
                <a:ea typeface="Calibri" pitchFamily="34" charset="-122"/>
                <a:cs typeface="Calibri" pitchFamily="34" charset="-120"/>
              </a:rPr>
              <a:t>20</a:t>
            </a:r>
            <a:endParaRPr lang="en-US" sz="1000" dirty="0"/>
          </a:p>
        </p:txBody>
      </p:sp>
      <p:pic>
        <p:nvPicPr>
          <p:cNvPr id="8" name="Image 0" descr="/Users/anthony/Documents/Projects/NewBit/curso/semana-06-producto-unidad-1/nuestras-entregas/PPT_Producto_Unidad_1_NewBit/img/iconos/objetivo-ink.png">    </p:cNvPr>
          <p:cNvPicPr>
            <a:picLocks noChangeAspect="1"/>
          </p:cNvPicPr>
          <p:nvPr/>
        </p:nvPicPr>
        <p:blipFill>
          <a:blip r:embed="rId1"/>
          <a:stretch>
            <a:fillRect/>
          </a:stretch>
        </p:blipFill>
        <p:spPr>
          <a:xfrm>
            <a:off x="731520" y="1828800"/>
            <a:ext cx="411480" cy="411480"/>
          </a:xfrm>
          <a:prstGeom prst="rect">
            <a:avLst/>
          </a:prstGeom>
        </p:spPr>
      </p:pic>
      <p:sp>
        <p:nvSpPr>
          <p:cNvPr id="9" name="Text 5"/>
          <p:cNvSpPr/>
          <p:nvPr/>
        </p:nvSpPr>
        <p:spPr>
          <a:xfrm>
            <a:off x="1417320" y="1783080"/>
            <a:ext cx="2377440" cy="457200"/>
          </a:xfrm>
          <a:prstGeom prst="rect">
            <a:avLst/>
          </a:prstGeom>
          <a:noFill/>
          <a:ln/>
        </p:spPr>
        <p:txBody>
          <a:bodyPr wrap="square" lIns="0" tIns="0" rIns="0" bIns="0" rtlCol="0" anchor="t"/>
          <a:lstStyle/>
          <a:p>
            <a:pPr indent="0" marL="0">
              <a:buNone/>
            </a:pPr>
            <a:r>
              <a:rPr lang="en-US" sz="2000" b="1" dirty="0">
                <a:solidFill>
                  <a:srgbClr val="1A1A1A"/>
                </a:solidFill>
                <a:latin typeface="Calibri" pitchFamily="34" charset="0"/>
                <a:ea typeface="Calibri" pitchFamily="34" charset="-122"/>
                <a:cs typeface="Calibri" pitchFamily="34" charset="-120"/>
              </a:rPr>
              <a:t>Necesidad</a:t>
            </a:r>
            <a:endParaRPr lang="en-US" sz="2000" dirty="0"/>
          </a:p>
        </p:txBody>
      </p:sp>
      <p:sp>
        <p:nvSpPr>
          <p:cNvPr id="10" name="Text 6"/>
          <p:cNvSpPr/>
          <p:nvPr/>
        </p:nvSpPr>
        <p:spPr>
          <a:xfrm>
            <a:off x="3840480" y="1828800"/>
            <a:ext cx="7680960" cy="640080"/>
          </a:xfrm>
          <a:prstGeom prst="rect">
            <a:avLst/>
          </a:prstGeom>
          <a:noFill/>
          <a:ln/>
        </p:spPr>
        <p:txBody>
          <a:bodyPr wrap="square" lIns="0" tIns="0" rIns="0" bIns="0" rtlCol="0" anchor="t"/>
          <a:lstStyle/>
          <a:p>
            <a:pPr indent="0" marL="0">
              <a:buNone/>
            </a:pPr>
            <a:r>
              <a:rPr lang="en-US" sz="1700" dirty="0">
                <a:solidFill>
                  <a:srgbClr val="57534E"/>
                </a:solidFill>
                <a:latin typeface="Calibri" pitchFamily="34" charset="0"/>
                <a:ea typeface="Calibri" pitchFamily="34" charset="-122"/>
                <a:cs typeface="Calibri" pitchFamily="34" charset="-120"/>
              </a:rPr>
              <a:t>Las inspecciones son intermitentes y las cámaras graban sin avisar.</a:t>
            </a:r>
            <a:endParaRPr lang="en-US" sz="1700" dirty="0"/>
          </a:p>
        </p:txBody>
      </p:sp>
      <p:sp>
        <p:nvSpPr>
          <p:cNvPr id="11" name="Shape 7"/>
          <p:cNvSpPr/>
          <p:nvPr/>
        </p:nvSpPr>
        <p:spPr>
          <a:xfrm>
            <a:off x="731520" y="2560320"/>
            <a:ext cx="10728655" cy="0"/>
          </a:xfrm>
          <a:prstGeom prst="line">
            <a:avLst/>
          </a:prstGeom>
          <a:noFill/>
          <a:ln w="9525">
            <a:solidFill>
              <a:srgbClr val="E7E5E4"/>
            </a:solidFill>
            <a:prstDash val="solid"/>
          </a:ln>
        </p:spPr>
      </p:sp>
      <p:pic>
        <p:nvPicPr>
          <p:cNvPr id="12" name="Image 1" descr="/Users/anthony/Documents/Projects/NewBit/curso/semana-06-producto-unidad-1/nuestras-entregas/PPT_Producto_Unidad_1_NewBit/img/iconos/capas-ink.png">    </p:cNvPr>
          <p:cNvPicPr>
            <a:picLocks noChangeAspect="1"/>
          </p:cNvPicPr>
          <p:nvPr/>
        </p:nvPicPr>
        <p:blipFill>
          <a:blip r:embed="rId2"/>
          <a:stretch>
            <a:fillRect/>
          </a:stretch>
        </p:blipFill>
        <p:spPr>
          <a:xfrm>
            <a:off x="731520" y="2816352"/>
            <a:ext cx="411480" cy="411480"/>
          </a:xfrm>
          <a:prstGeom prst="rect">
            <a:avLst/>
          </a:prstGeom>
        </p:spPr>
      </p:pic>
      <p:sp>
        <p:nvSpPr>
          <p:cNvPr id="13" name="Text 8"/>
          <p:cNvSpPr/>
          <p:nvPr/>
        </p:nvSpPr>
        <p:spPr>
          <a:xfrm>
            <a:off x="1417320" y="2770632"/>
            <a:ext cx="2377440" cy="457200"/>
          </a:xfrm>
          <a:prstGeom prst="rect">
            <a:avLst/>
          </a:prstGeom>
          <a:noFill/>
          <a:ln/>
        </p:spPr>
        <p:txBody>
          <a:bodyPr wrap="square" lIns="0" tIns="0" rIns="0" bIns="0" rtlCol="0" anchor="t"/>
          <a:lstStyle/>
          <a:p>
            <a:pPr indent="0" marL="0">
              <a:buNone/>
            </a:pPr>
            <a:r>
              <a:rPr lang="en-US" sz="2000" b="1" dirty="0">
                <a:solidFill>
                  <a:srgbClr val="1A1A1A"/>
                </a:solidFill>
                <a:latin typeface="Calibri" pitchFamily="34" charset="0"/>
                <a:ea typeface="Calibri" pitchFamily="34" charset="-122"/>
                <a:cs typeface="Calibri" pitchFamily="34" charset="-120"/>
              </a:rPr>
              <a:t>Tecnología</a:t>
            </a:r>
            <a:endParaRPr lang="en-US" sz="2000" dirty="0"/>
          </a:p>
        </p:txBody>
      </p:sp>
      <p:sp>
        <p:nvSpPr>
          <p:cNvPr id="14" name="Text 9"/>
          <p:cNvSpPr/>
          <p:nvPr/>
        </p:nvSpPr>
        <p:spPr>
          <a:xfrm>
            <a:off x="3840480" y="2816352"/>
            <a:ext cx="7680960" cy="640080"/>
          </a:xfrm>
          <a:prstGeom prst="rect">
            <a:avLst/>
          </a:prstGeom>
          <a:noFill/>
          <a:ln/>
        </p:spPr>
        <p:txBody>
          <a:bodyPr wrap="square" lIns="0" tIns="0" rIns="0" bIns="0" rtlCol="0" anchor="t"/>
          <a:lstStyle/>
          <a:p>
            <a:pPr indent="0" marL="0">
              <a:buNone/>
            </a:pPr>
            <a:r>
              <a:rPr lang="en-US" sz="1700" dirty="0">
                <a:solidFill>
                  <a:srgbClr val="57534E"/>
                </a:solidFill>
                <a:latin typeface="Calibri" pitchFamily="34" charset="0"/>
                <a:ea typeface="Calibri" pitchFamily="34" charset="-122"/>
                <a:cs typeface="Calibri" pitchFamily="34" charset="-120"/>
              </a:rPr>
              <a:t>Dos etapas (YOLOv8 + ConvLSTM) con software abierto y datos públicos.</a:t>
            </a:r>
            <a:endParaRPr lang="en-US" sz="1700" dirty="0"/>
          </a:p>
        </p:txBody>
      </p:sp>
      <p:sp>
        <p:nvSpPr>
          <p:cNvPr id="15" name="Shape 10"/>
          <p:cNvSpPr/>
          <p:nvPr/>
        </p:nvSpPr>
        <p:spPr>
          <a:xfrm>
            <a:off x="731520" y="3547872"/>
            <a:ext cx="10728655" cy="0"/>
          </a:xfrm>
          <a:prstGeom prst="line">
            <a:avLst/>
          </a:prstGeom>
          <a:noFill/>
          <a:ln w="9525">
            <a:solidFill>
              <a:srgbClr val="E7E5E4"/>
            </a:solidFill>
            <a:prstDash val="solid"/>
          </a:ln>
        </p:spPr>
      </p:sp>
      <p:pic>
        <p:nvPicPr>
          <p:cNvPr id="16" name="Image 2" descr="/Users/anthony/Documents/Projects/NewBit/curso/semana-06-producto-unidad-1/nuestras-entregas/PPT_Producto_Unidad_1_NewBit/img/iconos/persona-ink.png">    </p:cNvPr>
          <p:cNvPicPr>
            <a:picLocks noChangeAspect="1"/>
          </p:cNvPicPr>
          <p:nvPr/>
        </p:nvPicPr>
        <p:blipFill>
          <a:blip r:embed="rId3"/>
          <a:stretch>
            <a:fillRect/>
          </a:stretch>
        </p:blipFill>
        <p:spPr>
          <a:xfrm>
            <a:off x="731520" y="3803904"/>
            <a:ext cx="411480" cy="411480"/>
          </a:xfrm>
          <a:prstGeom prst="rect">
            <a:avLst/>
          </a:prstGeom>
        </p:spPr>
      </p:pic>
      <p:sp>
        <p:nvSpPr>
          <p:cNvPr id="17" name="Text 11"/>
          <p:cNvSpPr/>
          <p:nvPr/>
        </p:nvSpPr>
        <p:spPr>
          <a:xfrm>
            <a:off x="1417320" y="3758184"/>
            <a:ext cx="2377440" cy="457200"/>
          </a:xfrm>
          <a:prstGeom prst="rect">
            <a:avLst/>
          </a:prstGeom>
          <a:noFill/>
          <a:ln/>
        </p:spPr>
        <p:txBody>
          <a:bodyPr wrap="square" lIns="0" tIns="0" rIns="0" bIns="0" rtlCol="0" anchor="t"/>
          <a:lstStyle/>
          <a:p>
            <a:pPr indent="0" marL="0">
              <a:buNone/>
            </a:pPr>
            <a:r>
              <a:rPr lang="en-US" sz="2000" b="1" dirty="0">
                <a:solidFill>
                  <a:srgbClr val="1A1A1A"/>
                </a:solidFill>
                <a:latin typeface="Calibri" pitchFamily="34" charset="0"/>
                <a:ea typeface="Calibri" pitchFamily="34" charset="-122"/>
                <a:cs typeface="Calibri" pitchFamily="34" charset="-120"/>
              </a:rPr>
              <a:t>Operación</a:t>
            </a:r>
            <a:endParaRPr lang="en-US" sz="2000" dirty="0"/>
          </a:p>
        </p:txBody>
      </p:sp>
      <p:sp>
        <p:nvSpPr>
          <p:cNvPr id="18" name="Text 12"/>
          <p:cNvSpPr/>
          <p:nvPr/>
        </p:nvSpPr>
        <p:spPr>
          <a:xfrm>
            <a:off x="3840480" y="3803904"/>
            <a:ext cx="7680960" cy="640080"/>
          </a:xfrm>
          <a:prstGeom prst="rect">
            <a:avLst/>
          </a:prstGeom>
          <a:noFill/>
          <a:ln/>
        </p:spPr>
        <p:txBody>
          <a:bodyPr wrap="square" lIns="0" tIns="0" rIns="0" bIns="0" rtlCol="0" anchor="t"/>
          <a:lstStyle/>
          <a:p>
            <a:pPr indent="0" marL="0">
              <a:buNone/>
            </a:pPr>
            <a:r>
              <a:rPr lang="en-US" sz="1700" dirty="0">
                <a:solidFill>
                  <a:srgbClr val="57534E"/>
                </a:solidFill>
                <a:latin typeface="Calibri" pitchFamily="34" charset="0"/>
                <a:ea typeface="Calibri" pitchFamily="34" charset="-122"/>
                <a:cs typeface="Calibri" pitchFamily="34" charset="-120"/>
              </a:rPr>
              <a:t>Apoya la decisión del supervisor; no la reemplaza.</a:t>
            </a:r>
            <a:endParaRPr lang="en-US" sz="1700" dirty="0"/>
          </a:p>
        </p:txBody>
      </p:sp>
      <p:sp>
        <p:nvSpPr>
          <p:cNvPr id="19" name="Shape 13"/>
          <p:cNvSpPr/>
          <p:nvPr/>
        </p:nvSpPr>
        <p:spPr>
          <a:xfrm>
            <a:off x="731520" y="4535424"/>
            <a:ext cx="10728655" cy="0"/>
          </a:xfrm>
          <a:prstGeom prst="line">
            <a:avLst/>
          </a:prstGeom>
          <a:noFill/>
          <a:ln w="9525">
            <a:solidFill>
              <a:srgbClr val="E7E5E4"/>
            </a:solidFill>
            <a:prstDash val="solid"/>
          </a:ln>
        </p:spPr>
      </p:sp>
      <p:pic>
        <p:nvPicPr>
          <p:cNvPr id="20" name="Image 3" descr="/Users/anthony/Documents/Projects/NewBit/curso/semana-06-producto-unidad-1/nuestras-entregas/PPT_Producto_Unidad_1_NewBit/img/iconos/dinero-ink.png">    </p:cNvPr>
          <p:cNvPicPr>
            <a:picLocks noChangeAspect="1"/>
          </p:cNvPicPr>
          <p:nvPr/>
        </p:nvPicPr>
        <p:blipFill>
          <a:blip r:embed="rId4"/>
          <a:stretch>
            <a:fillRect/>
          </a:stretch>
        </p:blipFill>
        <p:spPr>
          <a:xfrm>
            <a:off x="731520" y="4791456"/>
            <a:ext cx="411480" cy="411480"/>
          </a:xfrm>
          <a:prstGeom prst="rect">
            <a:avLst/>
          </a:prstGeom>
        </p:spPr>
      </p:pic>
      <p:sp>
        <p:nvSpPr>
          <p:cNvPr id="21" name="Text 14"/>
          <p:cNvSpPr/>
          <p:nvPr/>
        </p:nvSpPr>
        <p:spPr>
          <a:xfrm>
            <a:off x="1417320" y="4745736"/>
            <a:ext cx="2377440" cy="457200"/>
          </a:xfrm>
          <a:prstGeom prst="rect">
            <a:avLst/>
          </a:prstGeom>
          <a:noFill/>
          <a:ln/>
        </p:spPr>
        <p:txBody>
          <a:bodyPr wrap="square" lIns="0" tIns="0" rIns="0" bIns="0" rtlCol="0" anchor="t"/>
          <a:lstStyle/>
          <a:p>
            <a:pPr indent="0" marL="0">
              <a:buNone/>
            </a:pPr>
            <a:r>
              <a:rPr lang="en-US" sz="2000" b="1" dirty="0">
                <a:solidFill>
                  <a:srgbClr val="1A1A1A"/>
                </a:solidFill>
                <a:latin typeface="Calibri" pitchFamily="34" charset="0"/>
                <a:ea typeface="Calibri" pitchFamily="34" charset="-122"/>
                <a:cs typeface="Calibri" pitchFamily="34" charset="-120"/>
              </a:rPr>
              <a:t>Economía</a:t>
            </a:r>
            <a:endParaRPr lang="en-US" sz="2000" dirty="0"/>
          </a:p>
        </p:txBody>
      </p:sp>
      <p:sp>
        <p:nvSpPr>
          <p:cNvPr id="22" name="Text 15"/>
          <p:cNvSpPr/>
          <p:nvPr/>
        </p:nvSpPr>
        <p:spPr>
          <a:xfrm>
            <a:off x="3840480" y="4791456"/>
            <a:ext cx="7680960" cy="640080"/>
          </a:xfrm>
          <a:prstGeom prst="rect">
            <a:avLst/>
          </a:prstGeom>
          <a:noFill/>
          <a:ln/>
        </p:spPr>
        <p:txBody>
          <a:bodyPr wrap="square" lIns="0" tIns="0" rIns="0" bIns="0" rtlCol="0" anchor="t"/>
          <a:lstStyle/>
          <a:p>
            <a:pPr indent="0" marL="0">
              <a:buNone/>
            </a:pPr>
            <a:r>
              <a:rPr lang="en-US" sz="1700" dirty="0">
                <a:solidFill>
                  <a:srgbClr val="57534E"/>
                </a:solidFill>
                <a:latin typeface="Calibri" pitchFamily="34" charset="0"/>
                <a:ea typeface="Calibri" pitchFamily="34" charset="-122"/>
                <a:cs typeface="Calibri" pitchFamily="34" charset="-120"/>
              </a:rPr>
              <a:t>S/ 20 768, igual que en el acta; el gasto en efectivo es de S/ 280 más la contingencia.</a:t>
            </a:r>
            <a:endParaRPr lang="en-US" sz="1700" dirty="0"/>
          </a:p>
        </p:txBody>
      </p:sp>
      <p:sp>
        <p:nvSpPr>
          <p:cNvPr id="23" name="Text 16"/>
          <p:cNvSpPr/>
          <p:nvPr/>
        </p:nvSpPr>
        <p:spPr>
          <a:xfrm>
            <a:off x="731520" y="5577840"/>
            <a:ext cx="10058400" cy="365760"/>
          </a:xfrm>
          <a:prstGeom prst="rect">
            <a:avLst/>
          </a:prstGeom>
          <a:noFill/>
          <a:ln/>
        </p:spPr>
        <p:txBody>
          <a:bodyPr wrap="square" lIns="0" tIns="0" rIns="0" bIns="0" rtlCol="0" anchor="t"/>
          <a:lstStyle/>
          <a:p>
            <a:pPr indent="0" marL="0">
              <a:buNone/>
            </a:pPr>
            <a:r>
              <a:rPr lang="en-US" sz="1500" b="1" dirty="0">
                <a:solidFill>
                  <a:srgbClr val="C2410C"/>
                </a:solidFill>
                <a:latin typeface="Calibri" pitchFamily="34" charset="0"/>
                <a:ea typeface="Calibri" pitchFamily="34" charset="-122"/>
                <a:cs typeface="Calibri" pitchFamily="34" charset="-120"/>
              </a:rPr>
              <a:t>No prometemos ahorros ni menos accidentes sin evidencia.</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AF9"/>
        </a:solidFill>
      </p:bgPr>
    </p:bg>
    <p:spTree>
      <p:nvGrpSpPr>
        <p:cNvPr id="1" name=""/>
        <p:cNvGrpSpPr/>
        <p:nvPr/>
      </p:nvGrpSpPr>
      <p:grpSpPr>
        <a:xfrm>
          <a:off x="0" y="0"/>
          <a:ext cx="0" cy="0"/>
          <a:chOff x="0" y="0"/>
          <a:chExt cx="0" cy="0"/>
        </a:xfrm>
      </p:grpSpPr>
      <p:sp>
        <p:nvSpPr>
          <p:cNvPr id="2" name="Text 0"/>
          <p:cNvSpPr/>
          <p:nvPr/>
        </p:nvSpPr>
        <p:spPr>
          <a:xfrm>
            <a:off x="731520" y="502920"/>
            <a:ext cx="10058400" cy="274320"/>
          </a:xfrm>
          <a:prstGeom prst="rect">
            <a:avLst/>
          </a:prstGeom>
          <a:noFill/>
          <a:ln/>
        </p:spPr>
        <p:txBody>
          <a:bodyPr wrap="square" lIns="0" tIns="0" rIns="0" bIns="0" rtlCol="0" anchor="t"/>
          <a:lstStyle/>
          <a:p>
            <a:pPr indent="0" marL="0">
              <a:buNone/>
            </a:pPr>
            <a:r>
              <a:rPr lang="en-US" sz="1100" b="1" spc="150" kern="0" dirty="0">
                <a:solidFill>
                  <a:srgbClr val="3E63DD"/>
                </a:solidFill>
                <a:latin typeface="Calibri" pitchFamily="34" charset="0"/>
                <a:ea typeface="Calibri" pitchFamily="34" charset="-122"/>
                <a:cs typeface="Calibri" pitchFamily="34" charset="-120"/>
              </a:rPr>
              <a:t>SEMANA 4 · ÉPICAS E HISTORIAS (FGAP040)</a:t>
            </a:r>
            <a:endParaRPr lang="en-US" sz="1100" dirty="0"/>
          </a:p>
        </p:txBody>
      </p:sp>
      <p:sp>
        <p:nvSpPr>
          <p:cNvPr id="3" name="Text 1"/>
          <p:cNvSpPr/>
          <p:nvPr/>
        </p:nvSpPr>
        <p:spPr>
          <a:xfrm>
            <a:off x="731520" y="777240"/>
            <a:ext cx="10698480" cy="822960"/>
          </a:xfrm>
          <a:prstGeom prst="rect">
            <a:avLst/>
          </a:prstGeom>
          <a:noFill/>
          <a:ln/>
        </p:spPr>
        <p:txBody>
          <a:bodyPr wrap="square" lIns="0" tIns="0" rIns="0" bIns="0" rtlCol="0" anchor="t"/>
          <a:lstStyle/>
          <a:p>
            <a:pPr indent="0" marL="0">
              <a:buNone/>
            </a:pPr>
            <a:r>
              <a:rPr lang="en-US" sz="3400" dirty="0">
                <a:solidFill>
                  <a:srgbClr val="1A1A1A"/>
                </a:solidFill>
                <a:latin typeface="Calibri Light" pitchFamily="34" charset="0"/>
                <a:ea typeface="Calibri Light" pitchFamily="34" charset="-122"/>
                <a:cs typeface="Calibri Light" pitchFamily="34" charset="-120"/>
              </a:rPr>
              <a:t>Del video a la alerta, en seis épicas</a:t>
            </a:r>
            <a:endParaRPr lang="en-US" sz="3400" dirty="0"/>
          </a:p>
        </p:txBody>
      </p:sp>
      <p:sp>
        <p:nvSpPr>
          <p:cNvPr id="4" name="Text 2"/>
          <p:cNvSpPr/>
          <p:nvPr/>
        </p:nvSpPr>
        <p:spPr>
          <a:xfrm>
            <a:off x="731520" y="6355080"/>
            <a:ext cx="2743200" cy="228600"/>
          </a:xfrm>
          <a:prstGeom prst="rect">
            <a:avLst/>
          </a:prstGeom>
          <a:noFill/>
          <a:ln/>
        </p:spPr>
        <p:txBody>
          <a:bodyPr wrap="square" lIns="0" tIns="0" rIns="0" bIns="0" rtlCol="0" anchor="t"/>
          <a:lstStyle/>
          <a:p>
            <a:pPr indent="0" marL="0">
              <a:buNone/>
            </a:pPr>
            <a:r>
              <a:rPr lang="en-US" sz="1000" b="1" dirty="0">
                <a:solidFill>
                  <a:srgbClr val="8A8984"/>
                </a:solidFill>
                <a:latin typeface="Calibri" pitchFamily="34" charset="0"/>
                <a:ea typeface="Calibri" pitchFamily="34" charset="-122"/>
                <a:cs typeface="Calibri" pitchFamily="34" charset="-120"/>
              </a:rPr>
              <a:t>NewBit</a:t>
            </a:r>
            <a:endParaRPr lang="en-US" sz="1000" dirty="0"/>
          </a:p>
        </p:txBody>
      </p:sp>
      <p:sp>
        <p:nvSpPr>
          <p:cNvPr id="5" name="Text 3"/>
          <p:cNvSpPr/>
          <p:nvPr/>
        </p:nvSpPr>
        <p:spPr>
          <a:xfrm>
            <a:off x="1371600" y="6355080"/>
            <a:ext cx="4572000" cy="228600"/>
          </a:xfrm>
          <a:prstGeom prst="rect">
            <a:avLst/>
          </a:prstGeom>
          <a:noFill/>
          <a:ln/>
        </p:spPr>
        <p:txBody>
          <a:bodyPr wrap="square" lIns="0" tIns="0" rIns="0" bIns="0" rtlCol="0" anchor="t"/>
          <a:lstStyle/>
          <a:p>
            <a:pPr indent="0" marL="0">
              <a:buNone/>
            </a:pPr>
            <a:r>
              <a:rPr lang="en-US" sz="1000" dirty="0">
                <a:solidFill>
                  <a:srgbClr val="8A8984"/>
                </a:solidFill>
                <a:latin typeface="Calibri" pitchFamily="34" charset="0"/>
                <a:ea typeface="Calibri" pitchFamily="34" charset="-122"/>
                <a:cs typeface="Calibri" pitchFamily="34" charset="-120"/>
              </a:rPr>
              <a:t>Producto de la Unidad I · Grupo D3</a:t>
            </a:r>
            <a:endParaRPr lang="en-US" sz="1000" dirty="0"/>
          </a:p>
        </p:txBody>
      </p:sp>
      <p:sp>
        <p:nvSpPr>
          <p:cNvPr id="6" name="Text 4"/>
          <p:cNvSpPr/>
          <p:nvPr/>
        </p:nvSpPr>
        <p:spPr>
          <a:xfrm>
            <a:off x="10728655" y="6355080"/>
            <a:ext cx="731520" cy="228600"/>
          </a:xfrm>
          <a:prstGeom prst="rect">
            <a:avLst/>
          </a:prstGeom>
          <a:noFill/>
          <a:ln/>
        </p:spPr>
        <p:txBody>
          <a:bodyPr wrap="square" lIns="0" tIns="0" rIns="0" bIns="0" rtlCol="0" anchor="t"/>
          <a:lstStyle/>
          <a:p>
            <a:pPr algn="r" indent="0" marL="0">
              <a:buNone/>
            </a:pPr>
            <a:r>
              <a:rPr lang="en-US" sz="1000" dirty="0">
                <a:solidFill>
                  <a:srgbClr val="8A8984"/>
                </a:solidFill>
                <a:latin typeface="Calibri" pitchFamily="34" charset="0"/>
                <a:ea typeface="Calibri" pitchFamily="34" charset="-122"/>
                <a:cs typeface="Calibri" pitchFamily="34" charset="-120"/>
              </a:rPr>
              <a:t>21</a:t>
            </a:r>
            <a:endParaRPr lang="en-US" sz="1000" dirty="0"/>
          </a:p>
        </p:txBody>
      </p:sp>
      <p:sp>
        <p:nvSpPr>
          <p:cNvPr id="8" name="Text 5"/>
          <p:cNvSpPr/>
          <p:nvPr/>
        </p:nvSpPr>
        <p:spPr>
          <a:xfrm>
            <a:off x="731520" y="1828800"/>
            <a:ext cx="1645920" cy="274320"/>
          </a:xfrm>
          <a:prstGeom prst="rect">
            <a:avLst/>
          </a:prstGeom>
          <a:noFill/>
          <a:ln/>
        </p:spPr>
        <p:txBody>
          <a:bodyPr wrap="square" lIns="0" tIns="0" rIns="0" bIns="0" rtlCol="0" anchor="t"/>
          <a:lstStyle/>
          <a:p>
            <a:pPr indent="0" marL="0">
              <a:buNone/>
            </a:pPr>
            <a:r>
              <a:rPr lang="en-US" sz="1200" b="1" dirty="0">
                <a:solidFill>
                  <a:srgbClr val="3E63DD"/>
                </a:solidFill>
                <a:latin typeface="Calibri" pitchFamily="34" charset="0"/>
                <a:ea typeface="Calibri" pitchFamily="34" charset="-122"/>
                <a:cs typeface="Calibri" pitchFamily="34" charset="-120"/>
              </a:rPr>
              <a:t>EP01</a:t>
            </a:r>
            <a:endParaRPr lang="en-US" sz="1200" dirty="0"/>
          </a:p>
        </p:txBody>
      </p:sp>
      <p:sp>
        <p:nvSpPr>
          <p:cNvPr id="9" name="Shape 6"/>
          <p:cNvSpPr/>
          <p:nvPr/>
        </p:nvSpPr>
        <p:spPr>
          <a:xfrm>
            <a:off x="731520" y="2176272"/>
            <a:ext cx="1627632" cy="0"/>
          </a:xfrm>
          <a:prstGeom prst="line">
            <a:avLst/>
          </a:prstGeom>
          <a:noFill/>
          <a:ln w="25400">
            <a:solidFill>
              <a:srgbClr val="3E63DD"/>
            </a:solidFill>
            <a:prstDash val="solid"/>
          </a:ln>
        </p:spPr>
      </p:sp>
      <p:sp>
        <p:nvSpPr>
          <p:cNvPr id="10" name="Text 7"/>
          <p:cNvSpPr/>
          <p:nvPr/>
        </p:nvSpPr>
        <p:spPr>
          <a:xfrm>
            <a:off x="731520" y="2331720"/>
            <a:ext cx="1645920" cy="685800"/>
          </a:xfrm>
          <a:prstGeom prst="rect">
            <a:avLst/>
          </a:prstGeom>
          <a:noFill/>
          <a:ln/>
        </p:spPr>
        <p:txBody>
          <a:bodyPr wrap="square" lIns="0" tIns="0" rIns="0" bIns="0" rtlCol="0" anchor="t"/>
          <a:lstStyle/>
          <a:p>
            <a:pPr indent="0" marL="0">
              <a:buNone/>
            </a:pPr>
            <a:r>
              <a:rPr lang="en-US" sz="1700" b="1" dirty="0">
                <a:solidFill>
                  <a:srgbClr val="1A1A1A"/>
                </a:solidFill>
                <a:latin typeface="Calibri" pitchFamily="34" charset="0"/>
                <a:ea typeface="Calibri" pitchFamily="34" charset="-122"/>
                <a:cs typeface="Calibri" pitchFamily="34" charset="-120"/>
              </a:rPr>
              <a:t>Ingestión</a:t>
            </a:r>
            <a:endParaRPr lang="en-US" sz="1700" dirty="0"/>
          </a:p>
        </p:txBody>
      </p:sp>
      <p:sp>
        <p:nvSpPr>
          <p:cNvPr id="11" name="Text 8"/>
          <p:cNvSpPr/>
          <p:nvPr/>
        </p:nvSpPr>
        <p:spPr>
          <a:xfrm>
            <a:off x="731520" y="3017520"/>
            <a:ext cx="1645920" cy="274320"/>
          </a:xfrm>
          <a:prstGeom prst="rect">
            <a:avLst/>
          </a:prstGeom>
          <a:noFill/>
          <a:ln/>
        </p:spPr>
        <p:txBody>
          <a:bodyPr wrap="square" lIns="0" tIns="0" rIns="0" bIns="0" rtlCol="0" anchor="t"/>
          <a:lstStyle/>
          <a:p>
            <a:pPr indent="0" marL="0">
              <a:buNone/>
            </a:pPr>
            <a:r>
              <a:rPr lang="en-US" sz="1300" dirty="0">
                <a:solidFill>
                  <a:srgbClr val="8A8984"/>
                </a:solidFill>
                <a:latin typeface="Calibri" pitchFamily="34" charset="0"/>
                <a:ea typeface="Calibri" pitchFamily="34" charset="-122"/>
                <a:cs typeface="Calibri" pitchFamily="34" charset="-120"/>
              </a:rPr>
              <a:t>HU01–02</a:t>
            </a:r>
            <a:endParaRPr lang="en-US" sz="1300" dirty="0"/>
          </a:p>
        </p:txBody>
      </p:sp>
      <p:sp>
        <p:nvSpPr>
          <p:cNvPr id="12" name="Text 9"/>
          <p:cNvSpPr/>
          <p:nvPr/>
        </p:nvSpPr>
        <p:spPr>
          <a:xfrm>
            <a:off x="2542032" y="1828800"/>
            <a:ext cx="1645920" cy="274320"/>
          </a:xfrm>
          <a:prstGeom prst="rect">
            <a:avLst/>
          </a:prstGeom>
          <a:noFill/>
          <a:ln/>
        </p:spPr>
        <p:txBody>
          <a:bodyPr wrap="square" lIns="0" tIns="0" rIns="0" bIns="0" rtlCol="0" anchor="t"/>
          <a:lstStyle/>
          <a:p>
            <a:pPr indent="0" marL="0">
              <a:buNone/>
            </a:pPr>
            <a:r>
              <a:rPr lang="en-US" sz="1200" b="1" dirty="0">
                <a:solidFill>
                  <a:srgbClr val="3E63DD"/>
                </a:solidFill>
                <a:latin typeface="Calibri" pitchFamily="34" charset="0"/>
                <a:ea typeface="Calibri" pitchFamily="34" charset="-122"/>
                <a:cs typeface="Calibri" pitchFamily="34" charset="-120"/>
              </a:rPr>
              <a:t>EP02</a:t>
            </a:r>
            <a:endParaRPr lang="en-US" sz="1200" dirty="0"/>
          </a:p>
        </p:txBody>
      </p:sp>
      <p:sp>
        <p:nvSpPr>
          <p:cNvPr id="13" name="Shape 10"/>
          <p:cNvSpPr/>
          <p:nvPr/>
        </p:nvSpPr>
        <p:spPr>
          <a:xfrm>
            <a:off x="2542032" y="2176272"/>
            <a:ext cx="1627632" cy="0"/>
          </a:xfrm>
          <a:prstGeom prst="line">
            <a:avLst/>
          </a:prstGeom>
          <a:noFill/>
          <a:ln w="25400">
            <a:solidFill>
              <a:srgbClr val="3E63DD"/>
            </a:solidFill>
            <a:prstDash val="solid"/>
          </a:ln>
        </p:spPr>
      </p:sp>
      <p:sp>
        <p:nvSpPr>
          <p:cNvPr id="14" name="Text 11"/>
          <p:cNvSpPr/>
          <p:nvPr/>
        </p:nvSpPr>
        <p:spPr>
          <a:xfrm>
            <a:off x="2542032" y="2331720"/>
            <a:ext cx="1645920" cy="685800"/>
          </a:xfrm>
          <a:prstGeom prst="rect">
            <a:avLst/>
          </a:prstGeom>
          <a:noFill/>
          <a:ln/>
        </p:spPr>
        <p:txBody>
          <a:bodyPr wrap="square" lIns="0" tIns="0" rIns="0" bIns="0" rtlCol="0" anchor="t"/>
          <a:lstStyle/>
          <a:p>
            <a:pPr indent="0" marL="0">
              <a:buNone/>
            </a:pPr>
            <a:r>
              <a:rPr lang="en-US" sz="1700" b="1" dirty="0">
                <a:solidFill>
                  <a:srgbClr val="1A1A1A"/>
                </a:solidFill>
                <a:latin typeface="Calibri" pitchFamily="34" charset="0"/>
                <a:ea typeface="Calibri" pitchFamily="34" charset="-122"/>
                <a:cs typeface="Calibri" pitchFamily="34" charset="-120"/>
              </a:rPr>
              <a:t>Detección</a:t>
            </a:r>
            <a:endParaRPr lang="en-US" sz="1700" dirty="0"/>
          </a:p>
        </p:txBody>
      </p:sp>
      <p:sp>
        <p:nvSpPr>
          <p:cNvPr id="15" name="Text 12"/>
          <p:cNvSpPr/>
          <p:nvPr/>
        </p:nvSpPr>
        <p:spPr>
          <a:xfrm>
            <a:off x="2542032" y="3017520"/>
            <a:ext cx="1645920" cy="274320"/>
          </a:xfrm>
          <a:prstGeom prst="rect">
            <a:avLst/>
          </a:prstGeom>
          <a:noFill/>
          <a:ln/>
        </p:spPr>
        <p:txBody>
          <a:bodyPr wrap="square" lIns="0" tIns="0" rIns="0" bIns="0" rtlCol="0" anchor="t"/>
          <a:lstStyle/>
          <a:p>
            <a:pPr indent="0" marL="0">
              <a:buNone/>
            </a:pPr>
            <a:r>
              <a:rPr lang="en-US" sz="1300" dirty="0">
                <a:solidFill>
                  <a:srgbClr val="8A8984"/>
                </a:solidFill>
                <a:latin typeface="Calibri" pitchFamily="34" charset="0"/>
                <a:ea typeface="Calibri" pitchFamily="34" charset="-122"/>
                <a:cs typeface="Calibri" pitchFamily="34" charset="-120"/>
              </a:rPr>
              <a:t>HU03</a:t>
            </a:r>
            <a:endParaRPr lang="en-US" sz="1300" dirty="0"/>
          </a:p>
        </p:txBody>
      </p:sp>
      <p:sp>
        <p:nvSpPr>
          <p:cNvPr id="16" name="Text 13"/>
          <p:cNvSpPr/>
          <p:nvPr/>
        </p:nvSpPr>
        <p:spPr>
          <a:xfrm>
            <a:off x="4352544" y="1828800"/>
            <a:ext cx="1645920" cy="274320"/>
          </a:xfrm>
          <a:prstGeom prst="rect">
            <a:avLst/>
          </a:prstGeom>
          <a:noFill/>
          <a:ln/>
        </p:spPr>
        <p:txBody>
          <a:bodyPr wrap="square" lIns="0" tIns="0" rIns="0" bIns="0" rtlCol="0" anchor="t"/>
          <a:lstStyle/>
          <a:p>
            <a:pPr indent="0" marL="0">
              <a:buNone/>
            </a:pPr>
            <a:r>
              <a:rPr lang="en-US" sz="1200" b="1" dirty="0">
                <a:solidFill>
                  <a:srgbClr val="3E63DD"/>
                </a:solidFill>
                <a:latin typeface="Calibri" pitchFamily="34" charset="0"/>
                <a:ea typeface="Calibri" pitchFamily="34" charset="-122"/>
                <a:cs typeface="Calibri" pitchFamily="34" charset="-120"/>
              </a:rPr>
              <a:t>EP03</a:t>
            </a:r>
            <a:endParaRPr lang="en-US" sz="1200" dirty="0"/>
          </a:p>
        </p:txBody>
      </p:sp>
      <p:sp>
        <p:nvSpPr>
          <p:cNvPr id="17" name="Shape 14"/>
          <p:cNvSpPr/>
          <p:nvPr/>
        </p:nvSpPr>
        <p:spPr>
          <a:xfrm>
            <a:off x="4352544" y="2176272"/>
            <a:ext cx="1627632" cy="0"/>
          </a:xfrm>
          <a:prstGeom prst="line">
            <a:avLst/>
          </a:prstGeom>
          <a:noFill/>
          <a:ln w="25400">
            <a:solidFill>
              <a:srgbClr val="3E63DD"/>
            </a:solidFill>
            <a:prstDash val="solid"/>
          </a:ln>
        </p:spPr>
      </p:sp>
      <p:sp>
        <p:nvSpPr>
          <p:cNvPr id="18" name="Text 15"/>
          <p:cNvSpPr/>
          <p:nvPr/>
        </p:nvSpPr>
        <p:spPr>
          <a:xfrm>
            <a:off x="4352544" y="2331720"/>
            <a:ext cx="1645920" cy="685800"/>
          </a:xfrm>
          <a:prstGeom prst="rect">
            <a:avLst/>
          </a:prstGeom>
          <a:noFill/>
          <a:ln/>
        </p:spPr>
        <p:txBody>
          <a:bodyPr wrap="square" lIns="0" tIns="0" rIns="0" bIns="0" rtlCol="0" anchor="t"/>
          <a:lstStyle/>
          <a:p>
            <a:pPr indent="0" marL="0">
              <a:buNone/>
            </a:pPr>
            <a:r>
              <a:rPr lang="en-US" sz="1700" b="1" dirty="0">
                <a:solidFill>
                  <a:srgbClr val="1A1A1A"/>
                </a:solidFill>
                <a:latin typeface="Calibri" pitchFamily="34" charset="0"/>
                <a:ea typeface="Calibri" pitchFamily="34" charset="-122"/>
                <a:cs typeface="Calibri" pitchFamily="34" charset="-120"/>
              </a:rPr>
              <a:t>Reducción y clips</a:t>
            </a:r>
            <a:endParaRPr lang="en-US" sz="1700" dirty="0"/>
          </a:p>
        </p:txBody>
      </p:sp>
      <p:sp>
        <p:nvSpPr>
          <p:cNvPr id="19" name="Text 16"/>
          <p:cNvSpPr/>
          <p:nvPr/>
        </p:nvSpPr>
        <p:spPr>
          <a:xfrm>
            <a:off x="4352544" y="3017520"/>
            <a:ext cx="1645920" cy="274320"/>
          </a:xfrm>
          <a:prstGeom prst="rect">
            <a:avLst/>
          </a:prstGeom>
          <a:noFill/>
          <a:ln/>
        </p:spPr>
        <p:txBody>
          <a:bodyPr wrap="square" lIns="0" tIns="0" rIns="0" bIns="0" rtlCol="0" anchor="t"/>
          <a:lstStyle/>
          <a:p>
            <a:pPr indent="0" marL="0">
              <a:buNone/>
            </a:pPr>
            <a:r>
              <a:rPr lang="en-US" sz="1300" dirty="0">
                <a:solidFill>
                  <a:srgbClr val="8A8984"/>
                </a:solidFill>
                <a:latin typeface="Calibri" pitchFamily="34" charset="0"/>
                <a:ea typeface="Calibri" pitchFamily="34" charset="-122"/>
                <a:cs typeface="Calibri" pitchFamily="34" charset="-120"/>
              </a:rPr>
              <a:t>HU04–06</a:t>
            </a:r>
            <a:endParaRPr lang="en-US" sz="1300" dirty="0"/>
          </a:p>
        </p:txBody>
      </p:sp>
      <p:sp>
        <p:nvSpPr>
          <p:cNvPr id="20" name="Text 17"/>
          <p:cNvSpPr/>
          <p:nvPr/>
        </p:nvSpPr>
        <p:spPr>
          <a:xfrm>
            <a:off x="6163056" y="1828800"/>
            <a:ext cx="1645920" cy="274320"/>
          </a:xfrm>
          <a:prstGeom prst="rect">
            <a:avLst/>
          </a:prstGeom>
          <a:noFill/>
          <a:ln/>
        </p:spPr>
        <p:txBody>
          <a:bodyPr wrap="square" lIns="0" tIns="0" rIns="0" bIns="0" rtlCol="0" anchor="t"/>
          <a:lstStyle/>
          <a:p>
            <a:pPr indent="0" marL="0">
              <a:buNone/>
            </a:pPr>
            <a:r>
              <a:rPr lang="en-US" sz="1200" b="1" dirty="0">
                <a:solidFill>
                  <a:srgbClr val="C2410C"/>
                </a:solidFill>
                <a:latin typeface="Calibri" pitchFamily="34" charset="0"/>
                <a:ea typeface="Calibri" pitchFamily="34" charset="-122"/>
                <a:cs typeface="Calibri" pitchFamily="34" charset="-120"/>
              </a:rPr>
              <a:t>EP04</a:t>
            </a:r>
            <a:endParaRPr lang="en-US" sz="1200" dirty="0"/>
          </a:p>
        </p:txBody>
      </p:sp>
      <p:sp>
        <p:nvSpPr>
          <p:cNvPr id="21" name="Shape 18"/>
          <p:cNvSpPr/>
          <p:nvPr/>
        </p:nvSpPr>
        <p:spPr>
          <a:xfrm>
            <a:off x="6163056" y="2176272"/>
            <a:ext cx="1627632" cy="0"/>
          </a:xfrm>
          <a:prstGeom prst="line">
            <a:avLst/>
          </a:prstGeom>
          <a:noFill/>
          <a:ln w="25400">
            <a:solidFill>
              <a:srgbClr val="C2410C"/>
            </a:solidFill>
            <a:prstDash val="solid"/>
          </a:ln>
        </p:spPr>
      </p:sp>
      <p:sp>
        <p:nvSpPr>
          <p:cNvPr id="22" name="Text 19"/>
          <p:cNvSpPr/>
          <p:nvPr/>
        </p:nvSpPr>
        <p:spPr>
          <a:xfrm>
            <a:off x="6163056" y="2331720"/>
            <a:ext cx="1645920" cy="685800"/>
          </a:xfrm>
          <a:prstGeom prst="rect">
            <a:avLst/>
          </a:prstGeom>
          <a:noFill/>
          <a:ln/>
        </p:spPr>
        <p:txBody>
          <a:bodyPr wrap="square" lIns="0" tIns="0" rIns="0" bIns="0" rtlCol="0" anchor="t"/>
          <a:lstStyle/>
          <a:p>
            <a:pPr indent="0" marL="0">
              <a:buNone/>
            </a:pPr>
            <a:r>
              <a:rPr lang="en-US" sz="1700" b="1" dirty="0">
                <a:solidFill>
                  <a:srgbClr val="1A1A1A"/>
                </a:solidFill>
                <a:latin typeface="Calibri" pitchFamily="34" charset="0"/>
                <a:ea typeface="Calibri" pitchFamily="34" charset="-122"/>
                <a:cs typeface="Calibri" pitchFamily="34" charset="-120"/>
              </a:rPr>
              <a:t>Clasificación</a:t>
            </a:r>
            <a:endParaRPr lang="en-US" sz="1700" dirty="0"/>
          </a:p>
        </p:txBody>
      </p:sp>
      <p:sp>
        <p:nvSpPr>
          <p:cNvPr id="23" name="Text 20"/>
          <p:cNvSpPr/>
          <p:nvPr/>
        </p:nvSpPr>
        <p:spPr>
          <a:xfrm>
            <a:off x="6163056" y="3017520"/>
            <a:ext cx="1645920" cy="274320"/>
          </a:xfrm>
          <a:prstGeom prst="rect">
            <a:avLst/>
          </a:prstGeom>
          <a:noFill/>
          <a:ln/>
        </p:spPr>
        <p:txBody>
          <a:bodyPr wrap="square" lIns="0" tIns="0" rIns="0" bIns="0" rtlCol="0" anchor="t"/>
          <a:lstStyle/>
          <a:p>
            <a:pPr indent="0" marL="0">
              <a:buNone/>
            </a:pPr>
            <a:r>
              <a:rPr lang="en-US" sz="1300" dirty="0">
                <a:solidFill>
                  <a:srgbClr val="8A8984"/>
                </a:solidFill>
                <a:latin typeface="Calibri" pitchFamily="34" charset="0"/>
                <a:ea typeface="Calibri" pitchFamily="34" charset="-122"/>
                <a:cs typeface="Calibri" pitchFamily="34" charset="-120"/>
              </a:rPr>
              <a:t>HU07–08</a:t>
            </a:r>
            <a:endParaRPr lang="en-US" sz="1300" dirty="0"/>
          </a:p>
        </p:txBody>
      </p:sp>
      <p:sp>
        <p:nvSpPr>
          <p:cNvPr id="24" name="Text 21"/>
          <p:cNvSpPr/>
          <p:nvPr/>
        </p:nvSpPr>
        <p:spPr>
          <a:xfrm>
            <a:off x="7973568" y="1828800"/>
            <a:ext cx="1645920" cy="274320"/>
          </a:xfrm>
          <a:prstGeom prst="rect">
            <a:avLst/>
          </a:prstGeom>
          <a:noFill/>
          <a:ln/>
        </p:spPr>
        <p:txBody>
          <a:bodyPr wrap="square" lIns="0" tIns="0" rIns="0" bIns="0" rtlCol="0" anchor="t"/>
          <a:lstStyle/>
          <a:p>
            <a:pPr indent="0" marL="0">
              <a:buNone/>
            </a:pPr>
            <a:r>
              <a:rPr lang="en-US" sz="1200" b="1" dirty="0">
                <a:solidFill>
                  <a:srgbClr val="C2410C"/>
                </a:solidFill>
                <a:latin typeface="Calibri" pitchFamily="34" charset="0"/>
                <a:ea typeface="Calibri" pitchFamily="34" charset="-122"/>
                <a:cs typeface="Calibri" pitchFamily="34" charset="-120"/>
              </a:rPr>
              <a:t>EP05</a:t>
            </a:r>
            <a:endParaRPr lang="en-US" sz="1200" dirty="0"/>
          </a:p>
        </p:txBody>
      </p:sp>
      <p:sp>
        <p:nvSpPr>
          <p:cNvPr id="25" name="Shape 22"/>
          <p:cNvSpPr/>
          <p:nvPr/>
        </p:nvSpPr>
        <p:spPr>
          <a:xfrm>
            <a:off x="7973568" y="2176272"/>
            <a:ext cx="1627632" cy="0"/>
          </a:xfrm>
          <a:prstGeom prst="line">
            <a:avLst/>
          </a:prstGeom>
          <a:noFill/>
          <a:ln w="25400">
            <a:solidFill>
              <a:srgbClr val="C2410C"/>
            </a:solidFill>
            <a:prstDash val="solid"/>
          </a:ln>
        </p:spPr>
      </p:sp>
      <p:sp>
        <p:nvSpPr>
          <p:cNvPr id="26" name="Text 23"/>
          <p:cNvSpPr/>
          <p:nvPr/>
        </p:nvSpPr>
        <p:spPr>
          <a:xfrm>
            <a:off x="7973568" y="2331720"/>
            <a:ext cx="1645920" cy="685800"/>
          </a:xfrm>
          <a:prstGeom prst="rect">
            <a:avLst/>
          </a:prstGeom>
          <a:noFill/>
          <a:ln/>
        </p:spPr>
        <p:txBody>
          <a:bodyPr wrap="square" lIns="0" tIns="0" rIns="0" bIns="0" rtlCol="0" anchor="t"/>
          <a:lstStyle/>
          <a:p>
            <a:pPr indent="0" marL="0">
              <a:buNone/>
            </a:pPr>
            <a:r>
              <a:rPr lang="en-US" sz="1700" b="1" dirty="0">
                <a:solidFill>
                  <a:srgbClr val="1A1A1A"/>
                </a:solidFill>
                <a:latin typeface="Calibri" pitchFamily="34" charset="0"/>
                <a:ea typeface="Calibri" pitchFamily="34" charset="-122"/>
                <a:cs typeface="Calibri" pitchFamily="34" charset="-120"/>
              </a:rPr>
              <a:t>Monitoreo y alertas</a:t>
            </a:r>
            <a:endParaRPr lang="en-US" sz="1700" dirty="0"/>
          </a:p>
        </p:txBody>
      </p:sp>
      <p:sp>
        <p:nvSpPr>
          <p:cNvPr id="27" name="Text 24"/>
          <p:cNvSpPr/>
          <p:nvPr/>
        </p:nvSpPr>
        <p:spPr>
          <a:xfrm>
            <a:off x="7973568" y="3017520"/>
            <a:ext cx="1645920" cy="274320"/>
          </a:xfrm>
          <a:prstGeom prst="rect">
            <a:avLst/>
          </a:prstGeom>
          <a:noFill/>
          <a:ln/>
        </p:spPr>
        <p:txBody>
          <a:bodyPr wrap="square" lIns="0" tIns="0" rIns="0" bIns="0" rtlCol="0" anchor="t"/>
          <a:lstStyle/>
          <a:p>
            <a:pPr indent="0" marL="0">
              <a:buNone/>
            </a:pPr>
            <a:r>
              <a:rPr lang="en-US" sz="1300" dirty="0">
                <a:solidFill>
                  <a:srgbClr val="8A8984"/>
                </a:solidFill>
                <a:latin typeface="Calibri" pitchFamily="34" charset="0"/>
                <a:ea typeface="Calibri" pitchFamily="34" charset="-122"/>
                <a:cs typeface="Calibri" pitchFamily="34" charset="-120"/>
              </a:rPr>
              <a:t>HU09–10</a:t>
            </a:r>
            <a:endParaRPr lang="en-US" sz="1300" dirty="0"/>
          </a:p>
        </p:txBody>
      </p:sp>
      <p:sp>
        <p:nvSpPr>
          <p:cNvPr id="28" name="Text 25"/>
          <p:cNvSpPr/>
          <p:nvPr/>
        </p:nvSpPr>
        <p:spPr>
          <a:xfrm>
            <a:off x="9784080" y="1828800"/>
            <a:ext cx="1645920" cy="274320"/>
          </a:xfrm>
          <a:prstGeom prst="rect">
            <a:avLst/>
          </a:prstGeom>
          <a:noFill/>
          <a:ln/>
        </p:spPr>
        <p:txBody>
          <a:bodyPr wrap="square" lIns="0" tIns="0" rIns="0" bIns="0" rtlCol="0" anchor="t"/>
          <a:lstStyle/>
          <a:p>
            <a:pPr indent="0" marL="0">
              <a:buNone/>
            </a:pPr>
            <a:r>
              <a:rPr lang="en-US" sz="1200" b="1" dirty="0">
                <a:solidFill>
                  <a:srgbClr val="8A8984"/>
                </a:solidFill>
                <a:latin typeface="Calibri" pitchFamily="34" charset="0"/>
                <a:ea typeface="Calibri" pitchFamily="34" charset="-122"/>
                <a:cs typeface="Calibri" pitchFamily="34" charset="-120"/>
              </a:rPr>
              <a:t>EP06</a:t>
            </a:r>
            <a:endParaRPr lang="en-US" sz="1200" dirty="0"/>
          </a:p>
        </p:txBody>
      </p:sp>
      <p:sp>
        <p:nvSpPr>
          <p:cNvPr id="29" name="Shape 26"/>
          <p:cNvSpPr/>
          <p:nvPr/>
        </p:nvSpPr>
        <p:spPr>
          <a:xfrm>
            <a:off x="9784080" y="2176272"/>
            <a:ext cx="1627632" cy="0"/>
          </a:xfrm>
          <a:prstGeom prst="line">
            <a:avLst/>
          </a:prstGeom>
          <a:noFill/>
          <a:ln w="25400">
            <a:solidFill>
              <a:srgbClr val="8A8984"/>
            </a:solidFill>
            <a:prstDash val="solid"/>
          </a:ln>
        </p:spPr>
      </p:sp>
      <p:sp>
        <p:nvSpPr>
          <p:cNvPr id="30" name="Text 27"/>
          <p:cNvSpPr/>
          <p:nvPr/>
        </p:nvSpPr>
        <p:spPr>
          <a:xfrm>
            <a:off x="9784080" y="2331720"/>
            <a:ext cx="1645920" cy="685800"/>
          </a:xfrm>
          <a:prstGeom prst="rect">
            <a:avLst/>
          </a:prstGeom>
          <a:noFill/>
          <a:ln/>
        </p:spPr>
        <p:txBody>
          <a:bodyPr wrap="square" lIns="0" tIns="0" rIns="0" bIns="0" rtlCol="0" anchor="t"/>
          <a:lstStyle/>
          <a:p>
            <a:pPr indent="0" marL="0">
              <a:buNone/>
            </a:pPr>
            <a:r>
              <a:rPr lang="en-US" sz="1700" b="1" dirty="0">
                <a:solidFill>
                  <a:srgbClr val="1A1A1A"/>
                </a:solidFill>
                <a:latin typeface="Calibri" pitchFamily="34" charset="0"/>
                <a:ea typeface="Calibri" pitchFamily="34" charset="-122"/>
                <a:cs typeface="Calibri" pitchFamily="34" charset="-120"/>
              </a:rPr>
              <a:t>Calibración</a:t>
            </a:r>
            <a:endParaRPr lang="en-US" sz="1700" dirty="0"/>
          </a:p>
        </p:txBody>
      </p:sp>
      <p:sp>
        <p:nvSpPr>
          <p:cNvPr id="31" name="Text 28"/>
          <p:cNvSpPr/>
          <p:nvPr/>
        </p:nvSpPr>
        <p:spPr>
          <a:xfrm>
            <a:off x="9784080" y="3017520"/>
            <a:ext cx="1645920" cy="274320"/>
          </a:xfrm>
          <a:prstGeom prst="rect">
            <a:avLst/>
          </a:prstGeom>
          <a:noFill/>
          <a:ln/>
        </p:spPr>
        <p:txBody>
          <a:bodyPr wrap="square" lIns="0" tIns="0" rIns="0" bIns="0" rtlCol="0" anchor="t"/>
          <a:lstStyle/>
          <a:p>
            <a:pPr indent="0" marL="0">
              <a:buNone/>
            </a:pPr>
            <a:r>
              <a:rPr lang="en-US" sz="1300" dirty="0">
                <a:solidFill>
                  <a:srgbClr val="8A8984"/>
                </a:solidFill>
                <a:latin typeface="Calibri" pitchFamily="34" charset="0"/>
                <a:ea typeface="Calibri" pitchFamily="34" charset="-122"/>
                <a:cs typeface="Calibri" pitchFamily="34" charset="-120"/>
              </a:rPr>
              <a:t>HU11–12</a:t>
            </a:r>
            <a:endParaRPr lang="en-US" sz="1300" dirty="0"/>
          </a:p>
        </p:txBody>
      </p:sp>
      <p:sp>
        <p:nvSpPr>
          <p:cNvPr id="32" name="Shape 29"/>
          <p:cNvSpPr/>
          <p:nvPr/>
        </p:nvSpPr>
        <p:spPr>
          <a:xfrm>
            <a:off x="731520" y="3749040"/>
            <a:ext cx="10728655" cy="1920240"/>
          </a:xfrm>
          <a:prstGeom prst="roundRect">
            <a:avLst>
              <a:gd name="adj" fmla="val 3810"/>
            </a:avLst>
          </a:prstGeom>
          <a:solidFill>
            <a:srgbClr val="FFFFFF"/>
          </a:solidFill>
          <a:ln w="9525">
            <a:solidFill>
              <a:srgbClr val="E7E5E4"/>
            </a:solidFill>
            <a:prstDash val="solid"/>
          </a:ln>
        </p:spPr>
      </p:sp>
      <p:sp>
        <p:nvSpPr>
          <p:cNvPr id="33" name="Text 30"/>
          <p:cNvSpPr/>
          <p:nvPr/>
        </p:nvSpPr>
        <p:spPr>
          <a:xfrm>
            <a:off x="1051560" y="3931920"/>
            <a:ext cx="3657600" cy="274320"/>
          </a:xfrm>
          <a:prstGeom prst="rect">
            <a:avLst/>
          </a:prstGeom>
          <a:noFill/>
          <a:ln/>
        </p:spPr>
        <p:txBody>
          <a:bodyPr wrap="square" lIns="0" tIns="0" rIns="0" bIns="0" rtlCol="0" anchor="t"/>
          <a:lstStyle/>
          <a:p>
            <a:pPr indent="0" marL="0">
              <a:buNone/>
            </a:pPr>
            <a:r>
              <a:rPr lang="en-US" sz="1100" b="1" spc="100" kern="0" dirty="0">
                <a:solidFill>
                  <a:srgbClr val="3E63DD"/>
                </a:solidFill>
                <a:latin typeface="Calibri" pitchFamily="34" charset="0"/>
                <a:ea typeface="Calibri" pitchFamily="34" charset="-122"/>
                <a:cs typeface="Calibri" pitchFamily="34" charset="-120"/>
              </a:rPr>
              <a:t>EJEMPLO · HU10</a:t>
            </a:r>
            <a:endParaRPr lang="en-US" sz="1100" dirty="0"/>
          </a:p>
        </p:txBody>
      </p:sp>
      <p:sp>
        <p:nvSpPr>
          <p:cNvPr id="34" name="Text 31"/>
          <p:cNvSpPr/>
          <p:nvPr/>
        </p:nvSpPr>
        <p:spPr>
          <a:xfrm>
            <a:off x="1051560" y="4251960"/>
            <a:ext cx="10088575" cy="731520"/>
          </a:xfrm>
          <a:prstGeom prst="rect">
            <a:avLst/>
          </a:prstGeom>
          <a:noFill/>
          <a:ln/>
        </p:spPr>
        <p:txBody>
          <a:bodyPr wrap="square" lIns="0" tIns="0" rIns="0" bIns="0" rtlCol="0" anchor="t"/>
          <a:lstStyle/>
          <a:p>
            <a:pPr indent="0" marL="0">
              <a:buNone/>
            </a:pPr>
            <a:r>
              <a:rPr lang="en-US" sz="2000" dirty="0">
                <a:solidFill>
                  <a:srgbClr val="1A1A1A"/>
                </a:solidFill>
                <a:latin typeface="Calibri Light" pitchFamily="34" charset="0"/>
                <a:ea typeface="Calibri Light" pitchFamily="34" charset="-122"/>
                <a:cs typeface="Calibri Light" pitchFamily="34" charset="-120"/>
              </a:rPr>
              <a:t>Como operadora de monitoreo, quiero una alerta inmediata con hora y evidencia ante una conducta insegura, para intervenir a tiempo.</a:t>
            </a:r>
            <a:endParaRPr lang="en-US" sz="2000" dirty="0"/>
          </a:p>
        </p:txBody>
      </p:sp>
      <p:sp>
        <p:nvSpPr>
          <p:cNvPr id="35" name="Text 32"/>
          <p:cNvSpPr/>
          <p:nvPr/>
        </p:nvSpPr>
        <p:spPr>
          <a:xfrm>
            <a:off x="1051560" y="5074920"/>
            <a:ext cx="10088575" cy="365760"/>
          </a:xfrm>
          <a:prstGeom prst="rect">
            <a:avLst/>
          </a:prstGeom>
          <a:noFill/>
          <a:ln/>
        </p:spPr>
        <p:txBody>
          <a:bodyPr wrap="square" lIns="0" tIns="0" rIns="0" bIns="0" rtlCol="0" anchor="t"/>
          <a:lstStyle/>
          <a:p>
            <a:pPr indent="0" marL="0">
              <a:buNone/>
            </a:pPr>
            <a:r>
              <a:rPr lang="en-US" sz="1400" dirty="0">
                <a:solidFill>
                  <a:srgbClr val="8A8984"/>
                </a:solidFill>
                <a:latin typeface="Calibri" pitchFamily="34" charset="0"/>
                <a:ea typeface="Calibri" pitchFamily="34" charset="-122"/>
                <a:cs typeface="Calibri" pitchFamily="34" charset="-120"/>
              </a:rPr>
              <a:t>Criterios de aceptación: notificación visual y sonora · guarda fecha, marca de tiempo, clip y probabilidad.</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AF9"/>
        </a:solidFill>
      </p:bgPr>
    </p:bg>
    <p:spTree>
      <p:nvGrpSpPr>
        <p:cNvPr id="1" name=""/>
        <p:cNvGrpSpPr/>
        <p:nvPr/>
      </p:nvGrpSpPr>
      <p:grpSpPr>
        <a:xfrm>
          <a:off x="0" y="0"/>
          <a:ext cx="0" cy="0"/>
          <a:chOff x="0" y="0"/>
          <a:chExt cx="0" cy="0"/>
        </a:xfrm>
      </p:grpSpPr>
      <p:sp>
        <p:nvSpPr>
          <p:cNvPr id="2" name="Text 0"/>
          <p:cNvSpPr/>
          <p:nvPr/>
        </p:nvSpPr>
        <p:spPr>
          <a:xfrm>
            <a:off x="731520" y="502920"/>
            <a:ext cx="10058400" cy="274320"/>
          </a:xfrm>
          <a:prstGeom prst="rect">
            <a:avLst/>
          </a:prstGeom>
          <a:noFill/>
          <a:ln/>
        </p:spPr>
        <p:txBody>
          <a:bodyPr wrap="square" lIns="0" tIns="0" rIns="0" bIns="0" rtlCol="0" anchor="t"/>
          <a:lstStyle/>
          <a:p>
            <a:pPr indent="0" marL="0">
              <a:buNone/>
            </a:pPr>
            <a:r>
              <a:rPr lang="en-US" sz="1100" b="1" spc="150" kern="0" dirty="0">
                <a:solidFill>
                  <a:srgbClr val="3E63DD"/>
                </a:solidFill>
                <a:latin typeface="Calibri" pitchFamily="34" charset="0"/>
                <a:ea typeface="Calibri" pitchFamily="34" charset="-122"/>
                <a:cs typeface="Calibri" pitchFamily="34" charset="-120"/>
              </a:rPr>
              <a:t>SEMANA 5 · BACKLOG PRIORIZADO (FGAP060)</a:t>
            </a:r>
            <a:endParaRPr lang="en-US" sz="1100" dirty="0"/>
          </a:p>
        </p:txBody>
      </p:sp>
      <p:sp>
        <p:nvSpPr>
          <p:cNvPr id="3" name="Text 1"/>
          <p:cNvSpPr/>
          <p:nvPr/>
        </p:nvSpPr>
        <p:spPr>
          <a:xfrm>
            <a:off x="731520" y="777240"/>
            <a:ext cx="10698480" cy="822960"/>
          </a:xfrm>
          <a:prstGeom prst="rect">
            <a:avLst/>
          </a:prstGeom>
          <a:noFill/>
          <a:ln/>
        </p:spPr>
        <p:txBody>
          <a:bodyPr wrap="square" lIns="0" tIns="0" rIns="0" bIns="0" rtlCol="0" anchor="t"/>
          <a:lstStyle/>
          <a:p>
            <a:pPr indent="0" marL="0">
              <a:buNone/>
            </a:pPr>
            <a:r>
              <a:rPr lang="en-US" sz="3400" dirty="0">
                <a:solidFill>
                  <a:srgbClr val="1A1A1A"/>
                </a:solidFill>
                <a:latin typeface="Calibri Light" pitchFamily="34" charset="0"/>
                <a:ea typeface="Calibri Light" pitchFamily="34" charset="-122"/>
                <a:cs typeface="Calibri Light" pitchFamily="34" charset="-120"/>
              </a:rPr>
              <a:t>Qué se construye primero, y por qué</a:t>
            </a:r>
            <a:endParaRPr lang="en-US" sz="3400" dirty="0"/>
          </a:p>
        </p:txBody>
      </p:sp>
      <p:sp>
        <p:nvSpPr>
          <p:cNvPr id="4" name="Text 2"/>
          <p:cNvSpPr/>
          <p:nvPr/>
        </p:nvSpPr>
        <p:spPr>
          <a:xfrm>
            <a:off x="731520" y="6355080"/>
            <a:ext cx="2743200" cy="228600"/>
          </a:xfrm>
          <a:prstGeom prst="rect">
            <a:avLst/>
          </a:prstGeom>
          <a:noFill/>
          <a:ln/>
        </p:spPr>
        <p:txBody>
          <a:bodyPr wrap="square" lIns="0" tIns="0" rIns="0" bIns="0" rtlCol="0" anchor="t"/>
          <a:lstStyle/>
          <a:p>
            <a:pPr indent="0" marL="0">
              <a:buNone/>
            </a:pPr>
            <a:r>
              <a:rPr lang="en-US" sz="1000" b="1" dirty="0">
                <a:solidFill>
                  <a:srgbClr val="8A8984"/>
                </a:solidFill>
                <a:latin typeface="Calibri" pitchFamily="34" charset="0"/>
                <a:ea typeface="Calibri" pitchFamily="34" charset="-122"/>
                <a:cs typeface="Calibri" pitchFamily="34" charset="-120"/>
              </a:rPr>
              <a:t>NewBit</a:t>
            </a:r>
            <a:endParaRPr lang="en-US" sz="1000" dirty="0"/>
          </a:p>
        </p:txBody>
      </p:sp>
      <p:sp>
        <p:nvSpPr>
          <p:cNvPr id="5" name="Text 3"/>
          <p:cNvSpPr/>
          <p:nvPr/>
        </p:nvSpPr>
        <p:spPr>
          <a:xfrm>
            <a:off x="1371600" y="6355080"/>
            <a:ext cx="4572000" cy="228600"/>
          </a:xfrm>
          <a:prstGeom prst="rect">
            <a:avLst/>
          </a:prstGeom>
          <a:noFill/>
          <a:ln/>
        </p:spPr>
        <p:txBody>
          <a:bodyPr wrap="square" lIns="0" tIns="0" rIns="0" bIns="0" rtlCol="0" anchor="t"/>
          <a:lstStyle/>
          <a:p>
            <a:pPr indent="0" marL="0">
              <a:buNone/>
            </a:pPr>
            <a:r>
              <a:rPr lang="en-US" sz="1000" dirty="0">
                <a:solidFill>
                  <a:srgbClr val="8A8984"/>
                </a:solidFill>
                <a:latin typeface="Calibri" pitchFamily="34" charset="0"/>
                <a:ea typeface="Calibri" pitchFamily="34" charset="-122"/>
                <a:cs typeface="Calibri" pitchFamily="34" charset="-120"/>
              </a:rPr>
              <a:t>Producto de la Unidad I · Grupo D3</a:t>
            </a:r>
            <a:endParaRPr lang="en-US" sz="1000" dirty="0"/>
          </a:p>
        </p:txBody>
      </p:sp>
      <p:sp>
        <p:nvSpPr>
          <p:cNvPr id="6" name="Text 4"/>
          <p:cNvSpPr/>
          <p:nvPr/>
        </p:nvSpPr>
        <p:spPr>
          <a:xfrm>
            <a:off x="10728655" y="6355080"/>
            <a:ext cx="731520" cy="228600"/>
          </a:xfrm>
          <a:prstGeom prst="rect">
            <a:avLst/>
          </a:prstGeom>
          <a:noFill/>
          <a:ln/>
        </p:spPr>
        <p:txBody>
          <a:bodyPr wrap="square" lIns="0" tIns="0" rIns="0" bIns="0" rtlCol="0" anchor="t"/>
          <a:lstStyle/>
          <a:p>
            <a:pPr algn="r" indent="0" marL="0">
              <a:buNone/>
            </a:pPr>
            <a:r>
              <a:rPr lang="en-US" sz="1000" dirty="0">
                <a:solidFill>
                  <a:srgbClr val="8A8984"/>
                </a:solidFill>
                <a:latin typeface="Calibri" pitchFamily="34" charset="0"/>
                <a:ea typeface="Calibri" pitchFamily="34" charset="-122"/>
                <a:cs typeface="Calibri" pitchFamily="34" charset="-120"/>
              </a:rPr>
              <a:t>22</a:t>
            </a:r>
            <a:endParaRPr lang="en-US" sz="1000" dirty="0"/>
          </a:p>
        </p:txBody>
      </p:sp>
      <p:sp>
        <p:nvSpPr>
          <p:cNvPr id="8" name="Shape 5"/>
          <p:cNvSpPr/>
          <p:nvPr/>
        </p:nvSpPr>
        <p:spPr>
          <a:xfrm>
            <a:off x="731520" y="1847088"/>
            <a:ext cx="457200" cy="457200"/>
          </a:xfrm>
          <a:prstGeom prst="ellipse">
            <a:avLst/>
          </a:prstGeom>
          <a:solidFill>
            <a:srgbClr val="EEF2FF"/>
          </a:solidFill>
          <a:ln w="12700">
            <a:solidFill>
              <a:srgbClr val="C7D2FE"/>
            </a:solidFill>
            <a:prstDash val="solid"/>
          </a:ln>
        </p:spPr>
      </p:sp>
      <p:sp>
        <p:nvSpPr>
          <p:cNvPr id="9" name="Text 6"/>
          <p:cNvSpPr/>
          <p:nvPr/>
        </p:nvSpPr>
        <p:spPr>
          <a:xfrm>
            <a:off x="731520" y="1920240"/>
            <a:ext cx="457200" cy="320040"/>
          </a:xfrm>
          <a:prstGeom prst="rect">
            <a:avLst/>
          </a:prstGeom>
          <a:noFill/>
          <a:ln/>
        </p:spPr>
        <p:txBody>
          <a:bodyPr wrap="square" lIns="0" tIns="0" rIns="0" bIns="0" rtlCol="0" anchor="t"/>
          <a:lstStyle/>
          <a:p>
            <a:pPr algn="ctr" indent="0" marL="0">
              <a:buNone/>
            </a:pPr>
            <a:r>
              <a:rPr lang="en-US" sz="1500" b="1" dirty="0">
                <a:solidFill>
                  <a:srgbClr val="3E63DD"/>
                </a:solidFill>
                <a:latin typeface="Calibri" pitchFamily="34" charset="0"/>
                <a:ea typeface="Calibri" pitchFamily="34" charset="-122"/>
                <a:cs typeface="Calibri" pitchFamily="34" charset="-120"/>
              </a:rPr>
              <a:t>1</a:t>
            </a:r>
            <a:endParaRPr lang="en-US" sz="1500" dirty="0"/>
          </a:p>
        </p:txBody>
      </p:sp>
      <p:sp>
        <p:nvSpPr>
          <p:cNvPr id="10" name="Text 7"/>
          <p:cNvSpPr/>
          <p:nvPr/>
        </p:nvSpPr>
        <p:spPr>
          <a:xfrm>
            <a:off x="1417320" y="1828800"/>
            <a:ext cx="3840480" cy="365760"/>
          </a:xfrm>
          <a:prstGeom prst="rect">
            <a:avLst/>
          </a:prstGeom>
          <a:noFill/>
          <a:ln/>
        </p:spPr>
        <p:txBody>
          <a:bodyPr wrap="square" lIns="0" tIns="0" rIns="0" bIns="0" rtlCol="0" anchor="t"/>
          <a:lstStyle/>
          <a:p>
            <a:pPr indent="0" marL="0">
              <a:buNone/>
            </a:pPr>
            <a:r>
              <a:rPr lang="en-US" sz="1800" b="1" dirty="0">
                <a:solidFill>
                  <a:srgbClr val="1A1A1A"/>
                </a:solidFill>
                <a:latin typeface="Calibri" pitchFamily="34" charset="0"/>
                <a:ea typeface="Calibri" pitchFamily="34" charset="-122"/>
                <a:cs typeface="Calibri" pitchFamily="34" charset="-120"/>
              </a:rPr>
              <a:t>MoSCoW</a:t>
            </a:r>
            <a:endParaRPr lang="en-US" sz="1800" dirty="0"/>
          </a:p>
        </p:txBody>
      </p:sp>
      <p:sp>
        <p:nvSpPr>
          <p:cNvPr id="11" name="Text 8"/>
          <p:cNvSpPr/>
          <p:nvPr/>
        </p:nvSpPr>
        <p:spPr>
          <a:xfrm>
            <a:off x="1417320" y="2212848"/>
            <a:ext cx="3931920" cy="640080"/>
          </a:xfrm>
          <a:prstGeom prst="rect">
            <a:avLst/>
          </a:prstGeom>
          <a:noFill/>
          <a:ln/>
        </p:spPr>
        <p:txBody>
          <a:bodyPr wrap="square" lIns="0" tIns="0" rIns="0" bIns="0" rtlCol="0" anchor="t"/>
          <a:lstStyle/>
          <a:p>
            <a:pPr indent="0" marL="0">
              <a:buNone/>
            </a:pPr>
            <a:r>
              <a:rPr lang="en-US" sz="1400" dirty="0">
                <a:solidFill>
                  <a:srgbClr val="57534E"/>
                </a:solidFill>
                <a:latin typeface="Calibri" pitchFamily="34" charset="0"/>
                <a:ea typeface="Calibri" pitchFamily="34" charset="-122"/>
                <a:cs typeface="Calibri" pitchFamily="34" charset="-120"/>
              </a:rPr>
              <a:t>8 debe, 3 debería, 1 podría.</a:t>
            </a:r>
            <a:endParaRPr lang="en-US" sz="1400" dirty="0"/>
          </a:p>
        </p:txBody>
      </p:sp>
      <p:sp>
        <p:nvSpPr>
          <p:cNvPr id="12" name="Shape 9"/>
          <p:cNvSpPr/>
          <p:nvPr/>
        </p:nvSpPr>
        <p:spPr>
          <a:xfrm>
            <a:off x="731520" y="3035808"/>
            <a:ext cx="457200" cy="457200"/>
          </a:xfrm>
          <a:prstGeom prst="ellipse">
            <a:avLst/>
          </a:prstGeom>
          <a:solidFill>
            <a:srgbClr val="EEF2FF"/>
          </a:solidFill>
          <a:ln w="12700">
            <a:solidFill>
              <a:srgbClr val="C7D2FE"/>
            </a:solidFill>
            <a:prstDash val="solid"/>
          </a:ln>
        </p:spPr>
      </p:sp>
      <p:sp>
        <p:nvSpPr>
          <p:cNvPr id="13" name="Text 10"/>
          <p:cNvSpPr/>
          <p:nvPr/>
        </p:nvSpPr>
        <p:spPr>
          <a:xfrm>
            <a:off x="731520" y="3108960"/>
            <a:ext cx="457200" cy="320040"/>
          </a:xfrm>
          <a:prstGeom prst="rect">
            <a:avLst/>
          </a:prstGeom>
          <a:noFill/>
          <a:ln/>
        </p:spPr>
        <p:txBody>
          <a:bodyPr wrap="square" lIns="0" tIns="0" rIns="0" bIns="0" rtlCol="0" anchor="t"/>
          <a:lstStyle/>
          <a:p>
            <a:pPr algn="ctr" indent="0" marL="0">
              <a:buNone/>
            </a:pPr>
            <a:r>
              <a:rPr lang="en-US" sz="1500" b="1" dirty="0">
                <a:solidFill>
                  <a:srgbClr val="3E63DD"/>
                </a:solidFill>
                <a:latin typeface="Calibri" pitchFamily="34" charset="0"/>
                <a:ea typeface="Calibri" pitchFamily="34" charset="-122"/>
                <a:cs typeface="Calibri" pitchFamily="34" charset="-120"/>
              </a:rPr>
              <a:t>2</a:t>
            </a:r>
            <a:endParaRPr lang="en-US" sz="1500" dirty="0"/>
          </a:p>
        </p:txBody>
      </p:sp>
      <p:sp>
        <p:nvSpPr>
          <p:cNvPr id="14" name="Text 11"/>
          <p:cNvSpPr/>
          <p:nvPr/>
        </p:nvSpPr>
        <p:spPr>
          <a:xfrm>
            <a:off x="1417320" y="3017520"/>
            <a:ext cx="3840480" cy="365760"/>
          </a:xfrm>
          <a:prstGeom prst="rect">
            <a:avLst/>
          </a:prstGeom>
          <a:noFill/>
          <a:ln/>
        </p:spPr>
        <p:txBody>
          <a:bodyPr wrap="square" lIns="0" tIns="0" rIns="0" bIns="0" rtlCol="0" anchor="t"/>
          <a:lstStyle/>
          <a:p>
            <a:pPr indent="0" marL="0">
              <a:buNone/>
            </a:pPr>
            <a:r>
              <a:rPr lang="en-US" sz="1800" b="1" dirty="0">
                <a:solidFill>
                  <a:srgbClr val="1A1A1A"/>
                </a:solidFill>
                <a:latin typeface="Calibri" pitchFamily="34" charset="0"/>
                <a:ea typeface="Calibri" pitchFamily="34" charset="-122"/>
                <a:cs typeface="Calibri" pitchFamily="34" charset="-120"/>
              </a:rPr>
              <a:t>100 puntos</a:t>
            </a:r>
            <a:endParaRPr lang="en-US" sz="1800" dirty="0"/>
          </a:p>
        </p:txBody>
      </p:sp>
      <p:sp>
        <p:nvSpPr>
          <p:cNvPr id="15" name="Text 12"/>
          <p:cNvSpPr/>
          <p:nvPr/>
        </p:nvSpPr>
        <p:spPr>
          <a:xfrm>
            <a:off x="1417320" y="3401568"/>
            <a:ext cx="3931920" cy="640080"/>
          </a:xfrm>
          <a:prstGeom prst="rect">
            <a:avLst/>
          </a:prstGeom>
          <a:noFill/>
          <a:ln/>
        </p:spPr>
        <p:txBody>
          <a:bodyPr wrap="square" lIns="0" tIns="0" rIns="0" bIns="0" rtlCol="0" anchor="t"/>
          <a:lstStyle/>
          <a:p>
            <a:pPr indent="0" marL="0">
              <a:buNone/>
            </a:pPr>
            <a:r>
              <a:rPr lang="en-US" sz="1400" dirty="0">
                <a:solidFill>
                  <a:srgbClr val="57534E"/>
                </a:solidFill>
                <a:latin typeface="Calibri" pitchFamily="34" charset="0"/>
                <a:ea typeface="Calibri" pitchFamily="34" charset="-122"/>
                <a:cs typeface="Calibri" pitchFamily="34" charset="-120"/>
              </a:rPr>
              <a:t>Cada integrante reparte 100 puntos entre las historias.</a:t>
            </a:r>
            <a:endParaRPr lang="en-US" sz="1400" dirty="0"/>
          </a:p>
        </p:txBody>
      </p:sp>
      <p:sp>
        <p:nvSpPr>
          <p:cNvPr id="16" name="Shape 13"/>
          <p:cNvSpPr/>
          <p:nvPr/>
        </p:nvSpPr>
        <p:spPr>
          <a:xfrm>
            <a:off x="731520" y="4224528"/>
            <a:ext cx="457200" cy="457200"/>
          </a:xfrm>
          <a:prstGeom prst="ellipse">
            <a:avLst/>
          </a:prstGeom>
          <a:solidFill>
            <a:srgbClr val="EEF2FF"/>
          </a:solidFill>
          <a:ln w="12700">
            <a:solidFill>
              <a:srgbClr val="C7D2FE"/>
            </a:solidFill>
            <a:prstDash val="solid"/>
          </a:ln>
        </p:spPr>
      </p:sp>
      <p:sp>
        <p:nvSpPr>
          <p:cNvPr id="17" name="Text 14"/>
          <p:cNvSpPr/>
          <p:nvPr/>
        </p:nvSpPr>
        <p:spPr>
          <a:xfrm>
            <a:off x="731520" y="4297680"/>
            <a:ext cx="457200" cy="320040"/>
          </a:xfrm>
          <a:prstGeom prst="rect">
            <a:avLst/>
          </a:prstGeom>
          <a:noFill/>
          <a:ln/>
        </p:spPr>
        <p:txBody>
          <a:bodyPr wrap="square" lIns="0" tIns="0" rIns="0" bIns="0" rtlCol="0" anchor="t"/>
          <a:lstStyle/>
          <a:p>
            <a:pPr algn="ctr" indent="0" marL="0">
              <a:buNone/>
            </a:pPr>
            <a:r>
              <a:rPr lang="en-US" sz="1500" b="1" dirty="0">
                <a:solidFill>
                  <a:srgbClr val="3E63DD"/>
                </a:solidFill>
                <a:latin typeface="Calibri" pitchFamily="34" charset="0"/>
                <a:ea typeface="Calibri" pitchFamily="34" charset="-122"/>
                <a:cs typeface="Calibri" pitchFamily="34" charset="-120"/>
              </a:rPr>
              <a:t>3</a:t>
            </a:r>
            <a:endParaRPr lang="en-US" sz="1500" dirty="0"/>
          </a:p>
        </p:txBody>
      </p:sp>
      <p:sp>
        <p:nvSpPr>
          <p:cNvPr id="18" name="Text 15"/>
          <p:cNvSpPr/>
          <p:nvPr/>
        </p:nvSpPr>
        <p:spPr>
          <a:xfrm>
            <a:off x="1417320" y="4206240"/>
            <a:ext cx="3840480" cy="365760"/>
          </a:xfrm>
          <a:prstGeom prst="rect">
            <a:avLst/>
          </a:prstGeom>
          <a:noFill/>
          <a:ln/>
        </p:spPr>
        <p:txBody>
          <a:bodyPr wrap="square" lIns="0" tIns="0" rIns="0" bIns="0" rtlCol="0" anchor="t"/>
          <a:lstStyle/>
          <a:p>
            <a:pPr indent="0" marL="0">
              <a:buNone/>
            </a:pPr>
            <a:r>
              <a:rPr lang="en-US" sz="1800" b="1" dirty="0">
                <a:solidFill>
                  <a:srgbClr val="1A1A1A"/>
                </a:solidFill>
                <a:latin typeface="Calibri" pitchFamily="34" charset="0"/>
                <a:ea typeface="Calibri" pitchFamily="34" charset="-122"/>
                <a:cs typeface="Calibri" pitchFamily="34" charset="-120"/>
              </a:rPr>
              <a:t>Dependencias</a:t>
            </a:r>
            <a:endParaRPr lang="en-US" sz="1800" dirty="0"/>
          </a:p>
        </p:txBody>
      </p:sp>
      <p:sp>
        <p:nvSpPr>
          <p:cNvPr id="19" name="Text 16"/>
          <p:cNvSpPr/>
          <p:nvPr/>
        </p:nvSpPr>
        <p:spPr>
          <a:xfrm>
            <a:off x="1417320" y="4590288"/>
            <a:ext cx="3931920" cy="640080"/>
          </a:xfrm>
          <a:prstGeom prst="rect">
            <a:avLst/>
          </a:prstGeom>
          <a:noFill/>
          <a:ln/>
        </p:spPr>
        <p:txBody>
          <a:bodyPr wrap="square" lIns="0" tIns="0" rIns="0" bIns="0" rtlCol="0" anchor="t"/>
          <a:lstStyle/>
          <a:p>
            <a:pPr indent="0" marL="0">
              <a:buNone/>
            </a:pPr>
            <a:r>
              <a:rPr lang="en-US" sz="1400" dirty="0">
                <a:solidFill>
                  <a:srgbClr val="57534E"/>
                </a:solidFill>
                <a:latin typeface="Calibri" pitchFamily="34" charset="0"/>
                <a:ea typeface="Calibri" pitchFamily="34" charset="-122"/>
                <a:cs typeface="Calibri" pitchFamily="34" charset="-120"/>
              </a:rPr>
              <a:t>Ninguna etapa se prueba sin la anterior; por eso HU11 y HU06 se adelantan.</a:t>
            </a:r>
            <a:endParaRPr lang="en-US" sz="1400" dirty="0"/>
          </a:p>
        </p:txBody>
      </p:sp>
      <p:sp>
        <p:nvSpPr>
          <p:cNvPr id="20" name="Text 17"/>
          <p:cNvSpPr/>
          <p:nvPr/>
        </p:nvSpPr>
        <p:spPr>
          <a:xfrm>
            <a:off x="5943600" y="1691640"/>
            <a:ext cx="1463040" cy="914400"/>
          </a:xfrm>
          <a:prstGeom prst="rect">
            <a:avLst/>
          </a:prstGeom>
          <a:noFill/>
          <a:ln/>
        </p:spPr>
        <p:txBody>
          <a:bodyPr wrap="square" lIns="0" tIns="0" rIns="0" bIns="0" rtlCol="0" anchor="t"/>
          <a:lstStyle/>
          <a:p>
            <a:pPr indent="0" marL="0">
              <a:buNone/>
            </a:pPr>
            <a:r>
              <a:rPr lang="en-US" sz="6000" dirty="0">
                <a:solidFill>
                  <a:srgbClr val="1A1A1A"/>
                </a:solidFill>
                <a:latin typeface="Calibri Light" pitchFamily="34" charset="0"/>
                <a:ea typeface="Calibri Light" pitchFamily="34" charset="-122"/>
                <a:cs typeface="Calibri Light" pitchFamily="34" charset="-120"/>
              </a:rPr>
              <a:t>31</a:t>
            </a:r>
            <a:endParaRPr lang="en-US" sz="6000" dirty="0"/>
          </a:p>
        </p:txBody>
      </p:sp>
      <p:sp>
        <p:nvSpPr>
          <p:cNvPr id="21" name="Text 18"/>
          <p:cNvSpPr/>
          <p:nvPr/>
        </p:nvSpPr>
        <p:spPr>
          <a:xfrm>
            <a:off x="7086600" y="2011680"/>
            <a:ext cx="4114800" cy="457200"/>
          </a:xfrm>
          <a:prstGeom prst="rect">
            <a:avLst/>
          </a:prstGeom>
          <a:noFill/>
          <a:ln/>
        </p:spPr>
        <p:txBody>
          <a:bodyPr wrap="square" lIns="0" tIns="0" rIns="0" bIns="0" rtlCol="0" anchor="t"/>
          <a:lstStyle/>
          <a:p>
            <a:pPr indent="0" marL="0">
              <a:buNone/>
            </a:pPr>
            <a:r>
              <a:rPr lang="en-US" sz="1600" dirty="0">
                <a:solidFill>
                  <a:srgbClr val="57534E"/>
                </a:solidFill>
                <a:latin typeface="Calibri" pitchFamily="34" charset="0"/>
                <a:ea typeface="Calibri" pitchFamily="34" charset="-122"/>
                <a:cs typeface="Calibri" pitchFamily="34" charset="-120"/>
              </a:rPr>
              <a:t>puntos de historia en cuatro sprints</a:t>
            </a:r>
            <a:endParaRPr lang="en-US" sz="1600" dirty="0"/>
          </a:p>
        </p:txBody>
      </p:sp>
      <p:sp>
        <p:nvSpPr>
          <p:cNvPr id="22" name="Text 19"/>
          <p:cNvSpPr/>
          <p:nvPr/>
        </p:nvSpPr>
        <p:spPr>
          <a:xfrm>
            <a:off x="5943600" y="2880360"/>
            <a:ext cx="1097280" cy="320040"/>
          </a:xfrm>
          <a:prstGeom prst="rect">
            <a:avLst/>
          </a:prstGeom>
          <a:noFill/>
          <a:ln/>
        </p:spPr>
        <p:txBody>
          <a:bodyPr wrap="square" lIns="0" tIns="0" rIns="0" bIns="0" rtlCol="0" anchor="t"/>
          <a:lstStyle/>
          <a:p>
            <a:pPr indent="0" marL="0">
              <a:buNone/>
            </a:pPr>
            <a:r>
              <a:rPr lang="en-US" sz="1400" b="1" dirty="0">
                <a:solidFill>
                  <a:srgbClr val="1A1A1A"/>
                </a:solidFill>
                <a:latin typeface="Calibri" pitchFamily="34" charset="0"/>
                <a:ea typeface="Calibri" pitchFamily="34" charset="-122"/>
                <a:cs typeface="Calibri" pitchFamily="34" charset="-120"/>
              </a:rPr>
              <a:t>Sprint 1</a:t>
            </a:r>
            <a:endParaRPr lang="en-US" sz="1400" dirty="0"/>
          </a:p>
        </p:txBody>
      </p:sp>
      <p:sp>
        <p:nvSpPr>
          <p:cNvPr id="23" name="Shape 20"/>
          <p:cNvSpPr/>
          <p:nvPr/>
        </p:nvSpPr>
        <p:spPr>
          <a:xfrm>
            <a:off x="7086600" y="2926080"/>
            <a:ext cx="2304288" cy="237744"/>
          </a:xfrm>
          <a:prstGeom prst="rect">
            <a:avLst/>
          </a:prstGeom>
          <a:solidFill>
            <a:srgbClr val="2F855A"/>
          </a:solidFill>
          <a:ln w="12700">
            <a:solidFill>
              <a:srgbClr val="2F855A"/>
            </a:solidFill>
            <a:prstDash val="solid"/>
          </a:ln>
        </p:spPr>
      </p:sp>
      <p:sp>
        <p:nvSpPr>
          <p:cNvPr id="24" name="Text 21"/>
          <p:cNvSpPr/>
          <p:nvPr/>
        </p:nvSpPr>
        <p:spPr>
          <a:xfrm>
            <a:off x="9482328" y="2880360"/>
            <a:ext cx="457200" cy="320040"/>
          </a:xfrm>
          <a:prstGeom prst="rect">
            <a:avLst/>
          </a:prstGeom>
          <a:noFill/>
          <a:ln/>
        </p:spPr>
        <p:txBody>
          <a:bodyPr wrap="square" lIns="0" tIns="0" rIns="0" bIns="0" rtlCol="0" anchor="t"/>
          <a:lstStyle/>
          <a:p>
            <a:pPr indent="0" marL="0">
              <a:buNone/>
            </a:pPr>
            <a:r>
              <a:rPr lang="en-US" sz="1400" b="1" dirty="0">
                <a:solidFill>
                  <a:srgbClr val="1A1A1A"/>
                </a:solidFill>
                <a:latin typeface="Calibri" pitchFamily="34" charset="0"/>
                <a:ea typeface="Calibri" pitchFamily="34" charset="-122"/>
                <a:cs typeface="Calibri" pitchFamily="34" charset="-120"/>
              </a:rPr>
              <a:t>7</a:t>
            </a:r>
            <a:endParaRPr lang="en-US" sz="1400" dirty="0"/>
          </a:p>
        </p:txBody>
      </p:sp>
      <p:sp>
        <p:nvSpPr>
          <p:cNvPr id="25" name="Shape 22"/>
          <p:cNvSpPr/>
          <p:nvPr/>
        </p:nvSpPr>
        <p:spPr>
          <a:xfrm>
            <a:off x="10287000" y="2889504"/>
            <a:ext cx="1143000" cy="292608"/>
          </a:xfrm>
          <a:prstGeom prst="roundRect">
            <a:avLst>
              <a:gd name="adj" fmla="val 50000"/>
            </a:avLst>
          </a:prstGeom>
          <a:solidFill>
            <a:srgbClr val="EEF8F2"/>
          </a:solidFill>
          <a:ln w="12700">
            <a:solidFill>
              <a:srgbClr val="EEF8F2"/>
            </a:solidFill>
            <a:prstDash val="solid"/>
          </a:ln>
        </p:spPr>
      </p:sp>
      <p:sp>
        <p:nvSpPr>
          <p:cNvPr id="26" name="Text 23"/>
          <p:cNvSpPr/>
          <p:nvPr/>
        </p:nvSpPr>
        <p:spPr>
          <a:xfrm>
            <a:off x="10287000" y="2935224"/>
            <a:ext cx="1143000" cy="219456"/>
          </a:xfrm>
          <a:prstGeom prst="rect">
            <a:avLst/>
          </a:prstGeom>
          <a:noFill/>
          <a:ln/>
        </p:spPr>
        <p:txBody>
          <a:bodyPr wrap="square" lIns="0" tIns="0" rIns="0" bIns="0" rtlCol="0" anchor="t"/>
          <a:lstStyle/>
          <a:p>
            <a:pPr algn="ctr" indent="0" marL="0">
              <a:buNone/>
            </a:pPr>
            <a:r>
              <a:rPr lang="en-US" sz="1100" b="1" dirty="0">
                <a:solidFill>
                  <a:srgbClr val="2F855A"/>
                </a:solidFill>
                <a:latin typeface="Calibri" pitchFamily="34" charset="0"/>
                <a:ea typeface="Calibri" pitchFamily="34" charset="-122"/>
                <a:cs typeface="Calibri" pitchFamily="34" charset="-120"/>
              </a:rPr>
              <a:t>Construido</a:t>
            </a:r>
            <a:endParaRPr lang="en-US" sz="1100" dirty="0"/>
          </a:p>
        </p:txBody>
      </p:sp>
      <p:sp>
        <p:nvSpPr>
          <p:cNvPr id="27" name="Text 24"/>
          <p:cNvSpPr/>
          <p:nvPr/>
        </p:nvSpPr>
        <p:spPr>
          <a:xfrm>
            <a:off x="7086600" y="3209544"/>
            <a:ext cx="4389120" cy="274320"/>
          </a:xfrm>
          <a:prstGeom prst="rect">
            <a:avLst/>
          </a:prstGeom>
          <a:noFill/>
          <a:ln/>
        </p:spPr>
        <p:txBody>
          <a:bodyPr wrap="square" lIns="0" tIns="0" rIns="0" bIns="0" rtlCol="0" anchor="t"/>
          <a:lstStyle/>
          <a:p>
            <a:pPr indent="0" marL="0">
              <a:buNone/>
            </a:pPr>
            <a:r>
              <a:rPr lang="en-US" sz="1150" dirty="0">
                <a:solidFill>
                  <a:srgbClr val="8A8984"/>
                </a:solidFill>
                <a:latin typeface="Calibri" pitchFamily="34" charset="0"/>
                <a:ea typeface="Calibri" pitchFamily="34" charset="-122"/>
                <a:cs typeface="Calibri" pitchFamily="34" charset="-120"/>
              </a:rPr>
              <a:t>HU01–HU03 · subir video y detectar personas</a:t>
            </a:r>
            <a:endParaRPr lang="en-US" sz="1150" dirty="0"/>
          </a:p>
        </p:txBody>
      </p:sp>
      <p:sp>
        <p:nvSpPr>
          <p:cNvPr id="28" name="Text 25"/>
          <p:cNvSpPr/>
          <p:nvPr/>
        </p:nvSpPr>
        <p:spPr>
          <a:xfrm>
            <a:off x="5943600" y="3593592"/>
            <a:ext cx="1097280" cy="320040"/>
          </a:xfrm>
          <a:prstGeom prst="rect">
            <a:avLst/>
          </a:prstGeom>
          <a:noFill/>
          <a:ln/>
        </p:spPr>
        <p:txBody>
          <a:bodyPr wrap="square" lIns="0" tIns="0" rIns="0" bIns="0" rtlCol="0" anchor="t"/>
          <a:lstStyle/>
          <a:p>
            <a:pPr indent="0" marL="0">
              <a:buNone/>
            </a:pPr>
            <a:r>
              <a:rPr lang="en-US" sz="1400" b="1" dirty="0">
                <a:solidFill>
                  <a:srgbClr val="1A1A1A"/>
                </a:solidFill>
                <a:latin typeface="Calibri" pitchFamily="34" charset="0"/>
                <a:ea typeface="Calibri" pitchFamily="34" charset="-122"/>
                <a:cs typeface="Calibri" pitchFamily="34" charset="-120"/>
              </a:rPr>
              <a:t>Sprint 2</a:t>
            </a:r>
            <a:endParaRPr lang="en-US" sz="1400" dirty="0"/>
          </a:p>
        </p:txBody>
      </p:sp>
      <p:sp>
        <p:nvSpPr>
          <p:cNvPr id="29" name="Shape 26"/>
          <p:cNvSpPr/>
          <p:nvPr/>
        </p:nvSpPr>
        <p:spPr>
          <a:xfrm>
            <a:off x="7086600" y="3639312"/>
            <a:ext cx="2633472" cy="237744"/>
          </a:xfrm>
          <a:prstGeom prst="rect">
            <a:avLst/>
          </a:prstGeom>
          <a:solidFill>
            <a:srgbClr val="2F855A"/>
          </a:solidFill>
          <a:ln w="12700">
            <a:solidFill>
              <a:srgbClr val="2F855A"/>
            </a:solidFill>
            <a:prstDash val="solid"/>
          </a:ln>
        </p:spPr>
      </p:sp>
      <p:sp>
        <p:nvSpPr>
          <p:cNvPr id="30" name="Text 27"/>
          <p:cNvSpPr/>
          <p:nvPr/>
        </p:nvSpPr>
        <p:spPr>
          <a:xfrm>
            <a:off x="9811512" y="3593592"/>
            <a:ext cx="457200" cy="320040"/>
          </a:xfrm>
          <a:prstGeom prst="rect">
            <a:avLst/>
          </a:prstGeom>
          <a:noFill/>
          <a:ln/>
        </p:spPr>
        <p:txBody>
          <a:bodyPr wrap="square" lIns="0" tIns="0" rIns="0" bIns="0" rtlCol="0" anchor="t"/>
          <a:lstStyle/>
          <a:p>
            <a:pPr indent="0" marL="0">
              <a:buNone/>
            </a:pPr>
            <a:r>
              <a:rPr lang="en-US" sz="1400" b="1" dirty="0">
                <a:solidFill>
                  <a:srgbClr val="1A1A1A"/>
                </a:solidFill>
                <a:latin typeface="Calibri" pitchFamily="34" charset="0"/>
                <a:ea typeface="Calibri" pitchFamily="34" charset="-122"/>
                <a:cs typeface="Calibri" pitchFamily="34" charset="-120"/>
              </a:rPr>
              <a:t>8</a:t>
            </a:r>
            <a:endParaRPr lang="en-US" sz="1400" dirty="0"/>
          </a:p>
        </p:txBody>
      </p:sp>
      <p:sp>
        <p:nvSpPr>
          <p:cNvPr id="31" name="Shape 28"/>
          <p:cNvSpPr/>
          <p:nvPr/>
        </p:nvSpPr>
        <p:spPr>
          <a:xfrm>
            <a:off x="10287000" y="3602736"/>
            <a:ext cx="1143000" cy="292608"/>
          </a:xfrm>
          <a:prstGeom prst="roundRect">
            <a:avLst>
              <a:gd name="adj" fmla="val 50000"/>
            </a:avLst>
          </a:prstGeom>
          <a:solidFill>
            <a:srgbClr val="EEF8F2"/>
          </a:solidFill>
          <a:ln w="12700">
            <a:solidFill>
              <a:srgbClr val="EEF8F2"/>
            </a:solidFill>
            <a:prstDash val="solid"/>
          </a:ln>
        </p:spPr>
      </p:sp>
      <p:sp>
        <p:nvSpPr>
          <p:cNvPr id="32" name="Text 29"/>
          <p:cNvSpPr/>
          <p:nvPr/>
        </p:nvSpPr>
        <p:spPr>
          <a:xfrm>
            <a:off x="10287000" y="3648456"/>
            <a:ext cx="1143000" cy="219456"/>
          </a:xfrm>
          <a:prstGeom prst="rect">
            <a:avLst/>
          </a:prstGeom>
          <a:noFill/>
          <a:ln/>
        </p:spPr>
        <p:txBody>
          <a:bodyPr wrap="square" lIns="0" tIns="0" rIns="0" bIns="0" rtlCol="0" anchor="t"/>
          <a:lstStyle/>
          <a:p>
            <a:pPr algn="ctr" indent="0" marL="0">
              <a:buNone/>
            </a:pPr>
            <a:r>
              <a:rPr lang="en-US" sz="1100" b="1" dirty="0">
                <a:solidFill>
                  <a:srgbClr val="2F855A"/>
                </a:solidFill>
                <a:latin typeface="Calibri" pitchFamily="34" charset="0"/>
                <a:ea typeface="Calibri" pitchFamily="34" charset="-122"/>
                <a:cs typeface="Calibri" pitchFamily="34" charset="-120"/>
              </a:rPr>
              <a:t>Construido</a:t>
            </a:r>
            <a:endParaRPr lang="en-US" sz="1100" dirty="0"/>
          </a:p>
        </p:txBody>
      </p:sp>
      <p:sp>
        <p:nvSpPr>
          <p:cNvPr id="33" name="Text 30"/>
          <p:cNvSpPr/>
          <p:nvPr/>
        </p:nvSpPr>
        <p:spPr>
          <a:xfrm>
            <a:off x="7086600" y="3922776"/>
            <a:ext cx="4389120" cy="274320"/>
          </a:xfrm>
          <a:prstGeom prst="rect">
            <a:avLst/>
          </a:prstGeom>
          <a:noFill/>
          <a:ln/>
        </p:spPr>
        <p:txBody>
          <a:bodyPr wrap="square" lIns="0" tIns="0" rIns="0" bIns="0" rtlCol="0" anchor="t"/>
          <a:lstStyle/>
          <a:p>
            <a:pPr indent="0" marL="0">
              <a:buNone/>
            </a:pPr>
            <a:r>
              <a:rPr lang="en-US" sz="1150" dirty="0">
                <a:solidFill>
                  <a:srgbClr val="8A8984"/>
                </a:solidFill>
                <a:latin typeface="Calibri" pitchFamily="34" charset="0"/>
                <a:ea typeface="Calibri" pitchFamily="34" charset="-122"/>
                <a:cs typeface="Calibri" pitchFamily="34" charset="-120"/>
              </a:rPr>
              <a:t>HU04–HU06 y HU11 · filtrar y armar clips</a:t>
            </a:r>
            <a:endParaRPr lang="en-US" sz="1150" dirty="0"/>
          </a:p>
        </p:txBody>
      </p:sp>
      <p:sp>
        <p:nvSpPr>
          <p:cNvPr id="34" name="Text 31"/>
          <p:cNvSpPr/>
          <p:nvPr/>
        </p:nvSpPr>
        <p:spPr>
          <a:xfrm>
            <a:off x="5943600" y="4306824"/>
            <a:ext cx="1097280" cy="320040"/>
          </a:xfrm>
          <a:prstGeom prst="rect">
            <a:avLst/>
          </a:prstGeom>
          <a:noFill/>
          <a:ln/>
        </p:spPr>
        <p:txBody>
          <a:bodyPr wrap="square" lIns="0" tIns="0" rIns="0" bIns="0" rtlCol="0" anchor="t"/>
          <a:lstStyle/>
          <a:p>
            <a:pPr indent="0" marL="0">
              <a:buNone/>
            </a:pPr>
            <a:r>
              <a:rPr lang="en-US" sz="1400" b="1" dirty="0">
                <a:solidFill>
                  <a:srgbClr val="1A1A1A"/>
                </a:solidFill>
                <a:latin typeface="Calibri" pitchFamily="34" charset="0"/>
                <a:ea typeface="Calibri" pitchFamily="34" charset="-122"/>
                <a:cs typeface="Calibri" pitchFamily="34" charset="-120"/>
              </a:rPr>
              <a:t>Sprint 3</a:t>
            </a:r>
            <a:endParaRPr lang="en-US" sz="1400" dirty="0"/>
          </a:p>
        </p:txBody>
      </p:sp>
      <p:sp>
        <p:nvSpPr>
          <p:cNvPr id="35" name="Shape 32"/>
          <p:cNvSpPr/>
          <p:nvPr/>
        </p:nvSpPr>
        <p:spPr>
          <a:xfrm>
            <a:off x="7086600" y="4352544"/>
            <a:ext cx="2633472" cy="237744"/>
          </a:xfrm>
          <a:prstGeom prst="rect">
            <a:avLst/>
          </a:prstGeom>
          <a:solidFill>
            <a:srgbClr val="C2410C"/>
          </a:solidFill>
          <a:ln w="12700">
            <a:solidFill>
              <a:srgbClr val="C2410C"/>
            </a:solidFill>
            <a:prstDash val="solid"/>
          </a:ln>
        </p:spPr>
      </p:sp>
      <p:sp>
        <p:nvSpPr>
          <p:cNvPr id="36" name="Text 33"/>
          <p:cNvSpPr/>
          <p:nvPr/>
        </p:nvSpPr>
        <p:spPr>
          <a:xfrm>
            <a:off x="9811512" y="4306824"/>
            <a:ext cx="457200" cy="320040"/>
          </a:xfrm>
          <a:prstGeom prst="rect">
            <a:avLst/>
          </a:prstGeom>
          <a:noFill/>
          <a:ln/>
        </p:spPr>
        <p:txBody>
          <a:bodyPr wrap="square" lIns="0" tIns="0" rIns="0" bIns="0" rtlCol="0" anchor="t"/>
          <a:lstStyle/>
          <a:p>
            <a:pPr indent="0" marL="0">
              <a:buNone/>
            </a:pPr>
            <a:r>
              <a:rPr lang="en-US" sz="1400" b="1" dirty="0">
                <a:solidFill>
                  <a:srgbClr val="1A1A1A"/>
                </a:solidFill>
                <a:latin typeface="Calibri" pitchFamily="34" charset="0"/>
                <a:ea typeface="Calibri" pitchFamily="34" charset="-122"/>
                <a:cs typeface="Calibri" pitchFamily="34" charset="-120"/>
              </a:rPr>
              <a:t>8</a:t>
            </a:r>
            <a:endParaRPr lang="en-US" sz="1400" dirty="0"/>
          </a:p>
        </p:txBody>
      </p:sp>
      <p:sp>
        <p:nvSpPr>
          <p:cNvPr id="37" name="Text 34"/>
          <p:cNvSpPr/>
          <p:nvPr/>
        </p:nvSpPr>
        <p:spPr>
          <a:xfrm>
            <a:off x="7086600" y="4636008"/>
            <a:ext cx="4389120" cy="274320"/>
          </a:xfrm>
          <a:prstGeom prst="rect">
            <a:avLst/>
          </a:prstGeom>
          <a:noFill/>
          <a:ln/>
        </p:spPr>
        <p:txBody>
          <a:bodyPr wrap="square" lIns="0" tIns="0" rIns="0" bIns="0" rtlCol="0" anchor="t"/>
          <a:lstStyle/>
          <a:p>
            <a:pPr indent="0" marL="0">
              <a:buNone/>
            </a:pPr>
            <a:r>
              <a:rPr lang="en-US" sz="1150" dirty="0">
                <a:solidFill>
                  <a:srgbClr val="8A8984"/>
                </a:solidFill>
                <a:latin typeface="Calibri" pitchFamily="34" charset="0"/>
                <a:ea typeface="Calibri" pitchFamily="34" charset="-122"/>
                <a:cs typeface="Calibri" pitchFamily="34" charset="-120"/>
              </a:rPr>
              <a:t>HU07–HU08 · reconocer la conducta</a:t>
            </a:r>
            <a:endParaRPr lang="en-US" sz="1150" dirty="0"/>
          </a:p>
        </p:txBody>
      </p:sp>
      <p:sp>
        <p:nvSpPr>
          <p:cNvPr id="38" name="Text 35"/>
          <p:cNvSpPr/>
          <p:nvPr/>
        </p:nvSpPr>
        <p:spPr>
          <a:xfrm>
            <a:off x="5943600" y="5020056"/>
            <a:ext cx="1097280" cy="320040"/>
          </a:xfrm>
          <a:prstGeom prst="rect">
            <a:avLst/>
          </a:prstGeom>
          <a:noFill/>
          <a:ln/>
        </p:spPr>
        <p:txBody>
          <a:bodyPr wrap="square" lIns="0" tIns="0" rIns="0" bIns="0" rtlCol="0" anchor="t"/>
          <a:lstStyle/>
          <a:p>
            <a:pPr indent="0" marL="0">
              <a:buNone/>
            </a:pPr>
            <a:r>
              <a:rPr lang="en-US" sz="1400" b="1" dirty="0">
                <a:solidFill>
                  <a:srgbClr val="1A1A1A"/>
                </a:solidFill>
                <a:latin typeface="Calibri" pitchFamily="34" charset="0"/>
                <a:ea typeface="Calibri" pitchFamily="34" charset="-122"/>
                <a:cs typeface="Calibri" pitchFamily="34" charset="-120"/>
              </a:rPr>
              <a:t>Sprint 4</a:t>
            </a:r>
            <a:endParaRPr lang="en-US" sz="1400" dirty="0"/>
          </a:p>
        </p:txBody>
      </p:sp>
      <p:sp>
        <p:nvSpPr>
          <p:cNvPr id="39" name="Shape 36"/>
          <p:cNvSpPr/>
          <p:nvPr/>
        </p:nvSpPr>
        <p:spPr>
          <a:xfrm>
            <a:off x="7086600" y="5065776"/>
            <a:ext cx="2633472" cy="237744"/>
          </a:xfrm>
          <a:prstGeom prst="rect">
            <a:avLst/>
          </a:prstGeom>
          <a:solidFill>
            <a:srgbClr val="C2410C"/>
          </a:solidFill>
          <a:ln w="12700">
            <a:solidFill>
              <a:srgbClr val="C2410C"/>
            </a:solidFill>
            <a:prstDash val="solid"/>
          </a:ln>
        </p:spPr>
      </p:sp>
      <p:sp>
        <p:nvSpPr>
          <p:cNvPr id="40" name="Text 37"/>
          <p:cNvSpPr/>
          <p:nvPr/>
        </p:nvSpPr>
        <p:spPr>
          <a:xfrm>
            <a:off x="9811512" y="5020056"/>
            <a:ext cx="457200" cy="320040"/>
          </a:xfrm>
          <a:prstGeom prst="rect">
            <a:avLst/>
          </a:prstGeom>
          <a:noFill/>
          <a:ln/>
        </p:spPr>
        <p:txBody>
          <a:bodyPr wrap="square" lIns="0" tIns="0" rIns="0" bIns="0" rtlCol="0" anchor="t"/>
          <a:lstStyle/>
          <a:p>
            <a:pPr indent="0" marL="0">
              <a:buNone/>
            </a:pPr>
            <a:r>
              <a:rPr lang="en-US" sz="1400" b="1" dirty="0">
                <a:solidFill>
                  <a:srgbClr val="1A1A1A"/>
                </a:solidFill>
                <a:latin typeface="Calibri" pitchFamily="34" charset="0"/>
                <a:ea typeface="Calibri" pitchFamily="34" charset="-122"/>
                <a:cs typeface="Calibri" pitchFamily="34" charset="-120"/>
              </a:rPr>
              <a:t>8</a:t>
            </a:r>
            <a:endParaRPr lang="en-US" sz="1400" dirty="0"/>
          </a:p>
        </p:txBody>
      </p:sp>
      <p:sp>
        <p:nvSpPr>
          <p:cNvPr id="41" name="Text 38"/>
          <p:cNvSpPr/>
          <p:nvPr/>
        </p:nvSpPr>
        <p:spPr>
          <a:xfrm>
            <a:off x="7086600" y="5349240"/>
            <a:ext cx="4389120" cy="274320"/>
          </a:xfrm>
          <a:prstGeom prst="rect">
            <a:avLst/>
          </a:prstGeom>
          <a:noFill/>
          <a:ln/>
        </p:spPr>
        <p:txBody>
          <a:bodyPr wrap="square" lIns="0" tIns="0" rIns="0" bIns="0" rtlCol="0" anchor="t"/>
          <a:lstStyle/>
          <a:p>
            <a:pPr indent="0" marL="0">
              <a:buNone/>
            </a:pPr>
            <a:r>
              <a:rPr lang="en-US" sz="1150" dirty="0">
                <a:solidFill>
                  <a:srgbClr val="8A8984"/>
                </a:solidFill>
                <a:latin typeface="Calibri" pitchFamily="34" charset="0"/>
                <a:ea typeface="Calibri" pitchFamily="34" charset="-122"/>
                <a:cs typeface="Calibri" pitchFamily="34" charset="-120"/>
              </a:rPr>
              <a:t>HU09, HU10 y HU12 · alertas y reportes</a:t>
            </a:r>
            <a:endParaRPr lang="en-US" sz="1150" dirty="0"/>
          </a:p>
        </p:txBody>
      </p:sp>
      <p:sp>
        <p:nvSpPr>
          <p:cNvPr id="42" name="Text 39"/>
          <p:cNvSpPr/>
          <p:nvPr/>
        </p:nvSpPr>
        <p:spPr>
          <a:xfrm>
            <a:off x="731520" y="5989320"/>
            <a:ext cx="10728655" cy="274320"/>
          </a:xfrm>
          <a:prstGeom prst="rect">
            <a:avLst/>
          </a:prstGeom>
          <a:noFill/>
          <a:ln/>
        </p:spPr>
        <p:txBody>
          <a:bodyPr wrap="square" lIns="0" tIns="0" rIns="0" bIns="0" rtlCol="0" anchor="t"/>
          <a:lstStyle/>
          <a:p>
            <a:pPr indent="0" marL="0">
              <a:buNone/>
            </a:pPr>
            <a:r>
              <a:rPr lang="en-US" sz="1000" dirty="0">
                <a:solidFill>
                  <a:srgbClr val="8A8984"/>
                </a:solidFill>
                <a:latin typeface="Calibri" pitchFamily="34" charset="0"/>
                <a:ea typeface="Calibri" pitchFamily="34" charset="-122"/>
                <a:cs typeface="Calibri" pitchFamily="34" charset="-120"/>
              </a:rPr>
              <a:t>Fuente del método: SCRUMstudy (2022), pp. 76–78 y 166–172. Estado al 20/10/2026; la aceptación del PO es en la revisión del sprint.</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AF9"/>
        </a:solidFill>
      </p:bgPr>
    </p:bg>
    <p:spTree>
      <p:nvGrpSpPr>
        <p:cNvPr id="1" name=""/>
        <p:cNvGrpSpPr/>
        <p:nvPr/>
      </p:nvGrpSpPr>
      <p:grpSpPr>
        <a:xfrm>
          <a:off x="0" y="0"/>
          <a:ext cx="0" cy="0"/>
          <a:chOff x="0" y="0"/>
          <a:chExt cx="0" cy="0"/>
        </a:xfrm>
      </p:grpSpPr>
      <p:sp>
        <p:nvSpPr>
          <p:cNvPr id="2" name="Text 0"/>
          <p:cNvSpPr/>
          <p:nvPr/>
        </p:nvSpPr>
        <p:spPr>
          <a:xfrm>
            <a:off x="731520" y="502920"/>
            <a:ext cx="10058400" cy="274320"/>
          </a:xfrm>
          <a:prstGeom prst="rect">
            <a:avLst/>
          </a:prstGeom>
          <a:noFill/>
          <a:ln/>
        </p:spPr>
        <p:txBody>
          <a:bodyPr wrap="square" lIns="0" tIns="0" rIns="0" bIns="0" rtlCol="0" anchor="t"/>
          <a:lstStyle/>
          <a:p>
            <a:pPr indent="0" marL="0">
              <a:buNone/>
            </a:pPr>
            <a:r>
              <a:rPr lang="en-US" sz="1100" b="1" spc="150" kern="0" dirty="0">
                <a:solidFill>
                  <a:srgbClr val="3E63DD"/>
                </a:solidFill>
                <a:latin typeface="Calibri" pitchFamily="34" charset="0"/>
                <a:ea typeface="Calibri" pitchFamily="34" charset="-122"/>
                <a:cs typeface="Calibri" pitchFamily="34" charset="-120"/>
              </a:rPr>
              <a:t>SEMANA 5 · ESTIMACIÓN Y TABLERO</a:t>
            </a:r>
            <a:endParaRPr lang="en-US" sz="1100" dirty="0"/>
          </a:p>
        </p:txBody>
      </p:sp>
      <p:sp>
        <p:nvSpPr>
          <p:cNvPr id="3" name="Text 1"/>
          <p:cNvSpPr/>
          <p:nvPr/>
        </p:nvSpPr>
        <p:spPr>
          <a:xfrm>
            <a:off x="731520" y="777240"/>
            <a:ext cx="10698480" cy="822960"/>
          </a:xfrm>
          <a:prstGeom prst="rect">
            <a:avLst/>
          </a:prstGeom>
          <a:noFill/>
          <a:ln/>
        </p:spPr>
        <p:txBody>
          <a:bodyPr wrap="square" lIns="0" tIns="0" rIns="0" bIns="0" rtlCol="0" anchor="t"/>
          <a:lstStyle/>
          <a:p>
            <a:pPr indent="0" marL="0">
              <a:buNone/>
            </a:pPr>
            <a:r>
              <a:rPr lang="en-US" sz="3400" dirty="0">
                <a:solidFill>
                  <a:srgbClr val="1A1A1A"/>
                </a:solidFill>
                <a:latin typeface="Calibri Light" pitchFamily="34" charset="0"/>
                <a:ea typeface="Calibri Light" pitchFamily="34" charset="-122"/>
                <a:cs typeface="Calibri Light" pitchFamily="34" charset="-120"/>
              </a:rPr>
              <a:t>Estimamos con los dedos y seguimos con un tablero</a:t>
            </a:r>
            <a:endParaRPr lang="en-US" sz="3400" dirty="0"/>
          </a:p>
        </p:txBody>
      </p:sp>
      <p:sp>
        <p:nvSpPr>
          <p:cNvPr id="4" name="Text 2"/>
          <p:cNvSpPr/>
          <p:nvPr/>
        </p:nvSpPr>
        <p:spPr>
          <a:xfrm>
            <a:off x="731520" y="6355080"/>
            <a:ext cx="2743200" cy="228600"/>
          </a:xfrm>
          <a:prstGeom prst="rect">
            <a:avLst/>
          </a:prstGeom>
          <a:noFill/>
          <a:ln/>
        </p:spPr>
        <p:txBody>
          <a:bodyPr wrap="square" lIns="0" tIns="0" rIns="0" bIns="0" rtlCol="0" anchor="t"/>
          <a:lstStyle/>
          <a:p>
            <a:pPr indent="0" marL="0">
              <a:buNone/>
            </a:pPr>
            <a:r>
              <a:rPr lang="en-US" sz="1000" b="1" dirty="0">
                <a:solidFill>
                  <a:srgbClr val="8A8984"/>
                </a:solidFill>
                <a:latin typeface="Calibri" pitchFamily="34" charset="0"/>
                <a:ea typeface="Calibri" pitchFamily="34" charset="-122"/>
                <a:cs typeface="Calibri" pitchFamily="34" charset="-120"/>
              </a:rPr>
              <a:t>NewBit</a:t>
            </a:r>
            <a:endParaRPr lang="en-US" sz="1000" dirty="0"/>
          </a:p>
        </p:txBody>
      </p:sp>
      <p:sp>
        <p:nvSpPr>
          <p:cNvPr id="5" name="Text 3"/>
          <p:cNvSpPr/>
          <p:nvPr/>
        </p:nvSpPr>
        <p:spPr>
          <a:xfrm>
            <a:off x="1371600" y="6355080"/>
            <a:ext cx="4572000" cy="228600"/>
          </a:xfrm>
          <a:prstGeom prst="rect">
            <a:avLst/>
          </a:prstGeom>
          <a:noFill/>
          <a:ln/>
        </p:spPr>
        <p:txBody>
          <a:bodyPr wrap="square" lIns="0" tIns="0" rIns="0" bIns="0" rtlCol="0" anchor="t"/>
          <a:lstStyle/>
          <a:p>
            <a:pPr indent="0" marL="0">
              <a:buNone/>
            </a:pPr>
            <a:r>
              <a:rPr lang="en-US" sz="1000" dirty="0">
                <a:solidFill>
                  <a:srgbClr val="8A8984"/>
                </a:solidFill>
                <a:latin typeface="Calibri" pitchFamily="34" charset="0"/>
                <a:ea typeface="Calibri" pitchFamily="34" charset="-122"/>
                <a:cs typeface="Calibri" pitchFamily="34" charset="-120"/>
              </a:rPr>
              <a:t>Producto de la Unidad I · Grupo D3</a:t>
            </a:r>
            <a:endParaRPr lang="en-US" sz="1000" dirty="0"/>
          </a:p>
        </p:txBody>
      </p:sp>
      <p:sp>
        <p:nvSpPr>
          <p:cNvPr id="6" name="Text 4"/>
          <p:cNvSpPr/>
          <p:nvPr/>
        </p:nvSpPr>
        <p:spPr>
          <a:xfrm>
            <a:off x="10728655" y="6355080"/>
            <a:ext cx="731520" cy="228600"/>
          </a:xfrm>
          <a:prstGeom prst="rect">
            <a:avLst/>
          </a:prstGeom>
          <a:noFill/>
          <a:ln/>
        </p:spPr>
        <p:txBody>
          <a:bodyPr wrap="square" lIns="0" tIns="0" rIns="0" bIns="0" rtlCol="0" anchor="t"/>
          <a:lstStyle/>
          <a:p>
            <a:pPr algn="r" indent="0" marL="0">
              <a:buNone/>
            </a:pPr>
            <a:r>
              <a:rPr lang="en-US" sz="1000" dirty="0">
                <a:solidFill>
                  <a:srgbClr val="8A8984"/>
                </a:solidFill>
                <a:latin typeface="Calibri" pitchFamily="34" charset="0"/>
                <a:ea typeface="Calibri" pitchFamily="34" charset="-122"/>
                <a:cs typeface="Calibri" pitchFamily="34" charset="-120"/>
              </a:rPr>
              <a:t>23</a:t>
            </a:r>
            <a:endParaRPr lang="en-US" sz="1000" dirty="0"/>
          </a:p>
        </p:txBody>
      </p:sp>
      <p:pic>
        <p:nvPicPr>
          <p:cNvPr id="8" name="Image 0" descr="/Users/anthony/Documents/Projects/NewBit/curso/semana-06-producto-unidad-1/nuestras-entregas/PPT_Producto_Unidad_1_NewBit/img/iconos/mano-ink.png">    </p:cNvPr>
          <p:cNvPicPr>
            <a:picLocks noChangeAspect="1"/>
          </p:cNvPicPr>
          <p:nvPr/>
        </p:nvPicPr>
        <p:blipFill>
          <a:blip r:embed="rId1"/>
          <a:stretch>
            <a:fillRect/>
          </a:stretch>
        </p:blipFill>
        <p:spPr>
          <a:xfrm>
            <a:off x="731520" y="1874520"/>
            <a:ext cx="548640" cy="548640"/>
          </a:xfrm>
          <a:prstGeom prst="rect">
            <a:avLst/>
          </a:prstGeom>
        </p:spPr>
      </p:pic>
      <p:sp>
        <p:nvSpPr>
          <p:cNvPr id="9" name="Text 5"/>
          <p:cNvSpPr/>
          <p:nvPr/>
        </p:nvSpPr>
        <p:spPr>
          <a:xfrm>
            <a:off x="1463040" y="1920240"/>
            <a:ext cx="3657600" cy="457200"/>
          </a:xfrm>
          <a:prstGeom prst="rect">
            <a:avLst/>
          </a:prstGeom>
          <a:noFill/>
          <a:ln/>
        </p:spPr>
        <p:txBody>
          <a:bodyPr wrap="square" lIns="0" tIns="0" rIns="0" bIns="0" rtlCol="0" anchor="t"/>
          <a:lstStyle/>
          <a:p>
            <a:pPr indent="0" marL="0">
              <a:buNone/>
            </a:pPr>
            <a:r>
              <a:rPr lang="en-US" sz="2200" b="1" dirty="0">
                <a:solidFill>
                  <a:srgbClr val="1A1A1A"/>
                </a:solidFill>
                <a:latin typeface="Calibri" pitchFamily="34" charset="0"/>
                <a:ea typeface="Calibri" pitchFamily="34" charset="-122"/>
                <a:cs typeface="Calibri" pitchFamily="34" charset="-120"/>
              </a:rPr>
              <a:t>Puño de cinco</a:t>
            </a:r>
            <a:endParaRPr lang="en-US" sz="2200" dirty="0"/>
          </a:p>
        </p:txBody>
      </p:sp>
      <p:sp>
        <p:nvSpPr>
          <p:cNvPr id="10" name="Text 6"/>
          <p:cNvSpPr/>
          <p:nvPr/>
        </p:nvSpPr>
        <p:spPr>
          <a:xfrm>
            <a:off x="731520" y="2697480"/>
            <a:ext cx="365760" cy="365760"/>
          </a:xfrm>
          <a:prstGeom prst="rect">
            <a:avLst/>
          </a:prstGeom>
          <a:noFill/>
          <a:ln/>
        </p:spPr>
        <p:txBody>
          <a:bodyPr wrap="square" lIns="0" tIns="0" rIns="0" bIns="0" rtlCol="0" anchor="t"/>
          <a:lstStyle/>
          <a:p>
            <a:pPr indent="0" marL="0">
              <a:buNone/>
            </a:pPr>
            <a:r>
              <a:rPr lang="en-US" sz="1600" b="1" dirty="0">
                <a:solidFill>
                  <a:srgbClr val="3E63DD"/>
                </a:solidFill>
                <a:latin typeface="Calibri" pitchFamily="34" charset="0"/>
                <a:ea typeface="Calibri" pitchFamily="34" charset="-122"/>
                <a:cs typeface="Calibri" pitchFamily="34" charset="-120"/>
              </a:rPr>
              <a:t>1</a:t>
            </a:r>
            <a:endParaRPr lang="en-US" sz="1600" dirty="0"/>
          </a:p>
        </p:txBody>
      </p:sp>
      <p:sp>
        <p:nvSpPr>
          <p:cNvPr id="11" name="Text 7"/>
          <p:cNvSpPr/>
          <p:nvPr/>
        </p:nvSpPr>
        <p:spPr>
          <a:xfrm>
            <a:off x="1143000" y="2697480"/>
            <a:ext cx="4023360" cy="685800"/>
          </a:xfrm>
          <a:prstGeom prst="rect">
            <a:avLst/>
          </a:prstGeom>
          <a:noFill/>
          <a:ln/>
        </p:spPr>
        <p:txBody>
          <a:bodyPr wrap="square" lIns="0" tIns="0" rIns="0" bIns="0" rtlCol="0" anchor="t"/>
          <a:lstStyle/>
          <a:p>
            <a:pPr indent="0" marL="0">
              <a:buNone/>
            </a:pPr>
            <a:r>
              <a:rPr lang="en-US" sz="1500" dirty="0">
                <a:solidFill>
                  <a:srgbClr val="57534E"/>
                </a:solidFill>
                <a:latin typeface="Calibri" pitchFamily="34" charset="0"/>
                <a:ea typeface="Calibri" pitchFamily="34" charset="-122"/>
                <a:cs typeface="Calibri" pitchFamily="34" charset="-120"/>
              </a:rPr>
              <a:t>Todos muestran de 1 a 5 dedos a la vez: 1 es muy pequeña y 5, muy grande.</a:t>
            </a:r>
            <a:endParaRPr lang="en-US" sz="1500" dirty="0"/>
          </a:p>
        </p:txBody>
      </p:sp>
      <p:sp>
        <p:nvSpPr>
          <p:cNvPr id="12" name="Text 8"/>
          <p:cNvSpPr/>
          <p:nvPr/>
        </p:nvSpPr>
        <p:spPr>
          <a:xfrm>
            <a:off x="731520" y="3474720"/>
            <a:ext cx="365760" cy="365760"/>
          </a:xfrm>
          <a:prstGeom prst="rect">
            <a:avLst/>
          </a:prstGeom>
          <a:noFill/>
          <a:ln/>
        </p:spPr>
        <p:txBody>
          <a:bodyPr wrap="square" lIns="0" tIns="0" rIns="0" bIns="0" rtlCol="0" anchor="t"/>
          <a:lstStyle/>
          <a:p>
            <a:pPr indent="0" marL="0">
              <a:buNone/>
            </a:pPr>
            <a:r>
              <a:rPr lang="en-US" sz="1600" b="1" dirty="0">
                <a:solidFill>
                  <a:srgbClr val="3E63DD"/>
                </a:solidFill>
                <a:latin typeface="Calibri" pitchFamily="34" charset="0"/>
                <a:ea typeface="Calibri" pitchFamily="34" charset="-122"/>
                <a:cs typeface="Calibri" pitchFamily="34" charset="-120"/>
              </a:rPr>
              <a:t>2</a:t>
            </a:r>
            <a:endParaRPr lang="en-US" sz="1600" dirty="0"/>
          </a:p>
        </p:txBody>
      </p:sp>
      <p:sp>
        <p:nvSpPr>
          <p:cNvPr id="13" name="Text 9"/>
          <p:cNvSpPr/>
          <p:nvPr/>
        </p:nvSpPr>
        <p:spPr>
          <a:xfrm>
            <a:off x="1143000" y="3474720"/>
            <a:ext cx="4023360" cy="685800"/>
          </a:xfrm>
          <a:prstGeom prst="rect">
            <a:avLst/>
          </a:prstGeom>
          <a:noFill/>
          <a:ln/>
        </p:spPr>
        <p:txBody>
          <a:bodyPr wrap="square" lIns="0" tIns="0" rIns="0" bIns="0" rtlCol="0" anchor="t"/>
          <a:lstStyle/>
          <a:p>
            <a:pPr indent="0" marL="0">
              <a:buNone/>
            </a:pPr>
            <a:r>
              <a:rPr lang="en-US" sz="1500" dirty="0">
                <a:solidFill>
                  <a:srgbClr val="57534E"/>
                </a:solidFill>
                <a:latin typeface="Calibri" pitchFamily="34" charset="0"/>
                <a:ea typeface="Calibri" pitchFamily="34" charset="-122"/>
                <a:cs typeface="Calibri" pitchFamily="34" charset="-120"/>
              </a:rPr>
              <a:t>Quienes votaron en los extremos explican por qué.</a:t>
            </a:r>
            <a:endParaRPr lang="en-US" sz="1500" dirty="0"/>
          </a:p>
        </p:txBody>
      </p:sp>
      <p:sp>
        <p:nvSpPr>
          <p:cNvPr id="14" name="Text 10"/>
          <p:cNvSpPr/>
          <p:nvPr/>
        </p:nvSpPr>
        <p:spPr>
          <a:xfrm>
            <a:off x="731520" y="4251960"/>
            <a:ext cx="365760" cy="365760"/>
          </a:xfrm>
          <a:prstGeom prst="rect">
            <a:avLst/>
          </a:prstGeom>
          <a:noFill/>
          <a:ln/>
        </p:spPr>
        <p:txBody>
          <a:bodyPr wrap="square" lIns="0" tIns="0" rIns="0" bIns="0" rtlCol="0" anchor="t"/>
          <a:lstStyle/>
          <a:p>
            <a:pPr indent="0" marL="0">
              <a:buNone/>
            </a:pPr>
            <a:r>
              <a:rPr lang="en-US" sz="1600" b="1" dirty="0">
                <a:solidFill>
                  <a:srgbClr val="3E63DD"/>
                </a:solidFill>
                <a:latin typeface="Calibri" pitchFamily="34" charset="0"/>
                <a:ea typeface="Calibri" pitchFamily="34" charset="-122"/>
                <a:cs typeface="Calibri" pitchFamily="34" charset="-120"/>
              </a:rPr>
              <a:t>3</a:t>
            </a:r>
            <a:endParaRPr lang="en-US" sz="1600" dirty="0"/>
          </a:p>
        </p:txBody>
      </p:sp>
      <p:sp>
        <p:nvSpPr>
          <p:cNvPr id="15" name="Text 11"/>
          <p:cNvSpPr/>
          <p:nvPr/>
        </p:nvSpPr>
        <p:spPr>
          <a:xfrm>
            <a:off x="1143000" y="4251960"/>
            <a:ext cx="4023360" cy="685800"/>
          </a:xfrm>
          <a:prstGeom prst="rect">
            <a:avLst/>
          </a:prstGeom>
          <a:noFill/>
          <a:ln/>
        </p:spPr>
        <p:txBody>
          <a:bodyPr wrap="square" lIns="0" tIns="0" rIns="0" bIns="0" rtlCol="0" anchor="t"/>
          <a:lstStyle/>
          <a:p>
            <a:pPr indent="0" marL="0">
              <a:buNone/>
            </a:pPr>
            <a:r>
              <a:rPr lang="en-US" sz="1500" dirty="0">
                <a:solidFill>
                  <a:srgbClr val="57534E"/>
                </a:solidFill>
                <a:latin typeface="Calibri" pitchFamily="34" charset="0"/>
                <a:ea typeface="Calibri" pitchFamily="34" charset="-122"/>
                <a:cs typeface="Calibri" pitchFamily="34" charset="-120"/>
              </a:rPr>
              <a:t>Se vuelve a votar hasta acordar el tamaño.</a:t>
            </a:r>
            <a:endParaRPr lang="en-US" sz="1500" dirty="0"/>
          </a:p>
        </p:txBody>
      </p:sp>
      <p:sp>
        <p:nvSpPr>
          <p:cNvPr id="16" name="Text 12"/>
          <p:cNvSpPr/>
          <p:nvPr/>
        </p:nvSpPr>
        <p:spPr>
          <a:xfrm>
            <a:off x="731520" y="5120640"/>
            <a:ext cx="4572000" cy="548640"/>
          </a:xfrm>
          <a:prstGeom prst="rect">
            <a:avLst/>
          </a:prstGeom>
          <a:noFill/>
          <a:ln/>
        </p:spPr>
        <p:txBody>
          <a:bodyPr wrap="square" lIns="0" tIns="0" rIns="0" bIns="0" rtlCol="0" anchor="t"/>
          <a:lstStyle/>
          <a:p>
            <a:pPr indent="0" marL="0">
              <a:buNone/>
            </a:pPr>
            <a:r>
              <a:rPr lang="en-US" sz="1400" b="1" dirty="0">
                <a:solidFill>
                  <a:srgbClr val="1A1A1A"/>
                </a:solidFill>
                <a:latin typeface="Calibri" pitchFamily="34" charset="0"/>
                <a:ea typeface="Calibri" pitchFamily="34" charset="-122"/>
                <a:cs typeface="Calibri" pitchFamily="34" charset="-120"/>
              </a:rPr>
              <a:t>La épica más grande resultó la EP04: reconocer la conducta.</a:t>
            </a:r>
            <a:endParaRPr lang="en-US" sz="1400" dirty="0"/>
          </a:p>
        </p:txBody>
      </p:sp>
      <p:pic>
        <p:nvPicPr>
          <p:cNvPr id="17" name="Image 1" descr="/Users/anthony/Documents/Projects/NewBit/curso/semana-06-producto-unidad-1/nuestras-entregas/PPT_Producto_Unidad_1_NewBit/img/scrumboard-sprint1.png">    </p:cNvPr>
          <p:cNvPicPr>
            <a:picLocks noChangeAspect="1"/>
          </p:cNvPicPr>
          <p:nvPr/>
        </p:nvPicPr>
        <p:blipFill>
          <a:blip r:embed="rId2"/>
          <a:stretch>
            <a:fillRect/>
          </a:stretch>
        </p:blipFill>
        <p:spPr>
          <a:xfrm>
            <a:off x="5715000" y="1828800"/>
            <a:ext cx="5742432" cy="3227832"/>
          </a:xfrm>
          <a:prstGeom prst="rect">
            <a:avLst/>
          </a:prstGeom>
        </p:spPr>
      </p:pic>
      <p:sp>
        <p:nvSpPr>
          <p:cNvPr id="18" name="Shape 13"/>
          <p:cNvSpPr/>
          <p:nvPr/>
        </p:nvSpPr>
        <p:spPr>
          <a:xfrm>
            <a:off x="5715000" y="1828800"/>
            <a:ext cx="5742432" cy="3227832"/>
          </a:xfrm>
          <a:prstGeom prst="rect">
            <a:avLst/>
          </a:prstGeom>
          <a:ln w="9525">
            <a:solidFill>
              <a:srgbClr val="E7E5E4"/>
            </a:solidFill>
            <a:prstDash val="solid"/>
          </a:ln>
        </p:spPr>
      </p:sp>
      <p:sp>
        <p:nvSpPr>
          <p:cNvPr id="19" name="Text 14"/>
          <p:cNvSpPr/>
          <p:nvPr/>
        </p:nvSpPr>
        <p:spPr>
          <a:xfrm>
            <a:off x="5715000" y="5138928"/>
            <a:ext cx="5760720" cy="274320"/>
          </a:xfrm>
          <a:prstGeom prst="rect">
            <a:avLst/>
          </a:prstGeom>
          <a:noFill/>
          <a:ln/>
        </p:spPr>
        <p:txBody>
          <a:bodyPr wrap="square" lIns="0" tIns="0" rIns="0" bIns="0" rtlCol="0" anchor="t"/>
          <a:lstStyle/>
          <a:p>
            <a:pPr indent="0" marL="0">
              <a:buNone/>
            </a:pPr>
            <a:r>
              <a:rPr lang="en-US" sz="1200" dirty="0">
                <a:solidFill>
                  <a:srgbClr val="8A8984"/>
                </a:solidFill>
                <a:latin typeface="Calibri" pitchFamily="34" charset="0"/>
                <a:ea typeface="Calibri" pitchFamily="34" charset="-122"/>
                <a:cs typeface="Calibri" pitchFamily="34" charset="-120"/>
              </a:rPr>
              <a:t>Scrumboard del Sprint 1 como se planificó en la semana 5. Su estado de hoy: lámina 28.</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AF9"/>
        </a:solidFill>
      </p:bgPr>
    </p:bg>
    <p:spTree>
      <p:nvGrpSpPr>
        <p:cNvPr id="1" name=""/>
        <p:cNvGrpSpPr/>
        <p:nvPr/>
      </p:nvGrpSpPr>
      <p:grpSpPr>
        <a:xfrm>
          <a:off x="0" y="0"/>
          <a:ext cx="0" cy="0"/>
          <a:chOff x="0" y="0"/>
          <a:chExt cx="0" cy="0"/>
        </a:xfrm>
      </p:grpSpPr>
      <p:sp>
        <p:nvSpPr>
          <p:cNvPr id="2" name="Text 0"/>
          <p:cNvSpPr/>
          <p:nvPr/>
        </p:nvSpPr>
        <p:spPr>
          <a:xfrm>
            <a:off x="731520" y="502920"/>
            <a:ext cx="10058400" cy="274320"/>
          </a:xfrm>
          <a:prstGeom prst="rect">
            <a:avLst/>
          </a:prstGeom>
          <a:noFill/>
          <a:ln/>
        </p:spPr>
        <p:txBody>
          <a:bodyPr wrap="square" lIns="0" tIns="0" rIns="0" bIns="0" rtlCol="0" anchor="t"/>
          <a:lstStyle/>
          <a:p>
            <a:pPr indent="0" marL="0">
              <a:buNone/>
            </a:pPr>
            <a:r>
              <a:rPr lang="en-US" sz="1100" b="1" spc="150" kern="0" dirty="0">
                <a:solidFill>
                  <a:srgbClr val="3E63DD"/>
                </a:solidFill>
                <a:latin typeface="Calibri" pitchFamily="34" charset="0"/>
                <a:ea typeface="Calibri" pitchFamily="34" charset="-122"/>
                <a:cs typeface="Calibri" pitchFamily="34" charset="-120"/>
              </a:rPr>
              <a:t>SEMANA 5 · CRITERIOS DE TERMINADO (FGAP070)</a:t>
            </a:r>
            <a:endParaRPr lang="en-US" sz="1100" dirty="0"/>
          </a:p>
        </p:txBody>
      </p:sp>
      <p:sp>
        <p:nvSpPr>
          <p:cNvPr id="3" name="Text 1"/>
          <p:cNvSpPr/>
          <p:nvPr/>
        </p:nvSpPr>
        <p:spPr>
          <a:xfrm>
            <a:off x="731520" y="777240"/>
            <a:ext cx="10698480" cy="822960"/>
          </a:xfrm>
          <a:prstGeom prst="rect">
            <a:avLst/>
          </a:prstGeom>
          <a:noFill/>
          <a:ln/>
        </p:spPr>
        <p:txBody>
          <a:bodyPr wrap="square" lIns="0" tIns="0" rIns="0" bIns="0" rtlCol="0" anchor="t"/>
          <a:lstStyle/>
          <a:p>
            <a:pPr indent="0" marL="0">
              <a:buNone/>
            </a:pPr>
            <a:r>
              <a:rPr lang="en-US" sz="3400" dirty="0">
                <a:solidFill>
                  <a:srgbClr val="1A1A1A"/>
                </a:solidFill>
                <a:latin typeface="Calibri Light" pitchFamily="34" charset="0"/>
                <a:ea typeface="Calibri Light" pitchFamily="34" charset="-122"/>
                <a:cs typeface="Calibri Light" pitchFamily="34" charset="-120"/>
              </a:rPr>
              <a:t>¿Cuándo algo está realmente terminado?</a:t>
            </a:r>
            <a:endParaRPr lang="en-US" sz="3400" dirty="0"/>
          </a:p>
        </p:txBody>
      </p:sp>
      <p:sp>
        <p:nvSpPr>
          <p:cNvPr id="4" name="Text 2"/>
          <p:cNvSpPr/>
          <p:nvPr/>
        </p:nvSpPr>
        <p:spPr>
          <a:xfrm>
            <a:off x="731520" y="6355080"/>
            <a:ext cx="2743200" cy="228600"/>
          </a:xfrm>
          <a:prstGeom prst="rect">
            <a:avLst/>
          </a:prstGeom>
          <a:noFill/>
          <a:ln/>
        </p:spPr>
        <p:txBody>
          <a:bodyPr wrap="square" lIns="0" tIns="0" rIns="0" bIns="0" rtlCol="0" anchor="t"/>
          <a:lstStyle/>
          <a:p>
            <a:pPr indent="0" marL="0">
              <a:buNone/>
            </a:pPr>
            <a:r>
              <a:rPr lang="en-US" sz="1000" b="1" dirty="0">
                <a:solidFill>
                  <a:srgbClr val="8A8984"/>
                </a:solidFill>
                <a:latin typeface="Calibri" pitchFamily="34" charset="0"/>
                <a:ea typeface="Calibri" pitchFamily="34" charset="-122"/>
                <a:cs typeface="Calibri" pitchFamily="34" charset="-120"/>
              </a:rPr>
              <a:t>NewBit</a:t>
            </a:r>
            <a:endParaRPr lang="en-US" sz="1000" dirty="0"/>
          </a:p>
        </p:txBody>
      </p:sp>
      <p:sp>
        <p:nvSpPr>
          <p:cNvPr id="5" name="Text 3"/>
          <p:cNvSpPr/>
          <p:nvPr/>
        </p:nvSpPr>
        <p:spPr>
          <a:xfrm>
            <a:off x="1371600" y="6355080"/>
            <a:ext cx="4572000" cy="228600"/>
          </a:xfrm>
          <a:prstGeom prst="rect">
            <a:avLst/>
          </a:prstGeom>
          <a:noFill/>
          <a:ln/>
        </p:spPr>
        <p:txBody>
          <a:bodyPr wrap="square" lIns="0" tIns="0" rIns="0" bIns="0" rtlCol="0" anchor="t"/>
          <a:lstStyle/>
          <a:p>
            <a:pPr indent="0" marL="0">
              <a:buNone/>
            </a:pPr>
            <a:r>
              <a:rPr lang="en-US" sz="1000" dirty="0">
                <a:solidFill>
                  <a:srgbClr val="8A8984"/>
                </a:solidFill>
                <a:latin typeface="Calibri" pitchFamily="34" charset="0"/>
                <a:ea typeface="Calibri" pitchFamily="34" charset="-122"/>
                <a:cs typeface="Calibri" pitchFamily="34" charset="-120"/>
              </a:rPr>
              <a:t>Producto de la Unidad I · Grupo D3</a:t>
            </a:r>
            <a:endParaRPr lang="en-US" sz="1000" dirty="0"/>
          </a:p>
        </p:txBody>
      </p:sp>
      <p:sp>
        <p:nvSpPr>
          <p:cNvPr id="6" name="Text 4"/>
          <p:cNvSpPr/>
          <p:nvPr/>
        </p:nvSpPr>
        <p:spPr>
          <a:xfrm>
            <a:off x="10728655" y="6355080"/>
            <a:ext cx="731520" cy="228600"/>
          </a:xfrm>
          <a:prstGeom prst="rect">
            <a:avLst/>
          </a:prstGeom>
          <a:noFill/>
          <a:ln/>
        </p:spPr>
        <p:txBody>
          <a:bodyPr wrap="square" lIns="0" tIns="0" rIns="0" bIns="0" rtlCol="0" anchor="t"/>
          <a:lstStyle/>
          <a:p>
            <a:pPr algn="r" indent="0" marL="0">
              <a:buNone/>
            </a:pPr>
            <a:r>
              <a:rPr lang="en-US" sz="1000" dirty="0">
                <a:solidFill>
                  <a:srgbClr val="8A8984"/>
                </a:solidFill>
                <a:latin typeface="Calibri" pitchFamily="34" charset="0"/>
                <a:ea typeface="Calibri" pitchFamily="34" charset="-122"/>
                <a:cs typeface="Calibri" pitchFamily="34" charset="-120"/>
              </a:rPr>
              <a:t>24</a:t>
            </a:r>
            <a:endParaRPr lang="en-US" sz="1000" dirty="0"/>
          </a:p>
        </p:txBody>
      </p:sp>
      <p:sp>
        <p:nvSpPr>
          <p:cNvPr id="8" name="Shape 5"/>
          <p:cNvSpPr/>
          <p:nvPr/>
        </p:nvSpPr>
        <p:spPr>
          <a:xfrm>
            <a:off x="731520" y="1828800"/>
            <a:ext cx="5166360" cy="3749040"/>
          </a:xfrm>
          <a:prstGeom prst="roundRect">
            <a:avLst>
              <a:gd name="adj" fmla="val 1951"/>
            </a:avLst>
          </a:prstGeom>
          <a:solidFill>
            <a:srgbClr val="FFFFFF"/>
          </a:solidFill>
          <a:ln w="9525">
            <a:solidFill>
              <a:srgbClr val="E7E5E4"/>
            </a:solidFill>
            <a:prstDash val="solid"/>
          </a:ln>
        </p:spPr>
      </p:sp>
      <p:sp>
        <p:nvSpPr>
          <p:cNvPr id="9" name="Text 6"/>
          <p:cNvSpPr/>
          <p:nvPr/>
        </p:nvSpPr>
        <p:spPr>
          <a:xfrm>
            <a:off x="1097280" y="2103120"/>
            <a:ext cx="4572000" cy="274320"/>
          </a:xfrm>
          <a:prstGeom prst="rect">
            <a:avLst/>
          </a:prstGeom>
          <a:noFill/>
          <a:ln/>
        </p:spPr>
        <p:txBody>
          <a:bodyPr wrap="square" lIns="0" tIns="0" rIns="0" bIns="0" rtlCol="0" anchor="t"/>
          <a:lstStyle/>
          <a:p>
            <a:pPr indent="0" marL="0">
              <a:buNone/>
            </a:pPr>
            <a:r>
              <a:rPr lang="en-US" sz="1100" b="1" spc="100" kern="0" dirty="0">
                <a:solidFill>
                  <a:srgbClr val="8A8984"/>
                </a:solidFill>
                <a:latin typeface="Calibri" pitchFamily="34" charset="0"/>
                <a:ea typeface="Calibri" pitchFamily="34" charset="-122"/>
                <a:cs typeface="Calibri" pitchFamily="34" charset="-120"/>
              </a:rPr>
              <a:t>CRITERIOS DE ACEPTACIÓN</a:t>
            </a:r>
            <a:endParaRPr lang="en-US" sz="1100" dirty="0"/>
          </a:p>
        </p:txBody>
      </p:sp>
      <p:sp>
        <p:nvSpPr>
          <p:cNvPr id="10" name="Text 7"/>
          <p:cNvSpPr/>
          <p:nvPr/>
        </p:nvSpPr>
        <p:spPr>
          <a:xfrm>
            <a:off x="1097280" y="2423160"/>
            <a:ext cx="4572000" cy="548640"/>
          </a:xfrm>
          <a:prstGeom prst="rect">
            <a:avLst/>
          </a:prstGeom>
          <a:noFill/>
          <a:ln/>
        </p:spPr>
        <p:txBody>
          <a:bodyPr wrap="square" lIns="0" tIns="0" rIns="0" bIns="0" rtlCol="0" anchor="t"/>
          <a:lstStyle/>
          <a:p>
            <a:pPr indent="0" marL="0">
              <a:buNone/>
            </a:pPr>
            <a:r>
              <a:rPr lang="en-US" sz="2800" dirty="0">
                <a:solidFill>
                  <a:srgbClr val="1A1A1A"/>
                </a:solidFill>
                <a:latin typeface="Calibri Light" pitchFamily="34" charset="0"/>
                <a:ea typeface="Calibri Light" pitchFamily="34" charset="-122"/>
                <a:cs typeface="Calibri Light" pitchFamily="34" charset="-120"/>
              </a:rPr>
              <a:t>Uno por historia</a:t>
            </a:r>
            <a:endParaRPr lang="en-US" sz="2800" dirty="0"/>
          </a:p>
        </p:txBody>
      </p:sp>
      <p:sp>
        <p:nvSpPr>
          <p:cNvPr id="11" name="Text 8"/>
          <p:cNvSpPr/>
          <p:nvPr/>
        </p:nvSpPr>
        <p:spPr>
          <a:xfrm>
            <a:off x="1097280" y="3108960"/>
            <a:ext cx="4434840" cy="1463040"/>
          </a:xfrm>
          <a:prstGeom prst="rect">
            <a:avLst/>
          </a:prstGeom>
          <a:noFill/>
          <a:ln/>
        </p:spPr>
        <p:txBody>
          <a:bodyPr wrap="square" lIns="0" tIns="0" rIns="0" bIns="0" rtlCol="0" anchor="t"/>
          <a:lstStyle/>
          <a:p>
            <a:pPr indent="0" marL="0">
              <a:buNone/>
            </a:pPr>
            <a:r>
              <a:rPr lang="en-US" sz="1500" dirty="0">
                <a:solidFill>
                  <a:srgbClr val="57534E"/>
                </a:solidFill>
                <a:latin typeface="Calibri" pitchFamily="34" charset="0"/>
                <a:ea typeface="Calibri" pitchFamily="34" charset="-122"/>
                <a:cs typeface="Calibri" pitchFamily="34" charset="-120"/>
              </a:rPr>
              <a:t>Los define el Product Owner. Ejemplo, HU01: acepta .mp4 y .avi, y muestra la duración y la resolución del video.</a:t>
            </a:r>
            <a:endParaRPr lang="en-US" sz="1500" dirty="0"/>
          </a:p>
        </p:txBody>
      </p:sp>
      <p:sp>
        <p:nvSpPr>
          <p:cNvPr id="12" name="Shape 9"/>
          <p:cNvSpPr/>
          <p:nvPr/>
        </p:nvSpPr>
        <p:spPr>
          <a:xfrm>
            <a:off x="6291072" y="1828800"/>
            <a:ext cx="5166360" cy="3749040"/>
          </a:xfrm>
          <a:prstGeom prst="roundRect">
            <a:avLst>
              <a:gd name="adj" fmla="val 1951"/>
            </a:avLst>
          </a:prstGeom>
          <a:solidFill>
            <a:srgbClr val="EEF2FF"/>
          </a:solidFill>
          <a:ln w="9525">
            <a:solidFill>
              <a:srgbClr val="C7D2FE"/>
            </a:solidFill>
            <a:prstDash val="solid"/>
          </a:ln>
        </p:spPr>
      </p:sp>
      <p:sp>
        <p:nvSpPr>
          <p:cNvPr id="13" name="Text 10"/>
          <p:cNvSpPr/>
          <p:nvPr/>
        </p:nvSpPr>
        <p:spPr>
          <a:xfrm>
            <a:off x="6656832" y="2103120"/>
            <a:ext cx="4572000" cy="274320"/>
          </a:xfrm>
          <a:prstGeom prst="rect">
            <a:avLst/>
          </a:prstGeom>
          <a:noFill/>
          <a:ln/>
        </p:spPr>
        <p:txBody>
          <a:bodyPr wrap="square" lIns="0" tIns="0" rIns="0" bIns="0" rtlCol="0" anchor="t"/>
          <a:lstStyle/>
          <a:p>
            <a:pPr indent="0" marL="0">
              <a:buNone/>
            </a:pPr>
            <a:r>
              <a:rPr lang="en-US" sz="1100" b="1" spc="100" kern="0" dirty="0">
                <a:solidFill>
                  <a:srgbClr val="3E63DD"/>
                </a:solidFill>
                <a:latin typeface="Calibri" pitchFamily="34" charset="0"/>
                <a:ea typeface="Calibri" pitchFamily="34" charset="-122"/>
                <a:cs typeface="Calibri" pitchFamily="34" charset="-120"/>
              </a:rPr>
              <a:t>CRITERIOS DE TERMINADO</a:t>
            </a:r>
            <a:endParaRPr lang="en-US" sz="1100" dirty="0"/>
          </a:p>
        </p:txBody>
      </p:sp>
      <p:sp>
        <p:nvSpPr>
          <p:cNvPr id="14" name="Text 11"/>
          <p:cNvSpPr/>
          <p:nvPr/>
        </p:nvSpPr>
        <p:spPr>
          <a:xfrm>
            <a:off x="6656832" y="2423160"/>
            <a:ext cx="4572000" cy="548640"/>
          </a:xfrm>
          <a:prstGeom prst="rect">
            <a:avLst/>
          </a:prstGeom>
          <a:noFill/>
          <a:ln/>
        </p:spPr>
        <p:txBody>
          <a:bodyPr wrap="square" lIns="0" tIns="0" rIns="0" bIns="0" rtlCol="0" anchor="t"/>
          <a:lstStyle/>
          <a:p>
            <a:pPr indent="0" marL="0">
              <a:buNone/>
            </a:pPr>
            <a:r>
              <a:rPr lang="en-US" sz="2800" dirty="0">
                <a:solidFill>
                  <a:srgbClr val="1A1A1A"/>
                </a:solidFill>
                <a:latin typeface="Calibri Light" pitchFamily="34" charset="0"/>
                <a:ea typeface="Calibri Light" pitchFamily="34" charset="-122"/>
                <a:cs typeface="Calibri Light" pitchFamily="34" charset="-120"/>
              </a:rPr>
              <a:t>Iguales para todas</a:t>
            </a:r>
            <a:endParaRPr lang="en-US" sz="2800" dirty="0"/>
          </a:p>
        </p:txBody>
      </p:sp>
      <p:pic>
        <p:nvPicPr>
          <p:cNvPr id="15" name="Image 0" descr="/Users/anthony/Documents/Projects/NewBit/curso/semana-06-producto-unidad-1/nuestras-entregas/PPT_Producto_Unidad_1_NewBit/img/iconos/seguro-azul.png">    </p:cNvPr>
          <p:cNvPicPr>
            <a:picLocks noChangeAspect="1"/>
          </p:cNvPicPr>
          <p:nvPr/>
        </p:nvPicPr>
        <p:blipFill>
          <a:blip r:embed="rId1"/>
          <a:stretch>
            <a:fillRect/>
          </a:stretch>
        </p:blipFill>
        <p:spPr>
          <a:xfrm>
            <a:off x="6656832" y="3154680"/>
            <a:ext cx="274320" cy="274320"/>
          </a:xfrm>
          <a:prstGeom prst="rect">
            <a:avLst/>
          </a:prstGeom>
        </p:spPr>
      </p:pic>
      <p:sp>
        <p:nvSpPr>
          <p:cNvPr id="16" name="Text 12"/>
          <p:cNvSpPr/>
          <p:nvPr/>
        </p:nvSpPr>
        <p:spPr>
          <a:xfrm>
            <a:off x="7040880" y="3172968"/>
            <a:ext cx="4206240" cy="320040"/>
          </a:xfrm>
          <a:prstGeom prst="rect">
            <a:avLst/>
          </a:prstGeom>
          <a:noFill/>
          <a:ln/>
        </p:spPr>
        <p:txBody>
          <a:bodyPr wrap="square" lIns="0" tIns="0" rIns="0" bIns="0" rtlCol="0" anchor="t"/>
          <a:lstStyle/>
          <a:p>
            <a:pPr indent="0" marL="0">
              <a:buNone/>
            </a:pPr>
            <a:r>
              <a:rPr lang="en-US" sz="1450" dirty="0">
                <a:solidFill>
                  <a:srgbClr val="1A1A1A"/>
                </a:solidFill>
                <a:latin typeface="Calibri" pitchFamily="34" charset="0"/>
                <a:ea typeface="Calibri" pitchFamily="34" charset="-122"/>
                <a:cs typeface="Calibri" pitchFamily="34" charset="-120"/>
              </a:rPr>
              <a:t>Pruebas unitarias e integradas</a:t>
            </a:r>
            <a:endParaRPr lang="en-US" sz="1450" dirty="0"/>
          </a:p>
        </p:txBody>
      </p:sp>
      <p:pic>
        <p:nvPicPr>
          <p:cNvPr id="17" name="Image 1" descr="/Users/anthony/Documents/Projects/NewBit/curso/semana-06-producto-unidad-1/nuestras-entregas/PPT_Producto_Unidad_1_NewBit/img/iconos/seguro-azul.png">    </p:cNvPr>
          <p:cNvPicPr>
            <a:picLocks noChangeAspect="1"/>
          </p:cNvPicPr>
          <p:nvPr/>
        </p:nvPicPr>
        <p:blipFill>
          <a:blip r:embed="rId2"/>
          <a:stretch>
            <a:fillRect/>
          </a:stretch>
        </p:blipFill>
        <p:spPr>
          <a:xfrm>
            <a:off x="6656832" y="3611880"/>
            <a:ext cx="274320" cy="274320"/>
          </a:xfrm>
          <a:prstGeom prst="rect">
            <a:avLst/>
          </a:prstGeom>
        </p:spPr>
      </p:pic>
      <p:sp>
        <p:nvSpPr>
          <p:cNvPr id="18" name="Text 13"/>
          <p:cNvSpPr/>
          <p:nvPr/>
        </p:nvSpPr>
        <p:spPr>
          <a:xfrm>
            <a:off x="7040880" y="3630168"/>
            <a:ext cx="4206240" cy="320040"/>
          </a:xfrm>
          <a:prstGeom prst="rect">
            <a:avLst/>
          </a:prstGeom>
          <a:noFill/>
          <a:ln/>
        </p:spPr>
        <p:txBody>
          <a:bodyPr wrap="square" lIns="0" tIns="0" rIns="0" bIns="0" rtlCol="0" anchor="t"/>
          <a:lstStyle/>
          <a:p>
            <a:pPr indent="0" marL="0">
              <a:buNone/>
            </a:pPr>
            <a:r>
              <a:rPr lang="en-US" sz="1450" dirty="0">
                <a:solidFill>
                  <a:srgbClr val="1A1A1A"/>
                </a:solidFill>
                <a:latin typeface="Calibri" pitchFamily="34" charset="0"/>
                <a:ea typeface="Calibri" pitchFamily="34" charset="-122"/>
                <a:cs typeface="Calibri" pitchFamily="34" charset="-120"/>
              </a:rPr>
              <a:t>Revisión de código entre pares</a:t>
            </a:r>
            <a:endParaRPr lang="en-US" sz="1450" dirty="0"/>
          </a:p>
        </p:txBody>
      </p:sp>
      <p:pic>
        <p:nvPicPr>
          <p:cNvPr id="19" name="Image 2" descr="/Users/anthony/Documents/Projects/NewBit/curso/semana-06-producto-unidad-1/nuestras-entregas/PPT_Producto_Unidad_1_NewBit/img/iconos/seguro-azul.png">    </p:cNvPr>
          <p:cNvPicPr>
            <a:picLocks noChangeAspect="1"/>
          </p:cNvPicPr>
          <p:nvPr/>
        </p:nvPicPr>
        <p:blipFill>
          <a:blip r:embed="rId3"/>
          <a:stretch>
            <a:fillRect/>
          </a:stretch>
        </p:blipFill>
        <p:spPr>
          <a:xfrm>
            <a:off x="6656832" y="4069080"/>
            <a:ext cx="274320" cy="274320"/>
          </a:xfrm>
          <a:prstGeom prst="rect">
            <a:avLst/>
          </a:prstGeom>
        </p:spPr>
      </p:pic>
      <p:sp>
        <p:nvSpPr>
          <p:cNvPr id="20" name="Text 14"/>
          <p:cNvSpPr/>
          <p:nvPr/>
        </p:nvSpPr>
        <p:spPr>
          <a:xfrm>
            <a:off x="7040880" y="4087368"/>
            <a:ext cx="4206240" cy="320040"/>
          </a:xfrm>
          <a:prstGeom prst="rect">
            <a:avLst/>
          </a:prstGeom>
          <a:noFill/>
          <a:ln/>
        </p:spPr>
        <p:txBody>
          <a:bodyPr wrap="square" lIns="0" tIns="0" rIns="0" bIns="0" rtlCol="0" anchor="t"/>
          <a:lstStyle/>
          <a:p>
            <a:pPr indent="0" marL="0">
              <a:buNone/>
            </a:pPr>
            <a:r>
              <a:rPr lang="en-US" sz="1450" dirty="0">
                <a:solidFill>
                  <a:srgbClr val="1A1A1A"/>
                </a:solidFill>
                <a:latin typeface="Calibri" pitchFamily="34" charset="0"/>
                <a:ea typeface="Calibri" pitchFamily="34" charset="-122"/>
                <a:cs typeface="Calibri" pitchFamily="34" charset="-120"/>
              </a:rPr>
              <a:t>Documentación de datos, modelo y métricas</a:t>
            </a:r>
            <a:endParaRPr lang="en-US" sz="1450" dirty="0"/>
          </a:p>
        </p:txBody>
      </p:sp>
      <p:pic>
        <p:nvPicPr>
          <p:cNvPr id="21" name="Image 3" descr="/Users/anthony/Documents/Projects/NewBit/curso/semana-06-producto-unidad-1/nuestras-entregas/PPT_Producto_Unidad_1_NewBit/img/iconos/seguro-azul.png">    </p:cNvPr>
          <p:cNvPicPr>
            <a:picLocks noChangeAspect="1"/>
          </p:cNvPicPr>
          <p:nvPr/>
        </p:nvPicPr>
        <p:blipFill>
          <a:blip r:embed="rId4"/>
          <a:stretch>
            <a:fillRect/>
          </a:stretch>
        </p:blipFill>
        <p:spPr>
          <a:xfrm>
            <a:off x="6656832" y="4526280"/>
            <a:ext cx="274320" cy="274320"/>
          </a:xfrm>
          <a:prstGeom prst="rect">
            <a:avLst/>
          </a:prstGeom>
        </p:spPr>
      </p:pic>
      <p:sp>
        <p:nvSpPr>
          <p:cNvPr id="22" name="Text 15"/>
          <p:cNvSpPr/>
          <p:nvPr/>
        </p:nvSpPr>
        <p:spPr>
          <a:xfrm>
            <a:off x="7040880" y="4544568"/>
            <a:ext cx="4206240" cy="320040"/>
          </a:xfrm>
          <a:prstGeom prst="rect">
            <a:avLst/>
          </a:prstGeom>
          <a:noFill/>
          <a:ln/>
        </p:spPr>
        <p:txBody>
          <a:bodyPr wrap="square" lIns="0" tIns="0" rIns="0" bIns="0" rtlCol="0" anchor="t"/>
          <a:lstStyle/>
          <a:p>
            <a:pPr indent="0" marL="0">
              <a:buNone/>
            </a:pPr>
            <a:r>
              <a:rPr lang="en-US" sz="1450" dirty="0">
                <a:solidFill>
                  <a:srgbClr val="1A1A1A"/>
                </a:solidFill>
                <a:latin typeface="Calibri" pitchFamily="34" charset="0"/>
                <a:ea typeface="Calibri" pitchFamily="34" charset="-122"/>
                <a:cs typeface="Calibri" pitchFamily="34" charset="-120"/>
              </a:rPr>
              <a:t>Aprobación técnica y del Product Owner</a:t>
            </a:r>
            <a:endParaRPr lang="en-US" sz="1450" dirty="0"/>
          </a:p>
        </p:txBody>
      </p:sp>
      <p:pic>
        <p:nvPicPr>
          <p:cNvPr id="23" name="Image 4" descr="/Users/anthony/Documents/Projects/NewBit/curso/semana-06-producto-unidad-1/nuestras-entregas/PPT_Producto_Unidad_1_NewBit/img/iconos/seguro-azul.png">    </p:cNvPr>
          <p:cNvPicPr>
            <a:picLocks noChangeAspect="1"/>
          </p:cNvPicPr>
          <p:nvPr/>
        </p:nvPicPr>
        <p:blipFill>
          <a:blip r:embed="rId5"/>
          <a:stretch>
            <a:fillRect/>
          </a:stretch>
        </p:blipFill>
        <p:spPr>
          <a:xfrm>
            <a:off x="6656832" y="4983480"/>
            <a:ext cx="274320" cy="274320"/>
          </a:xfrm>
          <a:prstGeom prst="rect">
            <a:avLst/>
          </a:prstGeom>
        </p:spPr>
      </p:pic>
      <p:sp>
        <p:nvSpPr>
          <p:cNvPr id="24" name="Text 16"/>
          <p:cNvSpPr/>
          <p:nvPr/>
        </p:nvSpPr>
        <p:spPr>
          <a:xfrm>
            <a:off x="7040880" y="5001768"/>
            <a:ext cx="4206240" cy="320040"/>
          </a:xfrm>
          <a:prstGeom prst="rect">
            <a:avLst/>
          </a:prstGeom>
          <a:noFill/>
          <a:ln/>
        </p:spPr>
        <p:txBody>
          <a:bodyPr wrap="square" lIns="0" tIns="0" rIns="0" bIns="0" rtlCol="0" anchor="t"/>
          <a:lstStyle/>
          <a:p>
            <a:pPr indent="0" marL="0">
              <a:buNone/>
            </a:pPr>
            <a:r>
              <a:rPr lang="en-US" sz="1450" dirty="0">
                <a:solidFill>
                  <a:srgbClr val="1A1A1A"/>
                </a:solidFill>
                <a:latin typeface="Calibri" pitchFamily="34" charset="0"/>
                <a:ea typeface="Calibri" pitchFamily="34" charset="-122"/>
                <a:cs typeface="Calibri" pitchFamily="34" charset="-120"/>
              </a:rPr>
              <a:t>Ética: licencia respetada y sin biometría</a:t>
            </a:r>
            <a:endParaRPr lang="en-US" sz="14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AF9"/>
        </a:solidFill>
      </p:bgPr>
    </p:bg>
    <p:spTree>
      <p:nvGrpSpPr>
        <p:cNvPr id="1" name=""/>
        <p:cNvGrpSpPr/>
        <p:nvPr/>
      </p:nvGrpSpPr>
      <p:grpSpPr>
        <a:xfrm>
          <a:off x="0" y="0"/>
          <a:ext cx="0" cy="0"/>
          <a:chOff x="0" y="0"/>
          <a:chExt cx="0" cy="0"/>
        </a:xfrm>
      </p:grpSpPr>
      <p:sp>
        <p:nvSpPr>
          <p:cNvPr id="2" name="Text 0"/>
          <p:cNvSpPr/>
          <p:nvPr/>
        </p:nvSpPr>
        <p:spPr>
          <a:xfrm>
            <a:off x="731520" y="502920"/>
            <a:ext cx="10058400" cy="274320"/>
          </a:xfrm>
          <a:prstGeom prst="rect">
            <a:avLst/>
          </a:prstGeom>
          <a:noFill/>
          <a:ln/>
        </p:spPr>
        <p:txBody>
          <a:bodyPr wrap="square" lIns="0" tIns="0" rIns="0" bIns="0" rtlCol="0" anchor="t"/>
          <a:lstStyle/>
          <a:p>
            <a:pPr indent="0" marL="0">
              <a:buNone/>
            </a:pPr>
            <a:r>
              <a:rPr lang="en-US" sz="1100" b="1" spc="150" kern="0" dirty="0">
                <a:solidFill>
                  <a:srgbClr val="3E63DD"/>
                </a:solidFill>
                <a:latin typeface="Calibri" pitchFamily="34" charset="0"/>
                <a:ea typeface="Calibri" pitchFamily="34" charset="-122"/>
                <a:cs typeface="Calibri" pitchFamily="34" charset="-120"/>
              </a:rPr>
              <a:t>SEMANA 6 · LO QUE COMPLETAMOS</a:t>
            </a:r>
            <a:endParaRPr lang="en-US" sz="1100" dirty="0"/>
          </a:p>
        </p:txBody>
      </p:sp>
      <p:sp>
        <p:nvSpPr>
          <p:cNvPr id="3" name="Text 1"/>
          <p:cNvSpPr/>
          <p:nvPr/>
        </p:nvSpPr>
        <p:spPr>
          <a:xfrm>
            <a:off x="731520" y="777240"/>
            <a:ext cx="10698480" cy="822960"/>
          </a:xfrm>
          <a:prstGeom prst="rect">
            <a:avLst/>
          </a:prstGeom>
          <a:noFill/>
          <a:ln/>
        </p:spPr>
        <p:txBody>
          <a:bodyPr wrap="square" lIns="0" tIns="0" rIns="0" bIns="0" rtlCol="0" anchor="t"/>
          <a:lstStyle/>
          <a:p>
            <a:pPr indent="0" marL="0">
              <a:buNone/>
            </a:pPr>
            <a:r>
              <a:rPr lang="en-US" sz="3400" dirty="0">
                <a:solidFill>
                  <a:srgbClr val="1A1A1A"/>
                </a:solidFill>
                <a:latin typeface="Calibri Light" pitchFamily="34" charset="0"/>
                <a:ea typeface="Calibri Light" pitchFamily="34" charset="-122"/>
                <a:cs typeface="Calibri Light" pitchFamily="34" charset="-120"/>
              </a:rPr>
              <a:t>Lo que el libro pedía y nos faltaba</a:t>
            </a:r>
            <a:endParaRPr lang="en-US" sz="3400" dirty="0"/>
          </a:p>
        </p:txBody>
      </p:sp>
      <p:sp>
        <p:nvSpPr>
          <p:cNvPr id="4" name="Text 2"/>
          <p:cNvSpPr/>
          <p:nvPr/>
        </p:nvSpPr>
        <p:spPr>
          <a:xfrm>
            <a:off x="731520" y="6355080"/>
            <a:ext cx="2743200" cy="228600"/>
          </a:xfrm>
          <a:prstGeom prst="rect">
            <a:avLst/>
          </a:prstGeom>
          <a:noFill/>
          <a:ln/>
        </p:spPr>
        <p:txBody>
          <a:bodyPr wrap="square" lIns="0" tIns="0" rIns="0" bIns="0" rtlCol="0" anchor="t"/>
          <a:lstStyle/>
          <a:p>
            <a:pPr indent="0" marL="0">
              <a:buNone/>
            </a:pPr>
            <a:r>
              <a:rPr lang="en-US" sz="1000" b="1" dirty="0">
                <a:solidFill>
                  <a:srgbClr val="8A8984"/>
                </a:solidFill>
                <a:latin typeface="Calibri" pitchFamily="34" charset="0"/>
                <a:ea typeface="Calibri" pitchFamily="34" charset="-122"/>
                <a:cs typeface="Calibri" pitchFamily="34" charset="-120"/>
              </a:rPr>
              <a:t>NewBit</a:t>
            </a:r>
            <a:endParaRPr lang="en-US" sz="1000" dirty="0"/>
          </a:p>
        </p:txBody>
      </p:sp>
      <p:sp>
        <p:nvSpPr>
          <p:cNvPr id="5" name="Text 3"/>
          <p:cNvSpPr/>
          <p:nvPr/>
        </p:nvSpPr>
        <p:spPr>
          <a:xfrm>
            <a:off x="1371600" y="6355080"/>
            <a:ext cx="4572000" cy="228600"/>
          </a:xfrm>
          <a:prstGeom prst="rect">
            <a:avLst/>
          </a:prstGeom>
          <a:noFill/>
          <a:ln/>
        </p:spPr>
        <p:txBody>
          <a:bodyPr wrap="square" lIns="0" tIns="0" rIns="0" bIns="0" rtlCol="0" anchor="t"/>
          <a:lstStyle/>
          <a:p>
            <a:pPr indent="0" marL="0">
              <a:buNone/>
            </a:pPr>
            <a:r>
              <a:rPr lang="en-US" sz="1000" dirty="0">
                <a:solidFill>
                  <a:srgbClr val="8A8984"/>
                </a:solidFill>
                <a:latin typeface="Calibri" pitchFamily="34" charset="0"/>
                <a:ea typeface="Calibri" pitchFamily="34" charset="-122"/>
                <a:cs typeface="Calibri" pitchFamily="34" charset="-120"/>
              </a:rPr>
              <a:t>Producto de la Unidad I · Grupo D3</a:t>
            </a:r>
            <a:endParaRPr lang="en-US" sz="1000" dirty="0"/>
          </a:p>
        </p:txBody>
      </p:sp>
      <p:sp>
        <p:nvSpPr>
          <p:cNvPr id="6" name="Text 4"/>
          <p:cNvSpPr/>
          <p:nvPr/>
        </p:nvSpPr>
        <p:spPr>
          <a:xfrm>
            <a:off x="10728655" y="6355080"/>
            <a:ext cx="731520" cy="228600"/>
          </a:xfrm>
          <a:prstGeom prst="rect">
            <a:avLst/>
          </a:prstGeom>
          <a:noFill/>
          <a:ln/>
        </p:spPr>
        <p:txBody>
          <a:bodyPr wrap="square" lIns="0" tIns="0" rIns="0" bIns="0" rtlCol="0" anchor="t"/>
          <a:lstStyle/>
          <a:p>
            <a:pPr algn="r" indent="0" marL="0">
              <a:buNone/>
            </a:pPr>
            <a:r>
              <a:rPr lang="en-US" sz="1000" dirty="0">
                <a:solidFill>
                  <a:srgbClr val="8A8984"/>
                </a:solidFill>
                <a:latin typeface="Calibri" pitchFamily="34" charset="0"/>
                <a:ea typeface="Calibri" pitchFamily="34" charset="-122"/>
                <a:cs typeface="Calibri" pitchFamily="34" charset="-120"/>
              </a:rPr>
              <a:t>25</a:t>
            </a:r>
            <a:endParaRPr lang="en-US" sz="1000" dirty="0"/>
          </a:p>
        </p:txBody>
      </p:sp>
      <p:sp>
        <p:nvSpPr>
          <p:cNvPr id="8" name="Shape 5"/>
          <p:cNvSpPr/>
          <p:nvPr/>
        </p:nvSpPr>
        <p:spPr>
          <a:xfrm>
            <a:off x="731520" y="1828800"/>
            <a:ext cx="3383280" cy="3566160"/>
          </a:xfrm>
          <a:prstGeom prst="roundRect">
            <a:avLst>
              <a:gd name="adj" fmla="val 2162"/>
            </a:avLst>
          </a:prstGeom>
          <a:solidFill>
            <a:srgbClr val="FFFFFF"/>
          </a:solidFill>
          <a:ln w="9525">
            <a:solidFill>
              <a:srgbClr val="E7E5E4"/>
            </a:solidFill>
            <a:prstDash val="solid"/>
          </a:ln>
        </p:spPr>
      </p:sp>
      <p:pic>
        <p:nvPicPr>
          <p:cNvPr id="9" name="Image 0" descr="/Users/anthony/Documents/Projects/NewBit/curso/semana-06-producto-unidad-1/nuestras-entregas/PPT_Producto_Unidad_1_NewBit/img/iconos/equipo-azul.png">    </p:cNvPr>
          <p:cNvPicPr>
            <a:picLocks noChangeAspect="1"/>
          </p:cNvPicPr>
          <p:nvPr/>
        </p:nvPicPr>
        <p:blipFill>
          <a:blip r:embed="rId1"/>
          <a:stretch>
            <a:fillRect/>
          </a:stretch>
        </p:blipFill>
        <p:spPr>
          <a:xfrm>
            <a:off x="1051560" y="2148840"/>
            <a:ext cx="457200" cy="457200"/>
          </a:xfrm>
          <a:prstGeom prst="rect">
            <a:avLst/>
          </a:prstGeom>
        </p:spPr>
      </p:pic>
      <p:sp>
        <p:nvSpPr>
          <p:cNvPr id="10" name="Text 6"/>
          <p:cNvSpPr/>
          <p:nvPr/>
        </p:nvSpPr>
        <p:spPr>
          <a:xfrm>
            <a:off x="1051560" y="2788920"/>
            <a:ext cx="2834640" cy="411480"/>
          </a:xfrm>
          <a:prstGeom prst="rect">
            <a:avLst/>
          </a:prstGeom>
          <a:noFill/>
          <a:ln/>
        </p:spPr>
        <p:txBody>
          <a:bodyPr wrap="square" lIns="0" tIns="0" rIns="0" bIns="0" rtlCol="0" anchor="t"/>
          <a:lstStyle/>
          <a:p>
            <a:pPr indent="0" marL="0">
              <a:buNone/>
            </a:pPr>
            <a:r>
              <a:rPr lang="en-US" sz="1900" b="1" dirty="0">
                <a:solidFill>
                  <a:srgbClr val="1A1A1A"/>
                </a:solidFill>
                <a:latin typeface="Calibri" pitchFamily="34" charset="0"/>
                <a:ea typeface="Calibri" pitchFamily="34" charset="-122"/>
                <a:cs typeface="Calibri" pitchFamily="34" charset="-120"/>
              </a:rPr>
              <a:t>Registro de interesados</a:t>
            </a:r>
            <a:endParaRPr lang="en-US" sz="1900" dirty="0"/>
          </a:p>
        </p:txBody>
      </p:sp>
      <p:sp>
        <p:nvSpPr>
          <p:cNvPr id="11" name="Text 7"/>
          <p:cNvSpPr/>
          <p:nvPr/>
        </p:nvSpPr>
        <p:spPr>
          <a:xfrm>
            <a:off x="1051560" y="3200400"/>
            <a:ext cx="2834640" cy="274320"/>
          </a:xfrm>
          <a:prstGeom prst="rect">
            <a:avLst/>
          </a:prstGeom>
          <a:noFill/>
          <a:ln/>
        </p:spPr>
        <p:txBody>
          <a:bodyPr wrap="square" lIns="0" tIns="0" rIns="0" bIns="0" rtlCol="0" anchor="t"/>
          <a:lstStyle/>
          <a:p>
            <a:pPr indent="0" marL="0">
              <a:buNone/>
            </a:pPr>
            <a:r>
              <a:rPr lang="en-US" sz="1200" dirty="0">
                <a:solidFill>
                  <a:srgbClr val="8A8984"/>
                </a:solidFill>
                <a:latin typeface="Calibri" pitchFamily="34" charset="0"/>
                <a:ea typeface="Calibri" pitchFamily="34" charset="-122"/>
                <a:cs typeface="Calibri" pitchFamily="34" charset="-120"/>
              </a:rPr>
              <a:t>FGAP020 · proceso 8.2</a:t>
            </a:r>
            <a:endParaRPr lang="en-US" sz="1200" dirty="0"/>
          </a:p>
        </p:txBody>
      </p:sp>
      <p:sp>
        <p:nvSpPr>
          <p:cNvPr id="12" name="Text 8"/>
          <p:cNvSpPr/>
          <p:nvPr/>
        </p:nvSpPr>
        <p:spPr>
          <a:xfrm>
            <a:off x="1051560" y="3657600"/>
            <a:ext cx="2788920" cy="1554480"/>
          </a:xfrm>
          <a:prstGeom prst="rect">
            <a:avLst/>
          </a:prstGeom>
          <a:noFill/>
          <a:ln/>
        </p:spPr>
        <p:txBody>
          <a:bodyPr wrap="square" lIns="0" tIns="0" rIns="0" bIns="0" rtlCol="0" anchor="t"/>
          <a:lstStyle/>
          <a:p>
            <a:pPr indent="0" marL="0">
              <a:buNone/>
            </a:pPr>
            <a:r>
              <a:rPr lang="en-US" sz="1450" dirty="0">
                <a:solidFill>
                  <a:srgbClr val="57534E"/>
                </a:solidFill>
                <a:latin typeface="Calibri" pitchFamily="34" charset="0"/>
                <a:ea typeface="Calibri" pitchFamily="34" charset="-122"/>
                <a:cs typeface="Calibri" pitchFamily="34" charset="-120"/>
              </a:rPr>
              <a:t>Quién influye en el proyecto, qué espera y cómo lo involucramos: matriz de poder e interés.</a:t>
            </a:r>
            <a:endParaRPr lang="en-US" sz="1450" dirty="0"/>
          </a:p>
        </p:txBody>
      </p:sp>
      <p:sp>
        <p:nvSpPr>
          <p:cNvPr id="13" name="Shape 9"/>
          <p:cNvSpPr/>
          <p:nvPr/>
        </p:nvSpPr>
        <p:spPr>
          <a:xfrm>
            <a:off x="4343400" y="1828800"/>
            <a:ext cx="3383280" cy="3566160"/>
          </a:xfrm>
          <a:prstGeom prst="roundRect">
            <a:avLst>
              <a:gd name="adj" fmla="val 2162"/>
            </a:avLst>
          </a:prstGeom>
          <a:solidFill>
            <a:srgbClr val="FFFFFF"/>
          </a:solidFill>
          <a:ln w="9525">
            <a:solidFill>
              <a:srgbClr val="E7E5E4"/>
            </a:solidFill>
            <a:prstDash val="solid"/>
          </a:ln>
        </p:spPr>
      </p:sp>
      <p:pic>
        <p:nvPicPr>
          <p:cNvPr id="14" name="Image 1" descr="/Users/anthony/Documents/Projects/NewBit/curso/semana-06-producto-unidad-1/nuestras-entregas/PPT_Producto_Unidad_1_NewBit/img/iconos/lista-azul.png">    </p:cNvPr>
          <p:cNvPicPr>
            <a:picLocks noChangeAspect="1"/>
          </p:cNvPicPr>
          <p:nvPr/>
        </p:nvPicPr>
        <p:blipFill>
          <a:blip r:embed="rId2"/>
          <a:stretch>
            <a:fillRect/>
          </a:stretch>
        </p:blipFill>
        <p:spPr>
          <a:xfrm>
            <a:off x="4663440" y="2148840"/>
            <a:ext cx="457200" cy="457200"/>
          </a:xfrm>
          <a:prstGeom prst="rect">
            <a:avLst/>
          </a:prstGeom>
        </p:spPr>
      </p:pic>
      <p:sp>
        <p:nvSpPr>
          <p:cNvPr id="15" name="Text 10"/>
          <p:cNvSpPr/>
          <p:nvPr/>
        </p:nvSpPr>
        <p:spPr>
          <a:xfrm>
            <a:off x="4663440" y="2788920"/>
            <a:ext cx="2834640" cy="411480"/>
          </a:xfrm>
          <a:prstGeom prst="rect">
            <a:avLst/>
          </a:prstGeom>
          <a:noFill/>
          <a:ln/>
        </p:spPr>
        <p:txBody>
          <a:bodyPr wrap="square" lIns="0" tIns="0" rIns="0" bIns="0" rtlCol="0" anchor="t"/>
          <a:lstStyle/>
          <a:p>
            <a:pPr indent="0" marL="0">
              <a:buNone/>
            </a:pPr>
            <a:r>
              <a:rPr lang="en-US" sz="1900" b="1" dirty="0">
                <a:solidFill>
                  <a:srgbClr val="1A1A1A"/>
                </a:solidFill>
                <a:latin typeface="Calibri" pitchFamily="34" charset="0"/>
                <a:ea typeface="Calibri" pitchFamily="34" charset="-122"/>
                <a:cs typeface="Calibri" pitchFamily="34" charset="-120"/>
              </a:rPr>
              <a:t>Definición de listo</a:t>
            </a:r>
            <a:endParaRPr lang="en-US" sz="1900" dirty="0"/>
          </a:p>
        </p:txBody>
      </p:sp>
      <p:sp>
        <p:nvSpPr>
          <p:cNvPr id="16" name="Text 11"/>
          <p:cNvSpPr/>
          <p:nvPr/>
        </p:nvSpPr>
        <p:spPr>
          <a:xfrm>
            <a:off x="4663440" y="3200400"/>
            <a:ext cx="2834640" cy="274320"/>
          </a:xfrm>
          <a:prstGeom prst="rect">
            <a:avLst/>
          </a:prstGeom>
          <a:noFill/>
          <a:ln/>
        </p:spPr>
        <p:txBody>
          <a:bodyPr wrap="square" lIns="0" tIns="0" rIns="0" bIns="0" rtlCol="0" anchor="t"/>
          <a:lstStyle/>
          <a:p>
            <a:pPr indent="0" marL="0">
              <a:buNone/>
            </a:pPr>
            <a:r>
              <a:rPr lang="en-US" sz="1200" dirty="0">
                <a:solidFill>
                  <a:srgbClr val="8A8984"/>
                </a:solidFill>
                <a:latin typeface="Calibri" pitchFamily="34" charset="0"/>
                <a:ea typeface="Calibri" pitchFamily="34" charset="-122"/>
                <a:cs typeface="Calibri" pitchFamily="34" charset="-120"/>
              </a:rPr>
              <a:t>proceso 8.5 · p. 92</a:t>
            </a:r>
            <a:endParaRPr lang="en-US" sz="1200" dirty="0"/>
          </a:p>
        </p:txBody>
      </p:sp>
      <p:sp>
        <p:nvSpPr>
          <p:cNvPr id="17" name="Text 12"/>
          <p:cNvSpPr/>
          <p:nvPr/>
        </p:nvSpPr>
        <p:spPr>
          <a:xfrm>
            <a:off x="4663440" y="3657600"/>
            <a:ext cx="2788920" cy="1554480"/>
          </a:xfrm>
          <a:prstGeom prst="rect">
            <a:avLst/>
          </a:prstGeom>
          <a:noFill/>
          <a:ln/>
        </p:spPr>
        <p:txBody>
          <a:bodyPr wrap="square" lIns="0" tIns="0" rIns="0" bIns="0" rtlCol="0" anchor="t"/>
          <a:lstStyle/>
          <a:p>
            <a:pPr indent="0" marL="0">
              <a:buNone/>
            </a:pPr>
            <a:r>
              <a:rPr lang="en-US" sz="1450" dirty="0">
                <a:solidFill>
                  <a:srgbClr val="57534E"/>
                </a:solidFill>
                <a:latin typeface="Calibri" pitchFamily="34" charset="0"/>
                <a:ea typeface="Calibri" pitchFamily="34" charset="-122"/>
                <a:cs typeface="Calibri" pitchFamily="34" charset="-120"/>
              </a:rPr>
              <a:t>Una historia entra a un sprint solo si tiene criterios, dependencias resueltas, estimación y los datos que necesita.</a:t>
            </a:r>
            <a:endParaRPr lang="en-US" sz="1450" dirty="0"/>
          </a:p>
        </p:txBody>
      </p:sp>
      <p:sp>
        <p:nvSpPr>
          <p:cNvPr id="18" name="Shape 13"/>
          <p:cNvSpPr/>
          <p:nvPr/>
        </p:nvSpPr>
        <p:spPr>
          <a:xfrm>
            <a:off x="7955280" y="1828800"/>
            <a:ext cx="3383280" cy="3566160"/>
          </a:xfrm>
          <a:prstGeom prst="roundRect">
            <a:avLst>
              <a:gd name="adj" fmla="val 2162"/>
            </a:avLst>
          </a:prstGeom>
          <a:solidFill>
            <a:srgbClr val="FFFFFF"/>
          </a:solidFill>
          <a:ln w="9525">
            <a:solidFill>
              <a:srgbClr val="E7E5E4"/>
            </a:solidFill>
            <a:prstDash val="solid"/>
          </a:ln>
        </p:spPr>
      </p:sp>
      <p:pic>
        <p:nvPicPr>
          <p:cNvPr id="19" name="Image 2" descr="/Users/anthony/Documents/Projects/NewBit/curso/semana-06-producto-unidad-1/nuestras-entregas/PPT_Producto_Unidad_1_NewBit/img/iconos/calendario-azul.png">    </p:cNvPr>
          <p:cNvPicPr>
            <a:picLocks noChangeAspect="1"/>
          </p:cNvPicPr>
          <p:nvPr/>
        </p:nvPicPr>
        <p:blipFill>
          <a:blip r:embed="rId3"/>
          <a:stretch>
            <a:fillRect/>
          </a:stretch>
        </p:blipFill>
        <p:spPr>
          <a:xfrm>
            <a:off x="8275320" y="2148840"/>
            <a:ext cx="457200" cy="457200"/>
          </a:xfrm>
          <a:prstGeom prst="rect">
            <a:avLst/>
          </a:prstGeom>
        </p:spPr>
      </p:pic>
      <p:sp>
        <p:nvSpPr>
          <p:cNvPr id="20" name="Text 14"/>
          <p:cNvSpPr/>
          <p:nvPr/>
        </p:nvSpPr>
        <p:spPr>
          <a:xfrm>
            <a:off x="8275320" y="2788920"/>
            <a:ext cx="2834640" cy="411480"/>
          </a:xfrm>
          <a:prstGeom prst="rect">
            <a:avLst/>
          </a:prstGeom>
          <a:noFill/>
          <a:ln/>
        </p:spPr>
        <p:txBody>
          <a:bodyPr wrap="square" lIns="0" tIns="0" rIns="0" bIns="0" rtlCol="0" anchor="t"/>
          <a:lstStyle/>
          <a:p>
            <a:pPr indent="0" marL="0">
              <a:buNone/>
            </a:pPr>
            <a:r>
              <a:rPr lang="en-US" sz="1900" b="1" dirty="0">
                <a:solidFill>
                  <a:srgbClr val="1A1A1A"/>
                </a:solidFill>
                <a:latin typeface="Calibri" pitchFamily="34" charset="0"/>
                <a:ea typeface="Calibri" pitchFamily="34" charset="-122"/>
                <a:cs typeface="Calibri" pitchFamily="34" charset="-120"/>
              </a:rPr>
              <a:t>Plan de liberación</a:t>
            </a:r>
            <a:endParaRPr lang="en-US" sz="1900" dirty="0"/>
          </a:p>
        </p:txBody>
      </p:sp>
      <p:sp>
        <p:nvSpPr>
          <p:cNvPr id="21" name="Text 15"/>
          <p:cNvSpPr/>
          <p:nvPr/>
        </p:nvSpPr>
        <p:spPr>
          <a:xfrm>
            <a:off x="8275320" y="3200400"/>
            <a:ext cx="2834640" cy="274320"/>
          </a:xfrm>
          <a:prstGeom prst="rect">
            <a:avLst/>
          </a:prstGeom>
          <a:noFill/>
          <a:ln/>
        </p:spPr>
        <p:txBody>
          <a:bodyPr wrap="square" lIns="0" tIns="0" rIns="0" bIns="0" rtlCol="0" anchor="t"/>
          <a:lstStyle/>
          <a:p>
            <a:pPr indent="0" marL="0">
              <a:buNone/>
            </a:pPr>
            <a:r>
              <a:rPr lang="en-US" sz="1200" dirty="0">
                <a:solidFill>
                  <a:srgbClr val="8A8984"/>
                </a:solidFill>
                <a:latin typeface="Calibri" pitchFamily="34" charset="0"/>
                <a:ea typeface="Calibri" pitchFamily="34" charset="-122"/>
                <a:cs typeface="Calibri" pitchFamily="34" charset="-120"/>
              </a:rPr>
              <a:t>proceso 8.6 · p. 178</a:t>
            </a:r>
            <a:endParaRPr lang="en-US" sz="1200" dirty="0"/>
          </a:p>
        </p:txBody>
      </p:sp>
      <p:sp>
        <p:nvSpPr>
          <p:cNvPr id="22" name="Text 16"/>
          <p:cNvSpPr/>
          <p:nvPr/>
        </p:nvSpPr>
        <p:spPr>
          <a:xfrm>
            <a:off x="8275320" y="3657600"/>
            <a:ext cx="2788920" cy="1554480"/>
          </a:xfrm>
          <a:prstGeom prst="rect">
            <a:avLst/>
          </a:prstGeom>
          <a:noFill/>
          <a:ln/>
        </p:spPr>
        <p:txBody>
          <a:bodyPr wrap="square" lIns="0" tIns="0" rIns="0" bIns="0" rtlCol="0" anchor="t"/>
          <a:lstStyle/>
          <a:p>
            <a:pPr indent="0" marL="0">
              <a:buNone/>
            </a:pPr>
            <a:r>
              <a:rPr lang="en-US" sz="1450" dirty="0">
                <a:solidFill>
                  <a:srgbClr val="57534E"/>
                </a:solidFill>
                <a:latin typeface="Calibri" pitchFamily="34" charset="0"/>
                <a:ea typeface="Calibri" pitchFamily="34" charset="-122"/>
                <a:cs typeface="Calibri" pitchFamily="34" charset="-120"/>
              </a:rPr>
              <a:t>Sprints de dos semanas y una sola liberación al cierre, del 14 al 18 de diciembre.</a:t>
            </a:r>
            <a:endParaRPr lang="en-US" sz="14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AF9"/>
        </a:solidFill>
      </p:bgPr>
    </p:bg>
    <p:spTree>
      <p:nvGrpSpPr>
        <p:cNvPr id="1" name=""/>
        <p:cNvGrpSpPr/>
        <p:nvPr/>
      </p:nvGrpSpPr>
      <p:grpSpPr>
        <a:xfrm>
          <a:off x="0" y="0"/>
          <a:ext cx="0" cy="0"/>
          <a:chOff x="0" y="0"/>
          <a:chExt cx="0" cy="0"/>
        </a:xfrm>
      </p:grpSpPr>
      <p:sp>
        <p:nvSpPr>
          <p:cNvPr id="2" name="Text 0"/>
          <p:cNvSpPr/>
          <p:nvPr/>
        </p:nvSpPr>
        <p:spPr>
          <a:xfrm>
            <a:off x="731520" y="502920"/>
            <a:ext cx="10058400" cy="274320"/>
          </a:xfrm>
          <a:prstGeom prst="rect">
            <a:avLst/>
          </a:prstGeom>
          <a:noFill/>
          <a:ln/>
        </p:spPr>
        <p:txBody>
          <a:bodyPr wrap="square" lIns="0" tIns="0" rIns="0" bIns="0" rtlCol="0" anchor="t"/>
          <a:lstStyle/>
          <a:p>
            <a:pPr indent="0" marL="0">
              <a:buNone/>
            </a:pPr>
            <a:r>
              <a:rPr lang="en-US" sz="1100" b="1" spc="150" kern="0" dirty="0">
                <a:solidFill>
                  <a:srgbClr val="3E63DD"/>
                </a:solidFill>
                <a:latin typeface="Calibri" pitchFamily="34" charset="0"/>
                <a:ea typeface="Calibri" pitchFamily="34" charset="-122"/>
                <a:cs typeface="Calibri" pitchFamily="34" charset="-120"/>
              </a:rPr>
              <a:t>PARTE 4 · AVANCE REAL</a:t>
            </a:r>
            <a:endParaRPr lang="en-US" sz="1100" dirty="0"/>
          </a:p>
        </p:txBody>
      </p:sp>
      <p:sp>
        <p:nvSpPr>
          <p:cNvPr id="3" name="Text 1"/>
          <p:cNvSpPr/>
          <p:nvPr/>
        </p:nvSpPr>
        <p:spPr>
          <a:xfrm>
            <a:off x="731520" y="777240"/>
            <a:ext cx="10698480" cy="822960"/>
          </a:xfrm>
          <a:prstGeom prst="rect">
            <a:avLst/>
          </a:prstGeom>
          <a:noFill/>
          <a:ln/>
        </p:spPr>
        <p:txBody>
          <a:bodyPr wrap="square" lIns="0" tIns="0" rIns="0" bIns="0" rtlCol="0" anchor="t"/>
          <a:lstStyle/>
          <a:p>
            <a:pPr indent="0" marL="0">
              <a:buNone/>
            </a:pPr>
            <a:r>
              <a:rPr lang="en-US" sz="3400" dirty="0">
                <a:solidFill>
                  <a:srgbClr val="1A1A1A"/>
                </a:solidFill>
                <a:latin typeface="Calibri Light" pitchFamily="34" charset="0"/>
                <a:ea typeface="Calibri Light" pitchFamily="34" charset="-122"/>
                <a:cs typeface="Calibri Light" pitchFamily="34" charset="-120"/>
              </a:rPr>
              <a:t>La primera mitad ya funciona</a:t>
            </a:r>
            <a:endParaRPr lang="en-US" sz="3400" dirty="0"/>
          </a:p>
        </p:txBody>
      </p:sp>
      <p:sp>
        <p:nvSpPr>
          <p:cNvPr id="4" name="Text 2"/>
          <p:cNvSpPr/>
          <p:nvPr/>
        </p:nvSpPr>
        <p:spPr>
          <a:xfrm>
            <a:off x="731520" y="6355080"/>
            <a:ext cx="2743200" cy="228600"/>
          </a:xfrm>
          <a:prstGeom prst="rect">
            <a:avLst/>
          </a:prstGeom>
          <a:noFill/>
          <a:ln/>
        </p:spPr>
        <p:txBody>
          <a:bodyPr wrap="square" lIns="0" tIns="0" rIns="0" bIns="0" rtlCol="0" anchor="t"/>
          <a:lstStyle/>
          <a:p>
            <a:pPr indent="0" marL="0">
              <a:buNone/>
            </a:pPr>
            <a:r>
              <a:rPr lang="en-US" sz="1000" b="1" dirty="0">
                <a:solidFill>
                  <a:srgbClr val="8A8984"/>
                </a:solidFill>
                <a:latin typeface="Calibri" pitchFamily="34" charset="0"/>
                <a:ea typeface="Calibri" pitchFamily="34" charset="-122"/>
                <a:cs typeface="Calibri" pitchFamily="34" charset="-120"/>
              </a:rPr>
              <a:t>NewBit</a:t>
            </a:r>
            <a:endParaRPr lang="en-US" sz="1000" dirty="0"/>
          </a:p>
        </p:txBody>
      </p:sp>
      <p:sp>
        <p:nvSpPr>
          <p:cNvPr id="5" name="Text 3"/>
          <p:cNvSpPr/>
          <p:nvPr/>
        </p:nvSpPr>
        <p:spPr>
          <a:xfrm>
            <a:off x="1371600" y="6355080"/>
            <a:ext cx="4572000" cy="228600"/>
          </a:xfrm>
          <a:prstGeom prst="rect">
            <a:avLst/>
          </a:prstGeom>
          <a:noFill/>
          <a:ln/>
        </p:spPr>
        <p:txBody>
          <a:bodyPr wrap="square" lIns="0" tIns="0" rIns="0" bIns="0" rtlCol="0" anchor="t"/>
          <a:lstStyle/>
          <a:p>
            <a:pPr indent="0" marL="0">
              <a:buNone/>
            </a:pPr>
            <a:r>
              <a:rPr lang="en-US" sz="1000" dirty="0">
                <a:solidFill>
                  <a:srgbClr val="8A8984"/>
                </a:solidFill>
                <a:latin typeface="Calibri" pitchFamily="34" charset="0"/>
                <a:ea typeface="Calibri" pitchFamily="34" charset="-122"/>
                <a:cs typeface="Calibri" pitchFamily="34" charset="-120"/>
              </a:rPr>
              <a:t>Producto de la Unidad I · Grupo D3</a:t>
            </a:r>
            <a:endParaRPr lang="en-US" sz="1000" dirty="0"/>
          </a:p>
        </p:txBody>
      </p:sp>
      <p:sp>
        <p:nvSpPr>
          <p:cNvPr id="6" name="Text 4"/>
          <p:cNvSpPr/>
          <p:nvPr/>
        </p:nvSpPr>
        <p:spPr>
          <a:xfrm>
            <a:off x="10728655" y="6355080"/>
            <a:ext cx="731520" cy="228600"/>
          </a:xfrm>
          <a:prstGeom prst="rect">
            <a:avLst/>
          </a:prstGeom>
          <a:noFill/>
          <a:ln/>
        </p:spPr>
        <p:txBody>
          <a:bodyPr wrap="square" lIns="0" tIns="0" rIns="0" bIns="0" rtlCol="0" anchor="t"/>
          <a:lstStyle/>
          <a:p>
            <a:pPr algn="r" indent="0" marL="0">
              <a:buNone/>
            </a:pPr>
            <a:r>
              <a:rPr lang="en-US" sz="1000" dirty="0">
                <a:solidFill>
                  <a:srgbClr val="8A8984"/>
                </a:solidFill>
                <a:latin typeface="Calibri" pitchFamily="34" charset="0"/>
                <a:ea typeface="Calibri" pitchFamily="34" charset="-122"/>
                <a:cs typeface="Calibri" pitchFamily="34" charset="-120"/>
              </a:rPr>
              <a:t>26</a:t>
            </a:r>
            <a:endParaRPr lang="en-US" sz="1000" dirty="0"/>
          </a:p>
        </p:txBody>
      </p:sp>
      <p:sp>
        <p:nvSpPr>
          <p:cNvPr id="8" name="Text 5"/>
          <p:cNvSpPr/>
          <p:nvPr/>
        </p:nvSpPr>
        <p:spPr>
          <a:xfrm>
            <a:off x="731520" y="1737360"/>
            <a:ext cx="2011680" cy="1280160"/>
          </a:xfrm>
          <a:prstGeom prst="rect">
            <a:avLst/>
          </a:prstGeom>
          <a:noFill/>
          <a:ln/>
        </p:spPr>
        <p:txBody>
          <a:bodyPr wrap="square" lIns="0" tIns="0" rIns="0" bIns="0" rtlCol="0" anchor="t"/>
          <a:lstStyle/>
          <a:p>
            <a:pPr indent="0" marL="0">
              <a:buNone/>
            </a:pPr>
            <a:r>
              <a:rPr lang="en-US" sz="10400" dirty="0">
                <a:solidFill>
                  <a:srgbClr val="1A1A1A"/>
                </a:solidFill>
                <a:latin typeface="Calibri Light" pitchFamily="34" charset="0"/>
                <a:ea typeface="Calibri Light" pitchFamily="34" charset="-122"/>
                <a:cs typeface="Calibri Light" pitchFamily="34" charset="-120"/>
              </a:rPr>
              <a:t>15</a:t>
            </a:r>
            <a:endParaRPr lang="en-US" sz="10400" dirty="0"/>
          </a:p>
        </p:txBody>
      </p:sp>
      <p:sp>
        <p:nvSpPr>
          <p:cNvPr id="9" name="Text 6"/>
          <p:cNvSpPr/>
          <p:nvPr/>
        </p:nvSpPr>
        <p:spPr>
          <a:xfrm>
            <a:off x="2606040" y="2331720"/>
            <a:ext cx="1463040" cy="640080"/>
          </a:xfrm>
          <a:prstGeom prst="rect">
            <a:avLst/>
          </a:prstGeom>
          <a:noFill/>
          <a:ln/>
        </p:spPr>
        <p:txBody>
          <a:bodyPr wrap="square" lIns="0" tIns="0" rIns="0" bIns="0" rtlCol="0" anchor="t"/>
          <a:lstStyle/>
          <a:p>
            <a:pPr indent="0" marL="0">
              <a:buNone/>
            </a:pPr>
            <a:r>
              <a:rPr lang="en-US" sz="3600" dirty="0">
                <a:solidFill>
                  <a:srgbClr val="8A8984"/>
                </a:solidFill>
                <a:latin typeface="Calibri Light" pitchFamily="34" charset="0"/>
                <a:ea typeface="Calibri Light" pitchFamily="34" charset="-122"/>
                <a:cs typeface="Calibri Light" pitchFamily="34" charset="-120"/>
              </a:rPr>
              <a:t>/ 31</a:t>
            </a:r>
            <a:endParaRPr lang="en-US" sz="3600" dirty="0"/>
          </a:p>
        </p:txBody>
      </p:sp>
      <p:sp>
        <p:nvSpPr>
          <p:cNvPr id="10" name="Text 7"/>
          <p:cNvSpPr/>
          <p:nvPr/>
        </p:nvSpPr>
        <p:spPr>
          <a:xfrm>
            <a:off x="731520" y="3154680"/>
            <a:ext cx="4206240" cy="731520"/>
          </a:xfrm>
          <a:prstGeom prst="rect">
            <a:avLst/>
          </a:prstGeom>
          <a:noFill/>
          <a:ln/>
        </p:spPr>
        <p:txBody>
          <a:bodyPr wrap="square" lIns="0" tIns="0" rIns="0" bIns="0" rtlCol="0" anchor="t"/>
          <a:lstStyle/>
          <a:p>
            <a:pPr indent="0" marL="0">
              <a:buNone/>
            </a:pPr>
            <a:r>
              <a:rPr lang="en-US" sz="1600" dirty="0">
                <a:solidFill>
                  <a:srgbClr val="57534E"/>
                </a:solidFill>
                <a:latin typeface="Calibri" pitchFamily="34" charset="0"/>
                <a:ea typeface="Calibri" pitchFamily="34" charset="-122"/>
                <a:cs typeface="Calibri" pitchFamily="34" charset="-120"/>
              </a:rPr>
              <a:t>puntos de historia construidos: 7 de las 12 historias, las de los sprints 1 y 2 del backlog.</a:t>
            </a:r>
            <a:endParaRPr lang="en-US" sz="1600" dirty="0"/>
          </a:p>
        </p:txBody>
      </p:sp>
      <p:sp>
        <p:nvSpPr>
          <p:cNvPr id="11" name="Shape 8"/>
          <p:cNvSpPr/>
          <p:nvPr/>
        </p:nvSpPr>
        <p:spPr>
          <a:xfrm>
            <a:off x="731520" y="4069080"/>
            <a:ext cx="109728" cy="384048"/>
          </a:xfrm>
          <a:prstGeom prst="rect">
            <a:avLst/>
          </a:prstGeom>
          <a:solidFill>
            <a:srgbClr val="3E63DD"/>
          </a:solidFill>
          <a:ln w="12700">
            <a:solidFill>
              <a:srgbClr val="3E63DD"/>
            </a:solidFill>
            <a:prstDash val="solid"/>
          </a:ln>
        </p:spPr>
      </p:sp>
      <p:sp>
        <p:nvSpPr>
          <p:cNvPr id="12" name="Shape 9"/>
          <p:cNvSpPr/>
          <p:nvPr/>
        </p:nvSpPr>
        <p:spPr>
          <a:xfrm>
            <a:off x="866851" y="4069080"/>
            <a:ext cx="109728" cy="384048"/>
          </a:xfrm>
          <a:prstGeom prst="rect">
            <a:avLst/>
          </a:prstGeom>
          <a:solidFill>
            <a:srgbClr val="3E63DD"/>
          </a:solidFill>
          <a:ln w="12700">
            <a:solidFill>
              <a:srgbClr val="3E63DD"/>
            </a:solidFill>
            <a:prstDash val="solid"/>
          </a:ln>
        </p:spPr>
      </p:sp>
      <p:sp>
        <p:nvSpPr>
          <p:cNvPr id="13" name="Shape 10"/>
          <p:cNvSpPr/>
          <p:nvPr/>
        </p:nvSpPr>
        <p:spPr>
          <a:xfrm>
            <a:off x="1002182" y="4069080"/>
            <a:ext cx="109728" cy="384048"/>
          </a:xfrm>
          <a:prstGeom prst="rect">
            <a:avLst/>
          </a:prstGeom>
          <a:solidFill>
            <a:srgbClr val="3E63DD"/>
          </a:solidFill>
          <a:ln w="12700">
            <a:solidFill>
              <a:srgbClr val="3E63DD"/>
            </a:solidFill>
            <a:prstDash val="solid"/>
          </a:ln>
        </p:spPr>
      </p:sp>
      <p:sp>
        <p:nvSpPr>
          <p:cNvPr id="14" name="Shape 11"/>
          <p:cNvSpPr/>
          <p:nvPr/>
        </p:nvSpPr>
        <p:spPr>
          <a:xfrm>
            <a:off x="1137514" y="4069080"/>
            <a:ext cx="109728" cy="384048"/>
          </a:xfrm>
          <a:prstGeom prst="rect">
            <a:avLst/>
          </a:prstGeom>
          <a:solidFill>
            <a:srgbClr val="3E63DD"/>
          </a:solidFill>
          <a:ln w="12700">
            <a:solidFill>
              <a:srgbClr val="3E63DD"/>
            </a:solidFill>
            <a:prstDash val="solid"/>
          </a:ln>
        </p:spPr>
      </p:sp>
      <p:sp>
        <p:nvSpPr>
          <p:cNvPr id="15" name="Shape 12"/>
          <p:cNvSpPr/>
          <p:nvPr/>
        </p:nvSpPr>
        <p:spPr>
          <a:xfrm>
            <a:off x="1272845" y="4069080"/>
            <a:ext cx="109728" cy="384048"/>
          </a:xfrm>
          <a:prstGeom prst="rect">
            <a:avLst/>
          </a:prstGeom>
          <a:solidFill>
            <a:srgbClr val="3E63DD"/>
          </a:solidFill>
          <a:ln w="12700">
            <a:solidFill>
              <a:srgbClr val="3E63DD"/>
            </a:solidFill>
            <a:prstDash val="solid"/>
          </a:ln>
        </p:spPr>
      </p:sp>
      <p:sp>
        <p:nvSpPr>
          <p:cNvPr id="16" name="Shape 13"/>
          <p:cNvSpPr/>
          <p:nvPr/>
        </p:nvSpPr>
        <p:spPr>
          <a:xfrm>
            <a:off x="1408176" y="4069080"/>
            <a:ext cx="109728" cy="384048"/>
          </a:xfrm>
          <a:prstGeom prst="rect">
            <a:avLst/>
          </a:prstGeom>
          <a:solidFill>
            <a:srgbClr val="3E63DD"/>
          </a:solidFill>
          <a:ln w="12700">
            <a:solidFill>
              <a:srgbClr val="3E63DD"/>
            </a:solidFill>
            <a:prstDash val="solid"/>
          </a:ln>
        </p:spPr>
      </p:sp>
      <p:sp>
        <p:nvSpPr>
          <p:cNvPr id="17" name="Shape 14"/>
          <p:cNvSpPr/>
          <p:nvPr/>
        </p:nvSpPr>
        <p:spPr>
          <a:xfrm>
            <a:off x="1543507" y="4069080"/>
            <a:ext cx="109728" cy="384048"/>
          </a:xfrm>
          <a:prstGeom prst="rect">
            <a:avLst/>
          </a:prstGeom>
          <a:solidFill>
            <a:srgbClr val="3E63DD"/>
          </a:solidFill>
          <a:ln w="12700">
            <a:solidFill>
              <a:srgbClr val="3E63DD"/>
            </a:solidFill>
            <a:prstDash val="solid"/>
          </a:ln>
        </p:spPr>
      </p:sp>
      <p:sp>
        <p:nvSpPr>
          <p:cNvPr id="18" name="Shape 15"/>
          <p:cNvSpPr/>
          <p:nvPr/>
        </p:nvSpPr>
        <p:spPr>
          <a:xfrm>
            <a:off x="1678838" y="4069080"/>
            <a:ext cx="109728" cy="384048"/>
          </a:xfrm>
          <a:prstGeom prst="rect">
            <a:avLst/>
          </a:prstGeom>
          <a:solidFill>
            <a:srgbClr val="3E63DD"/>
          </a:solidFill>
          <a:ln w="12700">
            <a:solidFill>
              <a:srgbClr val="3E63DD"/>
            </a:solidFill>
            <a:prstDash val="solid"/>
          </a:ln>
        </p:spPr>
      </p:sp>
      <p:sp>
        <p:nvSpPr>
          <p:cNvPr id="19" name="Shape 16"/>
          <p:cNvSpPr/>
          <p:nvPr/>
        </p:nvSpPr>
        <p:spPr>
          <a:xfrm>
            <a:off x="1814170" y="4069080"/>
            <a:ext cx="109728" cy="384048"/>
          </a:xfrm>
          <a:prstGeom prst="rect">
            <a:avLst/>
          </a:prstGeom>
          <a:solidFill>
            <a:srgbClr val="3E63DD"/>
          </a:solidFill>
          <a:ln w="12700">
            <a:solidFill>
              <a:srgbClr val="3E63DD"/>
            </a:solidFill>
            <a:prstDash val="solid"/>
          </a:ln>
        </p:spPr>
      </p:sp>
      <p:sp>
        <p:nvSpPr>
          <p:cNvPr id="20" name="Shape 17"/>
          <p:cNvSpPr/>
          <p:nvPr/>
        </p:nvSpPr>
        <p:spPr>
          <a:xfrm>
            <a:off x="1949501" y="4069080"/>
            <a:ext cx="109728" cy="384048"/>
          </a:xfrm>
          <a:prstGeom prst="rect">
            <a:avLst/>
          </a:prstGeom>
          <a:solidFill>
            <a:srgbClr val="3E63DD"/>
          </a:solidFill>
          <a:ln w="12700">
            <a:solidFill>
              <a:srgbClr val="3E63DD"/>
            </a:solidFill>
            <a:prstDash val="solid"/>
          </a:ln>
        </p:spPr>
      </p:sp>
      <p:sp>
        <p:nvSpPr>
          <p:cNvPr id="21" name="Shape 18"/>
          <p:cNvSpPr/>
          <p:nvPr/>
        </p:nvSpPr>
        <p:spPr>
          <a:xfrm>
            <a:off x="2084832" y="4069080"/>
            <a:ext cx="109728" cy="384048"/>
          </a:xfrm>
          <a:prstGeom prst="rect">
            <a:avLst/>
          </a:prstGeom>
          <a:solidFill>
            <a:srgbClr val="3E63DD"/>
          </a:solidFill>
          <a:ln w="12700">
            <a:solidFill>
              <a:srgbClr val="3E63DD"/>
            </a:solidFill>
            <a:prstDash val="solid"/>
          </a:ln>
        </p:spPr>
      </p:sp>
      <p:sp>
        <p:nvSpPr>
          <p:cNvPr id="22" name="Shape 19"/>
          <p:cNvSpPr/>
          <p:nvPr/>
        </p:nvSpPr>
        <p:spPr>
          <a:xfrm>
            <a:off x="2220163" y="4069080"/>
            <a:ext cx="109728" cy="384048"/>
          </a:xfrm>
          <a:prstGeom prst="rect">
            <a:avLst/>
          </a:prstGeom>
          <a:solidFill>
            <a:srgbClr val="3E63DD"/>
          </a:solidFill>
          <a:ln w="12700">
            <a:solidFill>
              <a:srgbClr val="3E63DD"/>
            </a:solidFill>
            <a:prstDash val="solid"/>
          </a:ln>
        </p:spPr>
      </p:sp>
      <p:sp>
        <p:nvSpPr>
          <p:cNvPr id="23" name="Shape 20"/>
          <p:cNvSpPr/>
          <p:nvPr/>
        </p:nvSpPr>
        <p:spPr>
          <a:xfrm>
            <a:off x="2355494" y="4069080"/>
            <a:ext cx="109728" cy="384048"/>
          </a:xfrm>
          <a:prstGeom prst="rect">
            <a:avLst/>
          </a:prstGeom>
          <a:solidFill>
            <a:srgbClr val="3E63DD"/>
          </a:solidFill>
          <a:ln w="12700">
            <a:solidFill>
              <a:srgbClr val="3E63DD"/>
            </a:solidFill>
            <a:prstDash val="solid"/>
          </a:ln>
        </p:spPr>
      </p:sp>
      <p:sp>
        <p:nvSpPr>
          <p:cNvPr id="24" name="Shape 21"/>
          <p:cNvSpPr/>
          <p:nvPr/>
        </p:nvSpPr>
        <p:spPr>
          <a:xfrm>
            <a:off x="2490826" y="4069080"/>
            <a:ext cx="109728" cy="384048"/>
          </a:xfrm>
          <a:prstGeom prst="rect">
            <a:avLst/>
          </a:prstGeom>
          <a:solidFill>
            <a:srgbClr val="3E63DD"/>
          </a:solidFill>
          <a:ln w="12700">
            <a:solidFill>
              <a:srgbClr val="3E63DD"/>
            </a:solidFill>
            <a:prstDash val="solid"/>
          </a:ln>
        </p:spPr>
      </p:sp>
      <p:sp>
        <p:nvSpPr>
          <p:cNvPr id="25" name="Shape 22"/>
          <p:cNvSpPr/>
          <p:nvPr/>
        </p:nvSpPr>
        <p:spPr>
          <a:xfrm>
            <a:off x="2626157" y="4069080"/>
            <a:ext cx="109728" cy="384048"/>
          </a:xfrm>
          <a:prstGeom prst="rect">
            <a:avLst/>
          </a:prstGeom>
          <a:solidFill>
            <a:srgbClr val="3E63DD"/>
          </a:solidFill>
          <a:ln w="12700">
            <a:solidFill>
              <a:srgbClr val="3E63DD"/>
            </a:solidFill>
            <a:prstDash val="solid"/>
          </a:ln>
        </p:spPr>
      </p:sp>
      <p:sp>
        <p:nvSpPr>
          <p:cNvPr id="26" name="Shape 23"/>
          <p:cNvSpPr/>
          <p:nvPr/>
        </p:nvSpPr>
        <p:spPr>
          <a:xfrm>
            <a:off x="2761488" y="4069080"/>
            <a:ext cx="109728" cy="384048"/>
          </a:xfrm>
          <a:prstGeom prst="rect">
            <a:avLst/>
          </a:prstGeom>
          <a:solidFill>
            <a:srgbClr val="E7E5E4"/>
          </a:solidFill>
          <a:ln w="12700">
            <a:solidFill>
              <a:srgbClr val="E7E5E4"/>
            </a:solidFill>
            <a:prstDash val="solid"/>
          </a:ln>
        </p:spPr>
      </p:sp>
      <p:sp>
        <p:nvSpPr>
          <p:cNvPr id="27" name="Shape 24"/>
          <p:cNvSpPr/>
          <p:nvPr/>
        </p:nvSpPr>
        <p:spPr>
          <a:xfrm>
            <a:off x="2896819" y="4069080"/>
            <a:ext cx="109728" cy="384048"/>
          </a:xfrm>
          <a:prstGeom prst="rect">
            <a:avLst/>
          </a:prstGeom>
          <a:solidFill>
            <a:srgbClr val="E7E5E4"/>
          </a:solidFill>
          <a:ln w="12700">
            <a:solidFill>
              <a:srgbClr val="E7E5E4"/>
            </a:solidFill>
            <a:prstDash val="solid"/>
          </a:ln>
        </p:spPr>
      </p:sp>
      <p:sp>
        <p:nvSpPr>
          <p:cNvPr id="28" name="Shape 25"/>
          <p:cNvSpPr/>
          <p:nvPr/>
        </p:nvSpPr>
        <p:spPr>
          <a:xfrm>
            <a:off x="3032150" y="4069080"/>
            <a:ext cx="109728" cy="384048"/>
          </a:xfrm>
          <a:prstGeom prst="rect">
            <a:avLst/>
          </a:prstGeom>
          <a:solidFill>
            <a:srgbClr val="E7E5E4"/>
          </a:solidFill>
          <a:ln w="12700">
            <a:solidFill>
              <a:srgbClr val="E7E5E4"/>
            </a:solidFill>
            <a:prstDash val="solid"/>
          </a:ln>
        </p:spPr>
      </p:sp>
      <p:sp>
        <p:nvSpPr>
          <p:cNvPr id="29" name="Shape 26"/>
          <p:cNvSpPr/>
          <p:nvPr/>
        </p:nvSpPr>
        <p:spPr>
          <a:xfrm>
            <a:off x="3167482" y="4069080"/>
            <a:ext cx="109728" cy="384048"/>
          </a:xfrm>
          <a:prstGeom prst="rect">
            <a:avLst/>
          </a:prstGeom>
          <a:solidFill>
            <a:srgbClr val="E7E5E4"/>
          </a:solidFill>
          <a:ln w="12700">
            <a:solidFill>
              <a:srgbClr val="E7E5E4"/>
            </a:solidFill>
            <a:prstDash val="solid"/>
          </a:ln>
        </p:spPr>
      </p:sp>
      <p:sp>
        <p:nvSpPr>
          <p:cNvPr id="30" name="Shape 27"/>
          <p:cNvSpPr/>
          <p:nvPr/>
        </p:nvSpPr>
        <p:spPr>
          <a:xfrm>
            <a:off x="3302813" y="4069080"/>
            <a:ext cx="109728" cy="384048"/>
          </a:xfrm>
          <a:prstGeom prst="rect">
            <a:avLst/>
          </a:prstGeom>
          <a:solidFill>
            <a:srgbClr val="E7E5E4"/>
          </a:solidFill>
          <a:ln w="12700">
            <a:solidFill>
              <a:srgbClr val="E7E5E4"/>
            </a:solidFill>
            <a:prstDash val="solid"/>
          </a:ln>
        </p:spPr>
      </p:sp>
      <p:sp>
        <p:nvSpPr>
          <p:cNvPr id="31" name="Shape 28"/>
          <p:cNvSpPr/>
          <p:nvPr/>
        </p:nvSpPr>
        <p:spPr>
          <a:xfrm>
            <a:off x="3438144" y="4069080"/>
            <a:ext cx="109728" cy="384048"/>
          </a:xfrm>
          <a:prstGeom prst="rect">
            <a:avLst/>
          </a:prstGeom>
          <a:solidFill>
            <a:srgbClr val="E7E5E4"/>
          </a:solidFill>
          <a:ln w="12700">
            <a:solidFill>
              <a:srgbClr val="E7E5E4"/>
            </a:solidFill>
            <a:prstDash val="solid"/>
          </a:ln>
        </p:spPr>
      </p:sp>
      <p:sp>
        <p:nvSpPr>
          <p:cNvPr id="32" name="Shape 29"/>
          <p:cNvSpPr/>
          <p:nvPr/>
        </p:nvSpPr>
        <p:spPr>
          <a:xfrm>
            <a:off x="3573475" y="4069080"/>
            <a:ext cx="109728" cy="384048"/>
          </a:xfrm>
          <a:prstGeom prst="rect">
            <a:avLst/>
          </a:prstGeom>
          <a:solidFill>
            <a:srgbClr val="E7E5E4"/>
          </a:solidFill>
          <a:ln w="12700">
            <a:solidFill>
              <a:srgbClr val="E7E5E4"/>
            </a:solidFill>
            <a:prstDash val="solid"/>
          </a:ln>
        </p:spPr>
      </p:sp>
      <p:sp>
        <p:nvSpPr>
          <p:cNvPr id="33" name="Shape 30"/>
          <p:cNvSpPr/>
          <p:nvPr/>
        </p:nvSpPr>
        <p:spPr>
          <a:xfrm>
            <a:off x="3708806" y="4069080"/>
            <a:ext cx="109728" cy="384048"/>
          </a:xfrm>
          <a:prstGeom prst="rect">
            <a:avLst/>
          </a:prstGeom>
          <a:solidFill>
            <a:srgbClr val="E7E5E4"/>
          </a:solidFill>
          <a:ln w="12700">
            <a:solidFill>
              <a:srgbClr val="E7E5E4"/>
            </a:solidFill>
            <a:prstDash val="solid"/>
          </a:ln>
        </p:spPr>
      </p:sp>
      <p:sp>
        <p:nvSpPr>
          <p:cNvPr id="34" name="Shape 31"/>
          <p:cNvSpPr/>
          <p:nvPr/>
        </p:nvSpPr>
        <p:spPr>
          <a:xfrm>
            <a:off x="3844138" y="4069080"/>
            <a:ext cx="109728" cy="384048"/>
          </a:xfrm>
          <a:prstGeom prst="rect">
            <a:avLst/>
          </a:prstGeom>
          <a:solidFill>
            <a:srgbClr val="E7E5E4"/>
          </a:solidFill>
          <a:ln w="12700">
            <a:solidFill>
              <a:srgbClr val="E7E5E4"/>
            </a:solidFill>
            <a:prstDash val="solid"/>
          </a:ln>
        </p:spPr>
      </p:sp>
      <p:sp>
        <p:nvSpPr>
          <p:cNvPr id="35" name="Shape 32"/>
          <p:cNvSpPr/>
          <p:nvPr/>
        </p:nvSpPr>
        <p:spPr>
          <a:xfrm>
            <a:off x="3979469" y="4069080"/>
            <a:ext cx="109728" cy="384048"/>
          </a:xfrm>
          <a:prstGeom prst="rect">
            <a:avLst/>
          </a:prstGeom>
          <a:solidFill>
            <a:srgbClr val="E7E5E4"/>
          </a:solidFill>
          <a:ln w="12700">
            <a:solidFill>
              <a:srgbClr val="E7E5E4"/>
            </a:solidFill>
            <a:prstDash val="solid"/>
          </a:ln>
        </p:spPr>
      </p:sp>
      <p:sp>
        <p:nvSpPr>
          <p:cNvPr id="36" name="Shape 33"/>
          <p:cNvSpPr/>
          <p:nvPr/>
        </p:nvSpPr>
        <p:spPr>
          <a:xfrm>
            <a:off x="4114800" y="4069080"/>
            <a:ext cx="109728" cy="384048"/>
          </a:xfrm>
          <a:prstGeom prst="rect">
            <a:avLst/>
          </a:prstGeom>
          <a:solidFill>
            <a:srgbClr val="E7E5E4"/>
          </a:solidFill>
          <a:ln w="12700">
            <a:solidFill>
              <a:srgbClr val="E7E5E4"/>
            </a:solidFill>
            <a:prstDash val="solid"/>
          </a:ln>
        </p:spPr>
      </p:sp>
      <p:sp>
        <p:nvSpPr>
          <p:cNvPr id="37" name="Shape 34"/>
          <p:cNvSpPr/>
          <p:nvPr/>
        </p:nvSpPr>
        <p:spPr>
          <a:xfrm>
            <a:off x="4250131" y="4069080"/>
            <a:ext cx="109728" cy="384048"/>
          </a:xfrm>
          <a:prstGeom prst="rect">
            <a:avLst/>
          </a:prstGeom>
          <a:solidFill>
            <a:srgbClr val="E7E5E4"/>
          </a:solidFill>
          <a:ln w="12700">
            <a:solidFill>
              <a:srgbClr val="E7E5E4"/>
            </a:solidFill>
            <a:prstDash val="solid"/>
          </a:ln>
        </p:spPr>
      </p:sp>
      <p:sp>
        <p:nvSpPr>
          <p:cNvPr id="38" name="Shape 35"/>
          <p:cNvSpPr/>
          <p:nvPr/>
        </p:nvSpPr>
        <p:spPr>
          <a:xfrm>
            <a:off x="4385462" y="4069080"/>
            <a:ext cx="109728" cy="384048"/>
          </a:xfrm>
          <a:prstGeom prst="rect">
            <a:avLst/>
          </a:prstGeom>
          <a:solidFill>
            <a:srgbClr val="E7E5E4"/>
          </a:solidFill>
          <a:ln w="12700">
            <a:solidFill>
              <a:srgbClr val="E7E5E4"/>
            </a:solidFill>
            <a:prstDash val="solid"/>
          </a:ln>
        </p:spPr>
      </p:sp>
      <p:sp>
        <p:nvSpPr>
          <p:cNvPr id="39" name="Shape 36"/>
          <p:cNvSpPr/>
          <p:nvPr/>
        </p:nvSpPr>
        <p:spPr>
          <a:xfrm>
            <a:off x="4520794" y="4069080"/>
            <a:ext cx="109728" cy="384048"/>
          </a:xfrm>
          <a:prstGeom prst="rect">
            <a:avLst/>
          </a:prstGeom>
          <a:solidFill>
            <a:srgbClr val="E7E5E4"/>
          </a:solidFill>
          <a:ln w="12700">
            <a:solidFill>
              <a:srgbClr val="E7E5E4"/>
            </a:solidFill>
            <a:prstDash val="solid"/>
          </a:ln>
        </p:spPr>
      </p:sp>
      <p:sp>
        <p:nvSpPr>
          <p:cNvPr id="40" name="Shape 37"/>
          <p:cNvSpPr/>
          <p:nvPr/>
        </p:nvSpPr>
        <p:spPr>
          <a:xfrm>
            <a:off x="4656125" y="4069080"/>
            <a:ext cx="109728" cy="384048"/>
          </a:xfrm>
          <a:prstGeom prst="rect">
            <a:avLst/>
          </a:prstGeom>
          <a:solidFill>
            <a:srgbClr val="E7E5E4"/>
          </a:solidFill>
          <a:ln w="12700">
            <a:solidFill>
              <a:srgbClr val="E7E5E4"/>
            </a:solidFill>
            <a:prstDash val="solid"/>
          </a:ln>
        </p:spPr>
      </p:sp>
      <p:sp>
        <p:nvSpPr>
          <p:cNvPr id="41" name="Shape 38"/>
          <p:cNvSpPr/>
          <p:nvPr/>
        </p:nvSpPr>
        <p:spPr>
          <a:xfrm>
            <a:off x="4791456" y="4069080"/>
            <a:ext cx="109728" cy="384048"/>
          </a:xfrm>
          <a:prstGeom prst="rect">
            <a:avLst/>
          </a:prstGeom>
          <a:solidFill>
            <a:srgbClr val="E7E5E4"/>
          </a:solidFill>
          <a:ln w="12700">
            <a:solidFill>
              <a:srgbClr val="E7E5E4"/>
            </a:solidFill>
            <a:prstDash val="solid"/>
          </a:ln>
        </p:spPr>
      </p:sp>
      <p:sp>
        <p:nvSpPr>
          <p:cNvPr id="42" name="Text 39"/>
          <p:cNvSpPr/>
          <p:nvPr/>
        </p:nvSpPr>
        <p:spPr>
          <a:xfrm>
            <a:off x="731520" y="4617720"/>
            <a:ext cx="4389120" cy="274320"/>
          </a:xfrm>
          <a:prstGeom prst="rect">
            <a:avLst/>
          </a:prstGeom>
          <a:noFill/>
          <a:ln/>
        </p:spPr>
        <p:txBody>
          <a:bodyPr wrap="square" lIns="0" tIns="0" rIns="0" bIns="0" rtlCol="0" anchor="t"/>
          <a:lstStyle/>
          <a:p>
            <a:pPr indent="0" marL="0">
              <a:buNone/>
            </a:pPr>
            <a:r>
              <a:rPr lang="en-US" sz="1200" dirty="0">
                <a:solidFill>
                  <a:srgbClr val="8A8984"/>
                </a:solidFill>
                <a:latin typeface="Calibri" pitchFamily="34" charset="0"/>
                <a:ea typeface="Calibri" pitchFamily="34" charset="-122"/>
                <a:cs typeface="Calibri" pitchFamily="34" charset="-120"/>
              </a:rPr>
              <a:t>Construido el 17/10 · 43 pruebas automáticas en verde al 20/10</a:t>
            </a:r>
            <a:endParaRPr lang="en-US" sz="1200" dirty="0"/>
          </a:p>
        </p:txBody>
      </p:sp>
      <p:sp>
        <p:nvSpPr>
          <p:cNvPr id="43" name="Text 40"/>
          <p:cNvSpPr/>
          <p:nvPr/>
        </p:nvSpPr>
        <p:spPr>
          <a:xfrm>
            <a:off x="5760720" y="1828800"/>
            <a:ext cx="457200" cy="274320"/>
          </a:xfrm>
          <a:prstGeom prst="rect">
            <a:avLst/>
          </a:prstGeom>
          <a:noFill/>
          <a:ln/>
        </p:spPr>
        <p:txBody>
          <a:bodyPr wrap="square" lIns="0" tIns="0" rIns="0" bIns="0" rtlCol="0" anchor="t"/>
          <a:lstStyle/>
          <a:p>
            <a:pPr indent="0" marL="0">
              <a:buNone/>
            </a:pPr>
            <a:r>
              <a:rPr lang="en-US" sz="1300" b="1" dirty="0">
                <a:solidFill>
                  <a:srgbClr val="3E63DD"/>
                </a:solidFill>
                <a:latin typeface="Calibri" pitchFamily="34" charset="0"/>
                <a:ea typeface="Calibri" pitchFamily="34" charset="-122"/>
                <a:cs typeface="Calibri" pitchFamily="34" charset="-120"/>
              </a:rPr>
              <a:t>01</a:t>
            </a:r>
            <a:endParaRPr lang="en-US" sz="1300" dirty="0"/>
          </a:p>
        </p:txBody>
      </p:sp>
      <p:pic>
        <p:nvPicPr>
          <p:cNvPr id="44" name="Image 0" descr="/Users/anthony/Documents/Projects/NewBit/curso/semana-06-producto-unidad-1/nuestras-entregas/PPT_Producto_Unidad_1_NewBit/img/iconos/video-ink.png">    </p:cNvPr>
          <p:cNvPicPr>
            <a:picLocks noChangeAspect="1"/>
          </p:cNvPicPr>
          <p:nvPr/>
        </p:nvPicPr>
        <p:blipFill>
          <a:blip r:embed="rId1"/>
          <a:stretch>
            <a:fillRect/>
          </a:stretch>
        </p:blipFill>
        <p:spPr>
          <a:xfrm>
            <a:off x="6263640" y="1783080"/>
            <a:ext cx="365760" cy="365760"/>
          </a:xfrm>
          <a:prstGeom prst="rect">
            <a:avLst/>
          </a:prstGeom>
        </p:spPr>
      </p:pic>
      <p:sp>
        <p:nvSpPr>
          <p:cNvPr id="45" name="Text 41"/>
          <p:cNvSpPr/>
          <p:nvPr/>
        </p:nvSpPr>
        <p:spPr>
          <a:xfrm>
            <a:off x="6812280" y="1783080"/>
            <a:ext cx="3291840" cy="365760"/>
          </a:xfrm>
          <a:prstGeom prst="rect">
            <a:avLst/>
          </a:prstGeom>
          <a:noFill/>
          <a:ln/>
        </p:spPr>
        <p:txBody>
          <a:bodyPr wrap="square" lIns="0" tIns="0" rIns="0" bIns="0" rtlCol="0" anchor="t"/>
          <a:lstStyle/>
          <a:p>
            <a:pPr indent="0" marL="0">
              <a:buNone/>
            </a:pPr>
            <a:r>
              <a:rPr lang="en-US" sz="1800" b="1" dirty="0">
                <a:solidFill>
                  <a:srgbClr val="1A1A1A"/>
                </a:solidFill>
                <a:latin typeface="Calibri" pitchFamily="34" charset="0"/>
                <a:ea typeface="Calibri" pitchFamily="34" charset="-122"/>
                <a:cs typeface="Calibri" pitchFamily="34" charset="-120"/>
              </a:rPr>
              <a:t>Subes el video</a:t>
            </a:r>
            <a:endParaRPr lang="en-US" sz="1800" dirty="0"/>
          </a:p>
        </p:txBody>
      </p:sp>
      <p:sp>
        <p:nvSpPr>
          <p:cNvPr id="46" name="Text 42"/>
          <p:cNvSpPr/>
          <p:nvPr/>
        </p:nvSpPr>
        <p:spPr>
          <a:xfrm>
            <a:off x="6812280" y="2167128"/>
            <a:ext cx="3429000" cy="457200"/>
          </a:xfrm>
          <a:prstGeom prst="rect">
            <a:avLst/>
          </a:prstGeom>
          <a:noFill/>
          <a:ln/>
        </p:spPr>
        <p:txBody>
          <a:bodyPr wrap="square" lIns="0" tIns="0" rIns="0" bIns="0" rtlCol="0" anchor="t"/>
          <a:lstStyle/>
          <a:p>
            <a:pPr indent="0" marL="0">
              <a:buNone/>
            </a:pPr>
            <a:r>
              <a:rPr lang="en-US" sz="1300" dirty="0">
                <a:solidFill>
                  <a:srgbClr val="57534E"/>
                </a:solidFill>
                <a:latin typeface="Calibri" pitchFamily="34" charset="0"/>
                <a:ea typeface="Calibri" pitchFamily="34" charset="-122"/>
                <a:cs typeface="Calibri" pitchFamily="34" charset="-120"/>
              </a:rPr>
              <a:t>Valida el archivo y muestra duración, resolución y FPS.</a:t>
            </a:r>
            <a:endParaRPr lang="en-US" sz="1300" dirty="0"/>
          </a:p>
        </p:txBody>
      </p:sp>
      <p:sp>
        <p:nvSpPr>
          <p:cNvPr id="47" name="Shape 43"/>
          <p:cNvSpPr/>
          <p:nvPr/>
        </p:nvSpPr>
        <p:spPr>
          <a:xfrm>
            <a:off x="10408615" y="1819656"/>
            <a:ext cx="1051560" cy="292608"/>
          </a:xfrm>
          <a:prstGeom prst="roundRect">
            <a:avLst>
              <a:gd name="adj" fmla="val 50000"/>
            </a:avLst>
          </a:prstGeom>
          <a:solidFill>
            <a:srgbClr val="EEF8F2"/>
          </a:solidFill>
          <a:ln w="12700">
            <a:solidFill>
              <a:srgbClr val="EEF8F2"/>
            </a:solidFill>
            <a:prstDash val="solid"/>
          </a:ln>
        </p:spPr>
      </p:sp>
      <p:sp>
        <p:nvSpPr>
          <p:cNvPr id="48" name="Text 44"/>
          <p:cNvSpPr/>
          <p:nvPr/>
        </p:nvSpPr>
        <p:spPr>
          <a:xfrm>
            <a:off x="10408615" y="1865376"/>
            <a:ext cx="1051560" cy="219456"/>
          </a:xfrm>
          <a:prstGeom prst="rect">
            <a:avLst/>
          </a:prstGeom>
          <a:noFill/>
          <a:ln/>
        </p:spPr>
        <p:txBody>
          <a:bodyPr wrap="square" lIns="0" tIns="0" rIns="0" bIns="0" rtlCol="0" anchor="t"/>
          <a:lstStyle/>
          <a:p>
            <a:pPr algn="ctr" indent="0" marL="0">
              <a:buNone/>
            </a:pPr>
            <a:r>
              <a:rPr lang="en-US" sz="1100" b="1" dirty="0">
                <a:solidFill>
                  <a:srgbClr val="2F855A"/>
                </a:solidFill>
                <a:latin typeface="Calibri" pitchFamily="34" charset="0"/>
                <a:ea typeface="Calibri" pitchFamily="34" charset="-122"/>
                <a:cs typeface="Calibri" pitchFamily="34" charset="-120"/>
              </a:rPr>
              <a:t>Funciona</a:t>
            </a:r>
            <a:endParaRPr lang="en-US" sz="1100" dirty="0"/>
          </a:p>
        </p:txBody>
      </p:sp>
      <p:sp>
        <p:nvSpPr>
          <p:cNvPr id="49" name="Shape 45"/>
          <p:cNvSpPr/>
          <p:nvPr/>
        </p:nvSpPr>
        <p:spPr>
          <a:xfrm>
            <a:off x="5760720" y="2642616"/>
            <a:ext cx="5699455" cy="0"/>
          </a:xfrm>
          <a:prstGeom prst="line">
            <a:avLst/>
          </a:prstGeom>
          <a:noFill/>
          <a:ln w="9525">
            <a:solidFill>
              <a:srgbClr val="E7E5E4"/>
            </a:solidFill>
            <a:prstDash val="solid"/>
          </a:ln>
        </p:spPr>
      </p:sp>
      <p:sp>
        <p:nvSpPr>
          <p:cNvPr id="50" name="Text 46"/>
          <p:cNvSpPr/>
          <p:nvPr/>
        </p:nvSpPr>
        <p:spPr>
          <a:xfrm>
            <a:off x="5760720" y="2816352"/>
            <a:ext cx="457200" cy="274320"/>
          </a:xfrm>
          <a:prstGeom prst="rect">
            <a:avLst/>
          </a:prstGeom>
          <a:noFill/>
          <a:ln/>
        </p:spPr>
        <p:txBody>
          <a:bodyPr wrap="square" lIns="0" tIns="0" rIns="0" bIns="0" rtlCol="0" anchor="t"/>
          <a:lstStyle/>
          <a:p>
            <a:pPr indent="0" marL="0">
              <a:buNone/>
            </a:pPr>
            <a:r>
              <a:rPr lang="en-US" sz="1300" b="1" dirty="0">
                <a:solidFill>
                  <a:srgbClr val="3E63DD"/>
                </a:solidFill>
                <a:latin typeface="Calibri" pitchFamily="34" charset="0"/>
                <a:ea typeface="Calibri" pitchFamily="34" charset="-122"/>
                <a:cs typeface="Calibri" pitchFamily="34" charset="-120"/>
              </a:rPr>
              <a:t>02</a:t>
            </a:r>
            <a:endParaRPr lang="en-US" sz="1300" dirty="0"/>
          </a:p>
        </p:txBody>
      </p:sp>
      <p:pic>
        <p:nvPicPr>
          <p:cNvPr id="51" name="Image 1" descr="/Users/anthony/Documents/Projects/NewBit/curso/semana-06-producto-unidad-1/nuestras-entregas/PPT_Producto_Unidad_1_NewBit/img/iconos/buscar-ink.png">    </p:cNvPr>
          <p:cNvPicPr>
            <a:picLocks noChangeAspect="1"/>
          </p:cNvPicPr>
          <p:nvPr/>
        </p:nvPicPr>
        <p:blipFill>
          <a:blip r:embed="rId2"/>
          <a:stretch>
            <a:fillRect/>
          </a:stretch>
        </p:blipFill>
        <p:spPr>
          <a:xfrm>
            <a:off x="6263640" y="2770632"/>
            <a:ext cx="365760" cy="365760"/>
          </a:xfrm>
          <a:prstGeom prst="rect">
            <a:avLst/>
          </a:prstGeom>
        </p:spPr>
      </p:pic>
      <p:sp>
        <p:nvSpPr>
          <p:cNvPr id="52" name="Text 47"/>
          <p:cNvSpPr/>
          <p:nvPr/>
        </p:nvSpPr>
        <p:spPr>
          <a:xfrm>
            <a:off x="6812280" y="2770632"/>
            <a:ext cx="3291840" cy="365760"/>
          </a:xfrm>
          <a:prstGeom prst="rect">
            <a:avLst/>
          </a:prstGeom>
          <a:noFill/>
          <a:ln/>
        </p:spPr>
        <p:txBody>
          <a:bodyPr wrap="square" lIns="0" tIns="0" rIns="0" bIns="0" rtlCol="0" anchor="t"/>
          <a:lstStyle/>
          <a:p>
            <a:pPr indent="0" marL="0">
              <a:buNone/>
            </a:pPr>
            <a:r>
              <a:rPr lang="en-US" sz="1800" b="1" dirty="0">
                <a:solidFill>
                  <a:srgbClr val="1A1A1A"/>
                </a:solidFill>
                <a:latin typeface="Calibri" pitchFamily="34" charset="0"/>
                <a:ea typeface="Calibri" pitchFamily="34" charset="-122"/>
                <a:cs typeface="Calibri" pitchFamily="34" charset="-120"/>
              </a:rPr>
              <a:t>Encuentra a las personas</a:t>
            </a:r>
            <a:endParaRPr lang="en-US" sz="1800" dirty="0"/>
          </a:p>
        </p:txBody>
      </p:sp>
      <p:sp>
        <p:nvSpPr>
          <p:cNvPr id="53" name="Text 48"/>
          <p:cNvSpPr/>
          <p:nvPr/>
        </p:nvSpPr>
        <p:spPr>
          <a:xfrm>
            <a:off x="6812280" y="3154680"/>
            <a:ext cx="3429000" cy="457200"/>
          </a:xfrm>
          <a:prstGeom prst="rect">
            <a:avLst/>
          </a:prstGeom>
          <a:noFill/>
          <a:ln/>
        </p:spPr>
        <p:txBody>
          <a:bodyPr wrap="square" lIns="0" tIns="0" rIns="0" bIns="0" rtlCol="0" anchor="t"/>
          <a:lstStyle/>
          <a:p>
            <a:pPr indent="0" marL="0">
              <a:buNone/>
            </a:pPr>
            <a:r>
              <a:rPr lang="en-US" sz="1300" dirty="0">
                <a:solidFill>
                  <a:srgbClr val="57534E"/>
                </a:solidFill>
                <a:latin typeface="Calibri" pitchFamily="34" charset="0"/>
                <a:ea typeface="Calibri" pitchFamily="34" charset="-122"/>
                <a:cs typeface="Calibri" pitchFamily="34" charset="-120"/>
              </a:rPr>
              <a:t>Descarta las imágenes vacías y arma clips solo con actividad.</a:t>
            </a:r>
            <a:endParaRPr lang="en-US" sz="1300" dirty="0"/>
          </a:p>
        </p:txBody>
      </p:sp>
      <p:sp>
        <p:nvSpPr>
          <p:cNvPr id="54" name="Shape 49"/>
          <p:cNvSpPr/>
          <p:nvPr/>
        </p:nvSpPr>
        <p:spPr>
          <a:xfrm>
            <a:off x="10408615" y="2807208"/>
            <a:ext cx="1051560" cy="292608"/>
          </a:xfrm>
          <a:prstGeom prst="roundRect">
            <a:avLst>
              <a:gd name="adj" fmla="val 50000"/>
            </a:avLst>
          </a:prstGeom>
          <a:solidFill>
            <a:srgbClr val="EEF8F2"/>
          </a:solidFill>
          <a:ln w="12700">
            <a:solidFill>
              <a:srgbClr val="EEF8F2"/>
            </a:solidFill>
            <a:prstDash val="solid"/>
          </a:ln>
        </p:spPr>
      </p:sp>
      <p:sp>
        <p:nvSpPr>
          <p:cNvPr id="55" name="Text 50"/>
          <p:cNvSpPr/>
          <p:nvPr/>
        </p:nvSpPr>
        <p:spPr>
          <a:xfrm>
            <a:off x="10408615" y="2852928"/>
            <a:ext cx="1051560" cy="219456"/>
          </a:xfrm>
          <a:prstGeom prst="rect">
            <a:avLst/>
          </a:prstGeom>
          <a:noFill/>
          <a:ln/>
        </p:spPr>
        <p:txBody>
          <a:bodyPr wrap="square" lIns="0" tIns="0" rIns="0" bIns="0" rtlCol="0" anchor="t"/>
          <a:lstStyle/>
          <a:p>
            <a:pPr algn="ctr" indent="0" marL="0">
              <a:buNone/>
            </a:pPr>
            <a:r>
              <a:rPr lang="en-US" sz="1100" b="1" dirty="0">
                <a:solidFill>
                  <a:srgbClr val="2F855A"/>
                </a:solidFill>
                <a:latin typeface="Calibri" pitchFamily="34" charset="0"/>
                <a:ea typeface="Calibri" pitchFamily="34" charset="-122"/>
                <a:cs typeface="Calibri" pitchFamily="34" charset="-120"/>
              </a:rPr>
              <a:t>Funciona</a:t>
            </a:r>
            <a:endParaRPr lang="en-US" sz="1100" dirty="0"/>
          </a:p>
        </p:txBody>
      </p:sp>
      <p:sp>
        <p:nvSpPr>
          <p:cNvPr id="56" name="Shape 51"/>
          <p:cNvSpPr/>
          <p:nvPr/>
        </p:nvSpPr>
        <p:spPr>
          <a:xfrm>
            <a:off x="5760720" y="3630168"/>
            <a:ext cx="5699455" cy="0"/>
          </a:xfrm>
          <a:prstGeom prst="line">
            <a:avLst/>
          </a:prstGeom>
          <a:noFill/>
          <a:ln w="9525">
            <a:solidFill>
              <a:srgbClr val="E7E5E4"/>
            </a:solidFill>
            <a:prstDash val="solid"/>
          </a:ln>
        </p:spPr>
      </p:sp>
      <p:sp>
        <p:nvSpPr>
          <p:cNvPr id="57" name="Text 52"/>
          <p:cNvSpPr/>
          <p:nvPr/>
        </p:nvSpPr>
        <p:spPr>
          <a:xfrm>
            <a:off x="5760720" y="3803904"/>
            <a:ext cx="457200" cy="274320"/>
          </a:xfrm>
          <a:prstGeom prst="rect">
            <a:avLst/>
          </a:prstGeom>
          <a:noFill/>
          <a:ln/>
        </p:spPr>
        <p:txBody>
          <a:bodyPr wrap="square" lIns="0" tIns="0" rIns="0" bIns="0" rtlCol="0" anchor="t"/>
          <a:lstStyle/>
          <a:p>
            <a:pPr indent="0" marL="0">
              <a:buNone/>
            </a:pPr>
            <a:r>
              <a:rPr lang="en-US" sz="1300" b="1" dirty="0">
                <a:solidFill>
                  <a:srgbClr val="3E63DD"/>
                </a:solidFill>
                <a:latin typeface="Calibri" pitchFamily="34" charset="0"/>
                <a:ea typeface="Calibri" pitchFamily="34" charset="-122"/>
                <a:cs typeface="Calibri" pitchFamily="34" charset="-120"/>
              </a:rPr>
              <a:t>03</a:t>
            </a:r>
            <a:endParaRPr lang="en-US" sz="1300" dirty="0"/>
          </a:p>
        </p:txBody>
      </p:sp>
      <p:pic>
        <p:nvPicPr>
          <p:cNvPr id="58" name="Image 2" descr="/Users/anthony/Documents/Projects/NewBit/curso/semana-06-producto-unidad-1/nuestras-entregas/PPT_Producto_Unidad_1_NewBit/img/iconos/secuencia-ink.png">    </p:cNvPr>
          <p:cNvPicPr>
            <a:picLocks noChangeAspect="1"/>
          </p:cNvPicPr>
          <p:nvPr/>
        </p:nvPicPr>
        <p:blipFill>
          <a:blip r:embed="rId3"/>
          <a:stretch>
            <a:fillRect/>
          </a:stretch>
        </p:blipFill>
        <p:spPr>
          <a:xfrm>
            <a:off x="6263640" y="3758184"/>
            <a:ext cx="365760" cy="365760"/>
          </a:xfrm>
          <a:prstGeom prst="rect">
            <a:avLst/>
          </a:prstGeom>
        </p:spPr>
      </p:pic>
      <p:sp>
        <p:nvSpPr>
          <p:cNvPr id="59" name="Text 53"/>
          <p:cNvSpPr/>
          <p:nvPr/>
        </p:nvSpPr>
        <p:spPr>
          <a:xfrm>
            <a:off x="6812280" y="3758184"/>
            <a:ext cx="3291840" cy="365760"/>
          </a:xfrm>
          <a:prstGeom prst="rect">
            <a:avLst/>
          </a:prstGeom>
          <a:noFill/>
          <a:ln/>
        </p:spPr>
        <p:txBody>
          <a:bodyPr wrap="square" lIns="0" tIns="0" rIns="0" bIns="0" rtlCol="0" anchor="t"/>
          <a:lstStyle/>
          <a:p>
            <a:pPr indent="0" marL="0">
              <a:buNone/>
            </a:pPr>
            <a:r>
              <a:rPr lang="en-US" sz="1800" b="1" dirty="0">
                <a:solidFill>
                  <a:srgbClr val="1A1A1A"/>
                </a:solidFill>
                <a:latin typeface="Calibri" pitchFamily="34" charset="0"/>
                <a:ea typeface="Calibri" pitchFamily="34" charset="-122"/>
                <a:cs typeface="Calibri" pitchFamily="34" charset="-120"/>
              </a:rPr>
              <a:t>Entiende lo que hacen</a:t>
            </a:r>
            <a:endParaRPr lang="en-US" sz="1800" dirty="0"/>
          </a:p>
        </p:txBody>
      </p:sp>
      <p:sp>
        <p:nvSpPr>
          <p:cNvPr id="60" name="Text 54"/>
          <p:cNvSpPr/>
          <p:nvPr/>
        </p:nvSpPr>
        <p:spPr>
          <a:xfrm>
            <a:off x="6812280" y="4142232"/>
            <a:ext cx="3429000" cy="457200"/>
          </a:xfrm>
          <a:prstGeom prst="rect">
            <a:avLst/>
          </a:prstGeom>
          <a:noFill/>
          <a:ln/>
        </p:spPr>
        <p:txBody>
          <a:bodyPr wrap="square" lIns="0" tIns="0" rIns="0" bIns="0" rtlCol="0" anchor="t"/>
          <a:lstStyle/>
          <a:p>
            <a:pPr indent="0" marL="0">
              <a:buNone/>
            </a:pPr>
            <a:r>
              <a:rPr lang="en-US" sz="1300" dirty="0">
                <a:solidFill>
                  <a:srgbClr val="57534E"/>
                </a:solidFill>
                <a:latin typeface="Calibri" pitchFamily="34" charset="0"/>
                <a:ea typeface="Calibri" pitchFamily="34" charset="-122"/>
                <a:cs typeface="Calibri" pitchFamily="34" charset="-120"/>
              </a:rPr>
              <a:t>Clasifica la conducta con ConvLSTM.</a:t>
            </a:r>
            <a:endParaRPr lang="en-US" sz="1300" dirty="0"/>
          </a:p>
        </p:txBody>
      </p:sp>
      <p:sp>
        <p:nvSpPr>
          <p:cNvPr id="61" name="Shape 55"/>
          <p:cNvSpPr/>
          <p:nvPr/>
        </p:nvSpPr>
        <p:spPr>
          <a:xfrm>
            <a:off x="10408615" y="3794760"/>
            <a:ext cx="1051560" cy="292608"/>
          </a:xfrm>
          <a:prstGeom prst="roundRect">
            <a:avLst>
              <a:gd name="adj" fmla="val 50000"/>
            </a:avLst>
          </a:prstGeom>
          <a:solidFill>
            <a:srgbClr val="FFF4ED"/>
          </a:solidFill>
          <a:ln w="12700">
            <a:solidFill>
              <a:srgbClr val="FFF4ED"/>
            </a:solidFill>
            <a:prstDash val="solid"/>
          </a:ln>
        </p:spPr>
      </p:sp>
      <p:sp>
        <p:nvSpPr>
          <p:cNvPr id="62" name="Text 56"/>
          <p:cNvSpPr/>
          <p:nvPr/>
        </p:nvSpPr>
        <p:spPr>
          <a:xfrm>
            <a:off x="10408615" y="3840480"/>
            <a:ext cx="1051560" cy="219456"/>
          </a:xfrm>
          <a:prstGeom prst="rect">
            <a:avLst/>
          </a:prstGeom>
          <a:noFill/>
          <a:ln/>
        </p:spPr>
        <p:txBody>
          <a:bodyPr wrap="square" lIns="0" tIns="0" rIns="0" bIns="0" rtlCol="0" anchor="t"/>
          <a:lstStyle/>
          <a:p>
            <a:pPr algn="ctr" indent="0" marL="0">
              <a:buNone/>
            </a:pPr>
            <a:r>
              <a:rPr lang="en-US" sz="1100" b="1" dirty="0">
                <a:solidFill>
                  <a:srgbClr val="C2410C"/>
                </a:solidFill>
                <a:latin typeface="Calibri" pitchFamily="34" charset="0"/>
                <a:ea typeface="Calibri" pitchFamily="34" charset="-122"/>
                <a:cs typeface="Calibri" pitchFamily="34" charset="-120"/>
              </a:rPr>
              <a:t>Sprint 3</a:t>
            </a:r>
            <a:endParaRPr lang="en-US" sz="1100" dirty="0"/>
          </a:p>
        </p:txBody>
      </p:sp>
      <p:sp>
        <p:nvSpPr>
          <p:cNvPr id="63" name="Shape 57"/>
          <p:cNvSpPr/>
          <p:nvPr/>
        </p:nvSpPr>
        <p:spPr>
          <a:xfrm>
            <a:off x="5760720" y="4617720"/>
            <a:ext cx="5699455" cy="0"/>
          </a:xfrm>
          <a:prstGeom prst="line">
            <a:avLst/>
          </a:prstGeom>
          <a:noFill/>
          <a:ln w="9525">
            <a:solidFill>
              <a:srgbClr val="E7E5E4"/>
            </a:solidFill>
            <a:prstDash val="solid"/>
          </a:ln>
        </p:spPr>
      </p:sp>
      <p:sp>
        <p:nvSpPr>
          <p:cNvPr id="64" name="Text 58"/>
          <p:cNvSpPr/>
          <p:nvPr/>
        </p:nvSpPr>
        <p:spPr>
          <a:xfrm>
            <a:off x="5760720" y="4791456"/>
            <a:ext cx="457200" cy="274320"/>
          </a:xfrm>
          <a:prstGeom prst="rect">
            <a:avLst/>
          </a:prstGeom>
          <a:noFill/>
          <a:ln/>
        </p:spPr>
        <p:txBody>
          <a:bodyPr wrap="square" lIns="0" tIns="0" rIns="0" bIns="0" rtlCol="0" anchor="t"/>
          <a:lstStyle/>
          <a:p>
            <a:pPr indent="0" marL="0">
              <a:buNone/>
            </a:pPr>
            <a:r>
              <a:rPr lang="en-US" sz="1300" b="1" dirty="0">
                <a:solidFill>
                  <a:srgbClr val="3E63DD"/>
                </a:solidFill>
                <a:latin typeface="Calibri" pitchFamily="34" charset="0"/>
                <a:ea typeface="Calibri" pitchFamily="34" charset="-122"/>
                <a:cs typeface="Calibri" pitchFamily="34" charset="-120"/>
              </a:rPr>
              <a:t>04</a:t>
            </a:r>
            <a:endParaRPr lang="en-US" sz="1300" dirty="0"/>
          </a:p>
        </p:txBody>
      </p:sp>
      <p:pic>
        <p:nvPicPr>
          <p:cNvPr id="65" name="Image 3" descr="/Users/anthony/Documents/Projects/NewBit/curso/semana-06-producto-unidad-1/nuestras-entregas/PPT_Producto_Unidad_1_NewBit/img/iconos/alerta-ink.png">    </p:cNvPr>
          <p:cNvPicPr>
            <a:picLocks noChangeAspect="1"/>
          </p:cNvPicPr>
          <p:nvPr/>
        </p:nvPicPr>
        <p:blipFill>
          <a:blip r:embed="rId4"/>
          <a:stretch>
            <a:fillRect/>
          </a:stretch>
        </p:blipFill>
        <p:spPr>
          <a:xfrm>
            <a:off x="6263640" y="4745736"/>
            <a:ext cx="365760" cy="365760"/>
          </a:xfrm>
          <a:prstGeom prst="rect">
            <a:avLst/>
          </a:prstGeom>
        </p:spPr>
      </p:pic>
      <p:sp>
        <p:nvSpPr>
          <p:cNvPr id="66" name="Text 59"/>
          <p:cNvSpPr/>
          <p:nvPr/>
        </p:nvSpPr>
        <p:spPr>
          <a:xfrm>
            <a:off x="6812280" y="4745736"/>
            <a:ext cx="3291840" cy="365760"/>
          </a:xfrm>
          <a:prstGeom prst="rect">
            <a:avLst/>
          </a:prstGeom>
          <a:noFill/>
          <a:ln/>
        </p:spPr>
        <p:txBody>
          <a:bodyPr wrap="square" lIns="0" tIns="0" rIns="0" bIns="0" rtlCol="0" anchor="t"/>
          <a:lstStyle/>
          <a:p>
            <a:pPr indent="0" marL="0">
              <a:buNone/>
            </a:pPr>
            <a:r>
              <a:rPr lang="en-US" sz="1800" b="1" dirty="0">
                <a:solidFill>
                  <a:srgbClr val="1A1A1A"/>
                </a:solidFill>
                <a:latin typeface="Calibri" pitchFamily="34" charset="0"/>
                <a:ea typeface="Calibri" pitchFamily="34" charset="-122"/>
                <a:cs typeface="Calibri" pitchFamily="34" charset="-120"/>
              </a:rPr>
              <a:t>Te avisa con la prueba</a:t>
            </a:r>
            <a:endParaRPr lang="en-US" sz="1800" dirty="0"/>
          </a:p>
        </p:txBody>
      </p:sp>
      <p:sp>
        <p:nvSpPr>
          <p:cNvPr id="67" name="Text 60"/>
          <p:cNvSpPr/>
          <p:nvPr/>
        </p:nvSpPr>
        <p:spPr>
          <a:xfrm>
            <a:off x="6812280" y="5129784"/>
            <a:ext cx="3429000" cy="457200"/>
          </a:xfrm>
          <a:prstGeom prst="rect">
            <a:avLst/>
          </a:prstGeom>
          <a:noFill/>
          <a:ln/>
        </p:spPr>
        <p:txBody>
          <a:bodyPr wrap="square" lIns="0" tIns="0" rIns="0" bIns="0" rtlCol="0" anchor="t"/>
          <a:lstStyle/>
          <a:p>
            <a:pPr indent="0" marL="0">
              <a:buNone/>
            </a:pPr>
            <a:r>
              <a:rPr lang="en-US" sz="1300" dirty="0">
                <a:solidFill>
                  <a:srgbClr val="57534E"/>
                </a:solidFill>
                <a:latin typeface="Calibri" pitchFamily="34" charset="0"/>
                <a:ea typeface="Calibri" pitchFamily="34" charset="-122"/>
                <a:cs typeface="Calibri" pitchFamily="34" charset="-120"/>
              </a:rPr>
              <a:t>Alerta, recuadro de riesgo y registro.</a:t>
            </a:r>
            <a:endParaRPr lang="en-US" sz="1300" dirty="0"/>
          </a:p>
        </p:txBody>
      </p:sp>
      <p:sp>
        <p:nvSpPr>
          <p:cNvPr id="68" name="Shape 61"/>
          <p:cNvSpPr/>
          <p:nvPr/>
        </p:nvSpPr>
        <p:spPr>
          <a:xfrm>
            <a:off x="10408615" y="4782312"/>
            <a:ext cx="1051560" cy="292608"/>
          </a:xfrm>
          <a:prstGeom prst="roundRect">
            <a:avLst>
              <a:gd name="adj" fmla="val 50000"/>
            </a:avLst>
          </a:prstGeom>
          <a:solidFill>
            <a:srgbClr val="FFF4ED"/>
          </a:solidFill>
          <a:ln w="12700">
            <a:solidFill>
              <a:srgbClr val="FFF4ED"/>
            </a:solidFill>
            <a:prstDash val="solid"/>
          </a:ln>
        </p:spPr>
      </p:sp>
      <p:sp>
        <p:nvSpPr>
          <p:cNvPr id="69" name="Text 62"/>
          <p:cNvSpPr/>
          <p:nvPr/>
        </p:nvSpPr>
        <p:spPr>
          <a:xfrm>
            <a:off x="10408615" y="4828032"/>
            <a:ext cx="1051560" cy="219456"/>
          </a:xfrm>
          <a:prstGeom prst="rect">
            <a:avLst/>
          </a:prstGeom>
          <a:noFill/>
          <a:ln/>
        </p:spPr>
        <p:txBody>
          <a:bodyPr wrap="square" lIns="0" tIns="0" rIns="0" bIns="0" rtlCol="0" anchor="t"/>
          <a:lstStyle/>
          <a:p>
            <a:pPr algn="ctr" indent="0" marL="0">
              <a:buNone/>
            </a:pPr>
            <a:r>
              <a:rPr lang="en-US" sz="1100" b="1" dirty="0">
                <a:solidFill>
                  <a:srgbClr val="C2410C"/>
                </a:solidFill>
                <a:latin typeface="Calibri" pitchFamily="34" charset="0"/>
                <a:ea typeface="Calibri" pitchFamily="34" charset="-122"/>
                <a:cs typeface="Calibri" pitchFamily="34" charset="-120"/>
              </a:rPr>
              <a:t>Sprint 4</a:t>
            </a:r>
            <a:endParaRPr lang="en-US" sz="1100" dirty="0"/>
          </a:p>
        </p:txBody>
      </p:sp>
      <p:sp>
        <p:nvSpPr>
          <p:cNvPr id="70" name="Text 63"/>
          <p:cNvSpPr/>
          <p:nvPr/>
        </p:nvSpPr>
        <p:spPr>
          <a:xfrm>
            <a:off x="731520" y="5989320"/>
            <a:ext cx="10728655" cy="274320"/>
          </a:xfrm>
          <a:prstGeom prst="rect">
            <a:avLst/>
          </a:prstGeom>
          <a:noFill/>
          <a:ln/>
        </p:spPr>
        <p:txBody>
          <a:bodyPr wrap="square" lIns="0" tIns="0" rIns="0" bIns="0" rtlCol="0" anchor="t"/>
          <a:lstStyle/>
          <a:p>
            <a:pPr indent="0" marL="0">
              <a:buNone/>
            </a:pPr>
            <a:r>
              <a:rPr lang="en-US" sz="1000" dirty="0">
                <a:solidFill>
                  <a:srgbClr val="8A8984"/>
                </a:solidFill>
                <a:latin typeface="Calibri" pitchFamily="34" charset="0"/>
                <a:ea typeface="Calibri" pitchFamily="34" charset="-122"/>
                <a:cs typeface="Calibri" pitchFamily="34" charset="-120"/>
              </a:rPr>
              <a:t>Las historias se dan por aceptadas solo cuando el Product Owner las valida en la revisión del sprint (SCRUMstudy, 2022, p. 248).</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AFAF9"/>
        </a:solidFill>
      </p:bgPr>
    </p:bg>
    <p:spTree>
      <p:nvGrpSpPr>
        <p:cNvPr id="1" name=""/>
        <p:cNvGrpSpPr/>
        <p:nvPr/>
      </p:nvGrpSpPr>
      <p:grpSpPr>
        <a:xfrm>
          <a:off x="0" y="0"/>
          <a:ext cx="0" cy="0"/>
          <a:chOff x="0" y="0"/>
          <a:chExt cx="0" cy="0"/>
        </a:xfrm>
      </p:grpSpPr>
      <p:sp>
        <p:nvSpPr>
          <p:cNvPr id="2" name="Text 0"/>
          <p:cNvSpPr/>
          <p:nvPr/>
        </p:nvSpPr>
        <p:spPr>
          <a:xfrm>
            <a:off x="731520" y="502920"/>
            <a:ext cx="10058400" cy="274320"/>
          </a:xfrm>
          <a:prstGeom prst="rect">
            <a:avLst/>
          </a:prstGeom>
          <a:noFill/>
          <a:ln/>
        </p:spPr>
        <p:txBody>
          <a:bodyPr wrap="square" lIns="0" tIns="0" rIns="0" bIns="0" rtlCol="0" anchor="t"/>
          <a:lstStyle/>
          <a:p>
            <a:pPr indent="0" marL="0">
              <a:buNone/>
            </a:pPr>
            <a:r>
              <a:rPr lang="en-US" sz="1100" b="1" spc="150" kern="0" dirty="0">
                <a:solidFill>
                  <a:srgbClr val="3E63DD"/>
                </a:solidFill>
                <a:latin typeface="Calibri" pitchFamily="34" charset="0"/>
                <a:ea typeface="Calibri" pitchFamily="34" charset="-122"/>
                <a:cs typeface="Calibri" pitchFamily="34" charset="-120"/>
              </a:rPr>
              <a:t>PARTE 4 · AVANCE REAL</a:t>
            </a:r>
            <a:endParaRPr lang="en-US" sz="1100" dirty="0"/>
          </a:p>
        </p:txBody>
      </p:sp>
      <p:sp>
        <p:nvSpPr>
          <p:cNvPr id="3" name="Text 1"/>
          <p:cNvSpPr/>
          <p:nvPr/>
        </p:nvSpPr>
        <p:spPr>
          <a:xfrm>
            <a:off x="731520" y="777240"/>
            <a:ext cx="10698480" cy="822960"/>
          </a:xfrm>
          <a:prstGeom prst="rect">
            <a:avLst/>
          </a:prstGeom>
          <a:noFill/>
          <a:ln/>
        </p:spPr>
        <p:txBody>
          <a:bodyPr wrap="square" lIns="0" tIns="0" rIns="0" bIns="0" rtlCol="0" anchor="t"/>
          <a:lstStyle/>
          <a:p>
            <a:pPr indent="0" marL="0">
              <a:buNone/>
            </a:pPr>
            <a:r>
              <a:rPr lang="en-US" sz="3400" dirty="0">
                <a:solidFill>
                  <a:srgbClr val="1A1A1A"/>
                </a:solidFill>
                <a:latin typeface="Calibri Light" pitchFamily="34" charset="0"/>
                <a:ea typeface="Calibri Light" pitchFamily="34" charset="-122"/>
                <a:cs typeface="Calibri Light" pitchFamily="34" charset="-120"/>
              </a:rPr>
              <a:t>Lo que ya se puede ver</a:t>
            </a:r>
            <a:endParaRPr lang="en-US" sz="3400" dirty="0"/>
          </a:p>
        </p:txBody>
      </p:sp>
      <p:sp>
        <p:nvSpPr>
          <p:cNvPr id="4" name="Text 2"/>
          <p:cNvSpPr/>
          <p:nvPr/>
        </p:nvSpPr>
        <p:spPr>
          <a:xfrm>
            <a:off x="731520" y="6355080"/>
            <a:ext cx="2743200" cy="228600"/>
          </a:xfrm>
          <a:prstGeom prst="rect">
            <a:avLst/>
          </a:prstGeom>
          <a:noFill/>
          <a:ln/>
        </p:spPr>
        <p:txBody>
          <a:bodyPr wrap="square" lIns="0" tIns="0" rIns="0" bIns="0" rtlCol="0" anchor="t"/>
          <a:lstStyle/>
          <a:p>
            <a:pPr indent="0" marL="0">
              <a:buNone/>
            </a:pPr>
            <a:r>
              <a:rPr lang="en-US" sz="1000" b="1" dirty="0">
                <a:solidFill>
                  <a:srgbClr val="8A8984"/>
                </a:solidFill>
                <a:latin typeface="Calibri" pitchFamily="34" charset="0"/>
                <a:ea typeface="Calibri" pitchFamily="34" charset="-122"/>
                <a:cs typeface="Calibri" pitchFamily="34" charset="-120"/>
              </a:rPr>
              <a:t>NewBit</a:t>
            </a:r>
            <a:endParaRPr lang="en-US" sz="1000" dirty="0"/>
          </a:p>
        </p:txBody>
      </p:sp>
      <p:sp>
        <p:nvSpPr>
          <p:cNvPr id="5" name="Text 3"/>
          <p:cNvSpPr/>
          <p:nvPr/>
        </p:nvSpPr>
        <p:spPr>
          <a:xfrm>
            <a:off x="1371600" y="6355080"/>
            <a:ext cx="4572000" cy="228600"/>
          </a:xfrm>
          <a:prstGeom prst="rect">
            <a:avLst/>
          </a:prstGeom>
          <a:noFill/>
          <a:ln/>
        </p:spPr>
        <p:txBody>
          <a:bodyPr wrap="square" lIns="0" tIns="0" rIns="0" bIns="0" rtlCol="0" anchor="t"/>
          <a:lstStyle/>
          <a:p>
            <a:pPr indent="0" marL="0">
              <a:buNone/>
            </a:pPr>
            <a:r>
              <a:rPr lang="en-US" sz="1000" dirty="0">
                <a:solidFill>
                  <a:srgbClr val="8A8984"/>
                </a:solidFill>
                <a:latin typeface="Calibri" pitchFamily="34" charset="0"/>
                <a:ea typeface="Calibri" pitchFamily="34" charset="-122"/>
                <a:cs typeface="Calibri" pitchFamily="34" charset="-120"/>
              </a:rPr>
              <a:t>Producto de la Unidad I · Grupo D3</a:t>
            </a:r>
            <a:endParaRPr lang="en-US" sz="1000" dirty="0"/>
          </a:p>
        </p:txBody>
      </p:sp>
      <p:sp>
        <p:nvSpPr>
          <p:cNvPr id="6" name="Text 4"/>
          <p:cNvSpPr/>
          <p:nvPr/>
        </p:nvSpPr>
        <p:spPr>
          <a:xfrm>
            <a:off x="10728655" y="6355080"/>
            <a:ext cx="731520" cy="228600"/>
          </a:xfrm>
          <a:prstGeom prst="rect">
            <a:avLst/>
          </a:prstGeom>
          <a:noFill/>
          <a:ln/>
        </p:spPr>
        <p:txBody>
          <a:bodyPr wrap="square" lIns="0" tIns="0" rIns="0" bIns="0" rtlCol="0" anchor="t"/>
          <a:lstStyle/>
          <a:p>
            <a:pPr algn="r" indent="0" marL="0">
              <a:buNone/>
            </a:pPr>
            <a:r>
              <a:rPr lang="en-US" sz="1000" dirty="0">
                <a:solidFill>
                  <a:srgbClr val="8A8984"/>
                </a:solidFill>
                <a:latin typeface="Calibri" pitchFamily="34" charset="0"/>
                <a:ea typeface="Calibri" pitchFamily="34" charset="-122"/>
                <a:cs typeface="Calibri" pitchFamily="34" charset="-120"/>
              </a:rPr>
              <a:t>27</a:t>
            </a:r>
            <a:endParaRPr lang="en-US" sz="1000" dirty="0"/>
          </a:p>
        </p:txBody>
      </p:sp>
      <p:pic>
        <p:nvPicPr>
          <p:cNvPr id="8" name="Image 0" descr="/Users/anthony/Documents/Projects/NewBit/curso/semana-06-producto-unidad-1/nuestras-entregas/PPT_Producto_Unidad_1_NewBit/img/app-catalogo.png">    </p:cNvPr>
          <p:cNvPicPr>
            <a:picLocks noChangeAspect="1"/>
          </p:cNvPicPr>
          <p:nvPr/>
        </p:nvPicPr>
        <p:blipFill>
          <a:blip r:embed="rId1"/>
          <a:stretch>
            <a:fillRect/>
          </a:stretch>
        </p:blipFill>
        <p:spPr>
          <a:xfrm>
            <a:off x="1788416" y="1783080"/>
            <a:ext cx="6207470" cy="3017520"/>
          </a:xfrm>
          <a:prstGeom prst="rect">
            <a:avLst/>
          </a:prstGeom>
        </p:spPr>
      </p:pic>
      <p:sp>
        <p:nvSpPr>
          <p:cNvPr id="9" name="Shape 5"/>
          <p:cNvSpPr/>
          <p:nvPr/>
        </p:nvSpPr>
        <p:spPr>
          <a:xfrm>
            <a:off x="1788416" y="1783080"/>
            <a:ext cx="6207470" cy="3017520"/>
          </a:xfrm>
          <a:prstGeom prst="rect">
            <a:avLst/>
          </a:prstGeom>
          <a:ln w="9525">
            <a:solidFill>
              <a:srgbClr val="E7E5E4"/>
            </a:solidFill>
            <a:prstDash val="solid"/>
          </a:ln>
        </p:spPr>
      </p:sp>
      <p:pic>
        <p:nvPicPr>
          <p:cNvPr id="10" name="Image 1" descr="/Users/anthony/Documents/Projects/NewBit/curso/semana-06-producto-unidad-1/nuestras-entregas/PPT_Producto_Unidad_1_NewBit/img/app-ficha.png">    </p:cNvPr>
          <p:cNvPicPr>
            <a:picLocks noChangeAspect="1"/>
          </p:cNvPicPr>
          <p:nvPr/>
        </p:nvPicPr>
        <p:blipFill>
          <a:blip r:embed="rId2"/>
          <a:stretch>
            <a:fillRect/>
          </a:stretch>
        </p:blipFill>
        <p:spPr>
          <a:xfrm>
            <a:off x="8270205" y="1783080"/>
            <a:ext cx="2133074" cy="3017520"/>
          </a:xfrm>
          <a:prstGeom prst="rect">
            <a:avLst/>
          </a:prstGeom>
        </p:spPr>
      </p:pic>
      <p:sp>
        <p:nvSpPr>
          <p:cNvPr id="11" name="Shape 6"/>
          <p:cNvSpPr/>
          <p:nvPr/>
        </p:nvSpPr>
        <p:spPr>
          <a:xfrm>
            <a:off x="8270205" y="1783080"/>
            <a:ext cx="2133074" cy="3017520"/>
          </a:xfrm>
          <a:prstGeom prst="rect">
            <a:avLst/>
          </a:prstGeom>
          <a:ln w="9525">
            <a:solidFill>
              <a:srgbClr val="E7E5E4"/>
            </a:solidFill>
            <a:prstDash val="solid"/>
          </a:ln>
        </p:spPr>
      </p:sp>
      <p:sp>
        <p:nvSpPr>
          <p:cNvPr id="12" name="Text 7"/>
          <p:cNvSpPr/>
          <p:nvPr/>
        </p:nvSpPr>
        <p:spPr>
          <a:xfrm>
            <a:off x="731520" y="4937760"/>
            <a:ext cx="3383280" cy="411480"/>
          </a:xfrm>
          <a:prstGeom prst="rect">
            <a:avLst/>
          </a:prstGeom>
          <a:noFill/>
          <a:ln/>
        </p:spPr>
        <p:txBody>
          <a:bodyPr wrap="square" lIns="0" tIns="0" rIns="0" bIns="0" rtlCol="0" anchor="t"/>
          <a:lstStyle/>
          <a:p>
            <a:pPr indent="0" marL="0">
              <a:buNone/>
            </a:pPr>
            <a:r>
              <a:rPr lang="en-US" sz="2600" dirty="0">
                <a:solidFill>
                  <a:srgbClr val="1A1A1A"/>
                </a:solidFill>
                <a:latin typeface="Calibri Light" pitchFamily="34" charset="0"/>
                <a:ea typeface="Calibri Light" pitchFamily="34" charset="-122"/>
                <a:cs typeface="Calibri Light" pitchFamily="34" charset="-120"/>
              </a:rPr>
              <a:t>43 / 43</a:t>
            </a:r>
            <a:endParaRPr lang="en-US" sz="2600" dirty="0"/>
          </a:p>
        </p:txBody>
      </p:sp>
      <p:sp>
        <p:nvSpPr>
          <p:cNvPr id="13" name="Text 8"/>
          <p:cNvSpPr/>
          <p:nvPr/>
        </p:nvSpPr>
        <p:spPr>
          <a:xfrm>
            <a:off x="731520" y="5349240"/>
            <a:ext cx="3291840" cy="457200"/>
          </a:xfrm>
          <a:prstGeom prst="rect">
            <a:avLst/>
          </a:prstGeom>
          <a:noFill/>
          <a:ln/>
        </p:spPr>
        <p:txBody>
          <a:bodyPr wrap="square" lIns="0" tIns="0" rIns="0" bIns="0" rtlCol="0" anchor="t"/>
          <a:lstStyle/>
          <a:p>
            <a:pPr indent="0" marL="0">
              <a:buNone/>
            </a:pPr>
            <a:r>
              <a:rPr lang="en-US" sz="1200" dirty="0">
                <a:solidFill>
                  <a:srgbClr val="57534E"/>
                </a:solidFill>
                <a:latin typeface="Calibri" pitchFamily="34" charset="0"/>
                <a:ea typeface="Calibri" pitchFamily="34" charset="-122"/>
                <a:cs typeface="Calibri" pitchFamily="34" charset="-120"/>
              </a:rPr>
              <a:t>pruebas automáticas en verde, incluida una de punta a punta</a:t>
            </a:r>
            <a:endParaRPr lang="en-US" sz="1200" dirty="0"/>
          </a:p>
        </p:txBody>
      </p:sp>
      <p:sp>
        <p:nvSpPr>
          <p:cNvPr id="14" name="Text 9"/>
          <p:cNvSpPr/>
          <p:nvPr/>
        </p:nvSpPr>
        <p:spPr>
          <a:xfrm>
            <a:off x="4343400" y="4937760"/>
            <a:ext cx="3383280" cy="411480"/>
          </a:xfrm>
          <a:prstGeom prst="rect">
            <a:avLst/>
          </a:prstGeom>
          <a:noFill/>
          <a:ln/>
        </p:spPr>
        <p:txBody>
          <a:bodyPr wrap="square" lIns="0" tIns="0" rIns="0" bIns="0" rtlCol="0" anchor="t"/>
          <a:lstStyle/>
          <a:p>
            <a:pPr indent="0" marL="0">
              <a:buNone/>
            </a:pPr>
            <a:r>
              <a:rPr lang="en-US" sz="2600" dirty="0">
                <a:solidFill>
                  <a:srgbClr val="1A1A1A"/>
                </a:solidFill>
                <a:latin typeface="Calibri Light" pitchFamily="34" charset="0"/>
                <a:ea typeface="Calibri Light" pitchFamily="34" charset="-122"/>
                <a:cs typeface="Calibri Light" pitchFamily="34" charset="-120"/>
              </a:rPr>
              <a:t>24 → 5</a:t>
            </a:r>
            <a:endParaRPr lang="en-US" sz="2600" dirty="0"/>
          </a:p>
        </p:txBody>
      </p:sp>
      <p:sp>
        <p:nvSpPr>
          <p:cNvPr id="15" name="Text 10"/>
          <p:cNvSpPr/>
          <p:nvPr/>
        </p:nvSpPr>
        <p:spPr>
          <a:xfrm>
            <a:off x="4343400" y="5349240"/>
            <a:ext cx="3291840" cy="457200"/>
          </a:xfrm>
          <a:prstGeom prst="rect">
            <a:avLst/>
          </a:prstGeom>
          <a:noFill/>
          <a:ln/>
        </p:spPr>
        <p:txBody>
          <a:bodyPr wrap="square" lIns="0" tIns="0" rIns="0" bIns="0" rtlCol="0" anchor="t"/>
          <a:lstStyle/>
          <a:p>
            <a:pPr indent="0" marL="0">
              <a:buNone/>
            </a:pPr>
            <a:r>
              <a:rPr lang="en-US" sz="1200" dirty="0">
                <a:solidFill>
                  <a:srgbClr val="57534E"/>
                </a:solidFill>
                <a:latin typeface="Calibri" pitchFamily="34" charset="0"/>
                <a:ea typeface="Calibri" pitchFamily="34" charset="-122"/>
                <a:cs typeface="Calibri" pitchFamily="34" charset="-120"/>
              </a:rPr>
              <a:t>imágenes por segundo que se analizan: 80 % menos trabajo</a:t>
            </a:r>
            <a:endParaRPr lang="en-US" sz="1200" dirty="0"/>
          </a:p>
        </p:txBody>
      </p:sp>
      <p:sp>
        <p:nvSpPr>
          <p:cNvPr id="16" name="Text 11"/>
          <p:cNvSpPr/>
          <p:nvPr/>
        </p:nvSpPr>
        <p:spPr>
          <a:xfrm>
            <a:off x="7955280" y="4937760"/>
            <a:ext cx="3383280" cy="411480"/>
          </a:xfrm>
          <a:prstGeom prst="rect">
            <a:avLst/>
          </a:prstGeom>
          <a:noFill/>
          <a:ln/>
        </p:spPr>
        <p:txBody>
          <a:bodyPr wrap="square" lIns="0" tIns="0" rIns="0" bIns="0" rtlCol="0" anchor="t"/>
          <a:lstStyle/>
          <a:p>
            <a:pPr indent="0" marL="0">
              <a:buNone/>
            </a:pPr>
            <a:r>
              <a:rPr lang="en-US" sz="2600" dirty="0">
                <a:solidFill>
                  <a:srgbClr val="1A1A1A"/>
                </a:solidFill>
                <a:latin typeface="Calibri Light" pitchFamily="34" charset="0"/>
                <a:ea typeface="Calibri Light" pitchFamily="34" charset="-122"/>
                <a:cs typeface="Calibri Light" pitchFamily="34" charset="-120"/>
              </a:rPr>
              <a:t>5 s → 2,4 s</a:t>
            </a:r>
            <a:endParaRPr lang="en-US" sz="2600" dirty="0"/>
          </a:p>
        </p:txBody>
      </p:sp>
      <p:sp>
        <p:nvSpPr>
          <p:cNvPr id="17" name="Text 12"/>
          <p:cNvSpPr/>
          <p:nvPr/>
        </p:nvSpPr>
        <p:spPr>
          <a:xfrm>
            <a:off x="7955280" y="5349240"/>
            <a:ext cx="3291840" cy="457200"/>
          </a:xfrm>
          <a:prstGeom prst="rect">
            <a:avLst/>
          </a:prstGeom>
          <a:noFill/>
          <a:ln/>
        </p:spPr>
        <p:txBody>
          <a:bodyPr wrap="square" lIns="0" tIns="0" rIns="0" bIns="0" rtlCol="0" anchor="t"/>
          <a:lstStyle/>
          <a:p>
            <a:pPr indent="0" marL="0">
              <a:buNone/>
            </a:pPr>
            <a:r>
              <a:rPr lang="en-US" sz="1200" dirty="0">
                <a:solidFill>
                  <a:srgbClr val="57534E"/>
                </a:solidFill>
                <a:latin typeface="Calibri" pitchFamily="34" charset="0"/>
                <a:ea typeface="Calibri" pitchFamily="34" charset="-122"/>
                <a:cs typeface="Calibri" pitchFamily="34" charset="-120"/>
              </a:rPr>
              <a:t>el clip final conserva solo los segundos con operarios</a:t>
            </a:r>
            <a:endParaRPr lang="en-US" sz="1200" dirty="0"/>
          </a:p>
        </p:txBody>
      </p:sp>
      <p:sp>
        <p:nvSpPr>
          <p:cNvPr id="18" name="Text 13"/>
          <p:cNvSpPr/>
          <p:nvPr/>
        </p:nvSpPr>
        <p:spPr>
          <a:xfrm>
            <a:off x="731520" y="5989320"/>
            <a:ext cx="10728655" cy="274320"/>
          </a:xfrm>
          <a:prstGeom prst="rect">
            <a:avLst/>
          </a:prstGeom>
          <a:noFill/>
          <a:ln/>
        </p:spPr>
        <p:txBody>
          <a:bodyPr wrap="square" lIns="0" tIns="0" rIns="0" bIns="0" rtlCol="0" anchor="t"/>
          <a:lstStyle/>
          <a:p>
            <a:pPr indent="0" marL="0">
              <a:buNone/>
            </a:pPr>
            <a:r>
              <a:rPr lang="en-US" sz="1000" dirty="0">
                <a:solidFill>
                  <a:srgbClr val="8A8984"/>
                </a:solidFill>
                <a:latin typeface="Calibri" pitchFamily="34" charset="0"/>
                <a:ea typeface="Calibri" pitchFamily="34" charset="-122"/>
                <a:cs typeface="Calibri" pitchFamily="34" charset="-120"/>
              </a:rPr>
              <a:t>Aplicación local, 20/10/2026, con un clip de prueba sintético de 5 s. Aún no se prueba con los videos del conjunto de datos de Önal y Dandıl (2024).</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AFAF9"/>
        </a:solidFill>
      </p:bgPr>
    </p:bg>
    <p:spTree>
      <p:nvGrpSpPr>
        <p:cNvPr id="1" name=""/>
        <p:cNvGrpSpPr/>
        <p:nvPr/>
      </p:nvGrpSpPr>
      <p:grpSpPr>
        <a:xfrm>
          <a:off x="0" y="0"/>
          <a:ext cx="0" cy="0"/>
          <a:chOff x="0" y="0"/>
          <a:chExt cx="0" cy="0"/>
        </a:xfrm>
      </p:grpSpPr>
      <p:sp>
        <p:nvSpPr>
          <p:cNvPr id="2" name="Text 0"/>
          <p:cNvSpPr/>
          <p:nvPr/>
        </p:nvSpPr>
        <p:spPr>
          <a:xfrm>
            <a:off x="731520" y="502920"/>
            <a:ext cx="10058400" cy="274320"/>
          </a:xfrm>
          <a:prstGeom prst="rect">
            <a:avLst/>
          </a:prstGeom>
          <a:noFill/>
          <a:ln/>
        </p:spPr>
        <p:txBody>
          <a:bodyPr wrap="square" lIns="0" tIns="0" rIns="0" bIns="0" rtlCol="0" anchor="t"/>
          <a:lstStyle/>
          <a:p>
            <a:pPr indent="0" marL="0">
              <a:buNone/>
            </a:pPr>
            <a:r>
              <a:rPr lang="en-US" sz="1100" b="1" spc="150" kern="0" dirty="0">
                <a:solidFill>
                  <a:srgbClr val="3E63DD"/>
                </a:solidFill>
                <a:latin typeface="Calibri" pitchFamily="34" charset="0"/>
                <a:ea typeface="Calibri" pitchFamily="34" charset="-122"/>
                <a:cs typeface="Calibri" pitchFamily="34" charset="-120"/>
              </a:rPr>
              <a:t>PARTE 4 · AVANCE REAL</a:t>
            </a:r>
            <a:endParaRPr lang="en-US" sz="1100" dirty="0"/>
          </a:p>
        </p:txBody>
      </p:sp>
      <p:sp>
        <p:nvSpPr>
          <p:cNvPr id="3" name="Text 1"/>
          <p:cNvSpPr/>
          <p:nvPr/>
        </p:nvSpPr>
        <p:spPr>
          <a:xfrm>
            <a:off x="731520" y="777240"/>
            <a:ext cx="10698480" cy="822960"/>
          </a:xfrm>
          <a:prstGeom prst="rect">
            <a:avLst/>
          </a:prstGeom>
          <a:noFill/>
          <a:ln/>
        </p:spPr>
        <p:txBody>
          <a:bodyPr wrap="square" lIns="0" tIns="0" rIns="0" bIns="0" rtlCol="0" anchor="t"/>
          <a:lstStyle/>
          <a:p>
            <a:pPr indent="0" marL="0">
              <a:buNone/>
            </a:pPr>
            <a:r>
              <a:rPr lang="en-US" sz="3400" dirty="0">
                <a:solidFill>
                  <a:srgbClr val="1A1A1A"/>
                </a:solidFill>
                <a:latin typeface="Calibri Light" pitchFamily="34" charset="0"/>
                <a:ea typeface="Calibri Light" pitchFamily="34" charset="-122"/>
                <a:cs typeface="Calibri Light" pitchFamily="34" charset="-120"/>
              </a:rPr>
              <a:t>El Scrumboard, hoy</a:t>
            </a:r>
            <a:endParaRPr lang="en-US" sz="3400" dirty="0"/>
          </a:p>
        </p:txBody>
      </p:sp>
      <p:sp>
        <p:nvSpPr>
          <p:cNvPr id="4" name="Text 2"/>
          <p:cNvSpPr/>
          <p:nvPr/>
        </p:nvSpPr>
        <p:spPr>
          <a:xfrm>
            <a:off x="731520" y="6355080"/>
            <a:ext cx="2743200" cy="228600"/>
          </a:xfrm>
          <a:prstGeom prst="rect">
            <a:avLst/>
          </a:prstGeom>
          <a:noFill/>
          <a:ln/>
        </p:spPr>
        <p:txBody>
          <a:bodyPr wrap="square" lIns="0" tIns="0" rIns="0" bIns="0" rtlCol="0" anchor="t"/>
          <a:lstStyle/>
          <a:p>
            <a:pPr indent="0" marL="0">
              <a:buNone/>
            </a:pPr>
            <a:r>
              <a:rPr lang="en-US" sz="1000" b="1" dirty="0">
                <a:solidFill>
                  <a:srgbClr val="8A8984"/>
                </a:solidFill>
                <a:latin typeface="Calibri" pitchFamily="34" charset="0"/>
                <a:ea typeface="Calibri" pitchFamily="34" charset="-122"/>
                <a:cs typeface="Calibri" pitchFamily="34" charset="-120"/>
              </a:rPr>
              <a:t>NewBit</a:t>
            </a:r>
            <a:endParaRPr lang="en-US" sz="1000" dirty="0"/>
          </a:p>
        </p:txBody>
      </p:sp>
      <p:sp>
        <p:nvSpPr>
          <p:cNvPr id="5" name="Text 3"/>
          <p:cNvSpPr/>
          <p:nvPr/>
        </p:nvSpPr>
        <p:spPr>
          <a:xfrm>
            <a:off x="1371600" y="6355080"/>
            <a:ext cx="4572000" cy="228600"/>
          </a:xfrm>
          <a:prstGeom prst="rect">
            <a:avLst/>
          </a:prstGeom>
          <a:noFill/>
          <a:ln/>
        </p:spPr>
        <p:txBody>
          <a:bodyPr wrap="square" lIns="0" tIns="0" rIns="0" bIns="0" rtlCol="0" anchor="t"/>
          <a:lstStyle/>
          <a:p>
            <a:pPr indent="0" marL="0">
              <a:buNone/>
            </a:pPr>
            <a:r>
              <a:rPr lang="en-US" sz="1000" dirty="0">
                <a:solidFill>
                  <a:srgbClr val="8A8984"/>
                </a:solidFill>
                <a:latin typeface="Calibri" pitchFamily="34" charset="0"/>
                <a:ea typeface="Calibri" pitchFamily="34" charset="-122"/>
                <a:cs typeface="Calibri" pitchFamily="34" charset="-120"/>
              </a:rPr>
              <a:t>Producto de la Unidad I · Grupo D3</a:t>
            </a:r>
            <a:endParaRPr lang="en-US" sz="1000" dirty="0"/>
          </a:p>
        </p:txBody>
      </p:sp>
      <p:sp>
        <p:nvSpPr>
          <p:cNvPr id="6" name="Text 4"/>
          <p:cNvSpPr/>
          <p:nvPr/>
        </p:nvSpPr>
        <p:spPr>
          <a:xfrm>
            <a:off x="10728655" y="6355080"/>
            <a:ext cx="731520" cy="228600"/>
          </a:xfrm>
          <a:prstGeom prst="rect">
            <a:avLst/>
          </a:prstGeom>
          <a:noFill/>
          <a:ln/>
        </p:spPr>
        <p:txBody>
          <a:bodyPr wrap="square" lIns="0" tIns="0" rIns="0" bIns="0" rtlCol="0" anchor="t"/>
          <a:lstStyle/>
          <a:p>
            <a:pPr algn="r" indent="0" marL="0">
              <a:buNone/>
            </a:pPr>
            <a:r>
              <a:rPr lang="en-US" sz="1000" dirty="0">
                <a:solidFill>
                  <a:srgbClr val="8A8984"/>
                </a:solidFill>
                <a:latin typeface="Calibri" pitchFamily="34" charset="0"/>
                <a:ea typeface="Calibri" pitchFamily="34" charset="-122"/>
                <a:cs typeface="Calibri" pitchFamily="34" charset="-120"/>
              </a:rPr>
              <a:t>28</a:t>
            </a:r>
            <a:endParaRPr lang="en-US" sz="1000" dirty="0"/>
          </a:p>
        </p:txBody>
      </p:sp>
      <p:sp>
        <p:nvSpPr>
          <p:cNvPr id="8" name="Text 5"/>
          <p:cNvSpPr/>
          <p:nvPr/>
        </p:nvSpPr>
        <p:spPr>
          <a:xfrm>
            <a:off x="731520" y="1783080"/>
            <a:ext cx="2011680" cy="274320"/>
          </a:xfrm>
          <a:prstGeom prst="rect">
            <a:avLst/>
          </a:prstGeom>
          <a:noFill/>
          <a:ln/>
        </p:spPr>
        <p:txBody>
          <a:bodyPr wrap="square" lIns="0" tIns="0" rIns="0" bIns="0" rtlCol="0" anchor="t"/>
          <a:lstStyle/>
          <a:p>
            <a:pPr indent="0" marL="0">
              <a:buNone/>
            </a:pPr>
            <a:r>
              <a:rPr lang="en-US" sz="1100" b="1" spc="100" kern="0" dirty="0">
                <a:solidFill>
                  <a:srgbClr val="8A8984"/>
                </a:solidFill>
                <a:latin typeface="Calibri" pitchFamily="34" charset="0"/>
                <a:ea typeface="Calibri" pitchFamily="34" charset="-122"/>
                <a:cs typeface="Calibri" pitchFamily="34" charset="-120"/>
              </a:rPr>
              <a:t>POR HACER</a:t>
            </a:r>
            <a:endParaRPr lang="en-US" sz="1100" dirty="0"/>
          </a:p>
        </p:txBody>
      </p:sp>
      <p:sp>
        <p:nvSpPr>
          <p:cNvPr id="9" name="Text 6"/>
          <p:cNvSpPr/>
          <p:nvPr/>
        </p:nvSpPr>
        <p:spPr>
          <a:xfrm>
            <a:off x="2560320" y="1783080"/>
            <a:ext cx="502920" cy="274320"/>
          </a:xfrm>
          <a:prstGeom prst="rect">
            <a:avLst/>
          </a:prstGeom>
          <a:noFill/>
          <a:ln/>
        </p:spPr>
        <p:txBody>
          <a:bodyPr wrap="square" lIns="0" tIns="0" rIns="0" bIns="0" rtlCol="0" anchor="t"/>
          <a:lstStyle/>
          <a:p>
            <a:pPr algn="r" indent="0" marL="0">
              <a:buNone/>
            </a:pPr>
            <a:r>
              <a:rPr lang="en-US" sz="1100" dirty="0">
                <a:solidFill>
                  <a:srgbClr val="8A8984"/>
                </a:solidFill>
                <a:latin typeface="Calibri" pitchFamily="34" charset="0"/>
                <a:ea typeface="Calibri" pitchFamily="34" charset="-122"/>
                <a:cs typeface="Calibri" pitchFamily="34" charset="-120"/>
              </a:rPr>
              <a:t>16 pts</a:t>
            </a:r>
            <a:endParaRPr lang="en-US" sz="1100" dirty="0"/>
          </a:p>
        </p:txBody>
      </p:sp>
      <p:sp>
        <p:nvSpPr>
          <p:cNvPr id="10" name="Shape 7"/>
          <p:cNvSpPr/>
          <p:nvPr/>
        </p:nvSpPr>
        <p:spPr>
          <a:xfrm>
            <a:off x="731520" y="2148840"/>
            <a:ext cx="2331720" cy="475488"/>
          </a:xfrm>
          <a:prstGeom prst="roundRect">
            <a:avLst>
              <a:gd name="adj" fmla="val 15385"/>
            </a:avLst>
          </a:prstGeom>
          <a:solidFill>
            <a:srgbClr val="FFFFFF"/>
          </a:solidFill>
          <a:ln w="9525">
            <a:solidFill>
              <a:srgbClr val="E7E5E4"/>
            </a:solidFill>
            <a:prstDash val="solid"/>
          </a:ln>
        </p:spPr>
      </p:sp>
      <p:sp>
        <p:nvSpPr>
          <p:cNvPr id="11" name="Text 8"/>
          <p:cNvSpPr/>
          <p:nvPr/>
        </p:nvSpPr>
        <p:spPr>
          <a:xfrm>
            <a:off x="868680" y="2276856"/>
            <a:ext cx="1920240" cy="274320"/>
          </a:xfrm>
          <a:prstGeom prst="rect">
            <a:avLst/>
          </a:prstGeom>
          <a:noFill/>
          <a:ln/>
        </p:spPr>
        <p:txBody>
          <a:bodyPr wrap="square" lIns="0" tIns="0" rIns="0" bIns="0" rtlCol="0" anchor="t"/>
          <a:lstStyle/>
          <a:p>
            <a:pPr indent="0" marL="0">
              <a:buNone/>
            </a:pPr>
            <a:r>
              <a:rPr lang="en-US" sz="1200" b="1" dirty="0">
                <a:solidFill>
                  <a:srgbClr val="1A1A1A"/>
                </a:solidFill>
                <a:latin typeface="Calibri" pitchFamily="34" charset="0"/>
                <a:ea typeface="Calibri" pitchFamily="34" charset="-122"/>
                <a:cs typeface="Calibri" pitchFamily="34" charset="-120"/>
              </a:rPr>
              <a:t>HU07  </a:t>
            </a:r>
            <a:pPr indent="0" marL="0">
              <a:buNone/>
            </a:pPr>
            <a:r>
              <a:rPr lang="en-US" sz="1200" dirty="0">
                <a:solidFill>
                  <a:srgbClr val="1A1A1A"/>
                </a:solidFill>
                <a:latin typeface="Calibri" pitchFamily="34" charset="0"/>
                <a:ea typeface="Calibri" pitchFamily="34" charset="-122"/>
                <a:cs typeface="Calibri" pitchFamily="34" charset="-120"/>
              </a:rPr>
              <a:t>Procesar con ConvLSTM</a:t>
            </a:r>
            <a:endParaRPr lang="en-US" sz="1200" dirty="0"/>
          </a:p>
        </p:txBody>
      </p:sp>
      <p:sp>
        <p:nvSpPr>
          <p:cNvPr id="12" name="Text 9"/>
          <p:cNvSpPr/>
          <p:nvPr/>
        </p:nvSpPr>
        <p:spPr>
          <a:xfrm>
            <a:off x="2697480" y="2276856"/>
            <a:ext cx="256032" cy="274320"/>
          </a:xfrm>
          <a:prstGeom prst="rect">
            <a:avLst/>
          </a:prstGeom>
          <a:noFill/>
          <a:ln/>
        </p:spPr>
        <p:txBody>
          <a:bodyPr wrap="square" lIns="0" tIns="0" rIns="0" bIns="0" rtlCol="0" anchor="t"/>
          <a:lstStyle/>
          <a:p>
            <a:pPr algn="r" indent="0" marL="0">
              <a:buNone/>
            </a:pPr>
            <a:r>
              <a:rPr lang="en-US" sz="1200" dirty="0">
                <a:solidFill>
                  <a:srgbClr val="8A8984"/>
                </a:solidFill>
                <a:latin typeface="Calibri" pitchFamily="34" charset="0"/>
                <a:ea typeface="Calibri" pitchFamily="34" charset="-122"/>
                <a:cs typeface="Calibri" pitchFamily="34" charset="-120"/>
              </a:rPr>
              <a:t>5</a:t>
            </a:r>
            <a:endParaRPr lang="en-US" sz="1200" dirty="0"/>
          </a:p>
        </p:txBody>
      </p:sp>
      <p:sp>
        <p:nvSpPr>
          <p:cNvPr id="13" name="Shape 10"/>
          <p:cNvSpPr/>
          <p:nvPr/>
        </p:nvSpPr>
        <p:spPr>
          <a:xfrm>
            <a:off x="731520" y="2715768"/>
            <a:ext cx="2331720" cy="475488"/>
          </a:xfrm>
          <a:prstGeom prst="roundRect">
            <a:avLst>
              <a:gd name="adj" fmla="val 15385"/>
            </a:avLst>
          </a:prstGeom>
          <a:solidFill>
            <a:srgbClr val="FFFFFF"/>
          </a:solidFill>
          <a:ln w="9525">
            <a:solidFill>
              <a:srgbClr val="E7E5E4"/>
            </a:solidFill>
            <a:prstDash val="solid"/>
          </a:ln>
        </p:spPr>
      </p:sp>
      <p:sp>
        <p:nvSpPr>
          <p:cNvPr id="14" name="Text 11"/>
          <p:cNvSpPr/>
          <p:nvPr/>
        </p:nvSpPr>
        <p:spPr>
          <a:xfrm>
            <a:off x="868680" y="2843784"/>
            <a:ext cx="1920240" cy="274320"/>
          </a:xfrm>
          <a:prstGeom prst="rect">
            <a:avLst/>
          </a:prstGeom>
          <a:noFill/>
          <a:ln/>
        </p:spPr>
        <p:txBody>
          <a:bodyPr wrap="square" lIns="0" tIns="0" rIns="0" bIns="0" rtlCol="0" anchor="t"/>
          <a:lstStyle/>
          <a:p>
            <a:pPr indent="0" marL="0">
              <a:buNone/>
            </a:pPr>
            <a:r>
              <a:rPr lang="en-US" sz="1200" b="1" dirty="0">
                <a:solidFill>
                  <a:srgbClr val="1A1A1A"/>
                </a:solidFill>
                <a:latin typeface="Calibri" pitchFamily="34" charset="0"/>
                <a:ea typeface="Calibri" pitchFamily="34" charset="-122"/>
                <a:cs typeface="Calibri" pitchFamily="34" charset="-120"/>
              </a:rPr>
              <a:t>HU08  </a:t>
            </a:r>
            <a:pPr indent="0" marL="0">
              <a:buNone/>
            </a:pPr>
            <a:r>
              <a:rPr lang="en-US" sz="1200" dirty="0">
                <a:solidFill>
                  <a:srgbClr val="1A1A1A"/>
                </a:solidFill>
                <a:latin typeface="Calibri" pitchFamily="34" charset="0"/>
                <a:ea typeface="Calibri" pitchFamily="34" charset="-122"/>
                <a:cs typeface="Calibri" pitchFamily="34" charset="-120"/>
              </a:rPr>
              <a:t>Clasificar la conducta</a:t>
            </a:r>
            <a:endParaRPr lang="en-US" sz="1200" dirty="0"/>
          </a:p>
        </p:txBody>
      </p:sp>
      <p:sp>
        <p:nvSpPr>
          <p:cNvPr id="15" name="Text 12"/>
          <p:cNvSpPr/>
          <p:nvPr/>
        </p:nvSpPr>
        <p:spPr>
          <a:xfrm>
            <a:off x="2697480" y="2843784"/>
            <a:ext cx="256032" cy="274320"/>
          </a:xfrm>
          <a:prstGeom prst="rect">
            <a:avLst/>
          </a:prstGeom>
          <a:noFill/>
          <a:ln/>
        </p:spPr>
        <p:txBody>
          <a:bodyPr wrap="square" lIns="0" tIns="0" rIns="0" bIns="0" rtlCol="0" anchor="t"/>
          <a:lstStyle/>
          <a:p>
            <a:pPr algn="r" indent="0" marL="0">
              <a:buNone/>
            </a:pPr>
            <a:r>
              <a:rPr lang="en-US" sz="1200" dirty="0">
                <a:solidFill>
                  <a:srgbClr val="8A8984"/>
                </a:solidFill>
                <a:latin typeface="Calibri" pitchFamily="34" charset="0"/>
                <a:ea typeface="Calibri" pitchFamily="34" charset="-122"/>
                <a:cs typeface="Calibri" pitchFamily="34" charset="-120"/>
              </a:rPr>
              <a:t>3</a:t>
            </a:r>
            <a:endParaRPr lang="en-US" sz="1200" dirty="0"/>
          </a:p>
        </p:txBody>
      </p:sp>
      <p:sp>
        <p:nvSpPr>
          <p:cNvPr id="16" name="Shape 13"/>
          <p:cNvSpPr/>
          <p:nvPr/>
        </p:nvSpPr>
        <p:spPr>
          <a:xfrm>
            <a:off x="731520" y="3282696"/>
            <a:ext cx="2331720" cy="475488"/>
          </a:xfrm>
          <a:prstGeom prst="roundRect">
            <a:avLst>
              <a:gd name="adj" fmla="val 15385"/>
            </a:avLst>
          </a:prstGeom>
          <a:solidFill>
            <a:srgbClr val="FFFFFF"/>
          </a:solidFill>
          <a:ln w="9525">
            <a:solidFill>
              <a:srgbClr val="E7E5E4"/>
            </a:solidFill>
            <a:prstDash val="solid"/>
          </a:ln>
        </p:spPr>
      </p:sp>
      <p:sp>
        <p:nvSpPr>
          <p:cNvPr id="17" name="Text 14"/>
          <p:cNvSpPr/>
          <p:nvPr/>
        </p:nvSpPr>
        <p:spPr>
          <a:xfrm>
            <a:off x="868680" y="3410712"/>
            <a:ext cx="1920240" cy="274320"/>
          </a:xfrm>
          <a:prstGeom prst="rect">
            <a:avLst/>
          </a:prstGeom>
          <a:noFill/>
          <a:ln/>
        </p:spPr>
        <p:txBody>
          <a:bodyPr wrap="square" lIns="0" tIns="0" rIns="0" bIns="0" rtlCol="0" anchor="t"/>
          <a:lstStyle/>
          <a:p>
            <a:pPr indent="0" marL="0">
              <a:buNone/>
            </a:pPr>
            <a:r>
              <a:rPr lang="en-US" sz="1200" b="1" dirty="0">
                <a:solidFill>
                  <a:srgbClr val="1A1A1A"/>
                </a:solidFill>
                <a:latin typeface="Calibri" pitchFamily="34" charset="0"/>
                <a:ea typeface="Calibri" pitchFamily="34" charset="-122"/>
                <a:cs typeface="Calibri" pitchFamily="34" charset="-120"/>
              </a:rPr>
              <a:t>HU09  </a:t>
            </a:r>
            <a:pPr indent="0" marL="0">
              <a:buNone/>
            </a:pPr>
            <a:r>
              <a:rPr lang="en-US" sz="1200" dirty="0">
                <a:solidFill>
                  <a:srgbClr val="1A1A1A"/>
                </a:solidFill>
                <a:latin typeface="Calibri" pitchFamily="34" charset="0"/>
                <a:ea typeface="Calibri" pitchFamily="34" charset="-122"/>
                <a:cs typeface="Calibri" pitchFamily="34" charset="-120"/>
              </a:rPr>
              <a:t>Recuadro de riesgo</a:t>
            </a:r>
            <a:endParaRPr lang="en-US" sz="1200" dirty="0"/>
          </a:p>
        </p:txBody>
      </p:sp>
      <p:sp>
        <p:nvSpPr>
          <p:cNvPr id="18" name="Text 15"/>
          <p:cNvSpPr/>
          <p:nvPr/>
        </p:nvSpPr>
        <p:spPr>
          <a:xfrm>
            <a:off x="2697480" y="3410712"/>
            <a:ext cx="256032" cy="274320"/>
          </a:xfrm>
          <a:prstGeom prst="rect">
            <a:avLst/>
          </a:prstGeom>
          <a:noFill/>
          <a:ln/>
        </p:spPr>
        <p:txBody>
          <a:bodyPr wrap="square" lIns="0" tIns="0" rIns="0" bIns="0" rtlCol="0" anchor="t"/>
          <a:lstStyle/>
          <a:p>
            <a:pPr algn="r" indent="0" marL="0">
              <a:buNone/>
            </a:pPr>
            <a:r>
              <a:rPr lang="en-US" sz="1200" dirty="0">
                <a:solidFill>
                  <a:srgbClr val="8A8984"/>
                </a:solidFill>
                <a:latin typeface="Calibri" pitchFamily="34" charset="0"/>
                <a:ea typeface="Calibri" pitchFamily="34" charset="-122"/>
                <a:cs typeface="Calibri" pitchFamily="34" charset="-120"/>
              </a:rPr>
              <a:t>4</a:t>
            </a:r>
            <a:endParaRPr lang="en-US" sz="1200" dirty="0"/>
          </a:p>
        </p:txBody>
      </p:sp>
      <p:sp>
        <p:nvSpPr>
          <p:cNvPr id="19" name="Shape 16"/>
          <p:cNvSpPr/>
          <p:nvPr/>
        </p:nvSpPr>
        <p:spPr>
          <a:xfrm>
            <a:off x="731520" y="3849624"/>
            <a:ext cx="2331720" cy="475488"/>
          </a:xfrm>
          <a:prstGeom prst="roundRect">
            <a:avLst>
              <a:gd name="adj" fmla="val 15385"/>
            </a:avLst>
          </a:prstGeom>
          <a:solidFill>
            <a:srgbClr val="FFFFFF"/>
          </a:solidFill>
          <a:ln w="9525">
            <a:solidFill>
              <a:srgbClr val="E7E5E4"/>
            </a:solidFill>
            <a:prstDash val="solid"/>
          </a:ln>
        </p:spPr>
      </p:sp>
      <p:sp>
        <p:nvSpPr>
          <p:cNvPr id="20" name="Text 17"/>
          <p:cNvSpPr/>
          <p:nvPr/>
        </p:nvSpPr>
        <p:spPr>
          <a:xfrm>
            <a:off x="868680" y="3977640"/>
            <a:ext cx="1920240" cy="274320"/>
          </a:xfrm>
          <a:prstGeom prst="rect">
            <a:avLst/>
          </a:prstGeom>
          <a:noFill/>
          <a:ln/>
        </p:spPr>
        <p:txBody>
          <a:bodyPr wrap="square" lIns="0" tIns="0" rIns="0" bIns="0" rtlCol="0" anchor="t"/>
          <a:lstStyle/>
          <a:p>
            <a:pPr indent="0" marL="0">
              <a:buNone/>
            </a:pPr>
            <a:r>
              <a:rPr lang="en-US" sz="1200" b="1" dirty="0">
                <a:solidFill>
                  <a:srgbClr val="1A1A1A"/>
                </a:solidFill>
                <a:latin typeface="Calibri" pitchFamily="34" charset="0"/>
                <a:ea typeface="Calibri" pitchFamily="34" charset="-122"/>
                <a:cs typeface="Calibri" pitchFamily="34" charset="-120"/>
              </a:rPr>
              <a:t>HU10  </a:t>
            </a:r>
            <a:pPr indent="0" marL="0">
              <a:buNone/>
            </a:pPr>
            <a:r>
              <a:rPr lang="en-US" sz="1200" dirty="0">
                <a:solidFill>
                  <a:srgbClr val="1A1A1A"/>
                </a:solidFill>
                <a:latin typeface="Calibri" pitchFamily="34" charset="0"/>
                <a:ea typeface="Calibri" pitchFamily="34" charset="-122"/>
                <a:cs typeface="Calibri" pitchFamily="34" charset="-120"/>
              </a:rPr>
              <a:t>Alerta de riesgo</a:t>
            </a:r>
            <a:endParaRPr lang="en-US" sz="1200" dirty="0"/>
          </a:p>
        </p:txBody>
      </p:sp>
      <p:sp>
        <p:nvSpPr>
          <p:cNvPr id="21" name="Text 18"/>
          <p:cNvSpPr/>
          <p:nvPr/>
        </p:nvSpPr>
        <p:spPr>
          <a:xfrm>
            <a:off x="2697480" y="3977640"/>
            <a:ext cx="256032" cy="274320"/>
          </a:xfrm>
          <a:prstGeom prst="rect">
            <a:avLst/>
          </a:prstGeom>
          <a:noFill/>
          <a:ln/>
        </p:spPr>
        <p:txBody>
          <a:bodyPr wrap="square" lIns="0" tIns="0" rIns="0" bIns="0" rtlCol="0" anchor="t"/>
          <a:lstStyle/>
          <a:p>
            <a:pPr algn="r" indent="0" marL="0">
              <a:buNone/>
            </a:pPr>
            <a:r>
              <a:rPr lang="en-US" sz="1200" dirty="0">
                <a:solidFill>
                  <a:srgbClr val="8A8984"/>
                </a:solidFill>
                <a:latin typeface="Calibri" pitchFamily="34" charset="0"/>
                <a:ea typeface="Calibri" pitchFamily="34" charset="-122"/>
                <a:cs typeface="Calibri" pitchFamily="34" charset="-120"/>
              </a:rPr>
              <a:t>2</a:t>
            </a:r>
            <a:endParaRPr lang="en-US" sz="1200" dirty="0"/>
          </a:p>
        </p:txBody>
      </p:sp>
      <p:sp>
        <p:nvSpPr>
          <p:cNvPr id="22" name="Shape 19"/>
          <p:cNvSpPr/>
          <p:nvPr/>
        </p:nvSpPr>
        <p:spPr>
          <a:xfrm>
            <a:off x="731520" y="4416552"/>
            <a:ext cx="2331720" cy="475488"/>
          </a:xfrm>
          <a:prstGeom prst="roundRect">
            <a:avLst>
              <a:gd name="adj" fmla="val 15385"/>
            </a:avLst>
          </a:prstGeom>
          <a:solidFill>
            <a:srgbClr val="FFFFFF"/>
          </a:solidFill>
          <a:ln w="9525">
            <a:solidFill>
              <a:srgbClr val="E7E5E4"/>
            </a:solidFill>
            <a:prstDash val="solid"/>
          </a:ln>
        </p:spPr>
      </p:sp>
      <p:sp>
        <p:nvSpPr>
          <p:cNvPr id="23" name="Text 20"/>
          <p:cNvSpPr/>
          <p:nvPr/>
        </p:nvSpPr>
        <p:spPr>
          <a:xfrm>
            <a:off x="868680" y="4544568"/>
            <a:ext cx="1920240" cy="274320"/>
          </a:xfrm>
          <a:prstGeom prst="rect">
            <a:avLst/>
          </a:prstGeom>
          <a:noFill/>
          <a:ln/>
        </p:spPr>
        <p:txBody>
          <a:bodyPr wrap="square" lIns="0" tIns="0" rIns="0" bIns="0" rtlCol="0" anchor="t"/>
          <a:lstStyle/>
          <a:p>
            <a:pPr indent="0" marL="0">
              <a:buNone/>
            </a:pPr>
            <a:r>
              <a:rPr lang="en-US" sz="1200" b="1" dirty="0">
                <a:solidFill>
                  <a:srgbClr val="1A1A1A"/>
                </a:solidFill>
                <a:latin typeface="Calibri" pitchFamily="34" charset="0"/>
                <a:ea typeface="Calibri" pitchFamily="34" charset="-122"/>
                <a:cs typeface="Calibri" pitchFamily="34" charset="-120"/>
              </a:rPr>
              <a:t>HU12  </a:t>
            </a:r>
            <a:pPr indent="0" marL="0">
              <a:buNone/>
            </a:pPr>
            <a:r>
              <a:rPr lang="en-US" sz="1200" dirty="0">
                <a:solidFill>
                  <a:srgbClr val="1A1A1A"/>
                </a:solidFill>
                <a:latin typeface="Calibri" pitchFamily="34" charset="0"/>
                <a:ea typeface="Calibri" pitchFamily="34" charset="-122"/>
                <a:cs typeface="Calibri" pitchFamily="34" charset="-120"/>
              </a:rPr>
              <a:t>Log de tiempos</a:t>
            </a:r>
            <a:endParaRPr lang="en-US" sz="1200" dirty="0"/>
          </a:p>
        </p:txBody>
      </p:sp>
      <p:sp>
        <p:nvSpPr>
          <p:cNvPr id="24" name="Text 21"/>
          <p:cNvSpPr/>
          <p:nvPr/>
        </p:nvSpPr>
        <p:spPr>
          <a:xfrm>
            <a:off x="2697480" y="4544568"/>
            <a:ext cx="256032" cy="274320"/>
          </a:xfrm>
          <a:prstGeom prst="rect">
            <a:avLst/>
          </a:prstGeom>
          <a:noFill/>
          <a:ln/>
        </p:spPr>
        <p:txBody>
          <a:bodyPr wrap="square" lIns="0" tIns="0" rIns="0" bIns="0" rtlCol="0" anchor="t"/>
          <a:lstStyle/>
          <a:p>
            <a:pPr algn="r" indent="0" marL="0">
              <a:buNone/>
            </a:pPr>
            <a:r>
              <a:rPr lang="en-US" sz="1200" dirty="0">
                <a:solidFill>
                  <a:srgbClr val="8A8984"/>
                </a:solidFill>
                <a:latin typeface="Calibri" pitchFamily="34" charset="0"/>
                <a:ea typeface="Calibri" pitchFamily="34" charset="-122"/>
                <a:cs typeface="Calibri" pitchFamily="34" charset="-120"/>
              </a:rPr>
              <a:t>2</a:t>
            </a:r>
            <a:endParaRPr lang="en-US" sz="1200" dirty="0"/>
          </a:p>
        </p:txBody>
      </p:sp>
      <p:sp>
        <p:nvSpPr>
          <p:cNvPr id="25" name="Text 22"/>
          <p:cNvSpPr/>
          <p:nvPr/>
        </p:nvSpPr>
        <p:spPr>
          <a:xfrm>
            <a:off x="3200400" y="1783080"/>
            <a:ext cx="2011680" cy="274320"/>
          </a:xfrm>
          <a:prstGeom prst="rect">
            <a:avLst/>
          </a:prstGeom>
          <a:noFill/>
          <a:ln/>
        </p:spPr>
        <p:txBody>
          <a:bodyPr wrap="square" lIns="0" tIns="0" rIns="0" bIns="0" rtlCol="0" anchor="t"/>
          <a:lstStyle/>
          <a:p>
            <a:pPr indent="0" marL="0">
              <a:buNone/>
            </a:pPr>
            <a:r>
              <a:rPr lang="en-US" sz="1100" b="1" spc="100" kern="0" dirty="0">
                <a:solidFill>
                  <a:srgbClr val="C2410C"/>
                </a:solidFill>
                <a:latin typeface="Calibri" pitchFamily="34" charset="0"/>
                <a:ea typeface="Calibri" pitchFamily="34" charset="-122"/>
                <a:cs typeface="Calibri" pitchFamily="34" charset="-120"/>
              </a:rPr>
              <a:t>EN PROGRESO</a:t>
            </a:r>
            <a:endParaRPr lang="en-US" sz="1100" dirty="0"/>
          </a:p>
        </p:txBody>
      </p:sp>
      <p:sp>
        <p:nvSpPr>
          <p:cNvPr id="26" name="Text 23"/>
          <p:cNvSpPr/>
          <p:nvPr/>
        </p:nvSpPr>
        <p:spPr>
          <a:xfrm>
            <a:off x="5029200" y="1783080"/>
            <a:ext cx="502920" cy="274320"/>
          </a:xfrm>
          <a:prstGeom prst="rect">
            <a:avLst/>
          </a:prstGeom>
          <a:noFill/>
          <a:ln/>
        </p:spPr>
        <p:txBody>
          <a:bodyPr wrap="square" lIns="0" tIns="0" rIns="0" bIns="0" rtlCol="0" anchor="t"/>
          <a:lstStyle/>
          <a:p>
            <a:pPr algn="r" indent="0" marL="0">
              <a:buNone/>
            </a:pPr>
            <a:r>
              <a:rPr lang="en-US" sz="1100" dirty="0">
                <a:solidFill>
                  <a:srgbClr val="8A8984"/>
                </a:solidFill>
                <a:latin typeface="Calibri" pitchFamily="34" charset="0"/>
                <a:ea typeface="Calibri" pitchFamily="34" charset="-122"/>
                <a:cs typeface="Calibri" pitchFamily="34" charset="-120"/>
              </a:rPr>
              <a:t>3 pts</a:t>
            </a:r>
            <a:endParaRPr lang="en-US" sz="1100" dirty="0"/>
          </a:p>
        </p:txBody>
      </p:sp>
      <p:sp>
        <p:nvSpPr>
          <p:cNvPr id="27" name="Shape 24"/>
          <p:cNvSpPr/>
          <p:nvPr/>
        </p:nvSpPr>
        <p:spPr>
          <a:xfrm>
            <a:off x="3200400" y="2148840"/>
            <a:ext cx="2331720" cy="475488"/>
          </a:xfrm>
          <a:prstGeom prst="roundRect">
            <a:avLst>
              <a:gd name="adj" fmla="val 15385"/>
            </a:avLst>
          </a:prstGeom>
          <a:solidFill>
            <a:srgbClr val="FFF4ED"/>
          </a:solidFill>
          <a:ln w="9525">
            <a:solidFill>
              <a:srgbClr val="F5D0BD"/>
            </a:solidFill>
            <a:prstDash val="solid"/>
          </a:ln>
        </p:spPr>
      </p:sp>
      <p:sp>
        <p:nvSpPr>
          <p:cNvPr id="28" name="Text 25"/>
          <p:cNvSpPr/>
          <p:nvPr/>
        </p:nvSpPr>
        <p:spPr>
          <a:xfrm>
            <a:off x="3337560" y="2276856"/>
            <a:ext cx="1920240" cy="274320"/>
          </a:xfrm>
          <a:prstGeom prst="rect">
            <a:avLst/>
          </a:prstGeom>
          <a:noFill/>
          <a:ln/>
        </p:spPr>
        <p:txBody>
          <a:bodyPr wrap="square" lIns="0" tIns="0" rIns="0" bIns="0" rtlCol="0" anchor="t"/>
          <a:lstStyle/>
          <a:p>
            <a:pPr indent="0" marL="0">
              <a:buNone/>
            </a:pPr>
            <a:r>
              <a:rPr lang="en-US" sz="1200" b="1" dirty="0">
                <a:solidFill>
                  <a:srgbClr val="1A1A1A"/>
                </a:solidFill>
                <a:latin typeface="Calibri" pitchFamily="34" charset="0"/>
                <a:ea typeface="Calibri" pitchFamily="34" charset="-122"/>
                <a:cs typeface="Calibri" pitchFamily="34" charset="-120"/>
              </a:rPr>
              <a:t>HU05  </a:t>
            </a:r>
            <a:pPr indent="0" marL="0">
              <a:buNone/>
            </a:pPr>
            <a:r>
              <a:rPr lang="en-US" sz="1200" dirty="0">
                <a:solidFill>
                  <a:srgbClr val="1A1A1A"/>
                </a:solidFill>
                <a:latin typeface="Calibri" pitchFamily="34" charset="0"/>
                <a:ea typeface="Calibri" pitchFamily="34" charset="-122"/>
                <a:cs typeface="Calibri" pitchFamily="34" charset="-120"/>
              </a:rPr>
              <a:t>Agrupar en clips</a:t>
            </a:r>
            <a:endParaRPr lang="en-US" sz="1200" dirty="0"/>
          </a:p>
        </p:txBody>
      </p:sp>
      <p:sp>
        <p:nvSpPr>
          <p:cNvPr id="29" name="Text 26"/>
          <p:cNvSpPr/>
          <p:nvPr/>
        </p:nvSpPr>
        <p:spPr>
          <a:xfrm>
            <a:off x="5166360" y="2276856"/>
            <a:ext cx="256032" cy="274320"/>
          </a:xfrm>
          <a:prstGeom prst="rect">
            <a:avLst/>
          </a:prstGeom>
          <a:noFill/>
          <a:ln/>
        </p:spPr>
        <p:txBody>
          <a:bodyPr wrap="square" lIns="0" tIns="0" rIns="0" bIns="0" rtlCol="0" anchor="t"/>
          <a:lstStyle/>
          <a:p>
            <a:pPr algn="r" indent="0" marL="0">
              <a:buNone/>
            </a:pPr>
            <a:r>
              <a:rPr lang="en-US" sz="1200" dirty="0">
                <a:solidFill>
                  <a:srgbClr val="8A8984"/>
                </a:solidFill>
                <a:latin typeface="Calibri" pitchFamily="34" charset="0"/>
                <a:ea typeface="Calibri" pitchFamily="34" charset="-122"/>
                <a:cs typeface="Calibri" pitchFamily="34" charset="-120"/>
              </a:rPr>
              <a:t>3</a:t>
            </a:r>
            <a:endParaRPr lang="en-US" sz="1200" dirty="0"/>
          </a:p>
        </p:txBody>
      </p:sp>
      <p:sp>
        <p:nvSpPr>
          <p:cNvPr id="30" name="Text 27"/>
          <p:cNvSpPr/>
          <p:nvPr/>
        </p:nvSpPr>
        <p:spPr>
          <a:xfrm>
            <a:off x="3200400" y="2743200"/>
            <a:ext cx="2331720" cy="1097280"/>
          </a:xfrm>
          <a:prstGeom prst="rect">
            <a:avLst/>
          </a:prstGeom>
          <a:noFill/>
          <a:ln/>
        </p:spPr>
        <p:txBody>
          <a:bodyPr wrap="square" lIns="0" tIns="0" rIns="0" bIns="0" rtlCol="0" anchor="t"/>
          <a:lstStyle/>
          <a:p>
            <a:pPr indent="0" marL="0">
              <a:buNone/>
            </a:pPr>
            <a:r>
              <a:rPr lang="en-US" sz="1200" dirty="0">
                <a:solidFill>
                  <a:srgbClr val="57534E"/>
                </a:solidFill>
                <a:latin typeface="Calibri" pitchFamily="34" charset="0"/>
                <a:ea typeface="Calibri" pitchFamily="34" charset="-122"/>
                <a:cs typeface="Calibri" pitchFamily="34" charset="-120"/>
              </a:rPr>
              <a:t>Agrupa los clips; falta darles el formato de entrada del modelo temporal. Se cierra con HU07.</a:t>
            </a:r>
            <a:endParaRPr lang="en-US" sz="1200" dirty="0"/>
          </a:p>
        </p:txBody>
      </p:sp>
      <p:sp>
        <p:nvSpPr>
          <p:cNvPr id="31" name="Text 28"/>
          <p:cNvSpPr/>
          <p:nvPr/>
        </p:nvSpPr>
        <p:spPr>
          <a:xfrm>
            <a:off x="5669280" y="1783080"/>
            <a:ext cx="2011680" cy="274320"/>
          </a:xfrm>
          <a:prstGeom prst="rect">
            <a:avLst/>
          </a:prstGeom>
          <a:noFill/>
          <a:ln/>
        </p:spPr>
        <p:txBody>
          <a:bodyPr wrap="square" lIns="0" tIns="0" rIns="0" bIns="0" rtlCol="0" anchor="t"/>
          <a:lstStyle/>
          <a:p>
            <a:pPr indent="0" marL="0">
              <a:buNone/>
            </a:pPr>
            <a:r>
              <a:rPr lang="en-US" sz="1100" b="1" spc="100" kern="0" dirty="0">
                <a:solidFill>
                  <a:srgbClr val="2F855A"/>
                </a:solidFill>
                <a:latin typeface="Calibri" pitchFamily="34" charset="0"/>
                <a:ea typeface="Calibri" pitchFamily="34" charset="-122"/>
                <a:cs typeface="Calibri" pitchFamily="34" charset="-120"/>
              </a:rPr>
              <a:t>TERMINADA · POR ACEPTAR</a:t>
            </a:r>
            <a:endParaRPr lang="en-US" sz="1100" dirty="0"/>
          </a:p>
        </p:txBody>
      </p:sp>
      <p:sp>
        <p:nvSpPr>
          <p:cNvPr id="32" name="Text 29"/>
          <p:cNvSpPr/>
          <p:nvPr/>
        </p:nvSpPr>
        <p:spPr>
          <a:xfrm>
            <a:off x="7498080" y="1783080"/>
            <a:ext cx="502920" cy="274320"/>
          </a:xfrm>
          <a:prstGeom prst="rect">
            <a:avLst/>
          </a:prstGeom>
          <a:noFill/>
          <a:ln/>
        </p:spPr>
        <p:txBody>
          <a:bodyPr wrap="square" lIns="0" tIns="0" rIns="0" bIns="0" rtlCol="0" anchor="t"/>
          <a:lstStyle/>
          <a:p>
            <a:pPr algn="r" indent="0" marL="0">
              <a:buNone/>
            </a:pPr>
            <a:r>
              <a:rPr lang="en-US" sz="1100" dirty="0">
                <a:solidFill>
                  <a:srgbClr val="8A8984"/>
                </a:solidFill>
                <a:latin typeface="Calibri" pitchFamily="34" charset="0"/>
                <a:ea typeface="Calibri" pitchFamily="34" charset="-122"/>
                <a:cs typeface="Calibri" pitchFamily="34" charset="-120"/>
              </a:rPr>
              <a:t>12 pts</a:t>
            </a:r>
            <a:endParaRPr lang="en-US" sz="1100" dirty="0"/>
          </a:p>
        </p:txBody>
      </p:sp>
      <p:sp>
        <p:nvSpPr>
          <p:cNvPr id="33" name="Shape 30"/>
          <p:cNvSpPr/>
          <p:nvPr/>
        </p:nvSpPr>
        <p:spPr>
          <a:xfrm>
            <a:off x="5669280" y="2148840"/>
            <a:ext cx="2331720" cy="475488"/>
          </a:xfrm>
          <a:prstGeom prst="roundRect">
            <a:avLst>
              <a:gd name="adj" fmla="val 15385"/>
            </a:avLst>
          </a:prstGeom>
          <a:solidFill>
            <a:srgbClr val="EEF8F2"/>
          </a:solidFill>
          <a:ln w="9525">
            <a:solidFill>
              <a:srgbClr val="C7E6D4"/>
            </a:solidFill>
            <a:prstDash val="solid"/>
          </a:ln>
        </p:spPr>
      </p:sp>
      <p:sp>
        <p:nvSpPr>
          <p:cNvPr id="34" name="Text 31"/>
          <p:cNvSpPr/>
          <p:nvPr/>
        </p:nvSpPr>
        <p:spPr>
          <a:xfrm>
            <a:off x="5806440" y="2276856"/>
            <a:ext cx="1920240" cy="274320"/>
          </a:xfrm>
          <a:prstGeom prst="rect">
            <a:avLst/>
          </a:prstGeom>
          <a:noFill/>
          <a:ln/>
        </p:spPr>
        <p:txBody>
          <a:bodyPr wrap="square" lIns="0" tIns="0" rIns="0" bIns="0" rtlCol="0" anchor="t"/>
          <a:lstStyle/>
          <a:p>
            <a:pPr indent="0" marL="0">
              <a:buNone/>
            </a:pPr>
            <a:r>
              <a:rPr lang="en-US" sz="1200" b="1" dirty="0">
                <a:solidFill>
                  <a:srgbClr val="1A1A1A"/>
                </a:solidFill>
                <a:latin typeface="Calibri" pitchFamily="34" charset="0"/>
                <a:ea typeface="Calibri" pitchFamily="34" charset="-122"/>
                <a:cs typeface="Calibri" pitchFamily="34" charset="-120"/>
              </a:rPr>
              <a:t>HU01  </a:t>
            </a:r>
            <a:pPr indent="0" marL="0">
              <a:buNone/>
            </a:pPr>
            <a:r>
              <a:rPr lang="en-US" sz="1200" dirty="0">
                <a:solidFill>
                  <a:srgbClr val="1A1A1A"/>
                </a:solidFill>
                <a:latin typeface="Calibri" pitchFamily="34" charset="0"/>
                <a:ea typeface="Calibri" pitchFamily="34" charset="-122"/>
                <a:cs typeface="Calibri" pitchFamily="34" charset="-120"/>
              </a:rPr>
              <a:t>Cargar video</a:t>
            </a:r>
            <a:endParaRPr lang="en-US" sz="1200" dirty="0"/>
          </a:p>
        </p:txBody>
      </p:sp>
      <p:sp>
        <p:nvSpPr>
          <p:cNvPr id="35" name="Text 32"/>
          <p:cNvSpPr/>
          <p:nvPr/>
        </p:nvSpPr>
        <p:spPr>
          <a:xfrm>
            <a:off x="7635240" y="2276856"/>
            <a:ext cx="256032" cy="274320"/>
          </a:xfrm>
          <a:prstGeom prst="rect">
            <a:avLst/>
          </a:prstGeom>
          <a:noFill/>
          <a:ln/>
        </p:spPr>
        <p:txBody>
          <a:bodyPr wrap="square" lIns="0" tIns="0" rIns="0" bIns="0" rtlCol="0" anchor="t"/>
          <a:lstStyle/>
          <a:p>
            <a:pPr algn="r" indent="0" marL="0">
              <a:buNone/>
            </a:pPr>
            <a:r>
              <a:rPr lang="en-US" sz="1200" dirty="0">
                <a:solidFill>
                  <a:srgbClr val="8A8984"/>
                </a:solidFill>
                <a:latin typeface="Calibri" pitchFamily="34" charset="0"/>
                <a:ea typeface="Calibri" pitchFamily="34" charset="-122"/>
                <a:cs typeface="Calibri" pitchFamily="34" charset="-120"/>
              </a:rPr>
              <a:t>1</a:t>
            </a:r>
            <a:endParaRPr lang="en-US" sz="1200" dirty="0"/>
          </a:p>
        </p:txBody>
      </p:sp>
      <p:sp>
        <p:nvSpPr>
          <p:cNvPr id="36" name="Shape 33"/>
          <p:cNvSpPr/>
          <p:nvPr/>
        </p:nvSpPr>
        <p:spPr>
          <a:xfrm>
            <a:off x="5669280" y="2715768"/>
            <a:ext cx="2331720" cy="475488"/>
          </a:xfrm>
          <a:prstGeom prst="roundRect">
            <a:avLst>
              <a:gd name="adj" fmla="val 15385"/>
            </a:avLst>
          </a:prstGeom>
          <a:solidFill>
            <a:srgbClr val="EEF8F2"/>
          </a:solidFill>
          <a:ln w="9525">
            <a:solidFill>
              <a:srgbClr val="C7E6D4"/>
            </a:solidFill>
            <a:prstDash val="solid"/>
          </a:ln>
        </p:spPr>
      </p:sp>
      <p:sp>
        <p:nvSpPr>
          <p:cNvPr id="37" name="Text 34"/>
          <p:cNvSpPr/>
          <p:nvPr/>
        </p:nvSpPr>
        <p:spPr>
          <a:xfrm>
            <a:off x="5806440" y="2843784"/>
            <a:ext cx="1920240" cy="274320"/>
          </a:xfrm>
          <a:prstGeom prst="rect">
            <a:avLst/>
          </a:prstGeom>
          <a:noFill/>
          <a:ln/>
        </p:spPr>
        <p:txBody>
          <a:bodyPr wrap="square" lIns="0" tIns="0" rIns="0" bIns="0" rtlCol="0" anchor="t"/>
          <a:lstStyle/>
          <a:p>
            <a:pPr indent="0" marL="0">
              <a:buNone/>
            </a:pPr>
            <a:r>
              <a:rPr lang="en-US" sz="1200" b="1" dirty="0">
                <a:solidFill>
                  <a:srgbClr val="1A1A1A"/>
                </a:solidFill>
                <a:latin typeface="Calibri" pitchFamily="34" charset="0"/>
                <a:ea typeface="Calibri" pitchFamily="34" charset="-122"/>
                <a:cs typeface="Calibri" pitchFamily="34" charset="-120"/>
              </a:rPr>
              <a:t>HU02  </a:t>
            </a:r>
            <a:pPr indent="0" marL="0">
              <a:buNone/>
            </a:pPr>
            <a:r>
              <a:rPr lang="en-US" sz="1200" dirty="0">
                <a:solidFill>
                  <a:srgbClr val="1A1A1A"/>
                </a:solidFill>
                <a:latin typeface="Calibri" pitchFamily="34" charset="0"/>
                <a:ea typeface="Calibri" pitchFamily="34" charset="-122"/>
                <a:cs typeface="Calibri" pitchFamily="34" charset="-120"/>
              </a:rPr>
              <a:t>Extraer fotogramas</a:t>
            </a:r>
            <a:endParaRPr lang="en-US" sz="1200" dirty="0"/>
          </a:p>
        </p:txBody>
      </p:sp>
      <p:sp>
        <p:nvSpPr>
          <p:cNvPr id="38" name="Text 35"/>
          <p:cNvSpPr/>
          <p:nvPr/>
        </p:nvSpPr>
        <p:spPr>
          <a:xfrm>
            <a:off x="7635240" y="2843784"/>
            <a:ext cx="256032" cy="274320"/>
          </a:xfrm>
          <a:prstGeom prst="rect">
            <a:avLst/>
          </a:prstGeom>
          <a:noFill/>
          <a:ln/>
        </p:spPr>
        <p:txBody>
          <a:bodyPr wrap="square" lIns="0" tIns="0" rIns="0" bIns="0" rtlCol="0" anchor="t"/>
          <a:lstStyle/>
          <a:p>
            <a:pPr algn="r" indent="0" marL="0">
              <a:buNone/>
            </a:pPr>
            <a:r>
              <a:rPr lang="en-US" sz="1200" dirty="0">
                <a:solidFill>
                  <a:srgbClr val="8A8984"/>
                </a:solidFill>
                <a:latin typeface="Calibri" pitchFamily="34" charset="0"/>
                <a:ea typeface="Calibri" pitchFamily="34" charset="-122"/>
                <a:cs typeface="Calibri" pitchFamily="34" charset="-120"/>
              </a:rPr>
              <a:t>2</a:t>
            </a:r>
            <a:endParaRPr lang="en-US" sz="1200" dirty="0"/>
          </a:p>
        </p:txBody>
      </p:sp>
      <p:sp>
        <p:nvSpPr>
          <p:cNvPr id="39" name="Shape 36"/>
          <p:cNvSpPr/>
          <p:nvPr/>
        </p:nvSpPr>
        <p:spPr>
          <a:xfrm>
            <a:off x="5669280" y="3282696"/>
            <a:ext cx="2331720" cy="475488"/>
          </a:xfrm>
          <a:prstGeom prst="roundRect">
            <a:avLst>
              <a:gd name="adj" fmla="val 15385"/>
            </a:avLst>
          </a:prstGeom>
          <a:solidFill>
            <a:srgbClr val="EEF8F2"/>
          </a:solidFill>
          <a:ln w="9525">
            <a:solidFill>
              <a:srgbClr val="C7E6D4"/>
            </a:solidFill>
            <a:prstDash val="solid"/>
          </a:ln>
        </p:spPr>
      </p:sp>
      <p:sp>
        <p:nvSpPr>
          <p:cNvPr id="40" name="Text 37"/>
          <p:cNvSpPr/>
          <p:nvPr/>
        </p:nvSpPr>
        <p:spPr>
          <a:xfrm>
            <a:off x="5806440" y="3410712"/>
            <a:ext cx="1920240" cy="274320"/>
          </a:xfrm>
          <a:prstGeom prst="rect">
            <a:avLst/>
          </a:prstGeom>
          <a:noFill/>
          <a:ln/>
        </p:spPr>
        <p:txBody>
          <a:bodyPr wrap="square" lIns="0" tIns="0" rIns="0" bIns="0" rtlCol="0" anchor="t"/>
          <a:lstStyle/>
          <a:p>
            <a:pPr indent="0" marL="0">
              <a:buNone/>
            </a:pPr>
            <a:r>
              <a:rPr lang="en-US" sz="1200" b="1" dirty="0">
                <a:solidFill>
                  <a:srgbClr val="1A1A1A"/>
                </a:solidFill>
                <a:latin typeface="Calibri" pitchFamily="34" charset="0"/>
                <a:ea typeface="Calibri" pitchFamily="34" charset="-122"/>
                <a:cs typeface="Calibri" pitchFamily="34" charset="-120"/>
              </a:rPr>
              <a:t>HU03  </a:t>
            </a:r>
            <a:pPr indent="0" marL="0">
              <a:buNone/>
            </a:pPr>
            <a:r>
              <a:rPr lang="en-US" sz="1200" dirty="0">
                <a:solidFill>
                  <a:srgbClr val="1A1A1A"/>
                </a:solidFill>
                <a:latin typeface="Calibri" pitchFamily="34" charset="0"/>
                <a:ea typeface="Calibri" pitchFamily="34" charset="-122"/>
                <a:cs typeface="Calibri" pitchFamily="34" charset="-120"/>
              </a:rPr>
              <a:t>Detectar operarios</a:t>
            </a:r>
            <a:endParaRPr lang="en-US" sz="1200" dirty="0"/>
          </a:p>
        </p:txBody>
      </p:sp>
      <p:sp>
        <p:nvSpPr>
          <p:cNvPr id="41" name="Text 38"/>
          <p:cNvSpPr/>
          <p:nvPr/>
        </p:nvSpPr>
        <p:spPr>
          <a:xfrm>
            <a:off x="7635240" y="3410712"/>
            <a:ext cx="256032" cy="274320"/>
          </a:xfrm>
          <a:prstGeom prst="rect">
            <a:avLst/>
          </a:prstGeom>
          <a:noFill/>
          <a:ln/>
        </p:spPr>
        <p:txBody>
          <a:bodyPr wrap="square" lIns="0" tIns="0" rIns="0" bIns="0" rtlCol="0" anchor="t"/>
          <a:lstStyle/>
          <a:p>
            <a:pPr algn="r" indent="0" marL="0">
              <a:buNone/>
            </a:pPr>
            <a:r>
              <a:rPr lang="en-US" sz="1200" dirty="0">
                <a:solidFill>
                  <a:srgbClr val="8A8984"/>
                </a:solidFill>
                <a:latin typeface="Calibri" pitchFamily="34" charset="0"/>
                <a:ea typeface="Calibri" pitchFamily="34" charset="-122"/>
                <a:cs typeface="Calibri" pitchFamily="34" charset="-120"/>
              </a:rPr>
              <a:t>4</a:t>
            </a:r>
            <a:endParaRPr lang="en-US" sz="1200" dirty="0"/>
          </a:p>
        </p:txBody>
      </p:sp>
      <p:sp>
        <p:nvSpPr>
          <p:cNvPr id="42" name="Shape 39"/>
          <p:cNvSpPr/>
          <p:nvPr/>
        </p:nvSpPr>
        <p:spPr>
          <a:xfrm>
            <a:off x="5669280" y="3849624"/>
            <a:ext cx="2331720" cy="475488"/>
          </a:xfrm>
          <a:prstGeom prst="roundRect">
            <a:avLst>
              <a:gd name="adj" fmla="val 15385"/>
            </a:avLst>
          </a:prstGeom>
          <a:solidFill>
            <a:srgbClr val="EEF8F2"/>
          </a:solidFill>
          <a:ln w="9525">
            <a:solidFill>
              <a:srgbClr val="C7E6D4"/>
            </a:solidFill>
            <a:prstDash val="solid"/>
          </a:ln>
        </p:spPr>
      </p:sp>
      <p:sp>
        <p:nvSpPr>
          <p:cNvPr id="43" name="Text 40"/>
          <p:cNvSpPr/>
          <p:nvPr/>
        </p:nvSpPr>
        <p:spPr>
          <a:xfrm>
            <a:off x="5806440" y="3977640"/>
            <a:ext cx="1920240" cy="274320"/>
          </a:xfrm>
          <a:prstGeom prst="rect">
            <a:avLst/>
          </a:prstGeom>
          <a:noFill/>
          <a:ln/>
        </p:spPr>
        <p:txBody>
          <a:bodyPr wrap="square" lIns="0" tIns="0" rIns="0" bIns="0" rtlCol="0" anchor="t"/>
          <a:lstStyle/>
          <a:p>
            <a:pPr indent="0" marL="0">
              <a:buNone/>
            </a:pPr>
            <a:r>
              <a:rPr lang="en-US" sz="1200" b="1" dirty="0">
                <a:solidFill>
                  <a:srgbClr val="1A1A1A"/>
                </a:solidFill>
                <a:latin typeface="Calibri" pitchFamily="34" charset="0"/>
                <a:ea typeface="Calibri" pitchFamily="34" charset="-122"/>
                <a:cs typeface="Calibri" pitchFamily="34" charset="-120"/>
              </a:rPr>
              <a:t>HU04  </a:t>
            </a:r>
            <a:pPr indent="0" marL="0">
              <a:buNone/>
            </a:pPr>
            <a:r>
              <a:rPr lang="en-US" sz="1200" dirty="0">
                <a:solidFill>
                  <a:srgbClr val="1A1A1A"/>
                </a:solidFill>
                <a:latin typeface="Calibri" pitchFamily="34" charset="0"/>
                <a:ea typeface="Calibri" pitchFamily="34" charset="-122"/>
                <a:cs typeface="Calibri" pitchFamily="34" charset="-120"/>
              </a:rPr>
              <a:t>Quitar imágenes vacías</a:t>
            </a:r>
            <a:endParaRPr lang="en-US" sz="1200" dirty="0"/>
          </a:p>
        </p:txBody>
      </p:sp>
      <p:sp>
        <p:nvSpPr>
          <p:cNvPr id="44" name="Text 41"/>
          <p:cNvSpPr/>
          <p:nvPr/>
        </p:nvSpPr>
        <p:spPr>
          <a:xfrm>
            <a:off x="7635240" y="3977640"/>
            <a:ext cx="256032" cy="274320"/>
          </a:xfrm>
          <a:prstGeom prst="rect">
            <a:avLst/>
          </a:prstGeom>
          <a:noFill/>
          <a:ln/>
        </p:spPr>
        <p:txBody>
          <a:bodyPr wrap="square" lIns="0" tIns="0" rIns="0" bIns="0" rtlCol="0" anchor="t"/>
          <a:lstStyle/>
          <a:p>
            <a:pPr algn="r" indent="0" marL="0">
              <a:buNone/>
            </a:pPr>
            <a:r>
              <a:rPr lang="en-US" sz="1200" dirty="0">
                <a:solidFill>
                  <a:srgbClr val="8A8984"/>
                </a:solidFill>
                <a:latin typeface="Calibri" pitchFamily="34" charset="0"/>
                <a:ea typeface="Calibri" pitchFamily="34" charset="-122"/>
                <a:cs typeface="Calibri" pitchFamily="34" charset="-120"/>
              </a:rPr>
              <a:t>2</a:t>
            </a:r>
            <a:endParaRPr lang="en-US" sz="1200" dirty="0"/>
          </a:p>
        </p:txBody>
      </p:sp>
      <p:sp>
        <p:nvSpPr>
          <p:cNvPr id="45" name="Shape 42"/>
          <p:cNvSpPr/>
          <p:nvPr/>
        </p:nvSpPr>
        <p:spPr>
          <a:xfrm>
            <a:off x="5669280" y="4416552"/>
            <a:ext cx="2331720" cy="475488"/>
          </a:xfrm>
          <a:prstGeom prst="roundRect">
            <a:avLst>
              <a:gd name="adj" fmla="val 15385"/>
            </a:avLst>
          </a:prstGeom>
          <a:solidFill>
            <a:srgbClr val="EEF8F2"/>
          </a:solidFill>
          <a:ln w="9525">
            <a:solidFill>
              <a:srgbClr val="C7E6D4"/>
            </a:solidFill>
            <a:prstDash val="solid"/>
          </a:ln>
        </p:spPr>
      </p:sp>
      <p:sp>
        <p:nvSpPr>
          <p:cNvPr id="46" name="Text 43"/>
          <p:cNvSpPr/>
          <p:nvPr/>
        </p:nvSpPr>
        <p:spPr>
          <a:xfrm>
            <a:off x="5806440" y="4544568"/>
            <a:ext cx="1920240" cy="274320"/>
          </a:xfrm>
          <a:prstGeom prst="rect">
            <a:avLst/>
          </a:prstGeom>
          <a:noFill/>
          <a:ln/>
        </p:spPr>
        <p:txBody>
          <a:bodyPr wrap="square" lIns="0" tIns="0" rIns="0" bIns="0" rtlCol="0" anchor="t"/>
          <a:lstStyle/>
          <a:p>
            <a:pPr indent="0" marL="0">
              <a:buNone/>
            </a:pPr>
            <a:r>
              <a:rPr lang="en-US" sz="1200" b="1" dirty="0">
                <a:solidFill>
                  <a:srgbClr val="1A1A1A"/>
                </a:solidFill>
                <a:latin typeface="Calibri" pitchFamily="34" charset="0"/>
                <a:ea typeface="Calibri" pitchFamily="34" charset="-122"/>
                <a:cs typeface="Calibri" pitchFamily="34" charset="-120"/>
              </a:rPr>
              <a:t>HU06  </a:t>
            </a:r>
            <a:pPr indent="0" marL="0">
              <a:buNone/>
            </a:pPr>
            <a:r>
              <a:rPr lang="en-US" sz="1200" dirty="0">
                <a:solidFill>
                  <a:srgbClr val="1A1A1A"/>
                </a:solidFill>
                <a:latin typeface="Calibri" pitchFamily="34" charset="0"/>
                <a:ea typeface="Calibri" pitchFamily="34" charset="-122"/>
                <a:cs typeface="Calibri" pitchFamily="34" charset="-120"/>
              </a:rPr>
              <a:t>Descartar clips cortos</a:t>
            </a:r>
            <a:endParaRPr lang="en-US" sz="1200" dirty="0"/>
          </a:p>
        </p:txBody>
      </p:sp>
      <p:sp>
        <p:nvSpPr>
          <p:cNvPr id="47" name="Text 44"/>
          <p:cNvSpPr/>
          <p:nvPr/>
        </p:nvSpPr>
        <p:spPr>
          <a:xfrm>
            <a:off x="7635240" y="4544568"/>
            <a:ext cx="256032" cy="274320"/>
          </a:xfrm>
          <a:prstGeom prst="rect">
            <a:avLst/>
          </a:prstGeom>
          <a:noFill/>
          <a:ln/>
        </p:spPr>
        <p:txBody>
          <a:bodyPr wrap="square" lIns="0" tIns="0" rIns="0" bIns="0" rtlCol="0" anchor="t"/>
          <a:lstStyle/>
          <a:p>
            <a:pPr algn="r" indent="0" marL="0">
              <a:buNone/>
            </a:pPr>
            <a:r>
              <a:rPr lang="en-US" sz="1200" dirty="0">
                <a:solidFill>
                  <a:srgbClr val="8A8984"/>
                </a:solidFill>
                <a:latin typeface="Calibri" pitchFamily="34" charset="0"/>
                <a:ea typeface="Calibri" pitchFamily="34" charset="-122"/>
                <a:cs typeface="Calibri" pitchFamily="34" charset="-120"/>
              </a:rPr>
              <a:t>2</a:t>
            </a:r>
            <a:endParaRPr lang="en-US" sz="1200" dirty="0"/>
          </a:p>
        </p:txBody>
      </p:sp>
      <p:sp>
        <p:nvSpPr>
          <p:cNvPr id="48" name="Shape 45"/>
          <p:cNvSpPr/>
          <p:nvPr/>
        </p:nvSpPr>
        <p:spPr>
          <a:xfrm>
            <a:off x="5669280" y="4983480"/>
            <a:ext cx="2331720" cy="475488"/>
          </a:xfrm>
          <a:prstGeom prst="roundRect">
            <a:avLst>
              <a:gd name="adj" fmla="val 15385"/>
            </a:avLst>
          </a:prstGeom>
          <a:solidFill>
            <a:srgbClr val="EEF8F2"/>
          </a:solidFill>
          <a:ln w="9525">
            <a:solidFill>
              <a:srgbClr val="C7E6D4"/>
            </a:solidFill>
            <a:prstDash val="solid"/>
          </a:ln>
        </p:spPr>
      </p:sp>
      <p:sp>
        <p:nvSpPr>
          <p:cNvPr id="49" name="Text 46"/>
          <p:cNvSpPr/>
          <p:nvPr/>
        </p:nvSpPr>
        <p:spPr>
          <a:xfrm>
            <a:off x="5806440" y="5111496"/>
            <a:ext cx="1920240" cy="274320"/>
          </a:xfrm>
          <a:prstGeom prst="rect">
            <a:avLst/>
          </a:prstGeom>
          <a:noFill/>
          <a:ln/>
        </p:spPr>
        <p:txBody>
          <a:bodyPr wrap="square" lIns="0" tIns="0" rIns="0" bIns="0" rtlCol="0" anchor="t"/>
          <a:lstStyle/>
          <a:p>
            <a:pPr indent="0" marL="0">
              <a:buNone/>
            </a:pPr>
            <a:r>
              <a:rPr lang="en-US" sz="1200" b="1" dirty="0">
                <a:solidFill>
                  <a:srgbClr val="1A1A1A"/>
                </a:solidFill>
                <a:latin typeface="Calibri" pitchFamily="34" charset="0"/>
                <a:ea typeface="Calibri" pitchFamily="34" charset="-122"/>
                <a:cs typeface="Calibri" pitchFamily="34" charset="-120"/>
              </a:rPr>
              <a:t>HU11  </a:t>
            </a:r>
            <a:pPr indent="0" marL="0">
              <a:buNone/>
            </a:pPr>
            <a:r>
              <a:rPr lang="en-US" sz="1200" dirty="0">
                <a:solidFill>
                  <a:srgbClr val="1A1A1A"/>
                </a:solidFill>
                <a:latin typeface="Calibri" pitchFamily="34" charset="0"/>
                <a:ea typeface="Calibri" pitchFamily="34" charset="-122"/>
                <a:cs typeface="Calibri" pitchFamily="34" charset="-120"/>
              </a:rPr>
              <a:t>Calibrar sensibilidad</a:t>
            </a:r>
            <a:endParaRPr lang="en-US" sz="1200" dirty="0"/>
          </a:p>
        </p:txBody>
      </p:sp>
      <p:sp>
        <p:nvSpPr>
          <p:cNvPr id="50" name="Text 47"/>
          <p:cNvSpPr/>
          <p:nvPr/>
        </p:nvSpPr>
        <p:spPr>
          <a:xfrm>
            <a:off x="7635240" y="5111496"/>
            <a:ext cx="256032" cy="274320"/>
          </a:xfrm>
          <a:prstGeom prst="rect">
            <a:avLst/>
          </a:prstGeom>
          <a:noFill/>
          <a:ln/>
        </p:spPr>
        <p:txBody>
          <a:bodyPr wrap="square" lIns="0" tIns="0" rIns="0" bIns="0" rtlCol="0" anchor="t"/>
          <a:lstStyle/>
          <a:p>
            <a:pPr algn="r" indent="0" marL="0">
              <a:buNone/>
            </a:pPr>
            <a:r>
              <a:rPr lang="en-US" sz="1200" dirty="0">
                <a:solidFill>
                  <a:srgbClr val="8A8984"/>
                </a:solidFill>
                <a:latin typeface="Calibri" pitchFamily="34" charset="0"/>
                <a:ea typeface="Calibri" pitchFamily="34" charset="-122"/>
                <a:cs typeface="Calibri" pitchFamily="34" charset="-120"/>
              </a:rPr>
              <a:t>1</a:t>
            </a:r>
            <a:endParaRPr lang="en-US" sz="1200" dirty="0"/>
          </a:p>
        </p:txBody>
      </p:sp>
      <p:sp>
        <p:nvSpPr>
          <p:cNvPr id="51" name="Shape 48"/>
          <p:cNvSpPr/>
          <p:nvPr/>
        </p:nvSpPr>
        <p:spPr>
          <a:xfrm>
            <a:off x="8229600" y="1783080"/>
            <a:ext cx="3230575" cy="3886200"/>
          </a:xfrm>
          <a:prstGeom prst="roundRect">
            <a:avLst>
              <a:gd name="adj" fmla="val 2264"/>
            </a:avLst>
          </a:prstGeom>
          <a:solidFill>
            <a:srgbClr val="FFFFFF"/>
          </a:solidFill>
          <a:ln w="9525">
            <a:solidFill>
              <a:srgbClr val="E7E5E4"/>
            </a:solidFill>
            <a:prstDash val="solid"/>
          </a:ln>
        </p:spPr>
      </p:sp>
      <p:sp>
        <p:nvSpPr>
          <p:cNvPr id="52" name="Text 49"/>
          <p:cNvSpPr/>
          <p:nvPr/>
        </p:nvSpPr>
        <p:spPr>
          <a:xfrm>
            <a:off x="8503920" y="2011680"/>
            <a:ext cx="3200400" cy="274320"/>
          </a:xfrm>
          <a:prstGeom prst="rect">
            <a:avLst/>
          </a:prstGeom>
          <a:noFill/>
          <a:ln/>
        </p:spPr>
        <p:txBody>
          <a:bodyPr wrap="square" lIns="0" tIns="0" rIns="0" bIns="0" rtlCol="0" anchor="t"/>
          <a:lstStyle/>
          <a:p>
            <a:pPr indent="0" marL="0">
              <a:buNone/>
            </a:pPr>
            <a:r>
              <a:rPr lang="en-US" sz="1100" b="1" spc="100" kern="0" dirty="0">
                <a:solidFill>
                  <a:srgbClr val="3E63DD"/>
                </a:solidFill>
                <a:latin typeface="Calibri" pitchFamily="34" charset="0"/>
                <a:ea typeface="Calibri" pitchFamily="34" charset="-122"/>
                <a:cs typeface="Calibri" pitchFamily="34" charset="-120"/>
              </a:rPr>
              <a:t>PARA DARLAS POR TERMINADAS</a:t>
            </a:r>
            <a:endParaRPr lang="en-US" sz="1100" dirty="0"/>
          </a:p>
        </p:txBody>
      </p:sp>
      <p:pic>
        <p:nvPicPr>
          <p:cNvPr id="53" name="Image 0" descr="/Users/anthony/Documents/Projects/NewBit/curso/semana-06-producto-unidad-1/nuestras-entregas/PPT_Producto_Unidad_1_NewBit/img/iconos/seguro-verde.png">    </p:cNvPr>
          <p:cNvPicPr>
            <a:picLocks noChangeAspect="1"/>
          </p:cNvPicPr>
          <p:nvPr/>
        </p:nvPicPr>
        <p:blipFill>
          <a:blip r:embed="rId1"/>
          <a:stretch>
            <a:fillRect/>
          </a:stretch>
        </p:blipFill>
        <p:spPr>
          <a:xfrm>
            <a:off x="8503920" y="2487168"/>
            <a:ext cx="274320" cy="274320"/>
          </a:xfrm>
          <a:prstGeom prst="rect">
            <a:avLst/>
          </a:prstGeom>
        </p:spPr>
      </p:pic>
      <p:sp>
        <p:nvSpPr>
          <p:cNvPr id="54" name="Text 50"/>
          <p:cNvSpPr/>
          <p:nvPr/>
        </p:nvSpPr>
        <p:spPr>
          <a:xfrm>
            <a:off x="8915400" y="2468880"/>
            <a:ext cx="2743200" cy="274320"/>
          </a:xfrm>
          <a:prstGeom prst="rect">
            <a:avLst/>
          </a:prstGeom>
          <a:noFill/>
          <a:ln/>
        </p:spPr>
        <p:txBody>
          <a:bodyPr wrap="square" lIns="0" tIns="0" rIns="0" bIns="0" rtlCol="0" anchor="t"/>
          <a:lstStyle/>
          <a:p>
            <a:pPr indent="0" marL="0">
              <a:buNone/>
            </a:pPr>
            <a:r>
              <a:rPr lang="en-US" sz="1350" b="1" dirty="0">
                <a:solidFill>
                  <a:srgbClr val="1A1A1A"/>
                </a:solidFill>
                <a:latin typeface="Calibri" pitchFamily="34" charset="0"/>
                <a:ea typeface="Calibri" pitchFamily="34" charset="-122"/>
                <a:cs typeface="Calibri" pitchFamily="34" charset="-120"/>
              </a:rPr>
              <a:t>Pruebas unitarias e integradas</a:t>
            </a:r>
            <a:endParaRPr lang="en-US" sz="1350" dirty="0"/>
          </a:p>
        </p:txBody>
      </p:sp>
      <p:sp>
        <p:nvSpPr>
          <p:cNvPr id="55" name="Text 51"/>
          <p:cNvSpPr/>
          <p:nvPr/>
        </p:nvSpPr>
        <p:spPr>
          <a:xfrm>
            <a:off x="8915400" y="2743200"/>
            <a:ext cx="2743200" cy="274320"/>
          </a:xfrm>
          <a:prstGeom prst="rect">
            <a:avLst/>
          </a:prstGeom>
          <a:noFill/>
          <a:ln/>
        </p:spPr>
        <p:txBody>
          <a:bodyPr wrap="square" lIns="0" tIns="0" rIns="0" bIns="0" rtlCol="0" anchor="t"/>
          <a:lstStyle/>
          <a:p>
            <a:pPr indent="0" marL="0">
              <a:buNone/>
            </a:pPr>
            <a:r>
              <a:rPr lang="en-US" sz="1200" dirty="0">
                <a:solidFill>
                  <a:srgbClr val="8A8984"/>
                </a:solidFill>
                <a:latin typeface="Calibri" pitchFamily="34" charset="0"/>
                <a:ea typeface="Calibri" pitchFamily="34" charset="-122"/>
                <a:cs typeface="Calibri" pitchFamily="34" charset="-120"/>
              </a:rPr>
              <a:t>43 en verde</a:t>
            </a:r>
            <a:endParaRPr lang="en-US" sz="1200" dirty="0"/>
          </a:p>
        </p:txBody>
      </p:sp>
      <p:pic>
        <p:nvPicPr>
          <p:cNvPr id="56" name="Image 1" descr="/Users/anthony/Documents/Projects/NewBit/curso/semana-06-producto-unidad-1/nuestras-entregas/PPT_Producto_Unidad_1_NewBit/img/iconos/seguro-verde.png">    </p:cNvPr>
          <p:cNvPicPr>
            <a:picLocks noChangeAspect="1"/>
          </p:cNvPicPr>
          <p:nvPr/>
        </p:nvPicPr>
        <p:blipFill>
          <a:blip r:embed="rId2"/>
          <a:stretch>
            <a:fillRect/>
          </a:stretch>
        </p:blipFill>
        <p:spPr>
          <a:xfrm>
            <a:off x="8503920" y="3108960"/>
            <a:ext cx="274320" cy="274320"/>
          </a:xfrm>
          <a:prstGeom prst="rect">
            <a:avLst/>
          </a:prstGeom>
        </p:spPr>
      </p:pic>
      <p:sp>
        <p:nvSpPr>
          <p:cNvPr id="57" name="Text 52"/>
          <p:cNvSpPr/>
          <p:nvPr/>
        </p:nvSpPr>
        <p:spPr>
          <a:xfrm>
            <a:off x="8915400" y="3090672"/>
            <a:ext cx="2743200" cy="274320"/>
          </a:xfrm>
          <a:prstGeom prst="rect">
            <a:avLst/>
          </a:prstGeom>
          <a:noFill/>
          <a:ln/>
        </p:spPr>
        <p:txBody>
          <a:bodyPr wrap="square" lIns="0" tIns="0" rIns="0" bIns="0" rtlCol="0" anchor="t"/>
          <a:lstStyle/>
          <a:p>
            <a:pPr indent="0" marL="0">
              <a:buNone/>
            </a:pPr>
            <a:r>
              <a:rPr lang="en-US" sz="1350" b="1" dirty="0">
                <a:solidFill>
                  <a:srgbClr val="1A1A1A"/>
                </a:solidFill>
                <a:latin typeface="Calibri" pitchFamily="34" charset="0"/>
                <a:ea typeface="Calibri" pitchFamily="34" charset="-122"/>
                <a:cs typeface="Calibri" pitchFamily="34" charset="-120"/>
              </a:rPr>
              <a:t>Documentación y guía de arranque</a:t>
            </a:r>
            <a:endParaRPr lang="en-US" sz="1350" dirty="0"/>
          </a:p>
        </p:txBody>
      </p:sp>
      <p:sp>
        <p:nvSpPr>
          <p:cNvPr id="58" name="Text 53"/>
          <p:cNvSpPr/>
          <p:nvPr/>
        </p:nvSpPr>
        <p:spPr>
          <a:xfrm>
            <a:off x="8915400" y="3364992"/>
            <a:ext cx="2743200" cy="274320"/>
          </a:xfrm>
          <a:prstGeom prst="rect">
            <a:avLst/>
          </a:prstGeom>
          <a:noFill/>
          <a:ln/>
        </p:spPr>
        <p:txBody>
          <a:bodyPr wrap="square" lIns="0" tIns="0" rIns="0" bIns="0" rtlCol="0" anchor="t"/>
          <a:lstStyle/>
          <a:p>
            <a:pPr indent="0" marL="0">
              <a:buNone/>
            </a:pPr>
            <a:r>
              <a:rPr lang="en-US" sz="1200" dirty="0">
                <a:solidFill>
                  <a:srgbClr val="8A8984"/>
                </a:solidFill>
                <a:latin typeface="Calibri" pitchFamily="34" charset="0"/>
                <a:ea typeface="Calibri" pitchFamily="34" charset="-122"/>
                <a:cs typeface="Calibri" pitchFamily="34" charset="-120"/>
              </a:rPr>
              <a:t>en el repositorio</a:t>
            </a:r>
            <a:endParaRPr lang="en-US" sz="1200" dirty="0"/>
          </a:p>
        </p:txBody>
      </p:sp>
      <p:pic>
        <p:nvPicPr>
          <p:cNvPr id="59" name="Image 2" descr="/Users/anthony/Documents/Projects/NewBit/curso/semana-06-producto-unidad-1/nuestras-entregas/PPT_Producto_Unidad_1_NewBit/img/iconos/reloj-ambar.png">    </p:cNvPr>
          <p:cNvPicPr>
            <a:picLocks noChangeAspect="1"/>
          </p:cNvPicPr>
          <p:nvPr/>
        </p:nvPicPr>
        <p:blipFill>
          <a:blip r:embed="rId3"/>
          <a:stretch>
            <a:fillRect/>
          </a:stretch>
        </p:blipFill>
        <p:spPr>
          <a:xfrm>
            <a:off x="8503920" y="3730752"/>
            <a:ext cx="274320" cy="274320"/>
          </a:xfrm>
          <a:prstGeom prst="rect">
            <a:avLst/>
          </a:prstGeom>
        </p:spPr>
      </p:pic>
      <p:sp>
        <p:nvSpPr>
          <p:cNvPr id="60" name="Text 54"/>
          <p:cNvSpPr/>
          <p:nvPr/>
        </p:nvSpPr>
        <p:spPr>
          <a:xfrm>
            <a:off x="8915400" y="3712464"/>
            <a:ext cx="2743200" cy="274320"/>
          </a:xfrm>
          <a:prstGeom prst="rect">
            <a:avLst/>
          </a:prstGeom>
          <a:noFill/>
          <a:ln/>
        </p:spPr>
        <p:txBody>
          <a:bodyPr wrap="square" lIns="0" tIns="0" rIns="0" bIns="0" rtlCol="0" anchor="t"/>
          <a:lstStyle/>
          <a:p>
            <a:pPr indent="0" marL="0">
              <a:buNone/>
            </a:pPr>
            <a:r>
              <a:rPr lang="en-US" sz="1350" b="1" dirty="0">
                <a:solidFill>
                  <a:srgbClr val="1A1A1A"/>
                </a:solidFill>
                <a:latin typeface="Calibri" pitchFamily="34" charset="0"/>
                <a:ea typeface="Calibri" pitchFamily="34" charset="-122"/>
                <a:cs typeface="Calibri" pitchFamily="34" charset="-120"/>
              </a:rPr>
              <a:t>Revisión de código entre pares</a:t>
            </a:r>
            <a:endParaRPr lang="en-US" sz="1350" dirty="0"/>
          </a:p>
        </p:txBody>
      </p:sp>
      <p:sp>
        <p:nvSpPr>
          <p:cNvPr id="61" name="Text 55"/>
          <p:cNvSpPr/>
          <p:nvPr/>
        </p:nvSpPr>
        <p:spPr>
          <a:xfrm>
            <a:off x="8915400" y="3986784"/>
            <a:ext cx="2743200" cy="274320"/>
          </a:xfrm>
          <a:prstGeom prst="rect">
            <a:avLst/>
          </a:prstGeom>
          <a:noFill/>
          <a:ln/>
        </p:spPr>
        <p:txBody>
          <a:bodyPr wrap="square" lIns="0" tIns="0" rIns="0" bIns="0" rtlCol="0" anchor="t"/>
          <a:lstStyle/>
          <a:p>
            <a:pPr indent="0" marL="0">
              <a:buNone/>
            </a:pPr>
            <a:r>
              <a:rPr lang="en-US" sz="1200" dirty="0">
                <a:solidFill>
                  <a:srgbClr val="8A8984"/>
                </a:solidFill>
                <a:latin typeface="Calibri" pitchFamily="34" charset="0"/>
                <a:ea typeface="Calibri" pitchFamily="34" charset="-122"/>
                <a:cs typeface="Calibri" pitchFamily="34" charset="-120"/>
              </a:rPr>
              <a:t>por registrar</a:t>
            </a:r>
            <a:endParaRPr lang="en-US" sz="1200" dirty="0"/>
          </a:p>
        </p:txBody>
      </p:sp>
      <p:pic>
        <p:nvPicPr>
          <p:cNvPr id="62" name="Image 3" descr="/Users/anthony/Documents/Projects/NewBit/curso/semana-06-producto-unidad-1/nuestras-entregas/PPT_Producto_Unidad_1_NewBit/img/iconos/reloj-ambar.png">    </p:cNvPr>
          <p:cNvPicPr>
            <a:picLocks noChangeAspect="1"/>
          </p:cNvPicPr>
          <p:nvPr/>
        </p:nvPicPr>
        <p:blipFill>
          <a:blip r:embed="rId4"/>
          <a:stretch>
            <a:fillRect/>
          </a:stretch>
        </p:blipFill>
        <p:spPr>
          <a:xfrm>
            <a:off x="8503920" y="4352544"/>
            <a:ext cx="274320" cy="274320"/>
          </a:xfrm>
          <a:prstGeom prst="rect">
            <a:avLst/>
          </a:prstGeom>
        </p:spPr>
      </p:pic>
      <p:sp>
        <p:nvSpPr>
          <p:cNvPr id="63" name="Text 56"/>
          <p:cNvSpPr/>
          <p:nvPr/>
        </p:nvSpPr>
        <p:spPr>
          <a:xfrm>
            <a:off x="8915400" y="4334256"/>
            <a:ext cx="2743200" cy="274320"/>
          </a:xfrm>
          <a:prstGeom prst="rect">
            <a:avLst/>
          </a:prstGeom>
          <a:noFill/>
          <a:ln/>
        </p:spPr>
        <p:txBody>
          <a:bodyPr wrap="square" lIns="0" tIns="0" rIns="0" bIns="0" rtlCol="0" anchor="t"/>
          <a:lstStyle/>
          <a:p>
            <a:pPr indent="0" marL="0">
              <a:buNone/>
            </a:pPr>
            <a:r>
              <a:rPr lang="en-US" sz="1350" b="1" dirty="0">
                <a:solidFill>
                  <a:srgbClr val="1A1A1A"/>
                </a:solidFill>
                <a:latin typeface="Calibri" pitchFamily="34" charset="0"/>
                <a:ea typeface="Calibri" pitchFamily="34" charset="-122"/>
                <a:cs typeface="Calibri" pitchFamily="34" charset="-120"/>
              </a:rPr>
              <a:t>Prueba con video real</a:t>
            </a:r>
            <a:endParaRPr lang="en-US" sz="1350" dirty="0"/>
          </a:p>
        </p:txBody>
      </p:sp>
      <p:sp>
        <p:nvSpPr>
          <p:cNvPr id="64" name="Text 57"/>
          <p:cNvSpPr/>
          <p:nvPr/>
        </p:nvSpPr>
        <p:spPr>
          <a:xfrm>
            <a:off x="8915400" y="4608576"/>
            <a:ext cx="2743200" cy="274320"/>
          </a:xfrm>
          <a:prstGeom prst="rect">
            <a:avLst/>
          </a:prstGeom>
          <a:noFill/>
          <a:ln/>
        </p:spPr>
        <p:txBody>
          <a:bodyPr wrap="square" lIns="0" tIns="0" rIns="0" bIns="0" rtlCol="0" anchor="t"/>
          <a:lstStyle/>
          <a:p>
            <a:pPr indent="0" marL="0">
              <a:buNone/>
            </a:pPr>
            <a:r>
              <a:rPr lang="en-US" sz="1200" dirty="0">
                <a:solidFill>
                  <a:srgbClr val="8A8984"/>
                </a:solidFill>
                <a:latin typeface="Calibri" pitchFamily="34" charset="0"/>
                <a:ea typeface="Calibri" pitchFamily="34" charset="-122"/>
                <a:cs typeface="Calibri" pitchFamily="34" charset="-120"/>
              </a:rPr>
              <a:t>del conjunto de datos público</a:t>
            </a:r>
            <a:endParaRPr lang="en-US" sz="1200" dirty="0"/>
          </a:p>
        </p:txBody>
      </p:sp>
      <p:pic>
        <p:nvPicPr>
          <p:cNvPr id="65" name="Image 4" descr="/Users/anthony/Documents/Projects/NewBit/curso/semana-06-producto-unidad-1/nuestras-entregas/PPT_Producto_Unidad_1_NewBit/img/iconos/reloj-ambar.png">    </p:cNvPr>
          <p:cNvPicPr>
            <a:picLocks noChangeAspect="1"/>
          </p:cNvPicPr>
          <p:nvPr/>
        </p:nvPicPr>
        <p:blipFill>
          <a:blip r:embed="rId5"/>
          <a:stretch>
            <a:fillRect/>
          </a:stretch>
        </p:blipFill>
        <p:spPr>
          <a:xfrm>
            <a:off x="8503920" y="4974336"/>
            <a:ext cx="274320" cy="274320"/>
          </a:xfrm>
          <a:prstGeom prst="rect">
            <a:avLst/>
          </a:prstGeom>
        </p:spPr>
      </p:pic>
      <p:sp>
        <p:nvSpPr>
          <p:cNvPr id="66" name="Text 58"/>
          <p:cNvSpPr/>
          <p:nvPr/>
        </p:nvSpPr>
        <p:spPr>
          <a:xfrm>
            <a:off x="8915400" y="4956048"/>
            <a:ext cx="2743200" cy="274320"/>
          </a:xfrm>
          <a:prstGeom prst="rect">
            <a:avLst/>
          </a:prstGeom>
          <a:noFill/>
          <a:ln/>
        </p:spPr>
        <p:txBody>
          <a:bodyPr wrap="square" lIns="0" tIns="0" rIns="0" bIns="0" rtlCol="0" anchor="t"/>
          <a:lstStyle/>
          <a:p>
            <a:pPr indent="0" marL="0">
              <a:buNone/>
            </a:pPr>
            <a:r>
              <a:rPr lang="en-US" sz="1350" b="1" dirty="0">
                <a:solidFill>
                  <a:srgbClr val="1A1A1A"/>
                </a:solidFill>
                <a:latin typeface="Calibri" pitchFamily="34" charset="0"/>
                <a:ea typeface="Calibri" pitchFamily="34" charset="-122"/>
                <a:cs typeface="Calibri" pitchFamily="34" charset="-120"/>
              </a:rPr>
              <a:t>Aceptación del Product Owner</a:t>
            </a:r>
            <a:endParaRPr lang="en-US" sz="1350" dirty="0"/>
          </a:p>
        </p:txBody>
      </p:sp>
      <p:sp>
        <p:nvSpPr>
          <p:cNvPr id="67" name="Text 59"/>
          <p:cNvSpPr/>
          <p:nvPr/>
        </p:nvSpPr>
        <p:spPr>
          <a:xfrm>
            <a:off x="8915400" y="5230368"/>
            <a:ext cx="2743200" cy="274320"/>
          </a:xfrm>
          <a:prstGeom prst="rect">
            <a:avLst/>
          </a:prstGeom>
          <a:noFill/>
          <a:ln/>
        </p:spPr>
        <p:txBody>
          <a:bodyPr wrap="square" lIns="0" tIns="0" rIns="0" bIns="0" rtlCol="0" anchor="t"/>
          <a:lstStyle/>
          <a:p>
            <a:pPr indent="0" marL="0">
              <a:buNone/>
            </a:pPr>
            <a:r>
              <a:rPr lang="en-US" sz="1200" dirty="0">
                <a:solidFill>
                  <a:srgbClr val="8A8984"/>
                </a:solidFill>
                <a:latin typeface="Calibri" pitchFamily="34" charset="0"/>
                <a:ea typeface="Calibri" pitchFamily="34" charset="-122"/>
                <a:cs typeface="Calibri" pitchFamily="34" charset="-120"/>
              </a:rPr>
              <a:t>revisión del sprint</a:t>
            </a:r>
            <a:endParaRPr lang="en-US" sz="1200" dirty="0"/>
          </a:p>
        </p:txBody>
      </p:sp>
      <p:sp>
        <p:nvSpPr>
          <p:cNvPr id="68" name="Text 60"/>
          <p:cNvSpPr/>
          <p:nvPr/>
        </p:nvSpPr>
        <p:spPr>
          <a:xfrm>
            <a:off x="731520" y="5989320"/>
            <a:ext cx="10728655" cy="274320"/>
          </a:xfrm>
          <a:prstGeom prst="rect">
            <a:avLst/>
          </a:prstGeom>
          <a:noFill/>
          <a:ln/>
        </p:spPr>
        <p:txBody>
          <a:bodyPr wrap="square" lIns="0" tIns="0" rIns="0" bIns="0" rtlCol="0" anchor="t"/>
          <a:lstStyle/>
          <a:p>
            <a:pPr indent="0" marL="0">
              <a:buNone/>
            </a:pPr>
            <a:r>
              <a:rPr lang="en-US" sz="1000" dirty="0">
                <a:solidFill>
                  <a:srgbClr val="8A8984"/>
                </a:solidFill>
                <a:latin typeface="Calibri" pitchFamily="34" charset="0"/>
                <a:ea typeface="Calibri" pitchFamily="34" charset="-122"/>
                <a:cs typeface="Calibri" pitchFamily="34" charset="-120"/>
              </a:rPr>
              <a:t>Historias y puntos del backlog priorizado (FGAP060). Criterios de terminado del FGAP070. Estado al 20/10/2026.</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AFAF9"/>
        </a:solidFill>
      </p:bgPr>
    </p:bg>
    <p:spTree>
      <p:nvGrpSpPr>
        <p:cNvPr id="1" name=""/>
        <p:cNvGrpSpPr/>
        <p:nvPr/>
      </p:nvGrpSpPr>
      <p:grpSpPr>
        <a:xfrm>
          <a:off x="0" y="0"/>
          <a:ext cx="0" cy="0"/>
          <a:chOff x="0" y="0"/>
          <a:chExt cx="0" cy="0"/>
        </a:xfrm>
      </p:grpSpPr>
      <p:sp>
        <p:nvSpPr>
          <p:cNvPr id="2" name="Text 0"/>
          <p:cNvSpPr/>
          <p:nvPr/>
        </p:nvSpPr>
        <p:spPr>
          <a:xfrm>
            <a:off x="731520" y="502920"/>
            <a:ext cx="10058400" cy="274320"/>
          </a:xfrm>
          <a:prstGeom prst="rect">
            <a:avLst/>
          </a:prstGeom>
          <a:noFill/>
          <a:ln/>
        </p:spPr>
        <p:txBody>
          <a:bodyPr wrap="square" lIns="0" tIns="0" rIns="0" bIns="0" rtlCol="0" anchor="t"/>
          <a:lstStyle/>
          <a:p>
            <a:pPr indent="0" marL="0">
              <a:buNone/>
            </a:pPr>
            <a:r>
              <a:rPr lang="en-US" sz="1100" b="1" spc="150" kern="0" dirty="0">
                <a:solidFill>
                  <a:srgbClr val="3E63DD"/>
                </a:solidFill>
                <a:latin typeface="Calibri" pitchFamily="34" charset="0"/>
                <a:ea typeface="Calibri" pitchFamily="34" charset="-122"/>
                <a:cs typeface="Calibri" pitchFamily="34" charset="-120"/>
              </a:rPr>
              <a:t>PARTE 4 · LO QUE VIENE</a:t>
            </a:r>
            <a:endParaRPr lang="en-US" sz="1100" dirty="0"/>
          </a:p>
        </p:txBody>
      </p:sp>
      <p:sp>
        <p:nvSpPr>
          <p:cNvPr id="3" name="Text 1"/>
          <p:cNvSpPr/>
          <p:nvPr/>
        </p:nvSpPr>
        <p:spPr>
          <a:xfrm>
            <a:off x="731520" y="777240"/>
            <a:ext cx="10698480" cy="822960"/>
          </a:xfrm>
          <a:prstGeom prst="rect">
            <a:avLst/>
          </a:prstGeom>
          <a:noFill/>
          <a:ln/>
        </p:spPr>
        <p:txBody>
          <a:bodyPr wrap="square" lIns="0" tIns="0" rIns="0" bIns="0" rtlCol="0" anchor="t"/>
          <a:lstStyle/>
          <a:p>
            <a:pPr indent="0" marL="0">
              <a:buNone/>
            </a:pPr>
            <a:r>
              <a:rPr lang="en-US" sz="3400" dirty="0">
                <a:solidFill>
                  <a:srgbClr val="1A1A1A"/>
                </a:solidFill>
                <a:latin typeface="Calibri Light" pitchFamily="34" charset="0"/>
                <a:ea typeface="Calibri Light" pitchFamily="34" charset="-122"/>
                <a:cs typeface="Calibri Light" pitchFamily="34" charset="-120"/>
              </a:rPr>
              <a:t>Vamos adelantados al calendario</a:t>
            </a:r>
            <a:endParaRPr lang="en-US" sz="3400" dirty="0"/>
          </a:p>
        </p:txBody>
      </p:sp>
      <p:sp>
        <p:nvSpPr>
          <p:cNvPr id="4" name="Text 2"/>
          <p:cNvSpPr/>
          <p:nvPr/>
        </p:nvSpPr>
        <p:spPr>
          <a:xfrm>
            <a:off x="731520" y="6355080"/>
            <a:ext cx="2743200" cy="228600"/>
          </a:xfrm>
          <a:prstGeom prst="rect">
            <a:avLst/>
          </a:prstGeom>
          <a:noFill/>
          <a:ln/>
        </p:spPr>
        <p:txBody>
          <a:bodyPr wrap="square" lIns="0" tIns="0" rIns="0" bIns="0" rtlCol="0" anchor="t"/>
          <a:lstStyle/>
          <a:p>
            <a:pPr indent="0" marL="0">
              <a:buNone/>
            </a:pPr>
            <a:r>
              <a:rPr lang="en-US" sz="1000" b="1" dirty="0">
                <a:solidFill>
                  <a:srgbClr val="8A8984"/>
                </a:solidFill>
                <a:latin typeface="Calibri" pitchFamily="34" charset="0"/>
                <a:ea typeface="Calibri" pitchFamily="34" charset="-122"/>
                <a:cs typeface="Calibri" pitchFamily="34" charset="-120"/>
              </a:rPr>
              <a:t>NewBit</a:t>
            </a:r>
            <a:endParaRPr lang="en-US" sz="1000" dirty="0"/>
          </a:p>
        </p:txBody>
      </p:sp>
      <p:sp>
        <p:nvSpPr>
          <p:cNvPr id="5" name="Text 3"/>
          <p:cNvSpPr/>
          <p:nvPr/>
        </p:nvSpPr>
        <p:spPr>
          <a:xfrm>
            <a:off x="1371600" y="6355080"/>
            <a:ext cx="4572000" cy="228600"/>
          </a:xfrm>
          <a:prstGeom prst="rect">
            <a:avLst/>
          </a:prstGeom>
          <a:noFill/>
          <a:ln/>
        </p:spPr>
        <p:txBody>
          <a:bodyPr wrap="square" lIns="0" tIns="0" rIns="0" bIns="0" rtlCol="0" anchor="t"/>
          <a:lstStyle/>
          <a:p>
            <a:pPr indent="0" marL="0">
              <a:buNone/>
            </a:pPr>
            <a:r>
              <a:rPr lang="en-US" sz="1000" dirty="0">
                <a:solidFill>
                  <a:srgbClr val="8A8984"/>
                </a:solidFill>
                <a:latin typeface="Calibri" pitchFamily="34" charset="0"/>
                <a:ea typeface="Calibri" pitchFamily="34" charset="-122"/>
                <a:cs typeface="Calibri" pitchFamily="34" charset="-120"/>
              </a:rPr>
              <a:t>Producto de la Unidad I · Grupo D3</a:t>
            </a:r>
            <a:endParaRPr lang="en-US" sz="1000" dirty="0"/>
          </a:p>
        </p:txBody>
      </p:sp>
      <p:sp>
        <p:nvSpPr>
          <p:cNvPr id="6" name="Text 4"/>
          <p:cNvSpPr/>
          <p:nvPr/>
        </p:nvSpPr>
        <p:spPr>
          <a:xfrm>
            <a:off x="10728655" y="6355080"/>
            <a:ext cx="731520" cy="228600"/>
          </a:xfrm>
          <a:prstGeom prst="rect">
            <a:avLst/>
          </a:prstGeom>
          <a:noFill/>
          <a:ln/>
        </p:spPr>
        <p:txBody>
          <a:bodyPr wrap="square" lIns="0" tIns="0" rIns="0" bIns="0" rtlCol="0" anchor="t"/>
          <a:lstStyle/>
          <a:p>
            <a:pPr algn="r" indent="0" marL="0">
              <a:buNone/>
            </a:pPr>
            <a:r>
              <a:rPr lang="en-US" sz="1000" dirty="0">
                <a:solidFill>
                  <a:srgbClr val="8A8984"/>
                </a:solidFill>
                <a:latin typeface="Calibri" pitchFamily="34" charset="0"/>
                <a:ea typeface="Calibri" pitchFamily="34" charset="-122"/>
                <a:cs typeface="Calibri" pitchFamily="34" charset="-120"/>
              </a:rPr>
              <a:t>29</a:t>
            </a:r>
            <a:endParaRPr lang="en-US" sz="1000" dirty="0"/>
          </a:p>
        </p:txBody>
      </p:sp>
      <p:sp>
        <p:nvSpPr>
          <p:cNvPr id="8" name="Text 5"/>
          <p:cNvSpPr/>
          <p:nvPr/>
        </p:nvSpPr>
        <p:spPr>
          <a:xfrm>
            <a:off x="365760" y="1737360"/>
            <a:ext cx="914400" cy="274320"/>
          </a:xfrm>
          <a:prstGeom prst="rect">
            <a:avLst/>
          </a:prstGeom>
          <a:noFill/>
          <a:ln/>
        </p:spPr>
        <p:txBody>
          <a:bodyPr wrap="square" lIns="0" tIns="0" rIns="0" bIns="0" rtlCol="0" anchor="t"/>
          <a:lstStyle/>
          <a:p>
            <a:pPr algn="ctr" indent="0" marL="0">
              <a:buNone/>
            </a:pPr>
            <a:r>
              <a:rPr lang="en-US" sz="1100" dirty="0">
                <a:solidFill>
                  <a:srgbClr val="8A8984"/>
                </a:solidFill>
                <a:latin typeface="Calibri" pitchFamily="34" charset="0"/>
                <a:ea typeface="Calibri" pitchFamily="34" charset="-122"/>
                <a:cs typeface="Calibri" pitchFamily="34" charset="-120"/>
              </a:rPr>
              <a:t>05 oct</a:t>
            </a:r>
            <a:endParaRPr lang="en-US" sz="1100" dirty="0"/>
          </a:p>
        </p:txBody>
      </p:sp>
      <p:sp>
        <p:nvSpPr>
          <p:cNvPr id="9" name="Shape 6"/>
          <p:cNvSpPr/>
          <p:nvPr/>
        </p:nvSpPr>
        <p:spPr>
          <a:xfrm>
            <a:off x="822960" y="2057400"/>
            <a:ext cx="0" cy="2788920"/>
          </a:xfrm>
          <a:prstGeom prst="line">
            <a:avLst/>
          </a:prstGeom>
          <a:noFill/>
          <a:ln w="9525">
            <a:solidFill>
              <a:srgbClr val="E7E5E4"/>
            </a:solidFill>
            <a:prstDash val="solid"/>
          </a:ln>
        </p:spPr>
      </p:sp>
      <p:sp>
        <p:nvSpPr>
          <p:cNvPr id="10" name="Text 7"/>
          <p:cNvSpPr/>
          <p:nvPr/>
        </p:nvSpPr>
        <p:spPr>
          <a:xfrm>
            <a:off x="2360907" y="1737360"/>
            <a:ext cx="914400" cy="274320"/>
          </a:xfrm>
          <a:prstGeom prst="rect">
            <a:avLst/>
          </a:prstGeom>
          <a:noFill/>
          <a:ln/>
        </p:spPr>
        <p:txBody>
          <a:bodyPr wrap="square" lIns="0" tIns="0" rIns="0" bIns="0" rtlCol="0" anchor="t"/>
          <a:lstStyle/>
          <a:p>
            <a:pPr algn="ctr" indent="0" marL="0">
              <a:buNone/>
            </a:pPr>
            <a:r>
              <a:rPr lang="en-US" sz="1100" dirty="0">
                <a:solidFill>
                  <a:srgbClr val="8A8984"/>
                </a:solidFill>
                <a:latin typeface="Calibri" pitchFamily="34" charset="0"/>
                <a:ea typeface="Calibri" pitchFamily="34" charset="-122"/>
                <a:cs typeface="Calibri" pitchFamily="34" charset="-120"/>
              </a:rPr>
              <a:t>19 oct</a:t>
            </a:r>
            <a:endParaRPr lang="en-US" sz="1100" dirty="0"/>
          </a:p>
        </p:txBody>
      </p:sp>
      <p:sp>
        <p:nvSpPr>
          <p:cNvPr id="11" name="Shape 8"/>
          <p:cNvSpPr/>
          <p:nvPr/>
        </p:nvSpPr>
        <p:spPr>
          <a:xfrm>
            <a:off x="2818107" y="2057400"/>
            <a:ext cx="0" cy="2788920"/>
          </a:xfrm>
          <a:prstGeom prst="line">
            <a:avLst/>
          </a:prstGeom>
          <a:noFill/>
          <a:ln w="9525">
            <a:solidFill>
              <a:srgbClr val="E7E5E4"/>
            </a:solidFill>
            <a:prstDash val="solid"/>
          </a:ln>
        </p:spPr>
      </p:sp>
      <p:sp>
        <p:nvSpPr>
          <p:cNvPr id="12" name="Text 9"/>
          <p:cNvSpPr/>
          <p:nvPr/>
        </p:nvSpPr>
        <p:spPr>
          <a:xfrm>
            <a:off x="4356053" y="1737360"/>
            <a:ext cx="914400" cy="274320"/>
          </a:xfrm>
          <a:prstGeom prst="rect">
            <a:avLst/>
          </a:prstGeom>
          <a:noFill/>
          <a:ln/>
        </p:spPr>
        <p:txBody>
          <a:bodyPr wrap="square" lIns="0" tIns="0" rIns="0" bIns="0" rtlCol="0" anchor="t"/>
          <a:lstStyle/>
          <a:p>
            <a:pPr algn="ctr" indent="0" marL="0">
              <a:buNone/>
            </a:pPr>
            <a:r>
              <a:rPr lang="en-US" sz="1100" dirty="0">
                <a:solidFill>
                  <a:srgbClr val="8A8984"/>
                </a:solidFill>
                <a:latin typeface="Calibri" pitchFamily="34" charset="0"/>
                <a:ea typeface="Calibri" pitchFamily="34" charset="-122"/>
                <a:cs typeface="Calibri" pitchFamily="34" charset="-120"/>
              </a:rPr>
              <a:t>02 nov</a:t>
            </a:r>
            <a:endParaRPr lang="en-US" sz="1100" dirty="0"/>
          </a:p>
        </p:txBody>
      </p:sp>
      <p:sp>
        <p:nvSpPr>
          <p:cNvPr id="13" name="Shape 10"/>
          <p:cNvSpPr/>
          <p:nvPr/>
        </p:nvSpPr>
        <p:spPr>
          <a:xfrm>
            <a:off x="4813253" y="2057400"/>
            <a:ext cx="0" cy="2788920"/>
          </a:xfrm>
          <a:prstGeom prst="line">
            <a:avLst/>
          </a:prstGeom>
          <a:noFill/>
          <a:ln w="9525">
            <a:solidFill>
              <a:srgbClr val="E7E5E4"/>
            </a:solidFill>
            <a:prstDash val="solid"/>
          </a:ln>
        </p:spPr>
      </p:sp>
      <p:sp>
        <p:nvSpPr>
          <p:cNvPr id="14" name="Text 11"/>
          <p:cNvSpPr/>
          <p:nvPr/>
        </p:nvSpPr>
        <p:spPr>
          <a:xfrm>
            <a:off x="6351200" y="1737360"/>
            <a:ext cx="914400" cy="274320"/>
          </a:xfrm>
          <a:prstGeom prst="rect">
            <a:avLst/>
          </a:prstGeom>
          <a:noFill/>
          <a:ln/>
        </p:spPr>
        <p:txBody>
          <a:bodyPr wrap="square" lIns="0" tIns="0" rIns="0" bIns="0" rtlCol="0" anchor="t"/>
          <a:lstStyle/>
          <a:p>
            <a:pPr algn="ctr" indent="0" marL="0">
              <a:buNone/>
            </a:pPr>
            <a:r>
              <a:rPr lang="en-US" sz="1100" dirty="0">
                <a:solidFill>
                  <a:srgbClr val="8A8984"/>
                </a:solidFill>
                <a:latin typeface="Calibri" pitchFamily="34" charset="0"/>
                <a:ea typeface="Calibri" pitchFamily="34" charset="-122"/>
                <a:cs typeface="Calibri" pitchFamily="34" charset="-120"/>
              </a:rPr>
              <a:t>16 nov</a:t>
            </a:r>
            <a:endParaRPr lang="en-US" sz="1100" dirty="0"/>
          </a:p>
        </p:txBody>
      </p:sp>
      <p:sp>
        <p:nvSpPr>
          <p:cNvPr id="15" name="Shape 12"/>
          <p:cNvSpPr/>
          <p:nvPr/>
        </p:nvSpPr>
        <p:spPr>
          <a:xfrm>
            <a:off x="6808400" y="2057400"/>
            <a:ext cx="0" cy="2788920"/>
          </a:xfrm>
          <a:prstGeom prst="line">
            <a:avLst/>
          </a:prstGeom>
          <a:noFill/>
          <a:ln w="9525">
            <a:solidFill>
              <a:srgbClr val="E7E5E4"/>
            </a:solidFill>
            <a:prstDash val="solid"/>
          </a:ln>
        </p:spPr>
      </p:sp>
      <p:sp>
        <p:nvSpPr>
          <p:cNvPr id="16" name="Text 13"/>
          <p:cNvSpPr/>
          <p:nvPr/>
        </p:nvSpPr>
        <p:spPr>
          <a:xfrm>
            <a:off x="8346347" y="1737360"/>
            <a:ext cx="914400" cy="274320"/>
          </a:xfrm>
          <a:prstGeom prst="rect">
            <a:avLst/>
          </a:prstGeom>
          <a:noFill/>
          <a:ln/>
        </p:spPr>
        <p:txBody>
          <a:bodyPr wrap="square" lIns="0" tIns="0" rIns="0" bIns="0" rtlCol="0" anchor="t"/>
          <a:lstStyle/>
          <a:p>
            <a:pPr algn="ctr" indent="0" marL="0">
              <a:buNone/>
            </a:pPr>
            <a:r>
              <a:rPr lang="en-US" sz="1100" dirty="0">
                <a:solidFill>
                  <a:srgbClr val="8A8984"/>
                </a:solidFill>
                <a:latin typeface="Calibri" pitchFamily="34" charset="0"/>
                <a:ea typeface="Calibri" pitchFamily="34" charset="-122"/>
                <a:cs typeface="Calibri" pitchFamily="34" charset="-120"/>
              </a:rPr>
              <a:t>30 nov</a:t>
            </a:r>
            <a:endParaRPr lang="en-US" sz="1100" dirty="0"/>
          </a:p>
        </p:txBody>
      </p:sp>
      <p:sp>
        <p:nvSpPr>
          <p:cNvPr id="17" name="Shape 14"/>
          <p:cNvSpPr/>
          <p:nvPr/>
        </p:nvSpPr>
        <p:spPr>
          <a:xfrm>
            <a:off x="8803547" y="2057400"/>
            <a:ext cx="0" cy="2788920"/>
          </a:xfrm>
          <a:prstGeom prst="line">
            <a:avLst/>
          </a:prstGeom>
          <a:noFill/>
          <a:ln w="9525">
            <a:solidFill>
              <a:srgbClr val="E7E5E4"/>
            </a:solidFill>
            <a:prstDash val="solid"/>
          </a:ln>
        </p:spPr>
      </p:sp>
      <p:sp>
        <p:nvSpPr>
          <p:cNvPr id="18" name="Text 15"/>
          <p:cNvSpPr/>
          <p:nvPr/>
        </p:nvSpPr>
        <p:spPr>
          <a:xfrm>
            <a:off x="10341493" y="1737360"/>
            <a:ext cx="914400" cy="274320"/>
          </a:xfrm>
          <a:prstGeom prst="rect">
            <a:avLst/>
          </a:prstGeom>
          <a:noFill/>
          <a:ln/>
        </p:spPr>
        <p:txBody>
          <a:bodyPr wrap="square" lIns="0" tIns="0" rIns="0" bIns="0" rtlCol="0" anchor="t"/>
          <a:lstStyle/>
          <a:p>
            <a:pPr algn="ctr" indent="0" marL="0">
              <a:buNone/>
            </a:pPr>
            <a:r>
              <a:rPr lang="en-US" sz="1100" dirty="0">
                <a:solidFill>
                  <a:srgbClr val="8A8984"/>
                </a:solidFill>
                <a:latin typeface="Calibri" pitchFamily="34" charset="0"/>
                <a:ea typeface="Calibri" pitchFamily="34" charset="-122"/>
                <a:cs typeface="Calibri" pitchFamily="34" charset="-120"/>
              </a:rPr>
              <a:t>14 dic</a:t>
            </a:r>
            <a:endParaRPr lang="en-US" sz="1100" dirty="0"/>
          </a:p>
        </p:txBody>
      </p:sp>
      <p:sp>
        <p:nvSpPr>
          <p:cNvPr id="19" name="Shape 16"/>
          <p:cNvSpPr/>
          <p:nvPr/>
        </p:nvSpPr>
        <p:spPr>
          <a:xfrm>
            <a:off x="10798693" y="2057400"/>
            <a:ext cx="0" cy="2788920"/>
          </a:xfrm>
          <a:prstGeom prst="line">
            <a:avLst/>
          </a:prstGeom>
          <a:noFill/>
          <a:ln w="9525">
            <a:solidFill>
              <a:srgbClr val="E7E5E4"/>
            </a:solidFill>
            <a:prstDash val="solid"/>
          </a:ln>
        </p:spPr>
      </p:sp>
      <p:sp>
        <p:nvSpPr>
          <p:cNvPr id="20" name="Shape 17"/>
          <p:cNvSpPr/>
          <p:nvPr/>
        </p:nvSpPr>
        <p:spPr>
          <a:xfrm>
            <a:off x="822960" y="2148840"/>
            <a:ext cx="1567615" cy="292608"/>
          </a:xfrm>
          <a:prstGeom prst="roundRect">
            <a:avLst>
              <a:gd name="adj" fmla="val 15625"/>
            </a:avLst>
          </a:prstGeom>
          <a:solidFill>
            <a:srgbClr val="8A8984"/>
          </a:solidFill>
          <a:ln w="12700">
            <a:solidFill>
              <a:srgbClr val="8A8984"/>
            </a:solidFill>
            <a:prstDash val="solid"/>
          </a:ln>
        </p:spPr>
      </p:sp>
      <p:sp>
        <p:nvSpPr>
          <p:cNvPr id="21" name="Text 18"/>
          <p:cNvSpPr/>
          <p:nvPr/>
        </p:nvSpPr>
        <p:spPr>
          <a:xfrm>
            <a:off x="2527735" y="2167128"/>
            <a:ext cx="4846320" cy="274320"/>
          </a:xfrm>
          <a:prstGeom prst="rect">
            <a:avLst/>
          </a:prstGeom>
          <a:noFill/>
          <a:ln/>
        </p:spPr>
        <p:txBody>
          <a:bodyPr wrap="square" lIns="0" tIns="0" rIns="0" bIns="0" rtlCol="0" anchor="t"/>
          <a:lstStyle/>
          <a:p>
            <a:pPr algn="l" indent="0" marL="0">
              <a:buNone/>
            </a:pPr>
            <a:r>
              <a:rPr lang="en-US" sz="1300" b="1" dirty="0">
                <a:solidFill>
                  <a:srgbClr val="1A1A1A"/>
                </a:solidFill>
                <a:latin typeface="Calibri" pitchFamily="34" charset="0"/>
                <a:ea typeface="Calibri" pitchFamily="34" charset="-122"/>
                <a:cs typeface="Calibri" pitchFamily="34" charset="-120"/>
              </a:rPr>
              <a:t>Inicio  </a:t>
            </a:r>
            <a:pPr algn="l" indent="0" marL="0">
              <a:buNone/>
            </a:pPr>
            <a:r>
              <a:rPr lang="en-US" sz="1300" dirty="0">
                <a:solidFill>
                  <a:srgbClr val="57534E"/>
                </a:solidFill>
                <a:latin typeface="Calibri" pitchFamily="34" charset="0"/>
                <a:ea typeface="Calibri" pitchFamily="34" charset="-122"/>
                <a:cs typeface="Calibri" pitchFamily="34" charset="-120"/>
              </a:rPr>
              <a:t>Formatos de la Unidad I</a:t>
            </a:r>
            <a:endParaRPr lang="en-US" sz="1300" dirty="0"/>
          </a:p>
        </p:txBody>
      </p:sp>
      <p:sp>
        <p:nvSpPr>
          <p:cNvPr id="22" name="Shape 19"/>
          <p:cNvSpPr/>
          <p:nvPr/>
        </p:nvSpPr>
        <p:spPr>
          <a:xfrm>
            <a:off x="2818107" y="2624328"/>
            <a:ext cx="1567615" cy="292608"/>
          </a:xfrm>
          <a:prstGeom prst="roundRect">
            <a:avLst>
              <a:gd name="adj" fmla="val 15625"/>
            </a:avLst>
          </a:prstGeom>
          <a:solidFill>
            <a:srgbClr val="3E63DD"/>
          </a:solidFill>
          <a:ln w="12700">
            <a:solidFill>
              <a:srgbClr val="3E63DD"/>
            </a:solidFill>
            <a:prstDash val="solid"/>
          </a:ln>
        </p:spPr>
      </p:sp>
      <p:sp>
        <p:nvSpPr>
          <p:cNvPr id="23" name="Text 20"/>
          <p:cNvSpPr/>
          <p:nvPr/>
        </p:nvSpPr>
        <p:spPr>
          <a:xfrm>
            <a:off x="4522882" y="2642616"/>
            <a:ext cx="4846320" cy="274320"/>
          </a:xfrm>
          <a:prstGeom prst="rect">
            <a:avLst/>
          </a:prstGeom>
          <a:noFill/>
          <a:ln/>
        </p:spPr>
        <p:txBody>
          <a:bodyPr wrap="square" lIns="0" tIns="0" rIns="0" bIns="0" rtlCol="0" anchor="t"/>
          <a:lstStyle/>
          <a:p>
            <a:pPr algn="l" indent="0" marL="0">
              <a:buNone/>
            </a:pPr>
            <a:r>
              <a:rPr lang="en-US" sz="1300" b="1" dirty="0">
                <a:solidFill>
                  <a:srgbClr val="1A1A1A"/>
                </a:solidFill>
                <a:latin typeface="Calibri" pitchFamily="34" charset="0"/>
                <a:ea typeface="Calibri" pitchFamily="34" charset="-122"/>
                <a:cs typeface="Calibri" pitchFamily="34" charset="-120"/>
              </a:rPr>
              <a:t>Sprint 1  </a:t>
            </a:r>
            <a:pPr algn="l" indent="0" marL="0">
              <a:buNone/>
            </a:pPr>
            <a:r>
              <a:rPr lang="en-US" sz="1300" dirty="0">
                <a:solidFill>
                  <a:srgbClr val="57534E"/>
                </a:solidFill>
                <a:latin typeface="Calibri" pitchFamily="34" charset="0"/>
                <a:ea typeface="Calibri" pitchFamily="34" charset="-122"/>
                <a:cs typeface="Calibri" pitchFamily="34" charset="-120"/>
              </a:rPr>
              <a:t>Subir video y detectar personas</a:t>
            </a:r>
            <a:pPr algn="l" indent="0" marL="0">
              <a:buNone/>
            </a:pPr>
            <a:r>
              <a:rPr lang="en-US" sz="1300" b="1" dirty="0">
                <a:solidFill>
                  <a:srgbClr val="2F855A"/>
                </a:solidFill>
                <a:latin typeface="Calibri" pitchFamily="34" charset="0"/>
                <a:ea typeface="Calibri" pitchFamily="34" charset="-122"/>
                <a:cs typeface="Calibri" pitchFamily="34" charset="-120"/>
              </a:rPr>
              <a:t>  · ya construido</a:t>
            </a:r>
            <a:endParaRPr lang="en-US" sz="1300" dirty="0"/>
          </a:p>
        </p:txBody>
      </p:sp>
      <p:sp>
        <p:nvSpPr>
          <p:cNvPr id="24" name="Shape 21"/>
          <p:cNvSpPr/>
          <p:nvPr/>
        </p:nvSpPr>
        <p:spPr>
          <a:xfrm>
            <a:off x="4813253" y="3099816"/>
            <a:ext cx="1567615" cy="292608"/>
          </a:xfrm>
          <a:prstGeom prst="roundRect">
            <a:avLst>
              <a:gd name="adj" fmla="val 15625"/>
            </a:avLst>
          </a:prstGeom>
          <a:solidFill>
            <a:srgbClr val="3E63DD"/>
          </a:solidFill>
          <a:ln w="12700">
            <a:solidFill>
              <a:srgbClr val="3E63DD"/>
            </a:solidFill>
            <a:prstDash val="solid"/>
          </a:ln>
        </p:spPr>
      </p:sp>
      <p:sp>
        <p:nvSpPr>
          <p:cNvPr id="25" name="Text 22"/>
          <p:cNvSpPr/>
          <p:nvPr/>
        </p:nvSpPr>
        <p:spPr>
          <a:xfrm>
            <a:off x="6518029" y="3118104"/>
            <a:ext cx="4846320" cy="274320"/>
          </a:xfrm>
          <a:prstGeom prst="rect">
            <a:avLst/>
          </a:prstGeom>
          <a:noFill/>
          <a:ln/>
        </p:spPr>
        <p:txBody>
          <a:bodyPr wrap="square" lIns="0" tIns="0" rIns="0" bIns="0" rtlCol="0" anchor="t"/>
          <a:lstStyle/>
          <a:p>
            <a:pPr algn="l" indent="0" marL="0">
              <a:buNone/>
            </a:pPr>
            <a:r>
              <a:rPr lang="en-US" sz="1300" b="1" dirty="0">
                <a:solidFill>
                  <a:srgbClr val="1A1A1A"/>
                </a:solidFill>
                <a:latin typeface="Calibri" pitchFamily="34" charset="0"/>
                <a:ea typeface="Calibri" pitchFamily="34" charset="-122"/>
                <a:cs typeface="Calibri" pitchFamily="34" charset="-120"/>
              </a:rPr>
              <a:t>Sprint 2  </a:t>
            </a:r>
            <a:pPr algn="l" indent="0" marL="0">
              <a:buNone/>
            </a:pPr>
            <a:r>
              <a:rPr lang="en-US" sz="1300" dirty="0">
                <a:solidFill>
                  <a:srgbClr val="57534E"/>
                </a:solidFill>
                <a:latin typeface="Calibri" pitchFamily="34" charset="0"/>
                <a:ea typeface="Calibri" pitchFamily="34" charset="-122"/>
                <a:cs typeface="Calibri" pitchFamily="34" charset="-120"/>
              </a:rPr>
              <a:t>Filtrar imágenes y armar clips</a:t>
            </a:r>
            <a:pPr algn="l" indent="0" marL="0">
              <a:buNone/>
            </a:pPr>
            <a:r>
              <a:rPr lang="en-US" sz="1300" b="1" dirty="0">
                <a:solidFill>
                  <a:srgbClr val="2F855A"/>
                </a:solidFill>
                <a:latin typeface="Calibri" pitchFamily="34" charset="0"/>
                <a:ea typeface="Calibri" pitchFamily="34" charset="-122"/>
                <a:cs typeface="Calibri" pitchFamily="34" charset="-120"/>
              </a:rPr>
              <a:t>  · ya construido</a:t>
            </a:r>
            <a:endParaRPr lang="en-US" sz="1300" dirty="0"/>
          </a:p>
        </p:txBody>
      </p:sp>
      <p:sp>
        <p:nvSpPr>
          <p:cNvPr id="26" name="Shape 23"/>
          <p:cNvSpPr/>
          <p:nvPr/>
        </p:nvSpPr>
        <p:spPr>
          <a:xfrm>
            <a:off x="6808400" y="3575304"/>
            <a:ext cx="1567615" cy="292608"/>
          </a:xfrm>
          <a:prstGeom prst="roundRect">
            <a:avLst>
              <a:gd name="adj" fmla="val 15625"/>
            </a:avLst>
          </a:prstGeom>
          <a:solidFill>
            <a:srgbClr val="C2410C"/>
          </a:solidFill>
          <a:ln w="12700">
            <a:solidFill>
              <a:srgbClr val="C2410C"/>
            </a:solidFill>
            <a:prstDash val="solid"/>
          </a:ln>
        </p:spPr>
      </p:sp>
      <p:sp>
        <p:nvSpPr>
          <p:cNvPr id="27" name="Text 24"/>
          <p:cNvSpPr/>
          <p:nvPr/>
        </p:nvSpPr>
        <p:spPr>
          <a:xfrm>
            <a:off x="8513175" y="3593592"/>
            <a:ext cx="4846320" cy="274320"/>
          </a:xfrm>
          <a:prstGeom prst="rect">
            <a:avLst/>
          </a:prstGeom>
          <a:noFill/>
          <a:ln/>
        </p:spPr>
        <p:txBody>
          <a:bodyPr wrap="square" lIns="0" tIns="0" rIns="0" bIns="0" rtlCol="0" anchor="t"/>
          <a:lstStyle/>
          <a:p>
            <a:pPr algn="l" indent="0" marL="0">
              <a:buNone/>
            </a:pPr>
            <a:r>
              <a:rPr lang="en-US" sz="1300" b="1" dirty="0">
                <a:solidFill>
                  <a:srgbClr val="1A1A1A"/>
                </a:solidFill>
                <a:latin typeface="Calibri" pitchFamily="34" charset="0"/>
                <a:ea typeface="Calibri" pitchFamily="34" charset="-122"/>
                <a:cs typeface="Calibri" pitchFamily="34" charset="-120"/>
              </a:rPr>
              <a:t>Sprint 3  </a:t>
            </a:r>
            <a:pPr algn="l" indent="0" marL="0">
              <a:buNone/>
            </a:pPr>
            <a:r>
              <a:rPr lang="en-US" sz="1300" dirty="0">
                <a:solidFill>
                  <a:srgbClr val="57534E"/>
                </a:solidFill>
                <a:latin typeface="Calibri" pitchFamily="34" charset="0"/>
                <a:ea typeface="Calibri" pitchFamily="34" charset="-122"/>
                <a:cs typeface="Calibri" pitchFamily="34" charset="-120"/>
              </a:rPr>
              <a:t>Reconocer la conducta</a:t>
            </a:r>
            <a:endParaRPr lang="en-US" sz="1300" dirty="0"/>
          </a:p>
        </p:txBody>
      </p:sp>
      <p:sp>
        <p:nvSpPr>
          <p:cNvPr id="28" name="Shape 25"/>
          <p:cNvSpPr/>
          <p:nvPr/>
        </p:nvSpPr>
        <p:spPr>
          <a:xfrm>
            <a:off x="8803547" y="4050792"/>
            <a:ext cx="1567615" cy="292608"/>
          </a:xfrm>
          <a:prstGeom prst="roundRect">
            <a:avLst>
              <a:gd name="adj" fmla="val 15625"/>
            </a:avLst>
          </a:prstGeom>
          <a:solidFill>
            <a:srgbClr val="C2410C"/>
          </a:solidFill>
          <a:ln w="12700">
            <a:solidFill>
              <a:srgbClr val="C2410C"/>
            </a:solidFill>
            <a:prstDash val="solid"/>
          </a:ln>
        </p:spPr>
      </p:sp>
      <p:sp>
        <p:nvSpPr>
          <p:cNvPr id="29" name="Text 26"/>
          <p:cNvSpPr/>
          <p:nvPr/>
        </p:nvSpPr>
        <p:spPr>
          <a:xfrm>
            <a:off x="5511707" y="4069080"/>
            <a:ext cx="3200400" cy="274320"/>
          </a:xfrm>
          <a:prstGeom prst="rect">
            <a:avLst/>
          </a:prstGeom>
          <a:noFill/>
          <a:ln/>
        </p:spPr>
        <p:txBody>
          <a:bodyPr wrap="square" lIns="0" tIns="0" rIns="0" bIns="0" rtlCol="0" anchor="t"/>
          <a:lstStyle/>
          <a:p>
            <a:pPr algn="r" indent="0" marL="0">
              <a:buNone/>
            </a:pPr>
            <a:r>
              <a:rPr lang="en-US" sz="1300" b="1" dirty="0">
                <a:solidFill>
                  <a:srgbClr val="1A1A1A"/>
                </a:solidFill>
                <a:latin typeface="Calibri" pitchFamily="34" charset="0"/>
                <a:ea typeface="Calibri" pitchFamily="34" charset="-122"/>
                <a:cs typeface="Calibri" pitchFamily="34" charset="-120"/>
              </a:rPr>
              <a:t>Sprint 4  </a:t>
            </a:r>
            <a:pPr algn="r" indent="0" marL="0">
              <a:buNone/>
            </a:pPr>
            <a:r>
              <a:rPr lang="en-US" sz="1300" dirty="0">
                <a:solidFill>
                  <a:srgbClr val="57534E"/>
                </a:solidFill>
                <a:latin typeface="Calibri" pitchFamily="34" charset="0"/>
                <a:ea typeface="Calibri" pitchFamily="34" charset="-122"/>
                <a:cs typeface="Calibri" pitchFamily="34" charset="-120"/>
              </a:rPr>
              <a:t>Alertas, recuadro de riesgo y reportes</a:t>
            </a:r>
            <a:endParaRPr lang="en-US" sz="1300" dirty="0"/>
          </a:p>
        </p:txBody>
      </p:sp>
      <p:sp>
        <p:nvSpPr>
          <p:cNvPr id="30" name="Shape 27"/>
          <p:cNvSpPr/>
          <p:nvPr/>
        </p:nvSpPr>
        <p:spPr>
          <a:xfrm>
            <a:off x="10798693" y="4526280"/>
            <a:ext cx="570042" cy="292608"/>
          </a:xfrm>
          <a:prstGeom prst="roundRect">
            <a:avLst>
              <a:gd name="adj" fmla="val 15625"/>
            </a:avLst>
          </a:prstGeom>
          <a:solidFill>
            <a:srgbClr val="8A8984"/>
          </a:solidFill>
          <a:ln w="12700">
            <a:solidFill>
              <a:srgbClr val="8A8984"/>
            </a:solidFill>
            <a:prstDash val="solid"/>
          </a:ln>
        </p:spPr>
      </p:sp>
      <p:sp>
        <p:nvSpPr>
          <p:cNvPr id="31" name="Text 28"/>
          <p:cNvSpPr/>
          <p:nvPr/>
        </p:nvSpPr>
        <p:spPr>
          <a:xfrm>
            <a:off x="7506853" y="4544568"/>
            <a:ext cx="3200400" cy="274320"/>
          </a:xfrm>
          <a:prstGeom prst="rect">
            <a:avLst/>
          </a:prstGeom>
          <a:noFill/>
          <a:ln/>
        </p:spPr>
        <p:txBody>
          <a:bodyPr wrap="square" lIns="0" tIns="0" rIns="0" bIns="0" rtlCol="0" anchor="t"/>
          <a:lstStyle/>
          <a:p>
            <a:pPr algn="r" indent="0" marL="0">
              <a:buNone/>
            </a:pPr>
            <a:r>
              <a:rPr lang="en-US" sz="1300" b="1" dirty="0">
                <a:solidFill>
                  <a:srgbClr val="1A1A1A"/>
                </a:solidFill>
                <a:latin typeface="Calibri" pitchFamily="34" charset="0"/>
                <a:ea typeface="Calibri" pitchFamily="34" charset="-122"/>
                <a:cs typeface="Calibri" pitchFamily="34" charset="-120"/>
              </a:rPr>
              <a:t>Cierre  </a:t>
            </a:r>
            <a:pPr algn="r" indent="0" marL="0">
              <a:buNone/>
            </a:pPr>
            <a:r>
              <a:rPr lang="en-US" sz="1300" dirty="0">
                <a:solidFill>
                  <a:srgbClr val="57534E"/>
                </a:solidFill>
                <a:latin typeface="Calibri" pitchFamily="34" charset="0"/>
                <a:ea typeface="Calibri" pitchFamily="34" charset="-122"/>
                <a:cs typeface="Calibri" pitchFamily="34" charset="-120"/>
              </a:rPr>
              <a:t>FGAP090</a:t>
            </a:r>
            <a:endParaRPr lang="en-US" sz="1300" dirty="0"/>
          </a:p>
        </p:txBody>
      </p:sp>
      <p:sp>
        <p:nvSpPr>
          <p:cNvPr id="32" name="Shape 29"/>
          <p:cNvSpPr/>
          <p:nvPr/>
        </p:nvSpPr>
        <p:spPr>
          <a:xfrm>
            <a:off x="2960617" y="2560320"/>
            <a:ext cx="0" cy="2331720"/>
          </a:xfrm>
          <a:prstGeom prst="line">
            <a:avLst/>
          </a:prstGeom>
          <a:noFill/>
          <a:ln w="22225">
            <a:solidFill>
              <a:srgbClr val="1A1A1A"/>
            </a:solidFill>
            <a:prstDash val="solid"/>
          </a:ln>
        </p:spPr>
      </p:sp>
      <p:sp>
        <p:nvSpPr>
          <p:cNvPr id="33" name="Text 30"/>
          <p:cNvSpPr/>
          <p:nvPr/>
        </p:nvSpPr>
        <p:spPr>
          <a:xfrm>
            <a:off x="3052057" y="4663440"/>
            <a:ext cx="2286000" cy="274320"/>
          </a:xfrm>
          <a:prstGeom prst="rect">
            <a:avLst/>
          </a:prstGeom>
          <a:noFill/>
          <a:ln/>
        </p:spPr>
        <p:txBody>
          <a:bodyPr wrap="square" lIns="0" tIns="0" rIns="0" bIns="0" rtlCol="0" anchor="t"/>
          <a:lstStyle/>
          <a:p>
            <a:pPr indent="0" marL="0">
              <a:buNone/>
            </a:pPr>
            <a:r>
              <a:rPr lang="en-US" sz="1200" b="1" dirty="0">
                <a:solidFill>
                  <a:srgbClr val="1A1A1A"/>
                </a:solidFill>
                <a:latin typeface="Calibri" pitchFamily="34" charset="0"/>
                <a:ea typeface="Calibri" pitchFamily="34" charset="-122"/>
                <a:cs typeface="Calibri" pitchFamily="34" charset="-120"/>
              </a:rPr>
              <a:t>Hoy · 20 de octubre</a:t>
            </a:r>
            <a:endParaRPr lang="en-US" sz="1200" dirty="0"/>
          </a:p>
        </p:txBody>
      </p:sp>
      <p:sp>
        <p:nvSpPr>
          <p:cNvPr id="34" name="Shape 31"/>
          <p:cNvSpPr/>
          <p:nvPr/>
        </p:nvSpPr>
        <p:spPr>
          <a:xfrm>
            <a:off x="731520" y="5074920"/>
            <a:ext cx="10728655" cy="777240"/>
          </a:xfrm>
          <a:prstGeom prst="roundRect">
            <a:avLst>
              <a:gd name="adj" fmla="val 9412"/>
            </a:avLst>
          </a:prstGeom>
          <a:solidFill>
            <a:srgbClr val="EEF2FF"/>
          </a:solidFill>
          <a:ln w="9525">
            <a:solidFill>
              <a:srgbClr val="C7D2FE"/>
            </a:solidFill>
            <a:prstDash val="solid"/>
          </a:ln>
        </p:spPr>
      </p:sp>
      <p:sp>
        <p:nvSpPr>
          <p:cNvPr id="35" name="Text 32"/>
          <p:cNvSpPr/>
          <p:nvPr/>
        </p:nvSpPr>
        <p:spPr>
          <a:xfrm>
            <a:off x="1051560" y="5285232"/>
            <a:ext cx="10088575" cy="411480"/>
          </a:xfrm>
          <a:prstGeom prst="rect">
            <a:avLst/>
          </a:prstGeom>
          <a:noFill/>
          <a:ln/>
        </p:spPr>
        <p:txBody>
          <a:bodyPr wrap="square" lIns="0" tIns="0" rIns="0" bIns="0" rtlCol="0" anchor="t"/>
          <a:lstStyle/>
          <a:p>
            <a:pPr indent="0" marL="0">
              <a:buNone/>
            </a:pPr>
            <a:r>
              <a:rPr lang="en-US" sz="1500" b="1" dirty="0">
                <a:solidFill>
                  <a:srgbClr val="1A1A1A"/>
                </a:solidFill>
                <a:latin typeface="Calibri" pitchFamily="34" charset="0"/>
                <a:ea typeface="Calibri" pitchFamily="34" charset="-122"/>
                <a:cs typeface="Calibri" pitchFamily="34" charset="-120"/>
              </a:rPr>
              <a:t>Propuesta para el Product Owner:</a:t>
            </a:r>
            <a:pPr indent="0" marL="0">
              <a:buNone/>
            </a:pPr>
            <a:r>
              <a:rPr lang="en-US" sz="1500" dirty="0">
                <a:solidFill>
                  <a:srgbClr val="1A1A1A"/>
                </a:solidFill>
                <a:latin typeface="Calibri" pitchFamily="34" charset="0"/>
                <a:ea typeface="Calibri" pitchFamily="34" charset="-122"/>
                <a:cs typeface="Calibri" pitchFamily="34" charset="-120"/>
              </a:rPr>
              <a:t> validar ya lo construido, con video real, y empezar antes el Sprint 3, el de mayor riesgo técnico.</a:t>
            </a:r>
            <a:endParaRPr lang="en-US" sz="1500" dirty="0"/>
          </a:p>
        </p:txBody>
      </p:sp>
      <p:sp>
        <p:nvSpPr>
          <p:cNvPr id="36" name="Text 33"/>
          <p:cNvSpPr/>
          <p:nvPr/>
        </p:nvSpPr>
        <p:spPr>
          <a:xfrm>
            <a:off x="731520" y="5989320"/>
            <a:ext cx="10728655" cy="274320"/>
          </a:xfrm>
          <a:prstGeom prst="rect">
            <a:avLst/>
          </a:prstGeom>
          <a:noFill/>
          <a:ln/>
        </p:spPr>
        <p:txBody>
          <a:bodyPr wrap="square" lIns="0" tIns="0" rIns="0" bIns="0" rtlCol="0" anchor="t"/>
          <a:lstStyle/>
          <a:p>
            <a:pPr indent="0" marL="0">
              <a:buNone/>
            </a:pPr>
            <a:r>
              <a:rPr lang="en-US" sz="1000" dirty="0">
                <a:solidFill>
                  <a:srgbClr val="8A8984"/>
                </a:solidFill>
                <a:latin typeface="Calibri" pitchFamily="34" charset="0"/>
                <a:ea typeface="Calibri" pitchFamily="34" charset="-122"/>
                <a:cs typeface="Calibri" pitchFamily="34" charset="-120"/>
              </a:rPr>
              <a:t>Fechas del acta (FGAP010). Cada sprint: planificación 4 h · Daily 15 min · revisión 2 h · retrospectiva 2 h.</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11111"/>
        </a:solidFill>
      </p:bgPr>
    </p:bg>
    <p:spTree>
      <p:nvGrpSpPr>
        <p:cNvPr id="1" name=""/>
        <p:cNvGrpSpPr/>
        <p:nvPr/>
      </p:nvGrpSpPr>
      <p:grpSpPr>
        <a:xfrm>
          <a:off x="0" y="0"/>
          <a:ext cx="0" cy="0"/>
          <a:chOff x="0" y="0"/>
          <a:chExt cx="0" cy="0"/>
        </a:xfrm>
      </p:grpSpPr>
      <p:sp>
        <p:nvSpPr>
          <p:cNvPr id="3" name="Text 0"/>
          <p:cNvSpPr/>
          <p:nvPr/>
        </p:nvSpPr>
        <p:spPr>
          <a:xfrm>
            <a:off x="731520" y="1828800"/>
            <a:ext cx="10515600" cy="914400"/>
          </a:xfrm>
          <a:prstGeom prst="rect">
            <a:avLst/>
          </a:prstGeom>
          <a:noFill/>
          <a:ln/>
        </p:spPr>
        <p:txBody>
          <a:bodyPr wrap="square" lIns="0" tIns="0" rIns="0" bIns="0" rtlCol="0" anchor="t"/>
          <a:lstStyle/>
          <a:p>
            <a:pPr indent="0" marL="0">
              <a:buNone/>
            </a:pPr>
            <a:r>
              <a:rPr lang="en-US" sz="5400" dirty="0">
                <a:solidFill>
                  <a:srgbClr val="F5F5F4"/>
                </a:solidFill>
                <a:latin typeface="Calibri Light" pitchFamily="34" charset="0"/>
                <a:ea typeface="Calibri Light" pitchFamily="34" charset="-122"/>
                <a:cs typeface="Calibri Light" pitchFamily="34" charset="-120"/>
              </a:rPr>
              <a:t>Menos horas mirando video.</a:t>
            </a:r>
            <a:endParaRPr lang="en-US" sz="5400" dirty="0"/>
          </a:p>
        </p:txBody>
      </p:sp>
      <p:sp>
        <p:nvSpPr>
          <p:cNvPr id="4" name="Text 1"/>
          <p:cNvSpPr/>
          <p:nvPr/>
        </p:nvSpPr>
        <p:spPr>
          <a:xfrm>
            <a:off x="731520" y="2743200"/>
            <a:ext cx="10515600" cy="914400"/>
          </a:xfrm>
          <a:prstGeom prst="rect">
            <a:avLst/>
          </a:prstGeom>
          <a:noFill/>
          <a:ln/>
        </p:spPr>
        <p:txBody>
          <a:bodyPr wrap="square" lIns="0" tIns="0" rIns="0" bIns="0" rtlCol="0" anchor="t"/>
          <a:lstStyle/>
          <a:p>
            <a:pPr indent="0" marL="0">
              <a:buNone/>
            </a:pPr>
            <a:r>
              <a:rPr lang="en-US" sz="5400" dirty="0">
                <a:solidFill>
                  <a:srgbClr val="A8A29E"/>
                </a:solidFill>
                <a:latin typeface="Calibri Light" pitchFamily="34" charset="0"/>
                <a:ea typeface="Calibri Light" pitchFamily="34" charset="-122"/>
                <a:cs typeface="Calibri Light" pitchFamily="34" charset="-120"/>
              </a:rPr>
              <a:t>Más tiempo para prevenir.</a:t>
            </a:r>
            <a:endParaRPr lang="en-US" sz="5400" dirty="0"/>
          </a:p>
        </p:txBody>
      </p:sp>
      <p:sp>
        <p:nvSpPr>
          <p:cNvPr id="5" name="Text 2"/>
          <p:cNvSpPr/>
          <p:nvPr/>
        </p:nvSpPr>
        <p:spPr>
          <a:xfrm>
            <a:off x="731520" y="4206240"/>
            <a:ext cx="7315200" cy="457200"/>
          </a:xfrm>
          <a:prstGeom prst="rect">
            <a:avLst/>
          </a:prstGeom>
          <a:noFill/>
          <a:ln/>
        </p:spPr>
        <p:txBody>
          <a:bodyPr wrap="square" lIns="0" tIns="0" rIns="0" bIns="0" rtlCol="0" anchor="t"/>
          <a:lstStyle/>
          <a:p>
            <a:pPr indent="0" marL="0">
              <a:buNone/>
            </a:pPr>
            <a:r>
              <a:rPr lang="en-US" sz="2000" dirty="0">
                <a:solidFill>
                  <a:srgbClr val="F5F5F4"/>
                </a:solidFill>
                <a:latin typeface="Calibri" pitchFamily="34" charset="0"/>
                <a:ea typeface="Calibri" pitchFamily="34" charset="-122"/>
                <a:cs typeface="Calibri" pitchFamily="34" charset="-120"/>
              </a:rPr>
              <a:t>Gracias · ¿Preguntas?</a:t>
            </a:r>
            <a:endParaRPr lang="en-US" sz="2000" dirty="0"/>
          </a:p>
        </p:txBody>
      </p:sp>
      <p:sp>
        <p:nvSpPr>
          <p:cNvPr id="6" name="Shape 3"/>
          <p:cNvSpPr/>
          <p:nvPr/>
        </p:nvSpPr>
        <p:spPr>
          <a:xfrm>
            <a:off x="731520" y="5257800"/>
            <a:ext cx="10728655" cy="0"/>
          </a:xfrm>
          <a:prstGeom prst="line">
            <a:avLst/>
          </a:prstGeom>
          <a:noFill/>
          <a:ln w="12700">
            <a:solidFill>
              <a:srgbClr val="2B2B2A"/>
            </a:solidFill>
            <a:prstDash val="solid"/>
          </a:ln>
        </p:spPr>
      </p:sp>
      <p:sp>
        <p:nvSpPr>
          <p:cNvPr id="7" name="Text 4"/>
          <p:cNvSpPr/>
          <p:nvPr/>
        </p:nvSpPr>
        <p:spPr>
          <a:xfrm>
            <a:off x="731520" y="5440680"/>
            <a:ext cx="10728655" cy="365760"/>
          </a:xfrm>
          <a:prstGeom prst="rect">
            <a:avLst/>
          </a:prstGeom>
          <a:noFill/>
          <a:ln/>
        </p:spPr>
        <p:txBody>
          <a:bodyPr wrap="square" lIns="0" tIns="0" rIns="0" bIns="0" rtlCol="0" anchor="t"/>
          <a:lstStyle/>
          <a:p>
            <a:pPr indent="0" marL="0">
              <a:buNone/>
            </a:pPr>
            <a:r>
              <a:rPr lang="en-US" sz="1200" dirty="0">
                <a:solidFill>
                  <a:srgbClr val="A8A29E"/>
                </a:solidFill>
                <a:latin typeface="Calibri" pitchFamily="34" charset="0"/>
                <a:ea typeface="Calibri" pitchFamily="34" charset="-122"/>
                <a:cs typeface="Calibri" pitchFamily="34" charset="-120"/>
              </a:rPr>
              <a:t>NewBit · Grupo D3 · Albert Chumacero · Anthony Lopez · Luis Salazar · Ingeniería de Software II · UNS · 2026-II</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NewBit · Producto de la Unidad I</dc:title>
  <dc:subject>PptxGenJS Presentation</dc:subject>
  <dc:creator>Grupo D3 · Ingeniería de Software II · UNS</dc:creator>
  <cp:lastModifiedBy>Grupo D3 · Ingeniería de Software II · UNS</cp:lastModifiedBy>
  <cp:revision>1</cp:revision>
  <dcterms:created xsi:type="dcterms:W3CDTF">2026-10-20T12:16:53Z</dcterms:created>
  <dcterms:modified xsi:type="dcterms:W3CDTF">2026-10-20T12:16:53Z</dcterms:modified>
</cp:coreProperties>
</file>