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Producto de la Unidad I. Abrir con la frase grande: NewBit busca que las cámaras que ya existen avisen antes de que ocurra un accidente. Presentar al equipo y al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cámaras ya están instaladas y graban todo el día, pero nadie revisa ese video a tiempo. El inspector de SST pasa por turnos; lo que ocurre entre ronda y ronda queda grabado y olvidado.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la escena como una historia. Un operario cruza fuera de la vía peatonal, donde circulan montacargas. Nadie lo ve. Al final del turno hay ocho horas de video sin revisar. Al día siguiente, el riesgo se repite.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personas del caso, con nombre. Mariana no puede revisar horas de video. Lucía mira muchas cámaras y algo se le escapa. Ricardo necesita datos para decidir dónde invertir.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en una sola frase. Pausa después de decirla.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cada paso como si fuera para alguien que no sabe de tecnología. Abajo, en gris, está el nombre técnico por si alguien pregunta. Cerrar con la analogía del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conductas de alto riesgo en un taller. El sistema aprende la diferencia viendo también el caso seguro. La arquitectura deja espacio para agregar más conductas.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NewBit no parte de cero. Se basa en Unsafe-Net, una investigación publicada que probó esta idea con video real de una fábrica. Aclarar que el 95.81 % es de los autores, en su conjunto de datos; NewBit fijará sus propias metas en el Sprint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beneficio contado por persona. Sin cifras inventadas: lo que gana cada rol en su día 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lo que no hace genera confianza. No reconoce rostros, no reemplaza al supervisor y no promete reducir accidentes sin medirlo.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de qué es NewBit a cómo lo construimos. Todo sigue la Guía SBOK, el libro base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roles sin jerarquía entre ellos (p. 42). Trabajamos en sprints de dos semanas; cada sprint tiene cuatro reuniones con tiempo fijo (pp. 35–37). Somos tres; la guía recomienda de seis a diez, y ese riesgo está en el 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dice que los principios son obligatorios (p. 9). Para cada uno, una frase de cómo lo aplicamos en NewBit.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formato del curso es la salida de un proceso del libro. La fase de Inicio tiene seis procesos (8.1 a 8.6); a eso sumamos crear y estimar historias (9.1 y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control empírico aplicado a la propia idea: tres versiones, cada una resolvió un problema de la anterior. Lo que no cambió: sin rostros, decisión humana y evaluar el evento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por lo que entregamos cada semana, de la 2 a la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acta es la salida del proceso 8.1, Crear la visión. Cuatro datos clave. A la derecha, el cuadro comparativo de los principios, la otra tarea de la semana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personajes son la salida obligatoria del proceso 8.4 (p. 164). Cada uno tiene nombre, rol y una necesidad concreta, que luego se convierte en historias de usuario.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Infografía y diagrama de arquitectura: piezas para la reunión de la visión (proceso 8.1). Se muestran tal como se entregaron; todavía decían YOLOv4, que en la semana 5 cambió a YOLOv8.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justificación cumple el papel del caso de negocio, entrada obligatoria del proceso 8.1 (p. 141). Cuatro razones, una frase cada una, y sin prometer ahorros que no estén demostrados.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épicas siguen el recorrido del dato (proceso 8.4) y se dividen en 12 historias, cada una con dos criterios de aceptación (proceso 9.1). Leer el ejemplo de HU10.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Proceso 8.5: el backlog se ordena por valor, riesgo y dependencias. Tres pasos: MoSCoW, 100 puntos por integrante y dependencias. Resultado: 31 puntos en cuatro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Puño de cinco (proceso 9.2, p. 194): todos votan a la vez de 1 a 5; los extremos explican y se vota otra vez. A la derecha, el tablero del Sprint 1 con sus tareas propuestas (proceso 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Diferenciar dos ideas que se confunden. Los criterios de aceptación son de cada historia y los define el PO. Los criterios de terminado valen para todas y no se negocian (p.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comparar nuestros formatos con la Guía SBOK aparecieron tres salidas obligatorias sin formato propio. Las elaboramos en esta semana; son propuesta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empieza el Sprint 1. Cada sprint entrega algo que el usuario puede ver. El Sprint 3 es el de mayor riesgo técnico: ahí se fijan las metas con la línea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frase y abrir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image" Target="../media/image-24-1.png"/><Relationship Id="rId4" Type="http://schemas.openxmlformats.org/officeDocument/2006/relationships/image" Target="../media/image-24-1.png"/><Relationship Id="rId5"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9"/>
        </a:solidFill>
      </p:bgPr>
    </p:bg>
    <p:spTree>
      <p:nvGrpSpPr>
        <p:cNvPr id="1" name=""/>
        <p:cNvGrpSpPr/>
        <p:nvPr/>
      </p:nvGrpSpPr>
      <p:grpSpPr>
        <a:xfrm>
          <a:off x="0" y="0"/>
          <a:ext cx="0" cy="0"/>
          <a:chOff x="0" y="0"/>
          <a:chExt cx="0" cy="0"/>
        </a:xfrm>
      </p:grpSpPr>
      <p:pic>
        <p:nvPicPr>
          <p:cNvPr id="3" name="Image 0" descr="/Users/anthony/Documents/Projects/NewBit/curso/semana-06-producto-unidad-1/nuestras-entregas/PPT_Producto_Unidad_1_NewBit/img/logo-uns.png">    </p:cNvPr>
          <p:cNvPicPr>
            <a:picLocks noChangeAspect="1"/>
          </p:cNvPicPr>
          <p:nvPr/>
        </p:nvPicPr>
        <p:blipFill>
          <a:blip r:embed="rId1"/>
          <a:stretch>
            <a:fillRect/>
          </a:stretch>
        </p:blipFill>
        <p:spPr>
          <a:xfrm>
            <a:off x="731520" y="502920"/>
            <a:ext cx="566928" cy="740664"/>
          </a:xfrm>
          <a:prstGeom prst="rect">
            <a:avLst/>
          </a:prstGeom>
        </p:spPr>
      </p:pic>
      <p:sp>
        <p:nvSpPr>
          <p:cNvPr id="4" name="Text 0"/>
          <p:cNvSpPr/>
          <p:nvPr/>
        </p:nvSpPr>
        <p:spPr>
          <a:xfrm>
            <a:off x="1463040" y="621792"/>
            <a:ext cx="7315200" cy="548640"/>
          </a:xfrm>
          <a:prstGeom prst="rect">
            <a:avLst/>
          </a:prstGeom>
          <a:noFill/>
          <a:ln/>
        </p:spPr>
        <p:txBody>
          <a:bodyPr wrap="square" lIns="0" tIns="0" rIns="0" bIns="0" rtlCol="0" anchor="t"/>
          <a:lstStyle/>
          <a:p>
            <a:pPr indent="0" marL="0">
              <a:buNone/>
            </a:pPr>
            <a:r>
              <a:rPr lang="en-US" sz="1200" b="1" dirty="0">
                <a:solidFill>
                  <a:srgbClr val="57534E"/>
                </a:solidFill>
                <a:latin typeface="Calibri" pitchFamily="34" charset="0"/>
                <a:ea typeface="Calibri" pitchFamily="34" charset="-122"/>
                <a:cs typeface="Calibri" pitchFamily="34" charset="-120"/>
              </a:rPr>
              <a:t>Universidad Nacional del Santa</a:t>
            </a:r>
            <a:endParaRPr lang="en-US" sz="1200" dirty="0"/>
          </a:p>
          <a:p>
            <a:pPr indent="0" marL="0">
              <a:buNone/>
            </a:pPr>
            <a:r>
              <a:rPr lang="en-US" sz="1200" dirty="0">
                <a:solidFill>
                  <a:srgbClr val="57534E"/>
                </a:solidFill>
                <a:latin typeface="Calibri" pitchFamily="34" charset="0"/>
                <a:ea typeface="Calibri" pitchFamily="34" charset="-122"/>
                <a:cs typeface="Calibri" pitchFamily="34" charset="-120"/>
              </a:rPr>
              <a:t>Ingeniería de Software II · Producto de la Unidad I</a:t>
            </a:r>
            <a:endParaRPr lang="en-US" sz="1200" dirty="0"/>
          </a:p>
        </p:txBody>
      </p:sp>
      <p:sp>
        <p:nvSpPr>
          <p:cNvPr id="5" name="Text 1"/>
          <p:cNvSpPr/>
          <p:nvPr/>
        </p:nvSpPr>
        <p:spPr>
          <a:xfrm>
            <a:off x="731520" y="1691640"/>
            <a:ext cx="10058400" cy="1280160"/>
          </a:xfrm>
          <a:prstGeom prst="rect">
            <a:avLst/>
          </a:prstGeom>
          <a:noFill/>
          <a:ln/>
        </p:spPr>
        <p:txBody>
          <a:bodyPr wrap="square" lIns="0" tIns="0" rIns="0" bIns="0" rtlCol="0" anchor="t"/>
          <a:lstStyle/>
          <a:p>
            <a:pPr indent="0" marL="0">
              <a:buNone/>
            </a:pPr>
            <a:r>
              <a:rPr lang="en-US" sz="8800" dirty="0">
                <a:solidFill>
                  <a:srgbClr val="1A1A1A"/>
                </a:solidFill>
                <a:latin typeface="Calibri Light" pitchFamily="34" charset="0"/>
                <a:ea typeface="Calibri Light" pitchFamily="34" charset="-122"/>
                <a:cs typeface="Calibri Light" pitchFamily="34" charset="-120"/>
              </a:rPr>
              <a:t>NewBit</a:t>
            </a:r>
            <a:endParaRPr lang="en-US" sz="8800" dirty="0"/>
          </a:p>
        </p:txBody>
      </p:sp>
      <p:sp>
        <p:nvSpPr>
          <p:cNvPr id="6" name="Text 2"/>
          <p:cNvSpPr/>
          <p:nvPr/>
        </p:nvSpPr>
        <p:spPr>
          <a:xfrm>
            <a:off x="731520" y="2971800"/>
            <a:ext cx="10058400" cy="731520"/>
          </a:xfrm>
          <a:prstGeom prst="rect">
            <a:avLst/>
          </a:prstGeom>
          <a:noFill/>
          <a:ln/>
        </p:spPr>
        <p:txBody>
          <a:bodyPr wrap="square" lIns="0" tIns="0" rIns="0" bIns="0" rtlCol="0" anchor="t"/>
          <a:lstStyle/>
          <a:p>
            <a:pPr indent="0" marL="0">
              <a:buNone/>
            </a:pPr>
            <a:r>
              <a:rPr lang="en-US" sz="3200" dirty="0">
                <a:solidFill>
                  <a:srgbClr val="57534E"/>
                </a:solidFill>
                <a:latin typeface="Calibri Light" pitchFamily="34" charset="0"/>
                <a:ea typeface="Calibri Light" pitchFamily="34" charset="-122"/>
                <a:cs typeface="Calibri Light" pitchFamily="34" charset="-120"/>
              </a:rPr>
              <a:t>Que las cámaras avisen antes del accidente.</a:t>
            </a:r>
            <a:endParaRPr lang="en-US" sz="3200" dirty="0"/>
          </a:p>
        </p:txBody>
      </p:sp>
      <p:sp>
        <p:nvSpPr>
          <p:cNvPr id="7" name="Text 3"/>
          <p:cNvSpPr/>
          <p:nvPr/>
        </p:nvSpPr>
        <p:spPr>
          <a:xfrm>
            <a:off x="731520" y="3749040"/>
            <a:ext cx="960120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Sistema web con visión artificial para la detección de actos inseguros en áreas operativas de manufactura metalmecánica · PY-NB-001</a:t>
            </a:r>
            <a:endParaRPr lang="en-US" sz="1300" dirty="0"/>
          </a:p>
        </p:txBody>
      </p:sp>
      <p:sp>
        <p:nvSpPr>
          <p:cNvPr id="8" name="Shape 4"/>
          <p:cNvSpPr/>
          <p:nvPr/>
        </p:nvSpPr>
        <p:spPr>
          <a:xfrm>
            <a:off x="731520" y="4800600"/>
            <a:ext cx="10728655" cy="0"/>
          </a:xfrm>
          <a:prstGeom prst="line">
            <a:avLst/>
          </a:prstGeom>
          <a:noFill/>
          <a:ln w="9525">
            <a:solidFill>
              <a:srgbClr val="E7E5E4"/>
            </a:solidFill>
            <a:prstDash val="solid"/>
          </a:ln>
        </p:spPr>
      </p:sp>
      <p:sp>
        <p:nvSpPr>
          <p:cNvPr id="9" name="Text 5"/>
          <p:cNvSpPr/>
          <p:nvPr/>
        </p:nvSpPr>
        <p:spPr>
          <a:xfrm>
            <a:off x="73152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Albert Chumacero Chávarry</a:t>
            </a:r>
            <a:endParaRPr lang="en-US" sz="1300" dirty="0"/>
          </a:p>
        </p:txBody>
      </p:sp>
      <p:sp>
        <p:nvSpPr>
          <p:cNvPr id="10" name="Text 6"/>
          <p:cNvSpPr/>
          <p:nvPr/>
        </p:nvSpPr>
        <p:spPr>
          <a:xfrm>
            <a:off x="73152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Product Owner</a:t>
            </a:r>
            <a:endParaRPr lang="en-US" sz="1200" dirty="0"/>
          </a:p>
        </p:txBody>
      </p:sp>
      <p:sp>
        <p:nvSpPr>
          <p:cNvPr id="11" name="Text 7"/>
          <p:cNvSpPr/>
          <p:nvPr/>
        </p:nvSpPr>
        <p:spPr>
          <a:xfrm>
            <a:off x="342900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Anthony Lopez Yrribarren</a:t>
            </a:r>
            <a:endParaRPr lang="en-US" sz="1300" dirty="0"/>
          </a:p>
        </p:txBody>
      </p:sp>
      <p:sp>
        <p:nvSpPr>
          <p:cNvPr id="12" name="Text 8"/>
          <p:cNvSpPr/>
          <p:nvPr/>
        </p:nvSpPr>
        <p:spPr>
          <a:xfrm>
            <a:off x="342900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Scrum Master y Developer</a:t>
            </a:r>
            <a:endParaRPr lang="en-US" sz="1200" dirty="0"/>
          </a:p>
        </p:txBody>
      </p:sp>
      <p:sp>
        <p:nvSpPr>
          <p:cNvPr id="13" name="Text 9"/>
          <p:cNvSpPr/>
          <p:nvPr/>
        </p:nvSpPr>
        <p:spPr>
          <a:xfrm>
            <a:off x="612648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Luis Salazar Diaz</a:t>
            </a:r>
            <a:endParaRPr lang="en-US" sz="1300" dirty="0"/>
          </a:p>
        </p:txBody>
      </p:sp>
      <p:sp>
        <p:nvSpPr>
          <p:cNvPr id="14" name="Text 10"/>
          <p:cNvSpPr/>
          <p:nvPr/>
        </p:nvSpPr>
        <p:spPr>
          <a:xfrm>
            <a:off x="612648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Developer</a:t>
            </a:r>
            <a:endParaRPr lang="en-US" sz="1200" dirty="0"/>
          </a:p>
        </p:txBody>
      </p:sp>
      <p:sp>
        <p:nvSpPr>
          <p:cNvPr id="15" name="Text 11"/>
          <p:cNvSpPr/>
          <p:nvPr/>
        </p:nvSpPr>
        <p:spPr>
          <a:xfrm>
            <a:off x="882396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Dr. Ing. Alfredo Daza Vergaray</a:t>
            </a:r>
            <a:endParaRPr lang="en-US" sz="1300" dirty="0"/>
          </a:p>
        </p:txBody>
      </p:sp>
      <p:sp>
        <p:nvSpPr>
          <p:cNvPr id="16" name="Text 12"/>
          <p:cNvSpPr/>
          <p:nvPr/>
        </p:nvSpPr>
        <p:spPr>
          <a:xfrm>
            <a:off x="882396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Docente</a:t>
            </a:r>
            <a:endParaRPr lang="en-US" sz="1200" dirty="0"/>
          </a:p>
        </p:txBody>
      </p:sp>
      <p:sp>
        <p:nvSpPr>
          <p:cNvPr id="17" name="Text 13"/>
          <p:cNvSpPr/>
          <p:nvPr/>
        </p:nvSpPr>
        <p:spPr>
          <a:xfrm>
            <a:off x="731520" y="6172200"/>
            <a:ext cx="731520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Grupo D3 · Nuevo Chimbote, octubre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02</a:t>
            </a:r>
            <a:endParaRPr lang="en-US" sz="1000" dirty="0"/>
          </a:p>
        </p:txBody>
      </p:sp>
      <p:sp>
        <p:nvSpPr>
          <p:cNvPr id="7" name="Text 4"/>
          <p:cNvSpPr/>
          <p:nvPr/>
        </p:nvSpPr>
        <p:spPr>
          <a:xfrm>
            <a:off x="731520" y="1463040"/>
            <a:ext cx="10515600" cy="1097280"/>
          </a:xfrm>
          <a:prstGeom prst="rect">
            <a:avLst/>
          </a:prstGeom>
          <a:noFill/>
          <a:ln/>
        </p:spPr>
        <p:txBody>
          <a:bodyPr wrap="square" lIns="0" tIns="0" rIns="0" bIns="0" rtlCol="0" anchor="t"/>
          <a:lstStyle/>
          <a:p>
            <a:pPr indent="0" marL="0">
              <a:buNone/>
            </a:pPr>
            <a:r>
              <a:rPr lang="en-US" sz="6400" dirty="0">
                <a:solidFill>
                  <a:srgbClr val="F5F5F4"/>
                </a:solidFill>
                <a:latin typeface="Calibri Light" pitchFamily="34" charset="0"/>
                <a:ea typeface="Calibri Light" pitchFamily="34" charset="-122"/>
                <a:cs typeface="Calibri Light" pitchFamily="34" charset="-120"/>
              </a:rPr>
              <a:t>Las cámaras graban.</a:t>
            </a:r>
            <a:endParaRPr lang="en-US" sz="6400" dirty="0"/>
          </a:p>
        </p:txBody>
      </p:sp>
      <p:sp>
        <p:nvSpPr>
          <p:cNvPr id="8" name="Text 5"/>
          <p:cNvSpPr/>
          <p:nvPr/>
        </p:nvSpPr>
        <p:spPr>
          <a:xfrm>
            <a:off x="731520" y="2514600"/>
            <a:ext cx="10515600" cy="1097280"/>
          </a:xfrm>
          <a:prstGeom prst="rect">
            <a:avLst/>
          </a:prstGeom>
          <a:noFill/>
          <a:ln/>
        </p:spPr>
        <p:txBody>
          <a:bodyPr wrap="square" lIns="0" tIns="0" rIns="0" bIns="0" rtlCol="0" anchor="t"/>
          <a:lstStyle/>
          <a:p>
            <a:pPr indent="0" marL="0">
              <a:buNone/>
            </a:pPr>
            <a:r>
              <a:rPr lang="en-US" sz="6400" dirty="0">
                <a:solidFill>
                  <a:srgbClr val="A8A29E"/>
                </a:solidFill>
                <a:latin typeface="Calibri Light" pitchFamily="34" charset="0"/>
                <a:ea typeface="Calibri Light" pitchFamily="34" charset="-122"/>
                <a:cs typeface="Calibri Light" pitchFamily="34" charset="-120"/>
              </a:rPr>
              <a:t>Nadie las mira.</a:t>
            </a:r>
            <a:endParaRPr lang="en-US" sz="6400" dirty="0"/>
          </a:p>
        </p:txBody>
      </p:sp>
      <p:sp>
        <p:nvSpPr>
          <p:cNvPr id="9" name="Text 6"/>
          <p:cNvSpPr/>
          <p:nvPr/>
        </p:nvSpPr>
        <p:spPr>
          <a:xfrm>
            <a:off x="731520" y="4069080"/>
            <a:ext cx="7498080" cy="1097280"/>
          </a:xfrm>
          <a:prstGeom prst="rect">
            <a:avLst/>
          </a:prstGeom>
          <a:noFill/>
          <a:ln/>
        </p:spPr>
        <p:txBody>
          <a:bodyPr wrap="square" lIns="0" tIns="0" rIns="0" bIns="0" rtlCol="0" anchor="t"/>
          <a:lstStyle/>
          <a:p>
            <a:pPr indent="0" marL="0">
              <a:buNone/>
            </a:pPr>
            <a:r>
              <a:rPr lang="en-US" sz="1800" dirty="0">
                <a:solidFill>
                  <a:srgbClr val="A8A29E"/>
                </a:solidFill>
                <a:latin typeface="Calibri" pitchFamily="34" charset="0"/>
                <a:ea typeface="Calibri" pitchFamily="34" charset="-122"/>
                <a:cs typeface="Calibri" pitchFamily="34" charset="-120"/>
              </a:rPr>
              <a:t>En un taller metalmecánico, el inspector de seguridad recorre la planta por turnos. Lo que pasa entre una ronda y otra queda grabado, pero nadie lo revisa a tiempo.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Una escena de todos los días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03</a:t>
            </a:r>
            <a:endParaRPr lang="en-US" sz="1000" dirty="0"/>
          </a:p>
        </p:txBody>
      </p:sp>
      <p:sp>
        <p:nvSpPr>
          <p:cNvPr id="8" name="Shape 5"/>
          <p:cNvSpPr/>
          <p:nvPr/>
        </p:nvSpPr>
        <p:spPr>
          <a:xfrm>
            <a:off x="822960" y="2514600"/>
            <a:ext cx="10545775" cy="0"/>
          </a:xfrm>
          <a:prstGeom prst="line">
            <a:avLst/>
          </a:prstGeom>
          <a:noFill/>
          <a:ln w="15875">
            <a:solidFill>
              <a:srgbClr val="E7E5E4"/>
            </a:solidFill>
            <a:prstDash val="solid"/>
          </a:ln>
        </p:spPr>
      </p:sp>
      <p:sp>
        <p:nvSpPr>
          <p:cNvPr id="9" name="Shape 6"/>
          <p:cNvSpPr/>
          <p:nvPr/>
        </p:nvSpPr>
        <p:spPr>
          <a:xfrm>
            <a:off x="749808" y="2404872"/>
            <a:ext cx="219456" cy="219456"/>
          </a:xfrm>
          <a:prstGeom prst="ellipse">
            <a:avLst/>
          </a:prstGeom>
          <a:solidFill>
            <a:srgbClr val="C2410C"/>
          </a:solidFill>
          <a:ln w="12700">
            <a:solidFill>
              <a:srgbClr val="C2410C"/>
            </a:solidFill>
            <a:prstDash val="solid"/>
          </a:ln>
        </p:spPr>
      </p:sp>
      <p:sp>
        <p:nvSpPr>
          <p:cNvPr id="10" name="Text 7"/>
          <p:cNvSpPr/>
          <p:nvPr/>
        </p:nvSpPr>
        <p:spPr>
          <a:xfrm>
            <a:off x="73152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10:42</a:t>
            </a:r>
            <a:endParaRPr lang="en-US" sz="3000" dirty="0"/>
          </a:p>
        </p:txBody>
      </p:sp>
      <p:sp>
        <p:nvSpPr>
          <p:cNvPr id="11" name="Text 8"/>
          <p:cNvSpPr/>
          <p:nvPr/>
        </p:nvSpPr>
        <p:spPr>
          <a:xfrm>
            <a:off x="73152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Un operario cruza fuera de la vía peatonal, por donde pasan montacargas.</a:t>
            </a:r>
            <a:endParaRPr lang="en-US" sz="1600" dirty="0"/>
          </a:p>
        </p:txBody>
      </p:sp>
      <p:sp>
        <p:nvSpPr>
          <p:cNvPr id="12" name="Shape 9"/>
          <p:cNvSpPr/>
          <p:nvPr/>
        </p:nvSpPr>
        <p:spPr>
          <a:xfrm>
            <a:off x="3447288" y="2404872"/>
            <a:ext cx="219456" cy="219456"/>
          </a:xfrm>
          <a:prstGeom prst="ellipse">
            <a:avLst/>
          </a:prstGeom>
          <a:solidFill>
            <a:srgbClr val="57534E"/>
          </a:solidFill>
          <a:ln w="12700">
            <a:solidFill>
              <a:srgbClr val="57534E"/>
            </a:solidFill>
            <a:prstDash val="solid"/>
          </a:ln>
        </p:spPr>
      </p:sp>
      <p:sp>
        <p:nvSpPr>
          <p:cNvPr id="13" name="Text 10"/>
          <p:cNvSpPr/>
          <p:nvPr/>
        </p:nvSpPr>
        <p:spPr>
          <a:xfrm>
            <a:off x="342900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10:43</a:t>
            </a:r>
            <a:endParaRPr lang="en-US" sz="3000" dirty="0"/>
          </a:p>
        </p:txBody>
      </p:sp>
      <p:sp>
        <p:nvSpPr>
          <p:cNvPr id="14" name="Text 11"/>
          <p:cNvSpPr/>
          <p:nvPr/>
        </p:nvSpPr>
        <p:spPr>
          <a:xfrm>
            <a:off x="342900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Sigue trabajando. Nadie lo vio; la cámara sí lo grabó.</a:t>
            </a:r>
            <a:endParaRPr lang="en-US" sz="1600" dirty="0"/>
          </a:p>
        </p:txBody>
      </p:sp>
      <p:sp>
        <p:nvSpPr>
          <p:cNvPr id="15" name="Shape 12"/>
          <p:cNvSpPr/>
          <p:nvPr/>
        </p:nvSpPr>
        <p:spPr>
          <a:xfrm>
            <a:off x="6144768" y="2404872"/>
            <a:ext cx="219456" cy="219456"/>
          </a:xfrm>
          <a:prstGeom prst="ellipse">
            <a:avLst/>
          </a:prstGeom>
          <a:solidFill>
            <a:srgbClr val="57534E"/>
          </a:solidFill>
          <a:ln w="12700">
            <a:solidFill>
              <a:srgbClr val="57534E"/>
            </a:solidFill>
            <a:prstDash val="solid"/>
          </a:ln>
        </p:spPr>
      </p:sp>
      <p:sp>
        <p:nvSpPr>
          <p:cNvPr id="16" name="Text 13"/>
          <p:cNvSpPr/>
          <p:nvPr/>
        </p:nvSpPr>
        <p:spPr>
          <a:xfrm>
            <a:off x="612648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18:00</a:t>
            </a:r>
            <a:endParaRPr lang="en-US" sz="3000" dirty="0"/>
          </a:p>
        </p:txBody>
      </p:sp>
      <p:sp>
        <p:nvSpPr>
          <p:cNvPr id="17" name="Text 14"/>
          <p:cNvSpPr/>
          <p:nvPr/>
        </p:nvSpPr>
        <p:spPr>
          <a:xfrm>
            <a:off x="612648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Termina el turno: ocho horas de video que nadie revisará.</a:t>
            </a:r>
            <a:endParaRPr lang="en-US" sz="1600" dirty="0"/>
          </a:p>
        </p:txBody>
      </p:sp>
      <p:sp>
        <p:nvSpPr>
          <p:cNvPr id="18" name="Shape 15"/>
          <p:cNvSpPr/>
          <p:nvPr/>
        </p:nvSpPr>
        <p:spPr>
          <a:xfrm>
            <a:off x="8842248" y="2404872"/>
            <a:ext cx="219456" cy="219456"/>
          </a:xfrm>
          <a:prstGeom prst="ellipse">
            <a:avLst/>
          </a:prstGeom>
          <a:solidFill>
            <a:srgbClr val="C2410C"/>
          </a:solidFill>
          <a:ln w="12700">
            <a:solidFill>
              <a:srgbClr val="C2410C"/>
            </a:solidFill>
            <a:prstDash val="solid"/>
          </a:ln>
        </p:spPr>
      </p:sp>
      <p:sp>
        <p:nvSpPr>
          <p:cNvPr id="19" name="Text 16"/>
          <p:cNvSpPr/>
          <p:nvPr/>
        </p:nvSpPr>
        <p:spPr>
          <a:xfrm>
            <a:off x="882396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Mañana</a:t>
            </a:r>
            <a:endParaRPr lang="en-US" sz="3000" dirty="0"/>
          </a:p>
        </p:txBody>
      </p:sp>
      <p:sp>
        <p:nvSpPr>
          <p:cNvPr id="20" name="Text 17"/>
          <p:cNvSpPr/>
          <p:nvPr/>
        </p:nvSpPr>
        <p:spPr>
          <a:xfrm>
            <a:off x="882396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El mismo riesgo se repite, hasta que un día no es solo un riesgo.</a:t>
            </a:r>
            <a:endParaRPr lang="en-US" sz="1600" dirty="0"/>
          </a:p>
        </p:txBody>
      </p:sp>
      <p:sp>
        <p:nvSpPr>
          <p:cNvPr id="21" name="Text 18"/>
          <p:cNvSpPr/>
          <p:nvPr/>
        </p:nvSpPr>
        <p:spPr>
          <a:xfrm>
            <a:off x="731520" y="4983480"/>
            <a:ext cx="10058400" cy="457200"/>
          </a:xfrm>
          <a:prstGeom prst="rect">
            <a:avLst/>
          </a:prstGeom>
          <a:noFill/>
          <a:ln/>
        </p:spPr>
        <p:txBody>
          <a:bodyPr wrap="square" lIns="0" tIns="0" rIns="0" bIns="0" rtlCol="0" anchor="t"/>
          <a:lstStyle/>
          <a:p>
            <a:pPr indent="0" marL="0">
              <a:buNone/>
            </a:pPr>
            <a:r>
              <a:rPr lang="en-US" sz="2400" dirty="0">
                <a:solidFill>
                  <a:srgbClr val="1A1A1A"/>
                </a:solidFill>
                <a:latin typeface="Calibri Light" pitchFamily="34" charset="0"/>
                <a:ea typeface="Calibri Light" pitchFamily="34" charset="-122"/>
                <a:cs typeface="Calibri Light" pitchFamily="34" charset="-120"/>
              </a:rPr>
              <a:t>El acto inseguro </a:t>
            </a:r>
            <a:pPr indent="0" marL="0">
              <a:buNone/>
            </a:pPr>
            <a:r>
              <a:rPr lang="en-US" sz="2400" b="1" dirty="0">
                <a:solidFill>
                  <a:srgbClr val="1A1A1A"/>
                </a:solidFill>
                <a:latin typeface="Calibri Light" pitchFamily="34" charset="0"/>
                <a:ea typeface="Calibri Light" pitchFamily="34" charset="-122"/>
                <a:cs typeface="Calibri Light" pitchFamily="34" charset="-120"/>
              </a:rPr>
              <a:t>existe</a:t>
            </a:r>
            <a:pPr indent="0" marL="0">
              <a:buNone/>
            </a:pPr>
            <a:r>
              <a:rPr lang="en-US" sz="2400" dirty="0">
                <a:solidFill>
                  <a:srgbClr val="1A1A1A"/>
                </a:solidFill>
                <a:latin typeface="Calibri Light" pitchFamily="34" charset="0"/>
                <a:ea typeface="Calibri Light" pitchFamily="34" charset="-122"/>
                <a:cs typeface="Calibri Light" pitchFamily="34" charset="-120"/>
              </a:rPr>
              <a:t>, pero se detecta </a:t>
            </a:r>
            <a:pPr indent="0" marL="0">
              <a:buNone/>
            </a:pPr>
            <a:r>
              <a:rPr lang="en-US" sz="2400" b="1" dirty="0">
                <a:solidFill>
                  <a:srgbClr val="1A1A1A"/>
                </a:solidFill>
                <a:latin typeface="Calibri Light" pitchFamily="34" charset="0"/>
                <a:ea typeface="Calibri Light" pitchFamily="34" charset="-122"/>
                <a:cs typeface="Calibri Light" pitchFamily="34" charset="-120"/>
              </a:rPr>
              <a:t>tarde o nunca</a:t>
            </a:r>
            <a:pPr indent="0" marL="0">
              <a:buNone/>
            </a:pPr>
            <a:r>
              <a:rPr lang="en-US" sz="2400" dirty="0">
                <a:solidFill>
                  <a:srgbClr val="1A1A1A"/>
                </a:solidFill>
                <a:latin typeface="Calibri Light" pitchFamily="34" charset="0"/>
                <a:ea typeface="Calibri Light" pitchFamily="34" charset="-122"/>
                <a:cs typeface="Calibri Light" pitchFamily="34" charset="-120"/>
              </a:rPr>
              <a:t>.</a:t>
            </a:r>
            <a:endParaRPr lang="en-US" sz="2400" dirty="0"/>
          </a:p>
        </p:txBody>
      </p:sp>
      <p:sp>
        <p:nvSpPr>
          <p:cNvPr id="22" name="Text 19"/>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Escena ilustrativa. Conductas tomadas del conjunto de datos de Önal y Dandıl (2024).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¿A quién le duele?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04</a:t>
            </a:r>
            <a:endParaRPr lang="en-US" sz="1000" dirty="0"/>
          </a:p>
        </p:txBody>
      </p:sp>
      <p:sp>
        <p:nvSpPr>
          <p:cNvPr id="8" name="Shape 5"/>
          <p:cNvSpPr/>
          <p:nvPr/>
        </p:nvSpPr>
        <p:spPr>
          <a:xfrm>
            <a:off x="731520" y="1965960"/>
            <a:ext cx="3337560" cy="3017520"/>
          </a:xfrm>
          <a:prstGeom prst="roundRect">
            <a:avLst>
              <a:gd name="adj" fmla="val 2424"/>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persona-ink.png">    </p:cNvPr>
          <p:cNvPicPr>
            <a:picLocks noChangeAspect="1"/>
          </p:cNvPicPr>
          <p:nvPr/>
        </p:nvPicPr>
        <p:blipFill>
          <a:blip r:embed="rId1"/>
          <a:stretch>
            <a:fillRect/>
          </a:stretch>
        </p:blipFill>
        <p:spPr>
          <a:xfrm>
            <a:off x="1051560" y="2240280"/>
            <a:ext cx="457200" cy="457200"/>
          </a:xfrm>
          <a:prstGeom prst="rect">
            <a:avLst/>
          </a:prstGeom>
        </p:spPr>
      </p:pic>
      <p:sp>
        <p:nvSpPr>
          <p:cNvPr id="10" name="Text 6"/>
          <p:cNvSpPr/>
          <p:nvPr/>
        </p:nvSpPr>
        <p:spPr>
          <a:xfrm>
            <a:off x="105156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Mariana Torres</a:t>
            </a:r>
            <a:endParaRPr lang="en-US" sz="2000" dirty="0"/>
          </a:p>
        </p:txBody>
      </p:sp>
      <p:sp>
        <p:nvSpPr>
          <p:cNvPr id="11" name="Text 7"/>
          <p:cNvSpPr/>
          <p:nvPr/>
        </p:nvSpPr>
        <p:spPr>
          <a:xfrm>
            <a:off x="105156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Supervisora de SST</a:t>
            </a:r>
            <a:endParaRPr lang="en-US" sz="1400" dirty="0"/>
          </a:p>
        </p:txBody>
      </p:sp>
      <p:sp>
        <p:nvSpPr>
          <p:cNvPr id="12" name="Text 8"/>
          <p:cNvSpPr/>
          <p:nvPr/>
        </p:nvSpPr>
        <p:spPr>
          <a:xfrm>
            <a:off x="105156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No puede revisar horas de video. Necesita saber a tiempo qué pasó, dónde y cuándo.</a:t>
            </a:r>
            <a:endParaRPr lang="en-US" sz="1600" dirty="0"/>
          </a:p>
        </p:txBody>
      </p:sp>
      <p:sp>
        <p:nvSpPr>
          <p:cNvPr id="13" name="Shape 9"/>
          <p:cNvSpPr/>
          <p:nvPr/>
        </p:nvSpPr>
        <p:spPr>
          <a:xfrm>
            <a:off x="4343400" y="1965960"/>
            <a:ext cx="3337560" cy="3017520"/>
          </a:xfrm>
          <a:prstGeom prst="roundRect">
            <a:avLst>
              <a:gd name="adj" fmla="val 2424"/>
            </a:avLst>
          </a:prstGeom>
          <a:solidFill>
            <a:srgbClr val="FFFFFF"/>
          </a:solidFill>
          <a:ln w="9525">
            <a:solidFill>
              <a:srgbClr val="E7E5E4"/>
            </a:solidFill>
            <a:prstDash val="solid"/>
          </a:ln>
        </p:spPr>
      </p:sp>
      <p:pic>
        <p:nvPicPr>
          <p:cNvPr id="14" name="Image 1" descr="/Users/anthony/Documents/Projects/NewBit/curso/semana-06-producto-unidad-1/nuestras-entregas/PPT_Producto_Unidad_1_NewBit/img/iconos/persona-ink.png">    </p:cNvPr>
          <p:cNvPicPr>
            <a:picLocks noChangeAspect="1"/>
          </p:cNvPicPr>
          <p:nvPr/>
        </p:nvPicPr>
        <p:blipFill>
          <a:blip r:embed="rId2"/>
          <a:stretch>
            <a:fillRect/>
          </a:stretch>
        </p:blipFill>
        <p:spPr>
          <a:xfrm>
            <a:off x="4663440" y="2240280"/>
            <a:ext cx="457200" cy="457200"/>
          </a:xfrm>
          <a:prstGeom prst="rect">
            <a:avLst/>
          </a:prstGeom>
        </p:spPr>
      </p:pic>
      <p:sp>
        <p:nvSpPr>
          <p:cNvPr id="15" name="Text 10"/>
          <p:cNvSpPr/>
          <p:nvPr/>
        </p:nvSpPr>
        <p:spPr>
          <a:xfrm>
            <a:off x="466344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Lucía Ramos</a:t>
            </a:r>
            <a:endParaRPr lang="en-US" sz="2000" dirty="0"/>
          </a:p>
        </p:txBody>
      </p:sp>
      <p:sp>
        <p:nvSpPr>
          <p:cNvPr id="16" name="Text 11"/>
          <p:cNvSpPr/>
          <p:nvPr/>
        </p:nvSpPr>
        <p:spPr>
          <a:xfrm>
            <a:off x="466344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Operadora de monitoreo</a:t>
            </a:r>
            <a:endParaRPr lang="en-US" sz="1400" dirty="0"/>
          </a:p>
        </p:txBody>
      </p:sp>
      <p:sp>
        <p:nvSpPr>
          <p:cNvPr id="17" name="Text 12"/>
          <p:cNvSpPr/>
          <p:nvPr/>
        </p:nvSpPr>
        <p:spPr>
          <a:xfrm>
            <a:off x="466344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Mira muchas cámaras a la vez. Es fácil que algo se le pase.</a:t>
            </a:r>
            <a:endParaRPr lang="en-US" sz="1600" dirty="0"/>
          </a:p>
        </p:txBody>
      </p:sp>
      <p:sp>
        <p:nvSpPr>
          <p:cNvPr id="18" name="Shape 13"/>
          <p:cNvSpPr/>
          <p:nvPr/>
        </p:nvSpPr>
        <p:spPr>
          <a:xfrm>
            <a:off x="7955280" y="1965960"/>
            <a:ext cx="3337560" cy="3017520"/>
          </a:xfrm>
          <a:prstGeom prst="roundRect">
            <a:avLst>
              <a:gd name="adj" fmla="val 2424"/>
            </a:avLst>
          </a:prstGeom>
          <a:solidFill>
            <a:srgbClr val="FFFFFF"/>
          </a:solidFill>
          <a:ln w="9525">
            <a:solidFill>
              <a:srgbClr val="E7E5E4"/>
            </a:solidFill>
            <a:prstDash val="solid"/>
          </a:ln>
        </p:spPr>
      </p:sp>
      <p:pic>
        <p:nvPicPr>
          <p:cNvPr id="19" name="Image 2" descr="/Users/anthony/Documents/Projects/NewBit/curso/semana-06-producto-unidad-1/nuestras-entregas/PPT_Producto_Unidad_1_NewBit/img/iconos/persona-ink.png">    </p:cNvPr>
          <p:cNvPicPr>
            <a:picLocks noChangeAspect="1"/>
          </p:cNvPicPr>
          <p:nvPr/>
        </p:nvPicPr>
        <p:blipFill>
          <a:blip r:embed="rId3"/>
          <a:stretch>
            <a:fillRect/>
          </a:stretch>
        </p:blipFill>
        <p:spPr>
          <a:xfrm>
            <a:off x="8275320" y="2240280"/>
            <a:ext cx="457200" cy="457200"/>
          </a:xfrm>
          <a:prstGeom prst="rect">
            <a:avLst/>
          </a:prstGeom>
        </p:spPr>
      </p:pic>
      <p:sp>
        <p:nvSpPr>
          <p:cNvPr id="20" name="Text 14"/>
          <p:cNvSpPr/>
          <p:nvPr/>
        </p:nvSpPr>
        <p:spPr>
          <a:xfrm>
            <a:off x="827532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Ricardo Salcedo</a:t>
            </a:r>
            <a:endParaRPr lang="en-US" sz="2000" dirty="0"/>
          </a:p>
        </p:txBody>
      </p:sp>
      <p:sp>
        <p:nvSpPr>
          <p:cNvPr id="21" name="Text 15"/>
          <p:cNvSpPr/>
          <p:nvPr/>
        </p:nvSpPr>
        <p:spPr>
          <a:xfrm>
            <a:off x="827532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Gerente general</a:t>
            </a:r>
            <a:endParaRPr lang="en-US" sz="1400" dirty="0"/>
          </a:p>
        </p:txBody>
      </p:sp>
      <p:sp>
        <p:nvSpPr>
          <p:cNvPr id="22" name="Text 16"/>
          <p:cNvSpPr/>
          <p:nvPr/>
        </p:nvSpPr>
        <p:spPr>
          <a:xfrm>
            <a:off x="827532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Necesita datos claros para decidir dónde invertir en prevención.</a:t>
            </a:r>
            <a:endParaRPr lang="en-US" sz="1600" dirty="0"/>
          </a:p>
        </p:txBody>
      </p:sp>
      <p:sp>
        <p:nvSpPr>
          <p:cNvPr id="23" name="Text 17"/>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Perfiles del caso académico, definidos en el formato FGAP030 (Roles y prototipos).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LA IDEA</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05</a:t>
            </a:r>
            <a:endParaRPr lang="en-US" sz="1000" dirty="0"/>
          </a:p>
        </p:txBody>
      </p:sp>
      <p:sp>
        <p:nvSpPr>
          <p:cNvPr id="7" name="Text 4"/>
          <p:cNvSpPr/>
          <p:nvPr/>
        </p:nvSpPr>
        <p:spPr>
          <a:xfrm>
            <a:off x="731520" y="1417320"/>
            <a:ext cx="1069848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NewBit revisa el video por ti</a:t>
            </a:r>
            <a:endParaRPr lang="en-US" sz="5400" dirty="0"/>
          </a:p>
        </p:txBody>
      </p:sp>
      <p:sp>
        <p:nvSpPr>
          <p:cNvPr id="8" name="Text 5"/>
          <p:cNvSpPr/>
          <p:nvPr/>
        </p:nvSpPr>
        <p:spPr>
          <a:xfrm>
            <a:off x="731520" y="2286000"/>
            <a:ext cx="1069848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y te muestra solo los segundos</a:t>
            </a:r>
            <a:endParaRPr lang="en-US" sz="5400" dirty="0"/>
          </a:p>
        </p:txBody>
      </p:sp>
      <p:sp>
        <p:nvSpPr>
          <p:cNvPr id="9" name="Text 6"/>
          <p:cNvSpPr/>
          <p:nvPr/>
        </p:nvSpPr>
        <p:spPr>
          <a:xfrm>
            <a:off x="731520" y="3154680"/>
            <a:ext cx="1069848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que importan.</a:t>
            </a:r>
            <a:endParaRPr lang="en-US" sz="5400" dirty="0"/>
          </a:p>
        </p:txBody>
      </p:sp>
      <p:sp>
        <p:nvSpPr>
          <p:cNvPr id="10" name="Text 7"/>
          <p:cNvSpPr/>
          <p:nvPr/>
        </p:nvSpPr>
        <p:spPr>
          <a:xfrm>
            <a:off x="731520" y="4434840"/>
            <a:ext cx="8229600" cy="457200"/>
          </a:xfrm>
          <a:prstGeom prst="rect">
            <a:avLst/>
          </a:prstGeom>
          <a:noFill/>
          <a:ln/>
        </p:spPr>
        <p:txBody>
          <a:bodyPr wrap="square" lIns="0" tIns="0" rIns="0" bIns="0" rtlCol="0" anchor="t"/>
          <a:lstStyle/>
          <a:p>
            <a:pPr indent="0" marL="0">
              <a:buNone/>
            </a:pPr>
            <a:r>
              <a:rPr lang="en-US" sz="1800" dirty="0">
                <a:solidFill>
                  <a:srgbClr val="A8A29E"/>
                </a:solidFill>
                <a:latin typeface="Calibri" pitchFamily="34" charset="0"/>
                <a:ea typeface="Calibri" pitchFamily="34" charset="-122"/>
                <a:cs typeface="Calibri" pitchFamily="34" charset="-120"/>
              </a:rPr>
              <a:t>Sin cámaras nuevas: usa el video que la planta ya graba.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CÓMO FUNCIONA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Cuatro pasos, sin tecnicismos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06</a:t>
            </a:r>
            <a:endParaRPr lang="en-US" sz="1000" dirty="0"/>
          </a:p>
        </p:txBody>
      </p:sp>
      <p:sp>
        <p:nvSpPr>
          <p:cNvPr id="8" name="Shape 5"/>
          <p:cNvSpPr/>
          <p:nvPr/>
        </p:nvSpPr>
        <p:spPr>
          <a:xfrm>
            <a:off x="731520" y="1874520"/>
            <a:ext cx="2514600" cy="3063240"/>
          </a:xfrm>
          <a:prstGeom prst="roundRect">
            <a:avLst>
              <a:gd name="adj" fmla="val 2909"/>
            </a:avLst>
          </a:prstGeom>
          <a:solidFill>
            <a:srgbClr val="FFFFFF"/>
          </a:solidFill>
          <a:ln w="9525">
            <a:solidFill>
              <a:srgbClr val="E7E5E4"/>
            </a:solidFill>
            <a:prstDash val="solid"/>
          </a:ln>
        </p:spPr>
      </p:sp>
      <p:sp>
        <p:nvSpPr>
          <p:cNvPr id="9" name="Text 6"/>
          <p:cNvSpPr/>
          <p:nvPr/>
        </p:nvSpPr>
        <p:spPr>
          <a:xfrm>
            <a:off x="1005840"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01</a:t>
            </a:r>
            <a:endParaRPr lang="en-US" sz="1300" dirty="0"/>
          </a:p>
        </p:txBody>
      </p:sp>
      <p:pic>
        <p:nvPicPr>
          <p:cNvPr id="10" name="Image 0" descr="/Users/anthony/Documents/Projects/NewBit/curso/semana-06-producto-unidad-1/nuestras-entregas/PPT_Producto_Unidad_1_NewBit/img/iconos/video-ink.png">    </p:cNvPr>
          <p:cNvPicPr>
            <a:picLocks noChangeAspect="1"/>
          </p:cNvPicPr>
          <p:nvPr/>
        </p:nvPicPr>
        <p:blipFill>
          <a:blip r:embed="rId1"/>
          <a:stretch>
            <a:fillRect/>
          </a:stretch>
        </p:blipFill>
        <p:spPr>
          <a:xfrm>
            <a:off x="2560320" y="2057400"/>
            <a:ext cx="411480" cy="411480"/>
          </a:xfrm>
          <a:prstGeom prst="rect">
            <a:avLst/>
          </a:prstGeom>
        </p:spPr>
      </p:pic>
      <p:sp>
        <p:nvSpPr>
          <p:cNvPr id="11" name="Text 7"/>
          <p:cNvSpPr/>
          <p:nvPr/>
        </p:nvSpPr>
        <p:spPr>
          <a:xfrm>
            <a:off x="1005840"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Subes el video</a:t>
            </a:r>
            <a:endParaRPr lang="en-US" sz="1900" dirty="0"/>
          </a:p>
        </p:txBody>
      </p:sp>
      <p:sp>
        <p:nvSpPr>
          <p:cNvPr id="12" name="Text 8"/>
          <p:cNvSpPr/>
          <p:nvPr/>
        </p:nvSpPr>
        <p:spPr>
          <a:xfrm>
            <a:off x="1005840"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Cargas los clips que tus cámaras ya graban.</a:t>
            </a:r>
            <a:endParaRPr lang="en-US" sz="1400" dirty="0"/>
          </a:p>
        </p:txBody>
      </p:sp>
      <p:sp>
        <p:nvSpPr>
          <p:cNvPr id="13" name="Text 9"/>
          <p:cNvSpPr/>
          <p:nvPr/>
        </p:nvSpPr>
        <p:spPr>
          <a:xfrm>
            <a:off x="1005840"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archivos .mp4 o .avi, por lotes</a:t>
            </a:r>
            <a:endParaRPr lang="en-US" sz="1100" dirty="0"/>
          </a:p>
        </p:txBody>
      </p:sp>
      <p:sp>
        <p:nvSpPr>
          <p:cNvPr id="14" name="Shape 10"/>
          <p:cNvSpPr/>
          <p:nvPr/>
        </p:nvSpPr>
        <p:spPr>
          <a:xfrm>
            <a:off x="3273552" y="3401568"/>
            <a:ext cx="155448" cy="0"/>
          </a:xfrm>
          <a:prstGeom prst="line">
            <a:avLst/>
          </a:prstGeom>
          <a:noFill/>
          <a:ln w="12700">
            <a:solidFill>
              <a:srgbClr val="8A8984"/>
            </a:solidFill>
            <a:prstDash val="solid"/>
            <a:tailEnd type="triangle"/>
          </a:ln>
        </p:spPr>
      </p:sp>
      <p:sp>
        <p:nvSpPr>
          <p:cNvPr id="15" name="Shape 11"/>
          <p:cNvSpPr/>
          <p:nvPr/>
        </p:nvSpPr>
        <p:spPr>
          <a:xfrm>
            <a:off x="3456432" y="1874520"/>
            <a:ext cx="2514600" cy="3063240"/>
          </a:xfrm>
          <a:prstGeom prst="roundRect">
            <a:avLst>
              <a:gd name="adj" fmla="val 2909"/>
            </a:avLst>
          </a:prstGeom>
          <a:solidFill>
            <a:srgbClr val="FFFFFF"/>
          </a:solidFill>
          <a:ln w="9525">
            <a:solidFill>
              <a:srgbClr val="E7E5E4"/>
            </a:solidFill>
            <a:prstDash val="solid"/>
          </a:ln>
        </p:spPr>
      </p:sp>
      <p:sp>
        <p:nvSpPr>
          <p:cNvPr id="16" name="Text 12"/>
          <p:cNvSpPr/>
          <p:nvPr/>
        </p:nvSpPr>
        <p:spPr>
          <a:xfrm>
            <a:off x="3730752"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02</a:t>
            </a:r>
            <a:endParaRPr lang="en-US" sz="1300" dirty="0"/>
          </a:p>
        </p:txBody>
      </p:sp>
      <p:pic>
        <p:nvPicPr>
          <p:cNvPr id="17" name="Image 1" descr="/Users/anthony/Documents/Projects/NewBit/curso/semana-06-producto-unidad-1/nuestras-entregas/PPT_Producto_Unidad_1_NewBit/img/iconos/buscar-ink.png">    </p:cNvPr>
          <p:cNvPicPr>
            <a:picLocks noChangeAspect="1"/>
          </p:cNvPicPr>
          <p:nvPr/>
        </p:nvPicPr>
        <p:blipFill>
          <a:blip r:embed="rId2"/>
          <a:stretch>
            <a:fillRect/>
          </a:stretch>
        </p:blipFill>
        <p:spPr>
          <a:xfrm>
            <a:off x="5285232" y="2057400"/>
            <a:ext cx="411480" cy="411480"/>
          </a:xfrm>
          <a:prstGeom prst="rect">
            <a:avLst/>
          </a:prstGeom>
        </p:spPr>
      </p:pic>
      <p:sp>
        <p:nvSpPr>
          <p:cNvPr id="18" name="Text 13"/>
          <p:cNvSpPr/>
          <p:nvPr/>
        </p:nvSpPr>
        <p:spPr>
          <a:xfrm>
            <a:off x="3730752"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Encuentra a las personas</a:t>
            </a:r>
            <a:endParaRPr lang="en-US" sz="1900" dirty="0"/>
          </a:p>
        </p:txBody>
      </p:sp>
      <p:sp>
        <p:nvSpPr>
          <p:cNvPr id="19" name="Text 14"/>
          <p:cNvSpPr/>
          <p:nvPr/>
        </p:nvSpPr>
        <p:spPr>
          <a:xfrm>
            <a:off x="3730752"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Revisa cada imagen y marca dónde hay operarios. Lo que no tiene a nadie, lo descarta.</a:t>
            </a:r>
            <a:endParaRPr lang="en-US" sz="1400" dirty="0"/>
          </a:p>
        </p:txBody>
      </p:sp>
      <p:sp>
        <p:nvSpPr>
          <p:cNvPr id="20" name="Text 15"/>
          <p:cNvSpPr/>
          <p:nvPr/>
        </p:nvSpPr>
        <p:spPr>
          <a:xfrm>
            <a:off x="3730752"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detector YOLOv8</a:t>
            </a:r>
            <a:endParaRPr lang="en-US" sz="1100" dirty="0"/>
          </a:p>
        </p:txBody>
      </p:sp>
      <p:sp>
        <p:nvSpPr>
          <p:cNvPr id="21" name="Shape 16"/>
          <p:cNvSpPr/>
          <p:nvPr/>
        </p:nvSpPr>
        <p:spPr>
          <a:xfrm>
            <a:off x="5998464" y="3401568"/>
            <a:ext cx="155448" cy="0"/>
          </a:xfrm>
          <a:prstGeom prst="line">
            <a:avLst/>
          </a:prstGeom>
          <a:noFill/>
          <a:ln w="12700">
            <a:solidFill>
              <a:srgbClr val="8A8984"/>
            </a:solidFill>
            <a:prstDash val="solid"/>
            <a:tailEnd type="triangle"/>
          </a:ln>
        </p:spPr>
      </p:sp>
      <p:sp>
        <p:nvSpPr>
          <p:cNvPr id="22" name="Shape 17"/>
          <p:cNvSpPr/>
          <p:nvPr/>
        </p:nvSpPr>
        <p:spPr>
          <a:xfrm>
            <a:off x="6181344" y="1874520"/>
            <a:ext cx="2514600" cy="3063240"/>
          </a:xfrm>
          <a:prstGeom prst="roundRect">
            <a:avLst>
              <a:gd name="adj" fmla="val 2909"/>
            </a:avLst>
          </a:prstGeom>
          <a:solidFill>
            <a:srgbClr val="FFFFFF"/>
          </a:solidFill>
          <a:ln w="9525">
            <a:solidFill>
              <a:srgbClr val="E7E5E4"/>
            </a:solidFill>
            <a:prstDash val="solid"/>
          </a:ln>
        </p:spPr>
      </p:sp>
      <p:sp>
        <p:nvSpPr>
          <p:cNvPr id="23" name="Text 18"/>
          <p:cNvSpPr/>
          <p:nvPr/>
        </p:nvSpPr>
        <p:spPr>
          <a:xfrm>
            <a:off x="6455664"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03</a:t>
            </a:r>
            <a:endParaRPr lang="en-US" sz="1300" dirty="0"/>
          </a:p>
        </p:txBody>
      </p:sp>
      <p:pic>
        <p:nvPicPr>
          <p:cNvPr id="24" name="Image 2" descr="/Users/anthony/Documents/Projects/NewBit/curso/semana-06-producto-unidad-1/nuestras-entregas/PPT_Producto_Unidad_1_NewBit/img/iconos/secuencia-ink.png">    </p:cNvPr>
          <p:cNvPicPr>
            <a:picLocks noChangeAspect="1"/>
          </p:cNvPicPr>
          <p:nvPr/>
        </p:nvPicPr>
        <p:blipFill>
          <a:blip r:embed="rId3"/>
          <a:stretch>
            <a:fillRect/>
          </a:stretch>
        </p:blipFill>
        <p:spPr>
          <a:xfrm>
            <a:off x="8010144" y="2057400"/>
            <a:ext cx="411480" cy="411480"/>
          </a:xfrm>
          <a:prstGeom prst="rect">
            <a:avLst/>
          </a:prstGeom>
        </p:spPr>
      </p:pic>
      <p:sp>
        <p:nvSpPr>
          <p:cNvPr id="25" name="Text 19"/>
          <p:cNvSpPr/>
          <p:nvPr/>
        </p:nvSpPr>
        <p:spPr>
          <a:xfrm>
            <a:off x="6455664"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Entiende lo que hacen</a:t>
            </a:r>
            <a:endParaRPr lang="en-US" sz="1900" dirty="0"/>
          </a:p>
        </p:txBody>
      </p:sp>
      <p:sp>
        <p:nvSpPr>
          <p:cNvPr id="26" name="Text 20"/>
          <p:cNvSpPr/>
          <p:nvPr/>
        </p:nvSpPr>
        <p:spPr>
          <a:xfrm>
            <a:off x="6455664"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No mira una foto suelta: mira la secuencia, como un video corto, para saber qué conducta es.</a:t>
            </a:r>
            <a:endParaRPr lang="en-US" sz="1400" dirty="0"/>
          </a:p>
        </p:txBody>
      </p:sp>
      <p:sp>
        <p:nvSpPr>
          <p:cNvPr id="27" name="Text 21"/>
          <p:cNvSpPr/>
          <p:nvPr/>
        </p:nvSpPr>
        <p:spPr>
          <a:xfrm>
            <a:off x="6455664"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red ConvLSTM</a:t>
            </a:r>
            <a:endParaRPr lang="en-US" sz="1100" dirty="0"/>
          </a:p>
        </p:txBody>
      </p:sp>
      <p:sp>
        <p:nvSpPr>
          <p:cNvPr id="28" name="Shape 22"/>
          <p:cNvSpPr/>
          <p:nvPr/>
        </p:nvSpPr>
        <p:spPr>
          <a:xfrm>
            <a:off x="8723376" y="3401568"/>
            <a:ext cx="155448" cy="0"/>
          </a:xfrm>
          <a:prstGeom prst="line">
            <a:avLst/>
          </a:prstGeom>
          <a:noFill/>
          <a:ln w="12700">
            <a:solidFill>
              <a:srgbClr val="8A8984"/>
            </a:solidFill>
            <a:prstDash val="solid"/>
            <a:tailEnd type="triangle"/>
          </a:ln>
        </p:spPr>
      </p:sp>
      <p:sp>
        <p:nvSpPr>
          <p:cNvPr id="29" name="Shape 23"/>
          <p:cNvSpPr/>
          <p:nvPr/>
        </p:nvSpPr>
        <p:spPr>
          <a:xfrm>
            <a:off x="8906256" y="1874520"/>
            <a:ext cx="2514600" cy="3063240"/>
          </a:xfrm>
          <a:prstGeom prst="roundRect">
            <a:avLst>
              <a:gd name="adj" fmla="val 2909"/>
            </a:avLst>
          </a:prstGeom>
          <a:solidFill>
            <a:srgbClr val="FFFFFF"/>
          </a:solidFill>
          <a:ln w="9525">
            <a:solidFill>
              <a:srgbClr val="E7E5E4"/>
            </a:solidFill>
            <a:prstDash val="solid"/>
          </a:ln>
        </p:spPr>
      </p:sp>
      <p:sp>
        <p:nvSpPr>
          <p:cNvPr id="30" name="Text 24"/>
          <p:cNvSpPr/>
          <p:nvPr/>
        </p:nvSpPr>
        <p:spPr>
          <a:xfrm>
            <a:off x="9180576"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04</a:t>
            </a:r>
            <a:endParaRPr lang="en-US" sz="1300" dirty="0"/>
          </a:p>
        </p:txBody>
      </p:sp>
      <p:pic>
        <p:nvPicPr>
          <p:cNvPr id="31" name="Image 3" descr="/Users/anthony/Documents/Projects/NewBit/curso/semana-06-producto-unidad-1/nuestras-entregas/PPT_Producto_Unidad_1_NewBit/img/iconos/alerta-ink.png">    </p:cNvPr>
          <p:cNvPicPr>
            <a:picLocks noChangeAspect="1"/>
          </p:cNvPicPr>
          <p:nvPr/>
        </p:nvPicPr>
        <p:blipFill>
          <a:blip r:embed="rId4"/>
          <a:stretch>
            <a:fillRect/>
          </a:stretch>
        </p:blipFill>
        <p:spPr>
          <a:xfrm>
            <a:off x="10735056" y="2057400"/>
            <a:ext cx="411480" cy="411480"/>
          </a:xfrm>
          <a:prstGeom prst="rect">
            <a:avLst/>
          </a:prstGeom>
        </p:spPr>
      </p:pic>
      <p:sp>
        <p:nvSpPr>
          <p:cNvPr id="32" name="Text 25"/>
          <p:cNvSpPr/>
          <p:nvPr/>
        </p:nvSpPr>
        <p:spPr>
          <a:xfrm>
            <a:off x="9180576"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Te avisa con la prueba</a:t>
            </a:r>
            <a:endParaRPr lang="en-US" sz="1900" dirty="0"/>
          </a:p>
        </p:txBody>
      </p:sp>
      <p:sp>
        <p:nvSpPr>
          <p:cNvPr id="33" name="Text 26"/>
          <p:cNvSpPr/>
          <p:nvPr/>
        </p:nvSpPr>
        <p:spPr>
          <a:xfrm>
            <a:off x="9180576"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Si la conducta es insegura, alerta y te muestra el clip. La decisión es tuya.</a:t>
            </a:r>
            <a:endParaRPr lang="en-US" sz="1400" dirty="0"/>
          </a:p>
        </p:txBody>
      </p:sp>
      <p:sp>
        <p:nvSpPr>
          <p:cNvPr id="34" name="Text 27"/>
          <p:cNvSpPr/>
          <p:nvPr/>
        </p:nvSpPr>
        <p:spPr>
          <a:xfrm>
            <a:off x="9180576"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alerta y registro</a:t>
            </a:r>
            <a:endParaRPr lang="en-US" sz="1100" dirty="0"/>
          </a:p>
        </p:txBody>
      </p:sp>
      <p:sp>
        <p:nvSpPr>
          <p:cNvPr id="35" name="Text 28"/>
          <p:cNvSpPr/>
          <p:nvPr/>
        </p:nvSpPr>
        <p:spPr>
          <a:xfrm>
            <a:off x="731520" y="5303520"/>
            <a:ext cx="10515600" cy="457200"/>
          </a:xfrm>
          <a:prstGeom prst="rect">
            <a:avLst/>
          </a:prstGeom>
          <a:noFill/>
          <a:ln/>
        </p:spPr>
        <p:txBody>
          <a:bodyPr wrap="square" lIns="0" tIns="0" rIns="0" bIns="0" rtlCol="0" anchor="t"/>
          <a:lstStyle/>
          <a:p>
            <a:pPr indent="0" marL="0">
              <a:buNone/>
            </a:pPr>
            <a:r>
              <a:rPr lang="en-US" sz="2200" dirty="0">
                <a:solidFill>
                  <a:srgbClr val="57534E"/>
                </a:solidFill>
                <a:latin typeface="Calibri Light" pitchFamily="34" charset="0"/>
                <a:ea typeface="Calibri Light" pitchFamily="34" charset="-122"/>
                <a:cs typeface="Calibri Light" pitchFamily="34" charset="-120"/>
              </a:rPr>
              <a:t>Es como un asistente que ve </a:t>
            </a:r>
            <a:pPr indent="0" marL="0">
              <a:buNone/>
            </a:pPr>
            <a:r>
              <a:rPr lang="en-US" sz="2200" b="1" dirty="0">
                <a:solidFill>
                  <a:srgbClr val="57534E"/>
                </a:solidFill>
                <a:latin typeface="Calibri Light" pitchFamily="34" charset="0"/>
                <a:ea typeface="Calibri Light" pitchFamily="34" charset="-122"/>
                <a:cs typeface="Calibri Light" pitchFamily="34" charset="-120"/>
              </a:rPr>
              <a:t>todo</a:t>
            </a:r>
            <a:pPr indent="0" marL="0">
              <a:buNone/>
            </a:pPr>
            <a:r>
              <a:rPr lang="en-US" sz="2200" dirty="0">
                <a:solidFill>
                  <a:srgbClr val="57534E"/>
                </a:solidFill>
                <a:latin typeface="Calibri Light" pitchFamily="34" charset="0"/>
                <a:ea typeface="Calibri Light" pitchFamily="34" charset="-122"/>
                <a:cs typeface="Calibri Light" pitchFamily="34" charset="-120"/>
              </a:rPr>
              <a:t> el video y solo te llama cuando algo merece tu atención.</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PRIMERA VERSIÓN</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detecta, por ahora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07</a:t>
            </a:r>
            <a:endParaRPr lang="en-US" sz="1000" dirty="0"/>
          </a:p>
        </p:txBody>
      </p:sp>
      <p:sp>
        <p:nvSpPr>
          <p:cNvPr id="8" name="Text 5"/>
          <p:cNvSpPr/>
          <p:nvPr/>
        </p:nvSpPr>
        <p:spPr>
          <a:xfrm>
            <a:off x="1828800" y="1828800"/>
            <a:ext cx="4572000" cy="274320"/>
          </a:xfrm>
          <a:prstGeom prst="rect">
            <a:avLst/>
          </a:prstGeom>
          <a:noFill/>
          <a:ln/>
        </p:spPr>
        <p:txBody>
          <a:bodyPr wrap="square" lIns="0" tIns="0" rIns="0" bIns="0" rtlCol="0" anchor="t"/>
          <a:lstStyle/>
          <a:p>
            <a:pPr indent="0" marL="0">
              <a:buNone/>
            </a:pPr>
            <a:r>
              <a:rPr lang="en-US" sz="1100" b="1" spc="100" kern="0" dirty="0">
                <a:solidFill>
                  <a:srgbClr val="C2410C"/>
                </a:solidFill>
                <a:latin typeface="Calibri" pitchFamily="34" charset="0"/>
                <a:ea typeface="Calibri" pitchFamily="34" charset="-122"/>
                <a:cs typeface="Calibri" pitchFamily="34" charset="-120"/>
              </a:rPr>
              <a:t>CONDUCTA INSEGURA · ALERTA</a:t>
            </a:r>
            <a:endParaRPr lang="en-US" sz="1100" dirty="0"/>
          </a:p>
        </p:txBody>
      </p:sp>
      <p:sp>
        <p:nvSpPr>
          <p:cNvPr id="9" name="Text 6"/>
          <p:cNvSpPr/>
          <p:nvPr/>
        </p:nvSpPr>
        <p:spPr>
          <a:xfrm>
            <a:off x="6720840" y="1828800"/>
            <a:ext cx="4572000" cy="274320"/>
          </a:xfrm>
          <a:prstGeom prst="rect">
            <a:avLst/>
          </a:prstGeom>
          <a:noFill/>
          <a:ln/>
        </p:spPr>
        <p:txBody>
          <a:bodyPr wrap="square" lIns="0" tIns="0" rIns="0" bIns="0" rtlCol="0" anchor="t"/>
          <a:lstStyle/>
          <a:p>
            <a:pPr indent="0" marL="0">
              <a:buNone/>
            </a:pPr>
            <a:r>
              <a:rPr lang="en-US" sz="1100" b="1" spc="100" kern="0" dirty="0">
                <a:solidFill>
                  <a:srgbClr val="2F855A"/>
                </a:solidFill>
                <a:latin typeface="Calibri" pitchFamily="34" charset="0"/>
                <a:ea typeface="Calibri" pitchFamily="34" charset="-122"/>
                <a:cs typeface="Calibri" pitchFamily="34" charset="-120"/>
              </a:rPr>
              <a:t>CASO SEGURO · CONTRASTE</a:t>
            </a:r>
            <a:endParaRPr lang="en-US" sz="1100" dirty="0"/>
          </a:p>
        </p:txBody>
      </p:sp>
      <p:pic>
        <p:nvPicPr>
          <p:cNvPr id="10" name="Image 0" descr="/Users/anthony/Documents/Projects/NewBit/curso/semana-06-producto-unidad-1/nuestras-entregas/PPT_Producto_Unidad_1_NewBit/img/iconos/via-ink.png">    </p:cNvPr>
          <p:cNvPicPr>
            <a:picLocks noChangeAspect="1"/>
          </p:cNvPicPr>
          <p:nvPr/>
        </p:nvPicPr>
        <p:blipFill>
          <a:blip r:embed="rId1"/>
          <a:stretch>
            <a:fillRect/>
          </a:stretch>
        </p:blipFill>
        <p:spPr>
          <a:xfrm>
            <a:off x="731520" y="2560320"/>
            <a:ext cx="548640" cy="548640"/>
          </a:xfrm>
          <a:prstGeom prst="rect">
            <a:avLst/>
          </a:prstGeom>
        </p:spPr>
      </p:pic>
      <p:sp>
        <p:nvSpPr>
          <p:cNvPr id="11" name="Shape 7"/>
          <p:cNvSpPr/>
          <p:nvPr/>
        </p:nvSpPr>
        <p:spPr>
          <a:xfrm>
            <a:off x="1828800" y="2240280"/>
            <a:ext cx="4663440" cy="1234440"/>
          </a:xfrm>
          <a:prstGeom prst="roundRect">
            <a:avLst>
              <a:gd name="adj" fmla="val 5926"/>
            </a:avLst>
          </a:prstGeom>
          <a:solidFill>
            <a:srgbClr val="FFF4ED"/>
          </a:solidFill>
          <a:ln w="9525">
            <a:solidFill>
              <a:srgbClr val="F5D0BD"/>
            </a:solidFill>
            <a:prstDash val="solid"/>
          </a:ln>
        </p:spPr>
      </p:sp>
      <p:pic>
        <p:nvPicPr>
          <p:cNvPr id="12" name="Image 1" descr="/Users/anthony/Documents/Projects/NewBit/curso/semana-06-producto-unidad-1/nuestras-entregas/PPT_Producto_Unidad_1_NewBit/img/iconos/riesgo-ambar.png">    </p:cNvPr>
          <p:cNvPicPr>
            <a:picLocks noChangeAspect="1"/>
          </p:cNvPicPr>
          <p:nvPr/>
        </p:nvPicPr>
        <p:blipFill>
          <a:blip r:embed="rId2"/>
          <a:stretch>
            <a:fillRect/>
          </a:stretch>
        </p:blipFill>
        <p:spPr>
          <a:xfrm>
            <a:off x="2103120" y="2651760"/>
            <a:ext cx="384048" cy="384048"/>
          </a:xfrm>
          <a:prstGeom prst="rect">
            <a:avLst/>
          </a:prstGeom>
        </p:spPr>
      </p:pic>
      <p:sp>
        <p:nvSpPr>
          <p:cNvPr id="13" name="Text 8"/>
          <p:cNvSpPr/>
          <p:nvPr/>
        </p:nvSpPr>
        <p:spPr>
          <a:xfrm>
            <a:off x="2697480" y="265176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Caminar fuera de la vía peatonal</a:t>
            </a:r>
            <a:endParaRPr lang="en-US" sz="1800" dirty="0"/>
          </a:p>
        </p:txBody>
      </p:sp>
      <p:sp>
        <p:nvSpPr>
          <p:cNvPr id="14" name="Shape 9"/>
          <p:cNvSpPr/>
          <p:nvPr/>
        </p:nvSpPr>
        <p:spPr>
          <a:xfrm>
            <a:off x="6720840" y="2240280"/>
            <a:ext cx="4663440" cy="1234440"/>
          </a:xfrm>
          <a:prstGeom prst="roundRect">
            <a:avLst>
              <a:gd name="adj" fmla="val 5926"/>
            </a:avLst>
          </a:prstGeom>
          <a:solidFill>
            <a:srgbClr val="EEF8F2"/>
          </a:solidFill>
          <a:ln w="9525">
            <a:solidFill>
              <a:srgbClr val="C7E6D4"/>
            </a:solidFill>
            <a:prstDash val="solid"/>
          </a:ln>
        </p:spPr>
      </p:sp>
      <p:pic>
        <p:nvPicPr>
          <p:cNvPr id="15" name="Image 2" descr="/Users/anthony/Documents/Projects/NewBit/curso/semana-06-producto-unidad-1/nuestras-entregas/PPT_Producto_Unidad_1_NewBit/img/iconos/seguro-verde.png">    </p:cNvPr>
          <p:cNvPicPr>
            <a:picLocks noChangeAspect="1"/>
          </p:cNvPicPr>
          <p:nvPr/>
        </p:nvPicPr>
        <p:blipFill>
          <a:blip r:embed="rId3"/>
          <a:stretch>
            <a:fillRect/>
          </a:stretch>
        </p:blipFill>
        <p:spPr>
          <a:xfrm>
            <a:off x="6995160" y="2651760"/>
            <a:ext cx="384048" cy="384048"/>
          </a:xfrm>
          <a:prstGeom prst="rect">
            <a:avLst/>
          </a:prstGeom>
        </p:spPr>
      </p:pic>
      <p:sp>
        <p:nvSpPr>
          <p:cNvPr id="16" name="Text 10"/>
          <p:cNvSpPr/>
          <p:nvPr/>
        </p:nvSpPr>
        <p:spPr>
          <a:xfrm>
            <a:off x="7589520" y="265176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Caminar por la vía peatonal</a:t>
            </a:r>
            <a:endParaRPr lang="en-US" sz="1800" dirty="0"/>
          </a:p>
        </p:txBody>
      </p:sp>
      <p:pic>
        <p:nvPicPr>
          <p:cNvPr id="17" name="Image 3" descr="/Users/anthony/Documents/Projects/NewBit/curso/semana-06-producto-unidad-1/nuestras-entregas/PPT_Producto_Unidad_1_NewBit/img/iconos/tablero-ink.png">    </p:cNvPr>
          <p:cNvPicPr>
            <a:picLocks noChangeAspect="1"/>
          </p:cNvPicPr>
          <p:nvPr/>
        </p:nvPicPr>
        <p:blipFill>
          <a:blip r:embed="rId4"/>
          <a:stretch>
            <a:fillRect/>
          </a:stretch>
        </p:blipFill>
        <p:spPr>
          <a:xfrm>
            <a:off x="731520" y="4069080"/>
            <a:ext cx="548640" cy="548640"/>
          </a:xfrm>
          <a:prstGeom prst="rect">
            <a:avLst/>
          </a:prstGeom>
        </p:spPr>
      </p:pic>
      <p:sp>
        <p:nvSpPr>
          <p:cNvPr id="18" name="Shape 11"/>
          <p:cNvSpPr/>
          <p:nvPr/>
        </p:nvSpPr>
        <p:spPr>
          <a:xfrm>
            <a:off x="1828800" y="3749040"/>
            <a:ext cx="4663440" cy="1234440"/>
          </a:xfrm>
          <a:prstGeom prst="roundRect">
            <a:avLst>
              <a:gd name="adj" fmla="val 5926"/>
            </a:avLst>
          </a:prstGeom>
          <a:solidFill>
            <a:srgbClr val="FFF4ED"/>
          </a:solidFill>
          <a:ln w="9525">
            <a:solidFill>
              <a:srgbClr val="F5D0BD"/>
            </a:solidFill>
            <a:prstDash val="solid"/>
          </a:ln>
        </p:spPr>
      </p:sp>
      <p:pic>
        <p:nvPicPr>
          <p:cNvPr id="19" name="Image 4" descr="/Users/anthony/Documents/Projects/NewBit/curso/semana-06-producto-unidad-1/nuestras-entregas/PPT_Producto_Unidad_1_NewBit/img/iconos/riesgo-ambar.png">    </p:cNvPr>
          <p:cNvPicPr>
            <a:picLocks noChangeAspect="1"/>
          </p:cNvPicPr>
          <p:nvPr/>
        </p:nvPicPr>
        <p:blipFill>
          <a:blip r:embed="rId5"/>
          <a:stretch>
            <a:fillRect/>
          </a:stretch>
        </p:blipFill>
        <p:spPr>
          <a:xfrm>
            <a:off x="2103120" y="4160520"/>
            <a:ext cx="384048" cy="384048"/>
          </a:xfrm>
          <a:prstGeom prst="rect">
            <a:avLst/>
          </a:prstGeom>
        </p:spPr>
      </p:pic>
      <p:sp>
        <p:nvSpPr>
          <p:cNvPr id="20" name="Text 12"/>
          <p:cNvSpPr/>
          <p:nvPr/>
        </p:nvSpPr>
        <p:spPr>
          <a:xfrm>
            <a:off x="2697480" y="416052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Dejar abierto el tablero eléctrico</a:t>
            </a:r>
            <a:endParaRPr lang="en-US" sz="1800" dirty="0"/>
          </a:p>
        </p:txBody>
      </p:sp>
      <p:sp>
        <p:nvSpPr>
          <p:cNvPr id="21" name="Shape 13"/>
          <p:cNvSpPr/>
          <p:nvPr/>
        </p:nvSpPr>
        <p:spPr>
          <a:xfrm>
            <a:off x="6720840" y="3749040"/>
            <a:ext cx="4663440" cy="1234440"/>
          </a:xfrm>
          <a:prstGeom prst="roundRect">
            <a:avLst>
              <a:gd name="adj" fmla="val 5926"/>
            </a:avLst>
          </a:prstGeom>
          <a:solidFill>
            <a:srgbClr val="EEF8F2"/>
          </a:solidFill>
          <a:ln w="9525">
            <a:solidFill>
              <a:srgbClr val="C7E6D4"/>
            </a:solidFill>
            <a:prstDash val="solid"/>
          </a:ln>
        </p:spPr>
      </p:sp>
      <p:pic>
        <p:nvPicPr>
          <p:cNvPr id="22" name="Image 5" descr="/Users/anthony/Documents/Projects/NewBit/curso/semana-06-producto-unidad-1/nuestras-entregas/PPT_Producto_Unidad_1_NewBit/img/iconos/seguro-verde.png">    </p:cNvPr>
          <p:cNvPicPr>
            <a:picLocks noChangeAspect="1"/>
          </p:cNvPicPr>
          <p:nvPr/>
        </p:nvPicPr>
        <p:blipFill>
          <a:blip r:embed="rId6"/>
          <a:stretch>
            <a:fillRect/>
          </a:stretch>
        </p:blipFill>
        <p:spPr>
          <a:xfrm>
            <a:off x="6995160" y="4160520"/>
            <a:ext cx="384048" cy="384048"/>
          </a:xfrm>
          <a:prstGeom prst="rect">
            <a:avLst/>
          </a:prstGeom>
        </p:spPr>
      </p:pic>
      <p:sp>
        <p:nvSpPr>
          <p:cNvPr id="23" name="Text 14"/>
          <p:cNvSpPr/>
          <p:nvPr/>
        </p:nvSpPr>
        <p:spPr>
          <a:xfrm>
            <a:off x="7589520" y="416052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Cerrar el tablero tras la intervención</a:t>
            </a:r>
            <a:endParaRPr lang="en-US" sz="1800" dirty="0"/>
          </a:p>
        </p:txBody>
      </p:sp>
      <p:sp>
        <p:nvSpPr>
          <p:cNvPr id="24" name="Text 1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Conductas «Safe Walkway Violation» y «Opened Panel Cover» del conjunto de datos público de Önal y Dandıl (2024), licencia CC BY 4.0.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EVIDENCIA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¿Por qué creemos que funciona?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08</a:t>
            </a:r>
            <a:endParaRPr lang="en-US" sz="1000" dirty="0"/>
          </a:p>
        </p:txBody>
      </p:sp>
      <p:sp>
        <p:nvSpPr>
          <p:cNvPr id="8" name="Text 5"/>
          <p:cNvSpPr/>
          <p:nvPr/>
        </p:nvSpPr>
        <p:spPr>
          <a:xfrm>
            <a:off x="731520" y="1783080"/>
            <a:ext cx="5486400" cy="1280160"/>
          </a:xfrm>
          <a:prstGeom prst="rect">
            <a:avLst/>
          </a:prstGeom>
          <a:noFill/>
          <a:ln/>
        </p:spPr>
        <p:txBody>
          <a:bodyPr wrap="square" lIns="0" tIns="0" rIns="0" bIns="0" rtlCol="0" anchor="t"/>
          <a:lstStyle/>
          <a:p>
            <a:pPr indent="0" marL="0">
              <a:buNone/>
            </a:pPr>
            <a:r>
              <a:rPr lang="en-US" sz="9600" dirty="0">
                <a:solidFill>
                  <a:srgbClr val="1A1A1A"/>
                </a:solidFill>
                <a:latin typeface="Calibri Light" pitchFamily="34" charset="0"/>
                <a:ea typeface="Calibri Light" pitchFamily="34" charset="-122"/>
                <a:cs typeface="Calibri Light" pitchFamily="34" charset="-120"/>
              </a:rPr>
              <a:t>95.81 %</a:t>
            </a:r>
            <a:endParaRPr lang="en-US" sz="9600" dirty="0"/>
          </a:p>
        </p:txBody>
      </p:sp>
      <p:sp>
        <p:nvSpPr>
          <p:cNvPr id="9" name="Text 6"/>
          <p:cNvSpPr/>
          <p:nvPr/>
        </p:nvSpPr>
        <p:spPr>
          <a:xfrm>
            <a:off x="731520" y="3154680"/>
            <a:ext cx="5120640" cy="82296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exactitud promedio por clase de Unsafe-Net en su conjunto de datos (Önal y Dandıl, 2025).</a:t>
            </a:r>
            <a:endParaRPr lang="en-US" sz="1600" dirty="0"/>
          </a:p>
        </p:txBody>
      </p:sp>
      <p:pic>
        <p:nvPicPr>
          <p:cNvPr id="10" name="Image 0" descr="/Users/anthony/Documents/Projects/NewBit/curso/semana-06-producto-unidad-1/nuestras-entregas/PPT_Producto_Unidad_1_NewBit/img/iconos/reloj-ink.png">    </p:cNvPr>
          <p:cNvPicPr>
            <a:picLocks noChangeAspect="1"/>
          </p:cNvPicPr>
          <p:nvPr/>
        </p:nvPicPr>
        <p:blipFill>
          <a:blip r:embed="rId1"/>
          <a:stretch>
            <a:fillRect/>
          </a:stretch>
        </p:blipFill>
        <p:spPr>
          <a:xfrm>
            <a:off x="6675120" y="1874520"/>
            <a:ext cx="411480" cy="411480"/>
          </a:xfrm>
          <a:prstGeom prst="rect">
            <a:avLst/>
          </a:prstGeom>
        </p:spPr>
      </p:pic>
      <p:sp>
        <p:nvSpPr>
          <p:cNvPr id="11" name="Text 7"/>
          <p:cNvSpPr/>
          <p:nvPr/>
        </p:nvSpPr>
        <p:spPr>
          <a:xfrm>
            <a:off x="7315200" y="182880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39 días de video</a:t>
            </a:r>
            <a:endParaRPr lang="en-US" sz="1800" dirty="0"/>
          </a:p>
        </p:txBody>
      </p:sp>
      <p:sp>
        <p:nvSpPr>
          <p:cNvPr id="12" name="Text 8"/>
          <p:cNvSpPr/>
          <p:nvPr/>
        </p:nvSpPr>
        <p:spPr>
          <a:xfrm>
            <a:off x="7315200" y="221284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grabados en una fábrica real, con dos cámaras.</a:t>
            </a:r>
            <a:endParaRPr lang="en-US" sz="1400" dirty="0"/>
          </a:p>
        </p:txBody>
      </p:sp>
      <p:pic>
        <p:nvPicPr>
          <p:cNvPr id="13" name="Image 1" descr="/Users/anthony/Documents/Projects/NewBit/curso/semana-06-producto-unidad-1/nuestras-entregas/PPT_Producto_Unidad_1_NewBit/img/iconos/libro-ink.png">    </p:cNvPr>
          <p:cNvPicPr>
            <a:picLocks noChangeAspect="1"/>
          </p:cNvPicPr>
          <p:nvPr/>
        </p:nvPicPr>
        <p:blipFill>
          <a:blip r:embed="rId2"/>
          <a:stretch>
            <a:fillRect/>
          </a:stretch>
        </p:blipFill>
        <p:spPr>
          <a:xfrm>
            <a:off x="6675120" y="3063240"/>
            <a:ext cx="411480" cy="411480"/>
          </a:xfrm>
          <a:prstGeom prst="rect">
            <a:avLst/>
          </a:prstGeom>
        </p:spPr>
      </p:pic>
      <p:sp>
        <p:nvSpPr>
          <p:cNvPr id="14" name="Text 9"/>
          <p:cNvSpPr/>
          <p:nvPr/>
        </p:nvSpPr>
        <p:spPr>
          <a:xfrm>
            <a:off x="7315200" y="301752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Datos públicos</a:t>
            </a:r>
            <a:endParaRPr lang="en-US" sz="1800" dirty="0"/>
          </a:p>
        </p:txBody>
      </p:sp>
      <p:sp>
        <p:nvSpPr>
          <p:cNvPr id="15" name="Text 10"/>
          <p:cNvSpPr/>
          <p:nvPr/>
        </p:nvSpPr>
        <p:spPr>
          <a:xfrm>
            <a:off x="7315200" y="340156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el mismo conjunto de datos que NewBit reutiliza, con licencia CC BY 4.0.</a:t>
            </a:r>
            <a:endParaRPr lang="en-US" sz="1400" dirty="0"/>
          </a:p>
        </p:txBody>
      </p:sp>
      <p:pic>
        <p:nvPicPr>
          <p:cNvPr id="16" name="Image 2" descr="/Users/anthony/Documents/Projects/NewBit/curso/semana-06-producto-unidad-1/nuestras-entregas/PPT_Producto_Unidad_1_NewBit/img/iconos/capas-ink.png">    </p:cNvPr>
          <p:cNvPicPr>
            <a:picLocks noChangeAspect="1"/>
          </p:cNvPicPr>
          <p:nvPr/>
        </p:nvPicPr>
        <p:blipFill>
          <a:blip r:embed="rId3"/>
          <a:stretch>
            <a:fillRect/>
          </a:stretch>
        </p:blipFill>
        <p:spPr>
          <a:xfrm>
            <a:off x="6675120" y="4251960"/>
            <a:ext cx="411480" cy="411480"/>
          </a:xfrm>
          <a:prstGeom prst="rect">
            <a:avLst/>
          </a:prstGeom>
        </p:spPr>
      </p:pic>
      <p:sp>
        <p:nvSpPr>
          <p:cNvPr id="17" name="Text 11"/>
          <p:cNvSpPr/>
          <p:nvPr/>
        </p:nvSpPr>
        <p:spPr>
          <a:xfrm>
            <a:off x="7315200" y="420624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De objetos a conductas</a:t>
            </a:r>
            <a:endParaRPr lang="en-US" sz="1800" dirty="0"/>
          </a:p>
        </p:txBody>
      </p:sp>
      <p:sp>
        <p:nvSpPr>
          <p:cNvPr id="18" name="Text 12"/>
          <p:cNvSpPr/>
          <p:nvPr/>
        </p:nvSpPr>
        <p:spPr>
          <a:xfrm>
            <a:off x="7315200" y="459028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en el Perú ya se detecta EPP en imágenes (PUCP, UCV, UPN); NewBit reconoce acciones en video.</a:t>
            </a:r>
            <a:endParaRPr lang="en-US" sz="1400" dirty="0"/>
          </a:p>
        </p:txBody>
      </p:sp>
      <p:sp>
        <p:nvSpPr>
          <p:cNvPr id="19" name="Text 13"/>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Cifras reportadas por los autores en su propio estudio; no son una promesa para NewBit. Las metas propias se fijarán con la línea base del Sprint 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BENEFICIO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gana cada uno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09</a:t>
            </a:r>
            <a:endParaRPr lang="en-US" sz="1000" dirty="0"/>
          </a:p>
        </p:txBody>
      </p:sp>
      <p:sp>
        <p:nvSpPr>
          <p:cNvPr id="8" name="Shape 5"/>
          <p:cNvSpPr/>
          <p:nvPr/>
        </p:nvSpPr>
        <p:spPr>
          <a:xfrm>
            <a:off x="731520" y="1828800"/>
            <a:ext cx="5212080" cy="1645920"/>
          </a:xfrm>
          <a:prstGeom prst="roundRect">
            <a:avLst>
              <a:gd name="adj" fmla="val 4444"/>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reloj-azul.png">    </p:cNvPr>
          <p:cNvPicPr>
            <a:picLocks noChangeAspect="1"/>
          </p:cNvPicPr>
          <p:nvPr/>
        </p:nvPicPr>
        <p:blipFill>
          <a:blip r:embed="rId1"/>
          <a:stretch>
            <a:fillRect/>
          </a:stretch>
        </p:blipFill>
        <p:spPr>
          <a:xfrm>
            <a:off x="1051560" y="2194560"/>
            <a:ext cx="457200" cy="457200"/>
          </a:xfrm>
          <a:prstGeom prst="rect">
            <a:avLst/>
          </a:prstGeom>
        </p:spPr>
      </p:pic>
      <p:sp>
        <p:nvSpPr>
          <p:cNvPr id="10" name="Text 6"/>
          <p:cNvSpPr/>
          <p:nvPr/>
        </p:nvSpPr>
        <p:spPr>
          <a:xfrm>
            <a:off x="1783080" y="214884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Supervisora de SST</a:t>
            </a:r>
            <a:endParaRPr lang="en-US" sz="1900" dirty="0"/>
          </a:p>
        </p:txBody>
      </p:sp>
      <p:sp>
        <p:nvSpPr>
          <p:cNvPr id="11" name="Text 7"/>
          <p:cNvSpPr/>
          <p:nvPr/>
        </p:nvSpPr>
        <p:spPr>
          <a:xfrm>
            <a:off x="1783080" y="256032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Menos horas mirando video. La evidencia llega lista para actuar.</a:t>
            </a:r>
            <a:endParaRPr lang="en-US" sz="1500" dirty="0"/>
          </a:p>
        </p:txBody>
      </p:sp>
      <p:sp>
        <p:nvSpPr>
          <p:cNvPr id="12" name="Shape 8"/>
          <p:cNvSpPr/>
          <p:nvPr/>
        </p:nvSpPr>
        <p:spPr>
          <a:xfrm>
            <a:off x="6172200" y="1828800"/>
            <a:ext cx="5212080" cy="1645920"/>
          </a:xfrm>
          <a:prstGeom prst="roundRect">
            <a:avLst>
              <a:gd name="adj" fmla="val 4444"/>
            </a:avLst>
          </a:prstGeom>
          <a:solidFill>
            <a:srgbClr val="FFFFFF"/>
          </a:solidFill>
          <a:ln w="9525">
            <a:solidFill>
              <a:srgbClr val="E7E5E4"/>
            </a:solidFill>
            <a:prstDash val="solid"/>
          </a:ln>
        </p:spPr>
      </p:sp>
      <p:pic>
        <p:nvPicPr>
          <p:cNvPr id="13" name="Image 1" descr="/Users/anthony/Documents/Projects/NewBit/curso/semana-06-producto-unidad-1/nuestras-entregas/PPT_Producto_Unidad_1_NewBit/img/iconos/alerta-azul.png">    </p:cNvPr>
          <p:cNvPicPr>
            <a:picLocks noChangeAspect="1"/>
          </p:cNvPicPr>
          <p:nvPr/>
        </p:nvPicPr>
        <p:blipFill>
          <a:blip r:embed="rId2"/>
          <a:stretch>
            <a:fillRect/>
          </a:stretch>
        </p:blipFill>
        <p:spPr>
          <a:xfrm>
            <a:off x="6492240" y="2194560"/>
            <a:ext cx="457200" cy="457200"/>
          </a:xfrm>
          <a:prstGeom prst="rect">
            <a:avLst/>
          </a:prstGeom>
        </p:spPr>
      </p:pic>
      <p:sp>
        <p:nvSpPr>
          <p:cNvPr id="14" name="Text 9"/>
          <p:cNvSpPr/>
          <p:nvPr/>
        </p:nvSpPr>
        <p:spPr>
          <a:xfrm>
            <a:off x="7223760" y="214884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Operadora de monitoreo</a:t>
            </a:r>
            <a:endParaRPr lang="en-US" sz="1900" dirty="0"/>
          </a:p>
        </p:txBody>
      </p:sp>
      <p:sp>
        <p:nvSpPr>
          <p:cNvPr id="15" name="Text 10"/>
          <p:cNvSpPr/>
          <p:nvPr/>
        </p:nvSpPr>
        <p:spPr>
          <a:xfrm>
            <a:off x="7223760" y="256032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Ve solo lo importante y confirma o descarta en un clic.</a:t>
            </a:r>
            <a:endParaRPr lang="en-US" sz="1500" dirty="0"/>
          </a:p>
        </p:txBody>
      </p:sp>
      <p:sp>
        <p:nvSpPr>
          <p:cNvPr id="16" name="Shape 11"/>
          <p:cNvSpPr/>
          <p:nvPr/>
        </p:nvSpPr>
        <p:spPr>
          <a:xfrm>
            <a:off x="731520" y="3703320"/>
            <a:ext cx="5212080" cy="1645920"/>
          </a:xfrm>
          <a:prstGeom prst="roundRect">
            <a:avLst>
              <a:gd name="adj" fmla="val 4444"/>
            </a:avLst>
          </a:prstGeom>
          <a:solidFill>
            <a:srgbClr val="FFFFFF"/>
          </a:solidFill>
          <a:ln w="9525">
            <a:solidFill>
              <a:srgbClr val="E7E5E4"/>
            </a:solidFill>
            <a:prstDash val="solid"/>
          </a:ln>
        </p:spPr>
      </p:sp>
      <p:pic>
        <p:nvPicPr>
          <p:cNvPr id="17" name="Image 2" descr="/Users/anthony/Documents/Projects/NewBit/curso/semana-06-producto-unidad-1/nuestras-entregas/PPT_Producto_Unidad_1_NewBit/img/iconos/grafico-azul.png">    </p:cNvPr>
          <p:cNvPicPr>
            <a:picLocks noChangeAspect="1"/>
          </p:cNvPicPr>
          <p:nvPr/>
        </p:nvPicPr>
        <p:blipFill>
          <a:blip r:embed="rId3"/>
          <a:stretch>
            <a:fillRect/>
          </a:stretch>
        </p:blipFill>
        <p:spPr>
          <a:xfrm>
            <a:off x="1051560" y="4069080"/>
            <a:ext cx="457200" cy="457200"/>
          </a:xfrm>
          <a:prstGeom prst="rect">
            <a:avLst/>
          </a:prstGeom>
        </p:spPr>
      </p:pic>
      <p:sp>
        <p:nvSpPr>
          <p:cNvPr id="18" name="Text 12"/>
          <p:cNvSpPr/>
          <p:nvPr/>
        </p:nvSpPr>
        <p:spPr>
          <a:xfrm>
            <a:off x="1783080" y="402336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Gerencia</a:t>
            </a:r>
            <a:endParaRPr lang="en-US" sz="1900" dirty="0"/>
          </a:p>
        </p:txBody>
      </p:sp>
      <p:sp>
        <p:nvSpPr>
          <p:cNvPr id="19" name="Text 13"/>
          <p:cNvSpPr/>
          <p:nvPr/>
        </p:nvSpPr>
        <p:spPr>
          <a:xfrm>
            <a:off x="1783080" y="443484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Reportes por tipo de conducta, zona y semana para decidir dónde invertir.</a:t>
            </a:r>
            <a:endParaRPr lang="en-US" sz="1500" dirty="0"/>
          </a:p>
        </p:txBody>
      </p:sp>
      <p:sp>
        <p:nvSpPr>
          <p:cNvPr id="20" name="Shape 14"/>
          <p:cNvSpPr/>
          <p:nvPr/>
        </p:nvSpPr>
        <p:spPr>
          <a:xfrm>
            <a:off x="6172200" y="3703320"/>
            <a:ext cx="5212080" cy="1645920"/>
          </a:xfrm>
          <a:prstGeom prst="roundRect">
            <a:avLst>
              <a:gd name="adj" fmla="val 4444"/>
            </a:avLst>
          </a:prstGeom>
          <a:solidFill>
            <a:srgbClr val="FFFFFF"/>
          </a:solidFill>
          <a:ln w="9525">
            <a:solidFill>
              <a:srgbClr val="E7E5E4"/>
            </a:solidFill>
            <a:prstDash val="solid"/>
          </a:ln>
        </p:spPr>
      </p:sp>
      <p:pic>
        <p:nvPicPr>
          <p:cNvPr id="21" name="Image 3" descr="/Users/anthony/Documents/Projects/NewBit/curso/semana-06-producto-unidad-1/nuestras-entregas/PPT_Producto_Unidad_1_NewBit/img/iconos/escudo-azul.png">    </p:cNvPr>
          <p:cNvPicPr>
            <a:picLocks noChangeAspect="1"/>
          </p:cNvPicPr>
          <p:nvPr/>
        </p:nvPicPr>
        <p:blipFill>
          <a:blip r:embed="rId4"/>
          <a:stretch>
            <a:fillRect/>
          </a:stretch>
        </p:blipFill>
        <p:spPr>
          <a:xfrm>
            <a:off x="6492240" y="4069080"/>
            <a:ext cx="457200" cy="457200"/>
          </a:xfrm>
          <a:prstGeom prst="rect">
            <a:avLst/>
          </a:prstGeom>
        </p:spPr>
      </p:pic>
      <p:sp>
        <p:nvSpPr>
          <p:cNvPr id="22" name="Text 15"/>
          <p:cNvSpPr/>
          <p:nvPr/>
        </p:nvSpPr>
        <p:spPr>
          <a:xfrm>
            <a:off x="7223760" y="402336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Trabajadores</a:t>
            </a:r>
            <a:endParaRPr lang="en-US" sz="1900" dirty="0"/>
          </a:p>
        </p:txBody>
      </p:sp>
      <p:sp>
        <p:nvSpPr>
          <p:cNvPr id="23" name="Text 16"/>
          <p:cNvSpPr/>
          <p:nvPr/>
        </p:nvSpPr>
        <p:spPr>
          <a:xfrm>
            <a:off x="7223760" y="443484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Prevención sin vigilancia: nadie es identificado por su rostro.</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LÍMITES CLAROS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Lo que NewBit no hace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10</a:t>
            </a:r>
            <a:endParaRPr lang="en-US" sz="1000" dirty="0"/>
          </a:p>
        </p:txBody>
      </p:sp>
      <p:pic>
        <p:nvPicPr>
          <p:cNvPr id="8" name="Image 0" descr="/Users/anthony/Documents/Projects/NewBit/curso/semana-06-producto-unidad-1/nuestras-entregas/PPT_Producto_Unidad_1_NewBit/img/iconos/no-gris.png">    </p:cNvPr>
          <p:cNvPicPr>
            <a:picLocks noChangeAspect="1"/>
          </p:cNvPicPr>
          <p:nvPr/>
        </p:nvPicPr>
        <p:blipFill>
          <a:blip r:embed="rId1"/>
          <a:stretch>
            <a:fillRect/>
          </a:stretch>
        </p:blipFill>
        <p:spPr>
          <a:xfrm>
            <a:off x="731520" y="1856232"/>
            <a:ext cx="384048" cy="384048"/>
          </a:xfrm>
          <a:prstGeom prst="rect">
            <a:avLst/>
          </a:prstGeom>
        </p:spPr>
      </p:pic>
      <p:sp>
        <p:nvSpPr>
          <p:cNvPr id="9" name="Text 5"/>
          <p:cNvSpPr/>
          <p:nvPr/>
        </p:nvSpPr>
        <p:spPr>
          <a:xfrm>
            <a:off x="1371600" y="1783080"/>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reconoce rostros</a:t>
            </a:r>
            <a:endParaRPr lang="en-US" sz="2000" dirty="0"/>
          </a:p>
        </p:txBody>
      </p:sp>
      <p:sp>
        <p:nvSpPr>
          <p:cNvPr id="10" name="Text 6"/>
          <p:cNvSpPr/>
          <p:nvPr/>
        </p:nvSpPr>
        <p:spPr>
          <a:xfrm>
            <a:off x="5212080" y="1828800"/>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ni identifica a las personas. Analiza conductas, no quién las hace.</a:t>
            </a:r>
            <a:endParaRPr lang="en-US" sz="1700" dirty="0"/>
          </a:p>
        </p:txBody>
      </p:sp>
      <p:sp>
        <p:nvSpPr>
          <p:cNvPr id="11" name="Shape 7"/>
          <p:cNvSpPr/>
          <p:nvPr/>
        </p:nvSpPr>
        <p:spPr>
          <a:xfrm>
            <a:off x="731520" y="2587752"/>
            <a:ext cx="10728655" cy="0"/>
          </a:xfrm>
          <a:prstGeom prst="line">
            <a:avLst/>
          </a:prstGeom>
          <a:noFill/>
          <a:ln w="9525">
            <a:solidFill>
              <a:srgbClr val="E7E5E4"/>
            </a:solidFill>
            <a:prstDash val="solid"/>
          </a:ln>
        </p:spPr>
      </p:sp>
      <p:pic>
        <p:nvPicPr>
          <p:cNvPr id="12" name="Image 1" descr="/Users/anthony/Documents/Projects/NewBit/curso/semana-06-producto-unidad-1/nuestras-entregas/PPT_Producto_Unidad_1_NewBit/img/iconos/no-gris.png">    </p:cNvPr>
          <p:cNvPicPr>
            <a:picLocks noChangeAspect="1"/>
          </p:cNvPicPr>
          <p:nvPr/>
        </p:nvPicPr>
        <p:blipFill>
          <a:blip r:embed="rId2"/>
          <a:stretch>
            <a:fillRect/>
          </a:stretch>
        </p:blipFill>
        <p:spPr>
          <a:xfrm>
            <a:off x="731520" y="2880360"/>
            <a:ext cx="384048" cy="384048"/>
          </a:xfrm>
          <a:prstGeom prst="rect">
            <a:avLst/>
          </a:prstGeom>
        </p:spPr>
      </p:pic>
      <p:sp>
        <p:nvSpPr>
          <p:cNvPr id="13" name="Text 8"/>
          <p:cNvSpPr/>
          <p:nvPr/>
        </p:nvSpPr>
        <p:spPr>
          <a:xfrm>
            <a:off x="1371600" y="2807208"/>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reemplaza al supervisor</a:t>
            </a:r>
            <a:endParaRPr lang="en-US" sz="2000" dirty="0"/>
          </a:p>
        </p:txBody>
      </p:sp>
      <p:sp>
        <p:nvSpPr>
          <p:cNvPr id="14" name="Text 9"/>
          <p:cNvSpPr/>
          <p:nvPr/>
        </p:nvSpPr>
        <p:spPr>
          <a:xfrm>
            <a:off x="5212080" y="2852928"/>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Le entrega evidencia; la decisión siempre es humana.</a:t>
            </a:r>
            <a:endParaRPr lang="en-US" sz="1700" dirty="0"/>
          </a:p>
        </p:txBody>
      </p:sp>
      <p:sp>
        <p:nvSpPr>
          <p:cNvPr id="15" name="Shape 10"/>
          <p:cNvSpPr/>
          <p:nvPr/>
        </p:nvSpPr>
        <p:spPr>
          <a:xfrm>
            <a:off x="731520" y="3611880"/>
            <a:ext cx="10728655" cy="0"/>
          </a:xfrm>
          <a:prstGeom prst="line">
            <a:avLst/>
          </a:prstGeom>
          <a:noFill/>
          <a:ln w="9525">
            <a:solidFill>
              <a:srgbClr val="E7E5E4"/>
            </a:solidFill>
            <a:prstDash val="solid"/>
          </a:ln>
        </p:spPr>
      </p:sp>
      <p:pic>
        <p:nvPicPr>
          <p:cNvPr id="16" name="Image 2" descr="/Users/anthony/Documents/Projects/NewBit/curso/semana-06-producto-unidad-1/nuestras-entregas/PPT_Producto_Unidad_1_NewBit/img/iconos/no-gris.png">    </p:cNvPr>
          <p:cNvPicPr>
            <a:picLocks noChangeAspect="1"/>
          </p:cNvPicPr>
          <p:nvPr/>
        </p:nvPicPr>
        <p:blipFill>
          <a:blip r:embed="rId3"/>
          <a:stretch>
            <a:fillRect/>
          </a:stretch>
        </p:blipFill>
        <p:spPr>
          <a:xfrm>
            <a:off x="731520" y="3904488"/>
            <a:ext cx="384048" cy="384048"/>
          </a:xfrm>
          <a:prstGeom prst="rect">
            <a:avLst/>
          </a:prstGeom>
        </p:spPr>
      </p:pic>
      <p:sp>
        <p:nvSpPr>
          <p:cNvPr id="17" name="Text 11"/>
          <p:cNvSpPr/>
          <p:nvPr/>
        </p:nvSpPr>
        <p:spPr>
          <a:xfrm>
            <a:off x="1371600" y="3831336"/>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promete sin medir</a:t>
            </a:r>
            <a:endParaRPr lang="en-US" sz="2000" dirty="0"/>
          </a:p>
        </p:txBody>
      </p:sp>
      <p:sp>
        <p:nvSpPr>
          <p:cNvPr id="18" name="Text 12"/>
          <p:cNvSpPr/>
          <p:nvPr/>
        </p:nvSpPr>
        <p:spPr>
          <a:xfrm>
            <a:off x="5212080" y="3877056"/>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No afirma que reducirá accidentes hasta tener evidencia propia.</a:t>
            </a:r>
            <a:endParaRPr lang="en-US" sz="1700" dirty="0"/>
          </a:p>
        </p:txBody>
      </p:sp>
      <p:sp>
        <p:nvSpPr>
          <p:cNvPr id="19" name="Shape 13"/>
          <p:cNvSpPr/>
          <p:nvPr/>
        </p:nvSpPr>
        <p:spPr>
          <a:xfrm>
            <a:off x="731520" y="4636008"/>
            <a:ext cx="10728655" cy="0"/>
          </a:xfrm>
          <a:prstGeom prst="line">
            <a:avLst/>
          </a:prstGeom>
          <a:noFill/>
          <a:ln w="9525">
            <a:solidFill>
              <a:srgbClr val="E7E5E4"/>
            </a:solidFill>
            <a:prstDash val="solid"/>
          </a:ln>
        </p:spPr>
      </p:sp>
      <p:pic>
        <p:nvPicPr>
          <p:cNvPr id="20" name="Image 3" descr="/Users/anthony/Documents/Projects/NewBit/curso/semana-06-producto-unidad-1/nuestras-entregas/PPT_Producto_Unidad_1_NewBit/img/iconos/no-gris.png">    </p:cNvPr>
          <p:cNvPicPr>
            <a:picLocks noChangeAspect="1"/>
          </p:cNvPicPr>
          <p:nvPr/>
        </p:nvPicPr>
        <p:blipFill>
          <a:blip r:embed="rId4"/>
          <a:stretch>
            <a:fillRect/>
          </a:stretch>
        </p:blipFill>
        <p:spPr>
          <a:xfrm>
            <a:off x="731520" y="4928616"/>
            <a:ext cx="384048" cy="384048"/>
          </a:xfrm>
          <a:prstGeom prst="rect">
            <a:avLst/>
          </a:prstGeom>
        </p:spPr>
      </p:pic>
      <p:sp>
        <p:nvSpPr>
          <p:cNvPr id="21" name="Text 14"/>
          <p:cNvSpPr/>
          <p:nvPr/>
        </p:nvSpPr>
        <p:spPr>
          <a:xfrm>
            <a:off x="1371600" y="4855464"/>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instala hardware</a:t>
            </a:r>
            <a:endParaRPr lang="en-US" sz="2000" dirty="0"/>
          </a:p>
        </p:txBody>
      </p:sp>
      <p:sp>
        <p:nvSpPr>
          <p:cNvPr id="22" name="Text 15"/>
          <p:cNvSpPr/>
          <p:nvPr/>
        </p:nvSpPr>
        <p:spPr>
          <a:xfrm>
            <a:off x="5212080" y="4901184"/>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Procesa el video que ya existe; no requiere cámaras ni sensores nuevos.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PARTE 2</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Cómo lo construimos:</a:t>
            </a:r>
            <a:endParaRPr lang="en-US" sz="5400" dirty="0"/>
          </a:p>
        </p:txBody>
      </p:sp>
      <p:sp>
        <p:nvSpPr>
          <p:cNvPr id="8" name="Text 5"/>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Scrum, según la Guía SBOK</a:t>
            </a:r>
            <a:endParaRPr lang="en-US" sz="5400" dirty="0"/>
          </a:p>
        </p:txBody>
      </p:sp>
      <p:sp>
        <p:nvSpPr>
          <p:cNvPr id="9" name="Text 6"/>
          <p:cNvSpPr/>
          <p:nvPr/>
        </p:nvSpPr>
        <p:spPr>
          <a:xfrm>
            <a:off x="731520" y="4206240"/>
            <a:ext cx="8229600" cy="365760"/>
          </a:xfrm>
          <a:prstGeom prst="rect">
            <a:avLst/>
          </a:prstGeom>
          <a:noFill/>
          <a:ln/>
        </p:spPr>
        <p:txBody>
          <a:bodyPr wrap="square" lIns="0" tIns="0" rIns="0" bIns="0" rtlCol="0" anchor="t"/>
          <a:lstStyle/>
          <a:p>
            <a:pPr indent="0" marL="0">
              <a:buNone/>
            </a:pPr>
            <a:r>
              <a:rPr lang="en-US" sz="1600" dirty="0">
                <a:solidFill>
                  <a:srgbClr val="A8A29E"/>
                </a:solidFill>
                <a:latin typeface="Calibri" pitchFamily="34" charset="0"/>
                <a:ea typeface="Calibri" pitchFamily="34" charset="-122"/>
                <a:cs typeface="Calibri" pitchFamily="34" charset="-120"/>
              </a:rPr>
              <a:t>SCRUMstudy (2022). Guía de los fundamentos de Scrum, 4.ª 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SCRUM EN UNA LÁMINA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Tres roles, un ciclo que se repite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12</a:t>
            </a:r>
            <a:endParaRPr lang="en-US" sz="1000" dirty="0"/>
          </a:p>
        </p:txBody>
      </p:sp>
      <p:sp>
        <p:nvSpPr>
          <p:cNvPr id="8" name="Shape 5"/>
          <p:cNvSpPr/>
          <p:nvPr/>
        </p:nvSpPr>
        <p:spPr>
          <a:xfrm>
            <a:off x="731520" y="1828800"/>
            <a:ext cx="4754880" cy="1097280"/>
          </a:xfrm>
          <a:prstGeom prst="roundRect">
            <a:avLst>
              <a:gd name="adj" fmla="val 6667"/>
            </a:avLst>
          </a:prstGeom>
          <a:solidFill>
            <a:srgbClr val="FFFFFF"/>
          </a:solidFill>
          <a:ln w="9525">
            <a:solidFill>
              <a:srgbClr val="E7E5E4"/>
            </a:solidFill>
            <a:prstDash val="solid"/>
          </a:ln>
        </p:spPr>
      </p:sp>
      <p:sp>
        <p:nvSpPr>
          <p:cNvPr id="9" name="Text 6"/>
          <p:cNvSpPr/>
          <p:nvPr/>
        </p:nvSpPr>
        <p:spPr>
          <a:xfrm>
            <a:off x="1005840" y="201168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Product Owner</a:t>
            </a:r>
            <a:pPr indent="0" marL="0">
              <a:buNone/>
            </a:pPr>
            <a:r>
              <a:rPr lang="en-US" sz="1800" dirty="0">
                <a:solidFill>
                  <a:srgbClr val="8A8984"/>
                </a:solidFill>
                <a:latin typeface="Calibri" pitchFamily="34" charset="0"/>
                <a:ea typeface="Calibri" pitchFamily="34" charset="-122"/>
                <a:cs typeface="Calibri" pitchFamily="34" charset="-120"/>
              </a:rPr>
              <a:t>  ·  Albert</a:t>
            </a:r>
            <a:endParaRPr lang="en-US" sz="1800" dirty="0"/>
          </a:p>
        </p:txBody>
      </p:sp>
      <p:sp>
        <p:nvSpPr>
          <p:cNvPr id="10" name="Text 7"/>
          <p:cNvSpPr/>
          <p:nvPr/>
        </p:nvSpPr>
        <p:spPr>
          <a:xfrm>
            <a:off x="1005840" y="239572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Decide qué se construye primero y acepta el trabajo.</a:t>
            </a:r>
            <a:endParaRPr lang="en-US" sz="1500" dirty="0"/>
          </a:p>
        </p:txBody>
      </p:sp>
      <p:sp>
        <p:nvSpPr>
          <p:cNvPr id="11" name="Shape 8"/>
          <p:cNvSpPr/>
          <p:nvPr/>
        </p:nvSpPr>
        <p:spPr>
          <a:xfrm>
            <a:off x="731520" y="3108960"/>
            <a:ext cx="4754880" cy="1097280"/>
          </a:xfrm>
          <a:prstGeom prst="roundRect">
            <a:avLst>
              <a:gd name="adj" fmla="val 6667"/>
            </a:avLst>
          </a:prstGeom>
          <a:solidFill>
            <a:srgbClr val="FFFFFF"/>
          </a:solidFill>
          <a:ln w="9525">
            <a:solidFill>
              <a:srgbClr val="E7E5E4"/>
            </a:solidFill>
            <a:prstDash val="solid"/>
          </a:ln>
        </p:spPr>
      </p:sp>
      <p:sp>
        <p:nvSpPr>
          <p:cNvPr id="12" name="Text 9"/>
          <p:cNvSpPr/>
          <p:nvPr/>
        </p:nvSpPr>
        <p:spPr>
          <a:xfrm>
            <a:off x="1005840" y="329184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Scrum Master</a:t>
            </a:r>
            <a:pPr indent="0" marL="0">
              <a:buNone/>
            </a:pPr>
            <a:r>
              <a:rPr lang="en-US" sz="1800" dirty="0">
                <a:solidFill>
                  <a:srgbClr val="8A8984"/>
                </a:solidFill>
                <a:latin typeface="Calibri" pitchFamily="34" charset="0"/>
                <a:ea typeface="Calibri" pitchFamily="34" charset="-122"/>
                <a:cs typeface="Calibri" pitchFamily="34" charset="-120"/>
              </a:rPr>
              <a:t>  ·  Anthony</a:t>
            </a:r>
            <a:endParaRPr lang="en-US" sz="1800" dirty="0"/>
          </a:p>
        </p:txBody>
      </p:sp>
      <p:sp>
        <p:nvSpPr>
          <p:cNvPr id="13" name="Text 10"/>
          <p:cNvSpPr/>
          <p:nvPr/>
        </p:nvSpPr>
        <p:spPr>
          <a:xfrm>
            <a:off x="1005840" y="367588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Cuida el proceso y quita los obstáculos.</a:t>
            </a:r>
            <a:endParaRPr lang="en-US" sz="1500" dirty="0"/>
          </a:p>
        </p:txBody>
      </p:sp>
      <p:sp>
        <p:nvSpPr>
          <p:cNvPr id="14" name="Shape 11"/>
          <p:cNvSpPr/>
          <p:nvPr/>
        </p:nvSpPr>
        <p:spPr>
          <a:xfrm>
            <a:off x="731520" y="4389120"/>
            <a:ext cx="4754880" cy="1097280"/>
          </a:xfrm>
          <a:prstGeom prst="roundRect">
            <a:avLst>
              <a:gd name="adj" fmla="val 6667"/>
            </a:avLst>
          </a:prstGeom>
          <a:solidFill>
            <a:srgbClr val="FFFFFF"/>
          </a:solidFill>
          <a:ln w="9525">
            <a:solidFill>
              <a:srgbClr val="E7E5E4"/>
            </a:solidFill>
            <a:prstDash val="solid"/>
          </a:ln>
        </p:spPr>
      </p:sp>
      <p:sp>
        <p:nvSpPr>
          <p:cNvPr id="15" name="Text 12"/>
          <p:cNvSpPr/>
          <p:nvPr/>
        </p:nvSpPr>
        <p:spPr>
          <a:xfrm>
            <a:off x="1005840" y="457200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Equipo Scrum</a:t>
            </a:r>
            <a:pPr indent="0" marL="0">
              <a:buNone/>
            </a:pPr>
            <a:r>
              <a:rPr lang="en-US" sz="1800" dirty="0">
                <a:solidFill>
                  <a:srgbClr val="8A8984"/>
                </a:solidFill>
                <a:latin typeface="Calibri" pitchFamily="34" charset="0"/>
                <a:ea typeface="Calibri" pitchFamily="34" charset="-122"/>
                <a:cs typeface="Calibri" pitchFamily="34" charset="-120"/>
              </a:rPr>
              <a:t>  ·  Anthony y Luis</a:t>
            </a:r>
            <a:endParaRPr lang="en-US" sz="1800" dirty="0"/>
          </a:p>
        </p:txBody>
      </p:sp>
      <p:sp>
        <p:nvSpPr>
          <p:cNvPr id="16" name="Text 13"/>
          <p:cNvSpPr/>
          <p:nvPr/>
        </p:nvSpPr>
        <p:spPr>
          <a:xfrm>
            <a:off x="1005840" y="495604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Estima, construye y prueba.</a:t>
            </a:r>
            <a:endParaRPr lang="en-US" sz="1500" dirty="0"/>
          </a:p>
        </p:txBody>
      </p:sp>
      <p:sp>
        <p:nvSpPr>
          <p:cNvPr id="17" name="Shape 14"/>
          <p:cNvSpPr/>
          <p:nvPr/>
        </p:nvSpPr>
        <p:spPr>
          <a:xfrm>
            <a:off x="7772400" y="2606040"/>
            <a:ext cx="1920240" cy="1920240"/>
          </a:xfrm>
          <a:prstGeom prst="ellipse">
            <a:avLst/>
          </a:prstGeom>
          <a:solidFill>
            <a:srgbClr val="EEF2FF"/>
          </a:solidFill>
          <a:ln w="9525">
            <a:solidFill>
              <a:srgbClr val="C7D2FE"/>
            </a:solidFill>
            <a:prstDash val="solid"/>
          </a:ln>
        </p:spPr>
      </p:sp>
      <p:pic>
        <p:nvPicPr>
          <p:cNvPr id="18" name="Image 0" descr="/Users/anthony/Documents/Projects/NewBit/curso/semana-06-producto-unidad-1/nuestras-entregas/PPT_Producto_Unidad_1_NewBit/img/iconos/ciclo-azul.png">    </p:cNvPr>
          <p:cNvPicPr>
            <a:picLocks noChangeAspect="1"/>
          </p:cNvPicPr>
          <p:nvPr/>
        </p:nvPicPr>
        <p:blipFill>
          <a:blip r:embed="rId1"/>
          <a:stretch>
            <a:fillRect/>
          </a:stretch>
        </p:blipFill>
        <p:spPr>
          <a:xfrm>
            <a:off x="8503920" y="2999232"/>
            <a:ext cx="457200" cy="457200"/>
          </a:xfrm>
          <a:prstGeom prst="rect">
            <a:avLst/>
          </a:prstGeom>
        </p:spPr>
      </p:pic>
      <p:sp>
        <p:nvSpPr>
          <p:cNvPr id="19" name="Text 15"/>
          <p:cNvSpPr/>
          <p:nvPr/>
        </p:nvSpPr>
        <p:spPr>
          <a:xfrm>
            <a:off x="7909560" y="3520440"/>
            <a:ext cx="1645920" cy="320040"/>
          </a:xfrm>
          <a:prstGeom prst="rect">
            <a:avLst/>
          </a:prstGeom>
          <a:noFill/>
          <a:ln/>
        </p:spPr>
        <p:txBody>
          <a:bodyPr wrap="square" lIns="0" tIns="0" rIns="0" bIns="0" rtlCol="0" anchor="t"/>
          <a:lstStyle/>
          <a:p>
            <a:pPr algn="ctr" indent="0" marL="0">
              <a:buNone/>
            </a:pPr>
            <a:r>
              <a:rPr lang="en-US" sz="1800" b="1" dirty="0">
                <a:solidFill>
                  <a:srgbClr val="1A1A1A"/>
                </a:solidFill>
                <a:latin typeface="Calibri" pitchFamily="34" charset="0"/>
                <a:ea typeface="Calibri" pitchFamily="34" charset="-122"/>
                <a:cs typeface="Calibri" pitchFamily="34" charset="-120"/>
              </a:rPr>
              <a:t>Sprint</a:t>
            </a:r>
            <a:endParaRPr lang="en-US" sz="1800" dirty="0"/>
          </a:p>
        </p:txBody>
      </p:sp>
      <p:sp>
        <p:nvSpPr>
          <p:cNvPr id="20" name="Text 16"/>
          <p:cNvSpPr/>
          <p:nvPr/>
        </p:nvSpPr>
        <p:spPr>
          <a:xfrm>
            <a:off x="7909560" y="3858768"/>
            <a:ext cx="1645920" cy="274320"/>
          </a:xfrm>
          <a:prstGeom prst="rect">
            <a:avLst/>
          </a:prstGeom>
          <a:noFill/>
          <a:ln/>
        </p:spPr>
        <p:txBody>
          <a:bodyPr wrap="square" lIns="0" tIns="0" rIns="0" bIns="0" rtlCol="0" anchor="t"/>
          <a:lstStyle/>
          <a:p>
            <a:pPr algn="ctr" indent="0" marL="0">
              <a:buNone/>
            </a:pPr>
            <a:r>
              <a:rPr lang="en-US" sz="1300" dirty="0">
                <a:solidFill>
                  <a:srgbClr val="8A8984"/>
                </a:solidFill>
                <a:latin typeface="Calibri" pitchFamily="34" charset="0"/>
                <a:ea typeface="Calibri" pitchFamily="34" charset="-122"/>
                <a:cs typeface="Calibri" pitchFamily="34" charset="-120"/>
              </a:rPr>
              <a:t>2 semanas</a:t>
            </a:r>
            <a:endParaRPr lang="en-US" sz="1300" dirty="0"/>
          </a:p>
        </p:txBody>
      </p:sp>
      <p:sp>
        <p:nvSpPr>
          <p:cNvPr id="21" name="Shape 17"/>
          <p:cNvSpPr/>
          <p:nvPr/>
        </p:nvSpPr>
        <p:spPr>
          <a:xfrm>
            <a:off x="7909560" y="1691640"/>
            <a:ext cx="1645920" cy="685800"/>
          </a:xfrm>
          <a:prstGeom prst="roundRect">
            <a:avLst>
              <a:gd name="adj" fmla="val 10667"/>
            </a:avLst>
          </a:prstGeom>
          <a:solidFill>
            <a:srgbClr val="FFFFFF"/>
          </a:solidFill>
          <a:ln w="9525">
            <a:solidFill>
              <a:srgbClr val="E7E5E4"/>
            </a:solidFill>
            <a:prstDash val="solid"/>
          </a:ln>
        </p:spPr>
      </p:sp>
      <p:sp>
        <p:nvSpPr>
          <p:cNvPr id="22" name="Text 18"/>
          <p:cNvSpPr/>
          <p:nvPr/>
        </p:nvSpPr>
        <p:spPr>
          <a:xfrm>
            <a:off x="8001000" y="1783080"/>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Planificación</a:t>
            </a:r>
            <a:endParaRPr lang="en-US" sz="1400" dirty="0"/>
          </a:p>
        </p:txBody>
      </p:sp>
      <p:sp>
        <p:nvSpPr>
          <p:cNvPr id="23" name="Text 19"/>
          <p:cNvSpPr/>
          <p:nvPr/>
        </p:nvSpPr>
        <p:spPr>
          <a:xfrm>
            <a:off x="8001000" y="2075688"/>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4 h</a:t>
            </a:r>
            <a:endParaRPr lang="en-US" sz="1200" dirty="0"/>
          </a:p>
        </p:txBody>
      </p:sp>
      <p:sp>
        <p:nvSpPr>
          <p:cNvPr id="24" name="Shape 20"/>
          <p:cNvSpPr/>
          <p:nvPr/>
        </p:nvSpPr>
        <p:spPr>
          <a:xfrm>
            <a:off x="9802368" y="3218688"/>
            <a:ext cx="1645920" cy="685800"/>
          </a:xfrm>
          <a:prstGeom prst="roundRect">
            <a:avLst>
              <a:gd name="adj" fmla="val 10667"/>
            </a:avLst>
          </a:prstGeom>
          <a:solidFill>
            <a:srgbClr val="FFFFFF"/>
          </a:solidFill>
          <a:ln w="9525">
            <a:solidFill>
              <a:srgbClr val="E7E5E4"/>
            </a:solidFill>
            <a:prstDash val="solid"/>
          </a:ln>
        </p:spPr>
      </p:sp>
      <p:sp>
        <p:nvSpPr>
          <p:cNvPr id="25" name="Text 21"/>
          <p:cNvSpPr/>
          <p:nvPr/>
        </p:nvSpPr>
        <p:spPr>
          <a:xfrm>
            <a:off x="9893808" y="3310128"/>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Daily Standup</a:t>
            </a:r>
            <a:endParaRPr lang="en-US" sz="1400" dirty="0"/>
          </a:p>
        </p:txBody>
      </p:sp>
      <p:sp>
        <p:nvSpPr>
          <p:cNvPr id="26" name="Text 22"/>
          <p:cNvSpPr/>
          <p:nvPr/>
        </p:nvSpPr>
        <p:spPr>
          <a:xfrm>
            <a:off x="9893808" y="3602736"/>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15 min al día</a:t>
            </a:r>
            <a:endParaRPr lang="en-US" sz="1200" dirty="0"/>
          </a:p>
        </p:txBody>
      </p:sp>
      <p:sp>
        <p:nvSpPr>
          <p:cNvPr id="27" name="Shape 23"/>
          <p:cNvSpPr/>
          <p:nvPr/>
        </p:nvSpPr>
        <p:spPr>
          <a:xfrm>
            <a:off x="7909560" y="4754880"/>
            <a:ext cx="1645920" cy="685800"/>
          </a:xfrm>
          <a:prstGeom prst="roundRect">
            <a:avLst>
              <a:gd name="adj" fmla="val 10667"/>
            </a:avLst>
          </a:prstGeom>
          <a:solidFill>
            <a:srgbClr val="FFFFFF"/>
          </a:solidFill>
          <a:ln w="9525">
            <a:solidFill>
              <a:srgbClr val="E7E5E4"/>
            </a:solidFill>
            <a:prstDash val="solid"/>
          </a:ln>
        </p:spPr>
      </p:sp>
      <p:sp>
        <p:nvSpPr>
          <p:cNvPr id="28" name="Text 24"/>
          <p:cNvSpPr/>
          <p:nvPr/>
        </p:nvSpPr>
        <p:spPr>
          <a:xfrm>
            <a:off x="8001000" y="4846320"/>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Revisión</a:t>
            </a:r>
            <a:endParaRPr lang="en-US" sz="1400" dirty="0"/>
          </a:p>
        </p:txBody>
      </p:sp>
      <p:sp>
        <p:nvSpPr>
          <p:cNvPr id="29" name="Text 25"/>
          <p:cNvSpPr/>
          <p:nvPr/>
        </p:nvSpPr>
        <p:spPr>
          <a:xfrm>
            <a:off x="8001000" y="5138928"/>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2 h</a:t>
            </a:r>
            <a:endParaRPr lang="en-US" sz="1200" dirty="0"/>
          </a:p>
        </p:txBody>
      </p:sp>
      <p:sp>
        <p:nvSpPr>
          <p:cNvPr id="30" name="Shape 26"/>
          <p:cNvSpPr/>
          <p:nvPr/>
        </p:nvSpPr>
        <p:spPr>
          <a:xfrm>
            <a:off x="6016752" y="3218688"/>
            <a:ext cx="1645920" cy="685800"/>
          </a:xfrm>
          <a:prstGeom prst="roundRect">
            <a:avLst>
              <a:gd name="adj" fmla="val 10667"/>
            </a:avLst>
          </a:prstGeom>
          <a:solidFill>
            <a:srgbClr val="FFFFFF"/>
          </a:solidFill>
          <a:ln w="9525">
            <a:solidFill>
              <a:srgbClr val="E7E5E4"/>
            </a:solidFill>
            <a:prstDash val="solid"/>
          </a:ln>
        </p:spPr>
      </p:sp>
      <p:sp>
        <p:nvSpPr>
          <p:cNvPr id="31" name="Text 27"/>
          <p:cNvSpPr/>
          <p:nvPr/>
        </p:nvSpPr>
        <p:spPr>
          <a:xfrm>
            <a:off x="6108192" y="3310128"/>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Retrospectiva</a:t>
            </a:r>
            <a:endParaRPr lang="en-US" sz="1400" dirty="0"/>
          </a:p>
        </p:txBody>
      </p:sp>
      <p:sp>
        <p:nvSpPr>
          <p:cNvPr id="32" name="Text 28"/>
          <p:cNvSpPr/>
          <p:nvPr/>
        </p:nvSpPr>
        <p:spPr>
          <a:xfrm>
            <a:off x="6108192" y="3602736"/>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2 h</a:t>
            </a:r>
            <a:endParaRPr lang="en-US" sz="1200" dirty="0"/>
          </a:p>
        </p:txBody>
      </p:sp>
      <p:sp>
        <p:nvSpPr>
          <p:cNvPr id="33" name="Text 29"/>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pp. 35–37 y 42–43.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PRINCIPIOS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Seis principios que no se negocian</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13</a:t>
            </a:r>
            <a:endParaRPr lang="en-US" sz="1000" dirty="0"/>
          </a:p>
        </p:txBody>
      </p:sp>
      <p:sp>
        <p:nvSpPr>
          <p:cNvPr id="8" name="Shape 5"/>
          <p:cNvSpPr/>
          <p:nvPr/>
        </p:nvSpPr>
        <p:spPr>
          <a:xfrm>
            <a:off x="731520" y="1828800"/>
            <a:ext cx="3383280" cy="1737360"/>
          </a:xfrm>
          <a:prstGeom prst="roundRect">
            <a:avLst>
              <a:gd name="adj" fmla="val 4211"/>
            </a:avLst>
          </a:prstGeom>
          <a:solidFill>
            <a:srgbClr val="FFFFFF"/>
          </a:solidFill>
          <a:ln w="9525">
            <a:solidFill>
              <a:srgbClr val="E7E5E4"/>
            </a:solidFill>
            <a:prstDash val="solid"/>
          </a:ln>
        </p:spPr>
      </p:sp>
      <p:sp>
        <p:nvSpPr>
          <p:cNvPr id="9" name="Text 6"/>
          <p:cNvSpPr/>
          <p:nvPr/>
        </p:nvSpPr>
        <p:spPr>
          <a:xfrm>
            <a:off x="100584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320040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22</a:t>
            </a:r>
            <a:endParaRPr lang="en-US" sz="1100" dirty="0"/>
          </a:p>
        </p:txBody>
      </p:sp>
      <p:sp>
        <p:nvSpPr>
          <p:cNvPr id="11" name="Text 8"/>
          <p:cNvSpPr/>
          <p:nvPr/>
        </p:nvSpPr>
        <p:spPr>
          <a:xfrm>
            <a:off x="100584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Control del proceso empírico</a:t>
            </a:r>
            <a:endParaRPr lang="en-US" sz="1700" dirty="0"/>
          </a:p>
        </p:txBody>
      </p:sp>
      <p:sp>
        <p:nvSpPr>
          <p:cNvPr id="12" name="Text 9"/>
          <p:cNvSpPr/>
          <p:nvPr/>
        </p:nvSpPr>
        <p:spPr>
          <a:xfrm>
            <a:off x="100584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Mostramos, revisamos y ajustamos. La idea cambió tres veces antes del primer sprint.</a:t>
            </a:r>
            <a:endParaRPr lang="en-US" sz="1350" dirty="0"/>
          </a:p>
        </p:txBody>
      </p:sp>
      <p:sp>
        <p:nvSpPr>
          <p:cNvPr id="13" name="Shape 10"/>
          <p:cNvSpPr/>
          <p:nvPr/>
        </p:nvSpPr>
        <p:spPr>
          <a:xfrm>
            <a:off x="4343400" y="1828800"/>
            <a:ext cx="3383280" cy="1737360"/>
          </a:xfrm>
          <a:prstGeom prst="roundRect">
            <a:avLst>
              <a:gd name="adj" fmla="val 4211"/>
            </a:avLst>
          </a:prstGeom>
          <a:solidFill>
            <a:srgbClr val="FFFFFF"/>
          </a:solidFill>
          <a:ln w="9525">
            <a:solidFill>
              <a:srgbClr val="E7E5E4"/>
            </a:solidFill>
            <a:prstDash val="solid"/>
          </a:ln>
        </p:spPr>
      </p:sp>
      <p:sp>
        <p:nvSpPr>
          <p:cNvPr id="14" name="Text 11"/>
          <p:cNvSpPr/>
          <p:nvPr/>
        </p:nvSpPr>
        <p:spPr>
          <a:xfrm>
            <a:off x="461772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681228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27</a:t>
            </a:r>
            <a:endParaRPr lang="en-US" sz="1100" dirty="0"/>
          </a:p>
        </p:txBody>
      </p:sp>
      <p:sp>
        <p:nvSpPr>
          <p:cNvPr id="16" name="Text 13"/>
          <p:cNvSpPr/>
          <p:nvPr/>
        </p:nvSpPr>
        <p:spPr>
          <a:xfrm>
            <a:off x="461772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Autoorganización</a:t>
            </a:r>
            <a:endParaRPr lang="en-US" sz="1700" dirty="0"/>
          </a:p>
        </p:txBody>
      </p:sp>
      <p:sp>
        <p:nvSpPr>
          <p:cNvPr id="17" name="Text 14"/>
          <p:cNvSpPr/>
          <p:nvPr/>
        </p:nvSpPr>
        <p:spPr>
          <a:xfrm>
            <a:off x="461772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El equipo decide cómo hacer el trabajo en cada planificación.</a:t>
            </a:r>
            <a:endParaRPr lang="en-US" sz="1350" dirty="0"/>
          </a:p>
        </p:txBody>
      </p:sp>
      <p:sp>
        <p:nvSpPr>
          <p:cNvPr id="18" name="Shape 15"/>
          <p:cNvSpPr/>
          <p:nvPr/>
        </p:nvSpPr>
        <p:spPr>
          <a:xfrm>
            <a:off x="7955280" y="1828800"/>
            <a:ext cx="3383280" cy="1737360"/>
          </a:xfrm>
          <a:prstGeom prst="roundRect">
            <a:avLst>
              <a:gd name="adj" fmla="val 4211"/>
            </a:avLst>
          </a:prstGeom>
          <a:solidFill>
            <a:srgbClr val="FFFFFF"/>
          </a:solidFill>
          <a:ln w="9525">
            <a:solidFill>
              <a:srgbClr val="E7E5E4"/>
            </a:solidFill>
            <a:prstDash val="solid"/>
          </a:ln>
        </p:spPr>
      </p:sp>
      <p:sp>
        <p:nvSpPr>
          <p:cNvPr id="19" name="Text 16"/>
          <p:cNvSpPr/>
          <p:nvPr/>
        </p:nvSpPr>
        <p:spPr>
          <a:xfrm>
            <a:off x="822960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1042416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29</a:t>
            </a:r>
            <a:endParaRPr lang="en-US" sz="1100" dirty="0"/>
          </a:p>
        </p:txBody>
      </p:sp>
      <p:sp>
        <p:nvSpPr>
          <p:cNvPr id="21" name="Text 18"/>
          <p:cNvSpPr/>
          <p:nvPr/>
        </p:nvSpPr>
        <p:spPr>
          <a:xfrm>
            <a:off x="822960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Colaboración</a:t>
            </a:r>
            <a:endParaRPr lang="en-US" sz="1700" dirty="0"/>
          </a:p>
        </p:txBody>
      </p:sp>
      <p:sp>
        <p:nvSpPr>
          <p:cNvPr id="22" name="Text 19"/>
          <p:cNvSpPr/>
          <p:nvPr/>
        </p:nvSpPr>
        <p:spPr>
          <a:xfrm>
            <a:off x="822960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PO, equipo y usuarios validan juntos; revisamos el código entre pares.</a:t>
            </a:r>
            <a:endParaRPr lang="en-US" sz="1350" dirty="0"/>
          </a:p>
        </p:txBody>
      </p:sp>
      <p:sp>
        <p:nvSpPr>
          <p:cNvPr id="23" name="Shape 20"/>
          <p:cNvSpPr/>
          <p:nvPr/>
        </p:nvSpPr>
        <p:spPr>
          <a:xfrm>
            <a:off x="731520" y="3794760"/>
            <a:ext cx="3383280" cy="1737360"/>
          </a:xfrm>
          <a:prstGeom prst="roundRect">
            <a:avLst>
              <a:gd name="adj" fmla="val 4211"/>
            </a:avLst>
          </a:prstGeom>
          <a:solidFill>
            <a:srgbClr val="FFFFFF"/>
          </a:solidFill>
          <a:ln w="9525">
            <a:solidFill>
              <a:srgbClr val="E7E5E4"/>
            </a:solidFill>
            <a:prstDash val="solid"/>
          </a:ln>
        </p:spPr>
      </p:sp>
      <p:sp>
        <p:nvSpPr>
          <p:cNvPr id="24" name="Text 21"/>
          <p:cNvSpPr/>
          <p:nvPr/>
        </p:nvSpPr>
        <p:spPr>
          <a:xfrm>
            <a:off x="100584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320040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33</a:t>
            </a:r>
            <a:endParaRPr lang="en-US" sz="1100" dirty="0"/>
          </a:p>
        </p:txBody>
      </p:sp>
      <p:sp>
        <p:nvSpPr>
          <p:cNvPr id="26" name="Text 23"/>
          <p:cNvSpPr/>
          <p:nvPr/>
        </p:nvSpPr>
        <p:spPr>
          <a:xfrm>
            <a:off x="100584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Priorización basada en valor</a:t>
            </a:r>
            <a:endParaRPr lang="en-US" sz="1700" dirty="0"/>
          </a:p>
        </p:txBody>
      </p:sp>
      <p:sp>
        <p:nvSpPr>
          <p:cNvPr id="27" name="Text 24"/>
          <p:cNvSpPr/>
          <p:nvPr/>
        </p:nvSpPr>
        <p:spPr>
          <a:xfrm>
            <a:off x="100584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Primero lo que más valor da, respetando las dependencias.</a:t>
            </a:r>
            <a:endParaRPr lang="en-US" sz="1350" dirty="0"/>
          </a:p>
        </p:txBody>
      </p:sp>
      <p:sp>
        <p:nvSpPr>
          <p:cNvPr id="28" name="Shape 25"/>
          <p:cNvSpPr/>
          <p:nvPr/>
        </p:nvSpPr>
        <p:spPr>
          <a:xfrm>
            <a:off x="4343400" y="3794760"/>
            <a:ext cx="3383280" cy="1737360"/>
          </a:xfrm>
          <a:prstGeom prst="roundRect">
            <a:avLst>
              <a:gd name="adj" fmla="val 4211"/>
            </a:avLst>
          </a:prstGeom>
          <a:solidFill>
            <a:srgbClr val="FFFFFF"/>
          </a:solidFill>
          <a:ln w="9525">
            <a:solidFill>
              <a:srgbClr val="E7E5E4"/>
            </a:solidFill>
            <a:prstDash val="solid"/>
          </a:ln>
        </p:spPr>
      </p:sp>
      <p:sp>
        <p:nvSpPr>
          <p:cNvPr id="29" name="Text 26"/>
          <p:cNvSpPr/>
          <p:nvPr/>
        </p:nvSpPr>
        <p:spPr>
          <a:xfrm>
            <a:off x="461772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681228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35</a:t>
            </a:r>
            <a:endParaRPr lang="en-US" sz="1100" dirty="0"/>
          </a:p>
        </p:txBody>
      </p:sp>
      <p:sp>
        <p:nvSpPr>
          <p:cNvPr id="31" name="Text 28"/>
          <p:cNvSpPr/>
          <p:nvPr/>
        </p:nvSpPr>
        <p:spPr>
          <a:xfrm>
            <a:off x="461772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Time-boxing</a:t>
            </a:r>
            <a:endParaRPr lang="en-US" sz="1700" dirty="0"/>
          </a:p>
        </p:txBody>
      </p:sp>
      <p:sp>
        <p:nvSpPr>
          <p:cNvPr id="32" name="Text 29"/>
          <p:cNvSpPr/>
          <p:nvPr/>
        </p:nvSpPr>
        <p:spPr>
          <a:xfrm>
            <a:off x="461772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Tiempos fijos: sprints de dos semanas y reuniones con duración máxima.</a:t>
            </a:r>
            <a:endParaRPr lang="en-US" sz="1350" dirty="0"/>
          </a:p>
        </p:txBody>
      </p:sp>
      <p:sp>
        <p:nvSpPr>
          <p:cNvPr id="33" name="Shape 30"/>
          <p:cNvSpPr/>
          <p:nvPr/>
        </p:nvSpPr>
        <p:spPr>
          <a:xfrm>
            <a:off x="7955280" y="3794760"/>
            <a:ext cx="3383280" cy="1737360"/>
          </a:xfrm>
          <a:prstGeom prst="roundRect">
            <a:avLst>
              <a:gd name="adj" fmla="val 4211"/>
            </a:avLst>
          </a:prstGeom>
          <a:solidFill>
            <a:srgbClr val="FFFFFF"/>
          </a:solidFill>
          <a:ln w="9525">
            <a:solidFill>
              <a:srgbClr val="E7E5E4"/>
            </a:solidFill>
            <a:prstDash val="solid"/>
          </a:ln>
        </p:spPr>
      </p:sp>
      <p:sp>
        <p:nvSpPr>
          <p:cNvPr id="34" name="Text 31"/>
          <p:cNvSpPr/>
          <p:nvPr/>
        </p:nvSpPr>
        <p:spPr>
          <a:xfrm>
            <a:off x="822960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06</a:t>
            </a:r>
            <a:endParaRPr lang="en-US" sz="1300" dirty="0"/>
          </a:p>
        </p:txBody>
      </p:sp>
      <p:sp>
        <p:nvSpPr>
          <p:cNvPr id="35" name="Text 32"/>
          <p:cNvSpPr/>
          <p:nvPr/>
        </p:nvSpPr>
        <p:spPr>
          <a:xfrm>
            <a:off x="1042416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38</a:t>
            </a:r>
            <a:endParaRPr lang="en-US" sz="1100" dirty="0"/>
          </a:p>
        </p:txBody>
      </p:sp>
      <p:sp>
        <p:nvSpPr>
          <p:cNvPr id="36" name="Text 33"/>
          <p:cNvSpPr/>
          <p:nvPr/>
        </p:nvSpPr>
        <p:spPr>
          <a:xfrm>
            <a:off x="822960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Desarrollo iterativo</a:t>
            </a:r>
            <a:endParaRPr lang="en-US" sz="1700" dirty="0"/>
          </a:p>
        </p:txBody>
      </p:sp>
      <p:sp>
        <p:nvSpPr>
          <p:cNvPr id="37" name="Text 34"/>
          <p:cNvSpPr/>
          <p:nvPr/>
        </p:nvSpPr>
        <p:spPr>
          <a:xfrm>
            <a:off x="822960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Un incremento revisable al final de cada sprint.</a:t>
            </a:r>
            <a:endParaRPr lang="en-US" sz="13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pp. 21–40.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GUÍA SBOK → FORMATOS DEL CURSO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La Unidad I es la fase de Inicio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14</a:t>
            </a:r>
            <a:endParaRPr lang="en-US" sz="1000" dirty="0"/>
          </a:p>
        </p:txBody>
      </p:sp>
      <p:sp>
        <p:nvSpPr>
          <p:cNvPr id="8" name="Text 5"/>
          <p:cNvSpPr/>
          <p:nvPr/>
        </p:nvSpPr>
        <p:spPr>
          <a:xfrm>
            <a:off x="731520"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8.1</a:t>
            </a:r>
            <a:endParaRPr lang="en-US" sz="2800" dirty="0"/>
          </a:p>
        </p:txBody>
      </p:sp>
      <p:sp>
        <p:nvSpPr>
          <p:cNvPr id="9" name="Shape 6"/>
          <p:cNvSpPr/>
          <p:nvPr/>
        </p:nvSpPr>
        <p:spPr>
          <a:xfrm>
            <a:off x="731520" y="2377440"/>
            <a:ext cx="1600200" cy="0"/>
          </a:xfrm>
          <a:prstGeom prst="line">
            <a:avLst/>
          </a:prstGeom>
          <a:noFill/>
          <a:ln w="19050">
            <a:solidFill>
              <a:srgbClr val="3E63DD"/>
            </a:solidFill>
            <a:prstDash val="solid"/>
          </a:ln>
        </p:spPr>
      </p:sp>
      <p:sp>
        <p:nvSpPr>
          <p:cNvPr id="10" name="Text 7"/>
          <p:cNvSpPr/>
          <p:nvPr/>
        </p:nvSpPr>
        <p:spPr>
          <a:xfrm>
            <a:off x="731520"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Crear la visión</a:t>
            </a:r>
            <a:endParaRPr lang="en-US" sz="1600" dirty="0"/>
          </a:p>
        </p:txBody>
      </p:sp>
      <p:sp>
        <p:nvSpPr>
          <p:cNvPr id="11" name="Text 8"/>
          <p:cNvSpPr/>
          <p:nvPr/>
        </p:nvSpPr>
        <p:spPr>
          <a:xfrm>
            <a:off x="731520"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Acta FGAP010 · Justificación EGAP015</a:t>
            </a:r>
            <a:endParaRPr lang="en-US" sz="1300" dirty="0"/>
          </a:p>
        </p:txBody>
      </p:sp>
      <p:sp>
        <p:nvSpPr>
          <p:cNvPr id="12" name="Text 9"/>
          <p:cNvSpPr/>
          <p:nvPr/>
        </p:nvSpPr>
        <p:spPr>
          <a:xfrm>
            <a:off x="2542032"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8.2</a:t>
            </a:r>
            <a:endParaRPr lang="en-US" sz="2800" dirty="0"/>
          </a:p>
        </p:txBody>
      </p:sp>
      <p:sp>
        <p:nvSpPr>
          <p:cNvPr id="13" name="Shape 10"/>
          <p:cNvSpPr/>
          <p:nvPr/>
        </p:nvSpPr>
        <p:spPr>
          <a:xfrm>
            <a:off x="2542032" y="2377440"/>
            <a:ext cx="1600200" cy="0"/>
          </a:xfrm>
          <a:prstGeom prst="line">
            <a:avLst/>
          </a:prstGeom>
          <a:noFill/>
          <a:ln w="19050">
            <a:solidFill>
              <a:srgbClr val="3E63DD"/>
            </a:solidFill>
            <a:prstDash val="solid"/>
          </a:ln>
        </p:spPr>
      </p:sp>
      <p:sp>
        <p:nvSpPr>
          <p:cNvPr id="14" name="Text 11"/>
          <p:cNvSpPr/>
          <p:nvPr/>
        </p:nvSpPr>
        <p:spPr>
          <a:xfrm>
            <a:off x="2542032"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Identificar interesados</a:t>
            </a:r>
            <a:endParaRPr lang="en-US" sz="1600" dirty="0"/>
          </a:p>
        </p:txBody>
      </p:sp>
      <p:sp>
        <p:nvSpPr>
          <p:cNvPr id="15" name="Text 12"/>
          <p:cNvSpPr/>
          <p:nvPr/>
        </p:nvSpPr>
        <p:spPr>
          <a:xfrm>
            <a:off x="2542032"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Registro FGAP020</a:t>
            </a:r>
            <a:endParaRPr lang="en-US" sz="1300" dirty="0"/>
          </a:p>
        </p:txBody>
      </p:sp>
      <p:sp>
        <p:nvSpPr>
          <p:cNvPr id="16" name="Text 13"/>
          <p:cNvSpPr/>
          <p:nvPr/>
        </p:nvSpPr>
        <p:spPr>
          <a:xfrm>
            <a:off x="4352544"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8.3</a:t>
            </a:r>
            <a:endParaRPr lang="en-US" sz="2800" dirty="0"/>
          </a:p>
        </p:txBody>
      </p:sp>
      <p:sp>
        <p:nvSpPr>
          <p:cNvPr id="17" name="Shape 14"/>
          <p:cNvSpPr/>
          <p:nvPr/>
        </p:nvSpPr>
        <p:spPr>
          <a:xfrm>
            <a:off x="4352544" y="2377440"/>
            <a:ext cx="1600200" cy="0"/>
          </a:xfrm>
          <a:prstGeom prst="line">
            <a:avLst/>
          </a:prstGeom>
          <a:noFill/>
          <a:ln w="19050">
            <a:solidFill>
              <a:srgbClr val="3E63DD"/>
            </a:solidFill>
            <a:prstDash val="solid"/>
          </a:ln>
        </p:spPr>
      </p:sp>
      <p:sp>
        <p:nvSpPr>
          <p:cNvPr id="18" name="Text 15"/>
          <p:cNvSpPr/>
          <p:nvPr/>
        </p:nvSpPr>
        <p:spPr>
          <a:xfrm>
            <a:off x="4352544"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Formar el equipo</a:t>
            </a:r>
            <a:endParaRPr lang="en-US" sz="1600" dirty="0"/>
          </a:p>
        </p:txBody>
      </p:sp>
      <p:sp>
        <p:nvSpPr>
          <p:cNvPr id="19" name="Text 16"/>
          <p:cNvSpPr/>
          <p:nvPr/>
        </p:nvSpPr>
        <p:spPr>
          <a:xfrm>
            <a:off x="4352544"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Roles FGAP030</a:t>
            </a:r>
            <a:endParaRPr lang="en-US" sz="1300" dirty="0"/>
          </a:p>
        </p:txBody>
      </p:sp>
      <p:sp>
        <p:nvSpPr>
          <p:cNvPr id="20" name="Text 17"/>
          <p:cNvSpPr/>
          <p:nvPr/>
        </p:nvSpPr>
        <p:spPr>
          <a:xfrm>
            <a:off x="6163056"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8.4</a:t>
            </a:r>
            <a:endParaRPr lang="en-US" sz="2800" dirty="0"/>
          </a:p>
        </p:txBody>
      </p:sp>
      <p:sp>
        <p:nvSpPr>
          <p:cNvPr id="21" name="Shape 18"/>
          <p:cNvSpPr/>
          <p:nvPr/>
        </p:nvSpPr>
        <p:spPr>
          <a:xfrm>
            <a:off x="6163056" y="2377440"/>
            <a:ext cx="1600200" cy="0"/>
          </a:xfrm>
          <a:prstGeom prst="line">
            <a:avLst/>
          </a:prstGeom>
          <a:noFill/>
          <a:ln w="19050">
            <a:solidFill>
              <a:srgbClr val="3E63DD"/>
            </a:solidFill>
            <a:prstDash val="solid"/>
          </a:ln>
        </p:spPr>
      </p:sp>
      <p:sp>
        <p:nvSpPr>
          <p:cNvPr id="22" name="Text 19"/>
          <p:cNvSpPr/>
          <p:nvPr/>
        </p:nvSpPr>
        <p:spPr>
          <a:xfrm>
            <a:off x="6163056"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Desarrollar épicas</a:t>
            </a:r>
            <a:endParaRPr lang="en-US" sz="1600" dirty="0"/>
          </a:p>
        </p:txBody>
      </p:sp>
      <p:sp>
        <p:nvSpPr>
          <p:cNvPr id="23" name="Text 20"/>
          <p:cNvSpPr/>
          <p:nvPr/>
        </p:nvSpPr>
        <p:spPr>
          <a:xfrm>
            <a:off x="6163056"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Épicas FGAP040 · personajes</a:t>
            </a:r>
            <a:endParaRPr lang="en-US" sz="1300" dirty="0"/>
          </a:p>
        </p:txBody>
      </p:sp>
      <p:sp>
        <p:nvSpPr>
          <p:cNvPr id="24" name="Text 21"/>
          <p:cNvSpPr/>
          <p:nvPr/>
        </p:nvSpPr>
        <p:spPr>
          <a:xfrm>
            <a:off x="7973568"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8.5</a:t>
            </a:r>
            <a:endParaRPr lang="en-US" sz="2800" dirty="0"/>
          </a:p>
        </p:txBody>
      </p:sp>
      <p:sp>
        <p:nvSpPr>
          <p:cNvPr id="25" name="Shape 22"/>
          <p:cNvSpPr/>
          <p:nvPr/>
        </p:nvSpPr>
        <p:spPr>
          <a:xfrm>
            <a:off x="7973568" y="2377440"/>
            <a:ext cx="1600200" cy="0"/>
          </a:xfrm>
          <a:prstGeom prst="line">
            <a:avLst/>
          </a:prstGeom>
          <a:noFill/>
          <a:ln w="19050">
            <a:solidFill>
              <a:srgbClr val="3E63DD"/>
            </a:solidFill>
            <a:prstDash val="solid"/>
          </a:ln>
        </p:spPr>
      </p:sp>
      <p:sp>
        <p:nvSpPr>
          <p:cNvPr id="26" name="Text 23"/>
          <p:cNvSpPr/>
          <p:nvPr/>
        </p:nvSpPr>
        <p:spPr>
          <a:xfrm>
            <a:off x="7973568"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Crear el backlog priorizado</a:t>
            </a:r>
            <a:endParaRPr lang="en-US" sz="1600" dirty="0"/>
          </a:p>
        </p:txBody>
      </p:sp>
      <p:sp>
        <p:nvSpPr>
          <p:cNvPr id="27" name="Text 24"/>
          <p:cNvSpPr/>
          <p:nvPr/>
        </p:nvSpPr>
        <p:spPr>
          <a:xfrm>
            <a:off x="7973568"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Backlog FGAP060 · Terminado FGAP070 · Listo</a:t>
            </a:r>
            <a:endParaRPr lang="en-US" sz="1300" dirty="0"/>
          </a:p>
        </p:txBody>
      </p:sp>
      <p:sp>
        <p:nvSpPr>
          <p:cNvPr id="28" name="Text 25"/>
          <p:cNvSpPr/>
          <p:nvPr/>
        </p:nvSpPr>
        <p:spPr>
          <a:xfrm>
            <a:off x="9784080"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8.6</a:t>
            </a:r>
            <a:endParaRPr lang="en-US" sz="2800" dirty="0"/>
          </a:p>
        </p:txBody>
      </p:sp>
      <p:sp>
        <p:nvSpPr>
          <p:cNvPr id="29" name="Shape 26"/>
          <p:cNvSpPr/>
          <p:nvPr/>
        </p:nvSpPr>
        <p:spPr>
          <a:xfrm>
            <a:off x="9784080" y="2377440"/>
            <a:ext cx="1600200" cy="0"/>
          </a:xfrm>
          <a:prstGeom prst="line">
            <a:avLst/>
          </a:prstGeom>
          <a:noFill/>
          <a:ln w="19050">
            <a:solidFill>
              <a:srgbClr val="3E63DD"/>
            </a:solidFill>
            <a:prstDash val="solid"/>
          </a:ln>
        </p:spPr>
      </p:sp>
      <p:sp>
        <p:nvSpPr>
          <p:cNvPr id="30" name="Text 27"/>
          <p:cNvSpPr/>
          <p:nvPr/>
        </p:nvSpPr>
        <p:spPr>
          <a:xfrm>
            <a:off x="9784080"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Planificar la liberación</a:t>
            </a:r>
            <a:endParaRPr lang="en-US" sz="1600" dirty="0"/>
          </a:p>
        </p:txBody>
      </p:sp>
      <p:sp>
        <p:nvSpPr>
          <p:cNvPr id="31" name="Text 28"/>
          <p:cNvSpPr/>
          <p:nvPr/>
        </p:nvSpPr>
        <p:spPr>
          <a:xfrm>
            <a:off x="9784080"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Sprints de 2 semanas · cierre 14–18/12</a:t>
            </a:r>
            <a:endParaRPr lang="en-US" sz="1300" dirty="0"/>
          </a:p>
        </p:txBody>
      </p:sp>
      <p:sp>
        <p:nvSpPr>
          <p:cNvPr id="32" name="Shape 29"/>
          <p:cNvSpPr/>
          <p:nvPr/>
        </p:nvSpPr>
        <p:spPr>
          <a:xfrm>
            <a:off x="731520" y="4617720"/>
            <a:ext cx="10728655" cy="960120"/>
          </a:xfrm>
          <a:prstGeom prst="roundRect">
            <a:avLst>
              <a:gd name="adj" fmla="val 7619"/>
            </a:avLst>
          </a:prstGeom>
          <a:solidFill>
            <a:srgbClr val="EEF2FF"/>
          </a:solidFill>
          <a:ln w="9525">
            <a:solidFill>
              <a:srgbClr val="C7D2FE"/>
            </a:solidFill>
            <a:prstDash val="solid"/>
          </a:ln>
        </p:spPr>
      </p:sp>
      <p:sp>
        <p:nvSpPr>
          <p:cNvPr id="33" name="Text 30"/>
          <p:cNvSpPr/>
          <p:nvPr/>
        </p:nvSpPr>
        <p:spPr>
          <a:xfrm>
            <a:off x="1051560" y="4892040"/>
            <a:ext cx="10088575" cy="457200"/>
          </a:xfrm>
          <a:prstGeom prst="rect">
            <a:avLst/>
          </a:prstGeom>
          <a:noFill/>
          <a:ln/>
        </p:spPr>
        <p:txBody>
          <a:bodyPr wrap="square" lIns="0" tIns="0" rIns="0" bIns="0" rtlCol="0" anchor="t"/>
          <a:lstStyle/>
          <a:p>
            <a:pPr indent="0" marL="0">
              <a:buNone/>
            </a:pPr>
            <a:r>
              <a:rPr lang="en-US" sz="1600" dirty="0">
                <a:solidFill>
                  <a:srgbClr val="1A1A1A"/>
                </a:solidFill>
                <a:latin typeface="Calibri" pitchFamily="34" charset="0"/>
                <a:ea typeface="Calibri" pitchFamily="34" charset="-122"/>
                <a:cs typeface="Calibri" pitchFamily="34" charset="-120"/>
              </a:rPr>
              <a:t>Y de la fase siguiente: </a:t>
            </a:r>
            <a:pPr indent="0" marL="0">
              <a:buNone/>
            </a:pPr>
            <a:r>
              <a:rPr lang="en-US" sz="1600" b="1" dirty="0">
                <a:solidFill>
                  <a:srgbClr val="1A1A1A"/>
                </a:solidFill>
                <a:latin typeface="Calibri" pitchFamily="34" charset="0"/>
                <a:ea typeface="Calibri" pitchFamily="34" charset="-122"/>
                <a:cs typeface="Calibri" pitchFamily="34" charset="-120"/>
              </a:rPr>
              <a:t>9.1 Crear historias</a:t>
            </a:r>
            <a:pPr indent="0" marL="0">
              <a:buNone/>
            </a:pPr>
            <a:r>
              <a:rPr lang="en-US" sz="1600" dirty="0">
                <a:solidFill>
                  <a:srgbClr val="1A1A1A"/>
                </a:solidFill>
                <a:latin typeface="Calibri" pitchFamily="34" charset="0"/>
                <a:ea typeface="Calibri" pitchFamily="34" charset="-122"/>
                <a:cs typeface="Calibri" pitchFamily="34" charset="-120"/>
              </a:rPr>
              <a:t> (FGAP040) y </a:t>
            </a:r>
            <a:pPr indent="0" marL="0">
              <a:buNone/>
            </a:pPr>
            <a:r>
              <a:rPr lang="en-US" sz="1600" b="1" dirty="0">
                <a:solidFill>
                  <a:srgbClr val="1A1A1A"/>
                </a:solidFill>
                <a:latin typeface="Calibri" pitchFamily="34" charset="0"/>
                <a:ea typeface="Calibri" pitchFamily="34" charset="-122"/>
                <a:cs typeface="Calibri" pitchFamily="34" charset="-120"/>
              </a:rPr>
              <a:t>9.2 Estimar historias</a:t>
            </a:r>
            <a:pPr indent="0" marL="0">
              <a:buNone/>
            </a:pPr>
            <a:r>
              <a:rPr lang="en-US" sz="1600" dirty="0">
                <a:solidFill>
                  <a:srgbClr val="1A1A1A"/>
                </a:solidFill>
                <a:latin typeface="Calibri" pitchFamily="34" charset="0"/>
                <a:ea typeface="Calibri" pitchFamily="34" charset="-122"/>
                <a:cs typeface="Calibri" pitchFamily="34" charset="-120"/>
              </a:rPr>
              <a:t> (puño de cinco).</a:t>
            </a:r>
            <a:endParaRPr lang="en-US" sz="1600" dirty="0"/>
          </a:p>
        </p:txBody>
      </p:sp>
      <p:sp>
        <p:nvSpPr>
          <p:cNvPr id="34" name="Text 31"/>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tabla 1-1 (p. 15) y procesos 8.1–9.2 (pp. 139–195).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INSPECCIONAR Y ADAPTAR</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Cómo evolucionó la idea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15</a:t>
            </a:r>
            <a:endParaRPr lang="en-US" sz="1000" dirty="0"/>
          </a:p>
        </p:txBody>
      </p:sp>
      <p:sp>
        <p:nvSpPr>
          <p:cNvPr id="8" name="Text 5"/>
          <p:cNvSpPr/>
          <p:nvPr/>
        </p:nvSpPr>
        <p:spPr>
          <a:xfrm>
            <a:off x="731520"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SEMANAS 2–3</a:t>
            </a:r>
            <a:endParaRPr lang="en-US" sz="1100" dirty="0"/>
          </a:p>
        </p:txBody>
      </p:sp>
      <p:sp>
        <p:nvSpPr>
          <p:cNvPr id="9" name="Text 6"/>
          <p:cNvSpPr/>
          <p:nvPr/>
        </p:nvSpPr>
        <p:spPr>
          <a:xfrm>
            <a:off x="731520"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VIGIA Industrial</a:t>
            </a:r>
            <a:endParaRPr lang="en-US" sz="2800" dirty="0"/>
          </a:p>
        </p:txBody>
      </p:sp>
      <p:sp>
        <p:nvSpPr>
          <p:cNvPr id="10" name="Text 7"/>
          <p:cNvSpPr/>
          <p:nvPr/>
        </p:nvSpPr>
        <p:spPr>
          <a:xfrm>
            <a:off x="731520"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Detectaba casco y chaleco en cámaras en vivo.</a:t>
            </a:r>
            <a:endParaRPr lang="en-US" sz="1500" dirty="0"/>
          </a:p>
        </p:txBody>
      </p:sp>
      <p:sp>
        <p:nvSpPr>
          <p:cNvPr id="11" name="Text 8"/>
          <p:cNvSpPr/>
          <p:nvPr/>
        </p:nvSpPr>
        <p:spPr>
          <a:xfrm>
            <a:off x="731520" y="3611880"/>
            <a:ext cx="3200400" cy="731520"/>
          </a:xfrm>
          <a:prstGeom prst="rect">
            <a:avLst/>
          </a:prstGeom>
          <a:noFill/>
          <a:ln/>
        </p:spPr>
        <p:txBody>
          <a:bodyPr wrap="square" lIns="0" tIns="0" rIns="0" bIns="0" rtlCol="0" anchor="t"/>
          <a:lstStyle/>
          <a:p>
            <a:pPr indent="0" marL="0">
              <a:buNone/>
            </a:pPr>
            <a:r>
              <a:rPr lang="en-US" sz="1500" b="1" dirty="0">
                <a:solidFill>
                  <a:srgbClr val="C2410C"/>
                </a:solidFill>
                <a:latin typeface="Calibri" pitchFamily="34" charset="0"/>
                <a:ea typeface="Calibri" pitchFamily="34" charset="-122"/>
                <a:cs typeface="Calibri" pitchFamily="34" charset="-120"/>
              </a:rPr>
              <a:t>Problema: veía objetos, no conductas.</a:t>
            </a:r>
            <a:endParaRPr lang="en-US" sz="1500" dirty="0"/>
          </a:p>
        </p:txBody>
      </p:sp>
      <p:sp>
        <p:nvSpPr>
          <p:cNvPr id="12" name="Shape 9"/>
          <p:cNvSpPr/>
          <p:nvPr/>
        </p:nvSpPr>
        <p:spPr>
          <a:xfrm>
            <a:off x="3977640" y="2423160"/>
            <a:ext cx="320040" cy="0"/>
          </a:xfrm>
          <a:prstGeom prst="line">
            <a:avLst/>
          </a:prstGeom>
          <a:noFill/>
          <a:ln w="12700">
            <a:solidFill>
              <a:srgbClr val="8A8984"/>
            </a:solidFill>
            <a:prstDash val="solid"/>
            <a:tailEnd type="triangle"/>
          </a:ln>
        </p:spPr>
      </p:sp>
      <p:sp>
        <p:nvSpPr>
          <p:cNvPr id="13" name="Text 10"/>
          <p:cNvSpPr/>
          <p:nvPr/>
        </p:nvSpPr>
        <p:spPr>
          <a:xfrm>
            <a:off x="4370832"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 4</a:t>
            </a:r>
            <a:endParaRPr lang="en-US" sz="1100" dirty="0"/>
          </a:p>
        </p:txBody>
      </p:sp>
      <p:sp>
        <p:nvSpPr>
          <p:cNvPr id="14" name="Text 11"/>
          <p:cNvSpPr/>
          <p:nvPr/>
        </p:nvSpPr>
        <p:spPr>
          <a:xfrm>
            <a:off x="4370832"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Elegimos Unsafe-Net</a:t>
            </a:r>
            <a:endParaRPr lang="en-US" sz="2800" dirty="0"/>
          </a:p>
        </p:txBody>
      </p:sp>
      <p:sp>
        <p:nvSpPr>
          <p:cNvPr id="15" name="Text 12"/>
          <p:cNvSpPr/>
          <p:nvPr/>
        </p:nvSpPr>
        <p:spPr>
          <a:xfrm>
            <a:off x="4370832"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Una investigación que reconoce conductas en el tiempo.</a:t>
            </a:r>
            <a:endParaRPr lang="en-US" sz="1500" dirty="0"/>
          </a:p>
        </p:txBody>
      </p:sp>
      <p:sp>
        <p:nvSpPr>
          <p:cNvPr id="16" name="Text 13"/>
          <p:cNvSpPr/>
          <p:nvPr/>
        </p:nvSpPr>
        <p:spPr>
          <a:xfrm>
            <a:off x="4370832" y="3611880"/>
            <a:ext cx="3200400" cy="731520"/>
          </a:xfrm>
          <a:prstGeom prst="rect">
            <a:avLst/>
          </a:prstGeom>
          <a:noFill/>
          <a:ln/>
        </p:spPr>
        <p:txBody>
          <a:bodyPr wrap="square" lIns="0" tIns="0" rIns="0" bIns="0" rtlCol="0" anchor="t"/>
          <a:lstStyle/>
          <a:p>
            <a:pPr indent="0" marL="0">
              <a:buNone/>
            </a:pPr>
            <a:r>
              <a:rPr lang="en-US" sz="1500" b="1" dirty="0">
                <a:solidFill>
                  <a:srgbClr val="2F855A"/>
                </a:solidFill>
                <a:latin typeface="Calibri" pitchFamily="34" charset="0"/>
                <a:ea typeface="Calibri" pitchFamily="34" charset="-122"/>
                <a:cs typeface="Calibri" pitchFamily="34" charset="-120"/>
              </a:rPr>
              <a:t>Ganancia: datos públicos; se va el mayor riesgo.</a:t>
            </a:r>
            <a:endParaRPr lang="en-US" sz="1500" dirty="0"/>
          </a:p>
        </p:txBody>
      </p:sp>
      <p:sp>
        <p:nvSpPr>
          <p:cNvPr id="17" name="Shape 14"/>
          <p:cNvSpPr/>
          <p:nvPr/>
        </p:nvSpPr>
        <p:spPr>
          <a:xfrm>
            <a:off x="7616952" y="2423160"/>
            <a:ext cx="320040" cy="0"/>
          </a:xfrm>
          <a:prstGeom prst="line">
            <a:avLst/>
          </a:prstGeom>
          <a:noFill/>
          <a:ln w="12700">
            <a:solidFill>
              <a:srgbClr val="8A8984"/>
            </a:solidFill>
            <a:prstDash val="solid"/>
            <a:tailEnd type="triangle"/>
          </a:ln>
        </p:spPr>
      </p:sp>
      <p:sp>
        <p:nvSpPr>
          <p:cNvPr id="18" name="Text 15"/>
          <p:cNvSpPr/>
          <p:nvPr/>
        </p:nvSpPr>
        <p:spPr>
          <a:xfrm>
            <a:off x="8010144"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 5</a:t>
            </a:r>
            <a:endParaRPr lang="en-US" sz="1100" dirty="0"/>
          </a:p>
        </p:txBody>
      </p:sp>
      <p:sp>
        <p:nvSpPr>
          <p:cNvPr id="19" name="Text 16"/>
          <p:cNvSpPr/>
          <p:nvPr/>
        </p:nvSpPr>
        <p:spPr>
          <a:xfrm>
            <a:off x="8010144"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NewBit</a:t>
            </a:r>
            <a:endParaRPr lang="en-US" sz="2800" dirty="0"/>
          </a:p>
        </p:txBody>
      </p:sp>
      <p:sp>
        <p:nvSpPr>
          <p:cNvPr id="20" name="Text 17"/>
          <p:cNvSpPr/>
          <p:nvPr/>
        </p:nvSpPr>
        <p:spPr>
          <a:xfrm>
            <a:off x="8010144"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Taller metalmecánico, video por lotes y 12 historias con criterios.</a:t>
            </a:r>
            <a:endParaRPr lang="en-US" sz="1500" dirty="0"/>
          </a:p>
        </p:txBody>
      </p:sp>
      <p:sp>
        <p:nvSpPr>
          <p:cNvPr id="21" name="Text 18"/>
          <p:cNvSpPr/>
          <p:nvPr/>
        </p:nvSpPr>
        <p:spPr>
          <a:xfrm>
            <a:off x="8010144" y="3611880"/>
            <a:ext cx="3200400" cy="731520"/>
          </a:xfrm>
          <a:prstGeom prst="rect">
            <a:avLst/>
          </a:prstGeom>
          <a:noFill/>
          <a:ln/>
        </p:spPr>
        <p:txBody>
          <a:bodyPr wrap="square" lIns="0" tIns="0" rIns="0" bIns="0" rtlCol="0" anchor="t"/>
          <a:lstStyle/>
          <a:p>
            <a:pPr indent="0" marL="0">
              <a:buNone/>
            </a:pPr>
            <a:r>
              <a:rPr lang="en-US" sz="1500" b="1" dirty="0">
                <a:solidFill>
                  <a:srgbClr val="2F855A"/>
                </a:solidFill>
                <a:latin typeface="Calibri" pitchFamily="34" charset="0"/>
                <a:ea typeface="Calibri" pitchFamily="34" charset="-122"/>
                <a:cs typeface="Calibri" pitchFamily="34" charset="-120"/>
              </a:rPr>
              <a:t>Resultado: formatos coherentes entre sí.</a:t>
            </a:r>
            <a:endParaRPr lang="en-US" sz="1500" dirty="0"/>
          </a:p>
        </p:txBody>
      </p:sp>
      <p:sp>
        <p:nvSpPr>
          <p:cNvPr id="22" name="Shape 19"/>
          <p:cNvSpPr/>
          <p:nvPr/>
        </p:nvSpPr>
        <p:spPr>
          <a:xfrm>
            <a:off x="731520" y="4709160"/>
            <a:ext cx="10728655" cy="0"/>
          </a:xfrm>
          <a:prstGeom prst="line">
            <a:avLst/>
          </a:prstGeom>
          <a:noFill/>
          <a:ln w="9525">
            <a:solidFill>
              <a:srgbClr val="E7E5E4"/>
            </a:solidFill>
            <a:prstDash val="solid"/>
          </a:ln>
        </p:spPr>
      </p:sp>
      <p:sp>
        <p:nvSpPr>
          <p:cNvPr id="23" name="Text 20"/>
          <p:cNvSpPr/>
          <p:nvPr/>
        </p:nvSpPr>
        <p:spPr>
          <a:xfrm>
            <a:off x="731520" y="4892040"/>
            <a:ext cx="10728655" cy="54864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Lo que </a:t>
            </a:r>
            <a:pPr indent="0" marL="0">
              <a:buNone/>
            </a:pPr>
            <a:r>
              <a:rPr lang="en-US" sz="1600" b="1" dirty="0">
                <a:solidFill>
                  <a:srgbClr val="57534E"/>
                </a:solidFill>
                <a:latin typeface="Calibri" pitchFamily="34" charset="0"/>
                <a:ea typeface="Calibri" pitchFamily="34" charset="-122"/>
                <a:cs typeface="Calibri" pitchFamily="34" charset="-120"/>
              </a:rPr>
              <a:t>no</a:t>
            </a:r>
            <a:pPr indent="0" marL="0">
              <a:buNone/>
            </a:pPr>
            <a:r>
              <a:rPr lang="en-US" sz="1600" dirty="0">
                <a:solidFill>
                  <a:srgbClr val="57534E"/>
                </a:solidFill>
                <a:latin typeface="Calibri" pitchFamily="34" charset="0"/>
                <a:ea typeface="Calibri" pitchFamily="34" charset="-122"/>
                <a:cs typeface="Calibri" pitchFamily="34" charset="-120"/>
              </a:rPr>
              <a:t> cambió: sin reconocimiento facial · la decisión final es humana · se evalúa el evento completo, no una imagen suelta.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PARTE 3</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Lo que entregamos,</a:t>
            </a:r>
            <a:endParaRPr lang="en-US" sz="5400" dirty="0"/>
          </a:p>
        </p:txBody>
      </p:sp>
      <p:sp>
        <p:nvSpPr>
          <p:cNvPr id="8" name="Text 5"/>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semana a semana</a:t>
            </a:r>
            <a:endParaRPr lang="en-US" sz="5400" dirty="0"/>
          </a:p>
        </p:txBody>
      </p:sp>
      <p:sp>
        <p:nvSpPr>
          <p:cNvPr id="9" name="Text 6"/>
          <p:cNvSpPr/>
          <p:nvPr/>
        </p:nvSpPr>
        <p:spPr>
          <a:xfrm>
            <a:off x="73152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2 · Acta</a:t>
            </a:r>
            <a:endParaRPr lang="en-US" sz="1400" dirty="0"/>
          </a:p>
        </p:txBody>
      </p:sp>
      <p:sp>
        <p:nvSpPr>
          <p:cNvPr id="10" name="Shape 7"/>
          <p:cNvSpPr/>
          <p:nvPr/>
        </p:nvSpPr>
        <p:spPr>
          <a:xfrm>
            <a:off x="731520" y="4206240"/>
            <a:ext cx="1920240" cy="0"/>
          </a:xfrm>
          <a:prstGeom prst="line">
            <a:avLst/>
          </a:prstGeom>
          <a:noFill/>
          <a:ln w="19050">
            <a:solidFill>
              <a:srgbClr val="2B2B2A"/>
            </a:solidFill>
            <a:prstDash val="solid"/>
          </a:ln>
        </p:spPr>
      </p:sp>
      <p:sp>
        <p:nvSpPr>
          <p:cNvPr id="11" name="Text 8"/>
          <p:cNvSpPr/>
          <p:nvPr/>
        </p:nvSpPr>
        <p:spPr>
          <a:xfrm>
            <a:off x="292608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3 · Roles y visión</a:t>
            </a:r>
            <a:endParaRPr lang="en-US" sz="1400" dirty="0"/>
          </a:p>
        </p:txBody>
      </p:sp>
      <p:sp>
        <p:nvSpPr>
          <p:cNvPr id="12" name="Shape 9"/>
          <p:cNvSpPr/>
          <p:nvPr/>
        </p:nvSpPr>
        <p:spPr>
          <a:xfrm>
            <a:off x="2926080" y="4206240"/>
            <a:ext cx="1920240" cy="0"/>
          </a:xfrm>
          <a:prstGeom prst="line">
            <a:avLst/>
          </a:prstGeom>
          <a:noFill/>
          <a:ln w="19050">
            <a:solidFill>
              <a:srgbClr val="2B2B2A"/>
            </a:solidFill>
            <a:prstDash val="solid"/>
          </a:ln>
        </p:spPr>
      </p:sp>
      <p:sp>
        <p:nvSpPr>
          <p:cNvPr id="13" name="Text 10"/>
          <p:cNvSpPr/>
          <p:nvPr/>
        </p:nvSpPr>
        <p:spPr>
          <a:xfrm>
            <a:off x="512064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4 · Justificación y épicas</a:t>
            </a:r>
            <a:endParaRPr lang="en-US" sz="1400" dirty="0"/>
          </a:p>
        </p:txBody>
      </p:sp>
      <p:sp>
        <p:nvSpPr>
          <p:cNvPr id="14" name="Shape 11"/>
          <p:cNvSpPr/>
          <p:nvPr/>
        </p:nvSpPr>
        <p:spPr>
          <a:xfrm>
            <a:off x="5120640" y="4206240"/>
            <a:ext cx="1920240" cy="0"/>
          </a:xfrm>
          <a:prstGeom prst="line">
            <a:avLst/>
          </a:prstGeom>
          <a:noFill/>
          <a:ln w="19050">
            <a:solidFill>
              <a:srgbClr val="2B2B2A"/>
            </a:solidFill>
            <a:prstDash val="solid"/>
          </a:ln>
        </p:spPr>
      </p:sp>
      <p:sp>
        <p:nvSpPr>
          <p:cNvPr id="15" name="Text 12"/>
          <p:cNvSpPr/>
          <p:nvPr/>
        </p:nvSpPr>
        <p:spPr>
          <a:xfrm>
            <a:off x="731520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5 · Backlog y calidad</a:t>
            </a:r>
            <a:endParaRPr lang="en-US" sz="1400" dirty="0"/>
          </a:p>
        </p:txBody>
      </p:sp>
      <p:sp>
        <p:nvSpPr>
          <p:cNvPr id="16" name="Shape 13"/>
          <p:cNvSpPr/>
          <p:nvPr/>
        </p:nvSpPr>
        <p:spPr>
          <a:xfrm>
            <a:off x="7315200" y="4206240"/>
            <a:ext cx="1920240" cy="0"/>
          </a:xfrm>
          <a:prstGeom prst="line">
            <a:avLst/>
          </a:prstGeom>
          <a:noFill/>
          <a:ln w="19050">
            <a:solidFill>
              <a:srgbClr val="2B2B2A"/>
            </a:solidFill>
            <a:prstDash val="solid"/>
          </a:ln>
        </p:spPr>
      </p:sp>
      <p:sp>
        <p:nvSpPr>
          <p:cNvPr id="17" name="Text 14"/>
          <p:cNvSpPr/>
          <p:nvPr/>
        </p:nvSpPr>
        <p:spPr>
          <a:xfrm>
            <a:off x="950976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6 · Lo que faltaba</a:t>
            </a:r>
            <a:endParaRPr lang="en-US" sz="1400" dirty="0"/>
          </a:p>
        </p:txBody>
      </p:sp>
      <p:sp>
        <p:nvSpPr>
          <p:cNvPr id="18" name="Shape 15"/>
          <p:cNvSpPr/>
          <p:nvPr/>
        </p:nvSpPr>
        <p:spPr>
          <a:xfrm>
            <a:off x="9509760" y="4206240"/>
            <a:ext cx="1920240" cy="0"/>
          </a:xfrm>
          <a:prstGeom prst="line">
            <a:avLst/>
          </a:prstGeom>
          <a:noFill/>
          <a:ln w="19050">
            <a:solidFill>
              <a:srgbClr val="2B2B2A"/>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2 · ACTA DE CONSTITUCIÓN (FGAP010)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El proyecto en una página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17</a:t>
            </a:r>
            <a:endParaRPr lang="en-US" sz="1000" dirty="0"/>
          </a:p>
        </p:txBody>
      </p:sp>
      <p:sp>
        <p:nvSpPr>
          <p:cNvPr id="8" name="Text 5"/>
          <p:cNvSpPr/>
          <p:nvPr/>
        </p:nvSpPr>
        <p:spPr>
          <a:xfrm>
            <a:off x="731520" y="182880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2</a:t>
            </a:r>
            <a:endParaRPr lang="en-US" sz="3600" dirty="0"/>
          </a:p>
        </p:txBody>
      </p:sp>
      <p:sp>
        <p:nvSpPr>
          <p:cNvPr id="9" name="Text 6"/>
          <p:cNvSpPr/>
          <p:nvPr/>
        </p:nvSpPr>
        <p:spPr>
          <a:xfrm>
            <a:off x="731520" y="254203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conductas priorizadas</a:t>
            </a:r>
            <a:endParaRPr lang="en-US" sz="1500" dirty="0"/>
          </a:p>
        </p:txBody>
      </p:sp>
      <p:sp>
        <p:nvSpPr>
          <p:cNvPr id="10" name="Text 7"/>
          <p:cNvSpPr/>
          <p:nvPr/>
        </p:nvSpPr>
        <p:spPr>
          <a:xfrm>
            <a:off x="731520" y="286207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con sus casos seguros de contraste</a:t>
            </a:r>
            <a:endParaRPr lang="en-US" sz="1300" dirty="0"/>
          </a:p>
        </p:txBody>
      </p:sp>
      <p:sp>
        <p:nvSpPr>
          <p:cNvPr id="11" name="Text 8"/>
          <p:cNvSpPr/>
          <p:nvPr/>
        </p:nvSpPr>
        <p:spPr>
          <a:xfrm>
            <a:off x="3474720" y="182880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S/ 20 768</a:t>
            </a:r>
            <a:endParaRPr lang="en-US" sz="3600" dirty="0"/>
          </a:p>
        </p:txBody>
      </p:sp>
      <p:sp>
        <p:nvSpPr>
          <p:cNvPr id="12" name="Text 9"/>
          <p:cNvSpPr/>
          <p:nvPr/>
        </p:nvSpPr>
        <p:spPr>
          <a:xfrm>
            <a:off x="3474720" y="254203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de presupuesto</a:t>
            </a:r>
            <a:endParaRPr lang="en-US" sz="1500" dirty="0"/>
          </a:p>
        </p:txBody>
      </p:sp>
      <p:sp>
        <p:nvSpPr>
          <p:cNvPr id="13" name="Text 10"/>
          <p:cNvSpPr/>
          <p:nvPr/>
        </p:nvSpPr>
        <p:spPr>
          <a:xfrm>
            <a:off x="3474720" y="286207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90 % es dedicación valorizada del equipo</a:t>
            </a:r>
            <a:endParaRPr lang="en-US" sz="1300" dirty="0"/>
          </a:p>
        </p:txBody>
      </p:sp>
      <p:sp>
        <p:nvSpPr>
          <p:cNvPr id="14" name="Text 11"/>
          <p:cNvSpPr/>
          <p:nvPr/>
        </p:nvSpPr>
        <p:spPr>
          <a:xfrm>
            <a:off x="731520" y="374904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11 semanas</a:t>
            </a:r>
            <a:endParaRPr lang="en-US" sz="3600" dirty="0"/>
          </a:p>
        </p:txBody>
      </p:sp>
      <p:sp>
        <p:nvSpPr>
          <p:cNvPr id="15" name="Text 12"/>
          <p:cNvSpPr/>
          <p:nvPr/>
        </p:nvSpPr>
        <p:spPr>
          <a:xfrm>
            <a:off x="731520" y="446227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del 05/10 al 18/12</a:t>
            </a:r>
            <a:endParaRPr lang="en-US" sz="1500" dirty="0"/>
          </a:p>
        </p:txBody>
      </p:sp>
      <p:sp>
        <p:nvSpPr>
          <p:cNvPr id="16" name="Text 13"/>
          <p:cNvSpPr/>
          <p:nvPr/>
        </p:nvSpPr>
        <p:spPr>
          <a:xfrm>
            <a:off x="731520" y="478231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inicio, cuatro sprints y cierre</a:t>
            </a:r>
            <a:endParaRPr lang="en-US" sz="1300" dirty="0"/>
          </a:p>
        </p:txBody>
      </p:sp>
      <p:sp>
        <p:nvSpPr>
          <p:cNvPr id="17" name="Text 14"/>
          <p:cNvSpPr/>
          <p:nvPr/>
        </p:nvSpPr>
        <p:spPr>
          <a:xfrm>
            <a:off x="3474720" y="374904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7 riesgos</a:t>
            </a:r>
            <a:endParaRPr lang="en-US" sz="3600" dirty="0"/>
          </a:p>
        </p:txBody>
      </p:sp>
      <p:sp>
        <p:nvSpPr>
          <p:cNvPr id="18" name="Text 15"/>
          <p:cNvSpPr/>
          <p:nvPr/>
        </p:nvSpPr>
        <p:spPr>
          <a:xfrm>
            <a:off x="3474720" y="446227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con respuesta prevista</a:t>
            </a:r>
            <a:endParaRPr lang="en-US" sz="1500" dirty="0"/>
          </a:p>
        </p:txBody>
      </p:sp>
      <p:sp>
        <p:nvSpPr>
          <p:cNvPr id="19" name="Text 16"/>
          <p:cNvSpPr/>
          <p:nvPr/>
        </p:nvSpPr>
        <p:spPr>
          <a:xfrm>
            <a:off x="3474720" y="478231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el mayor: ajustar el modelo temporal</a:t>
            </a:r>
            <a:endParaRPr lang="en-US" sz="1300" dirty="0"/>
          </a:p>
        </p:txBody>
      </p:sp>
      <p:pic>
        <p:nvPicPr>
          <p:cNvPr id="20" name="Image 0" descr="/Users/anthony/Documents/Projects/NewBit/curso/semana-06-producto-unidad-1/nuestras-entregas/PPT_Producto_Unidad_1_NewBit/img/cuadro-principios.png">    </p:cNvPr>
          <p:cNvPicPr>
            <a:picLocks noChangeAspect="1"/>
          </p:cNvPicPr>
          <p:nvPr/>
        </p:nvPicPr>
        <p:blipFill>
          <a:blip r:embed="rId1"/>
          <a:stretch>
            <a:fillRect/>
          </a:stretch>
        </p:blipFill>
        <p:spPr>
          <a:xfrm>
            <a:off x="6446520" y="1828800"/>
            <a:ext cx="5010912" cy="2816352"/>
          </a:xfrm>
          <a:prstGeom prst="rect">
            <a:avLst/>
          </a:prstGeom>
        </p:spPr>
      </p:pic>
      <p:sp>
        <p:nvSpPr>
          <p:cNvPr id="21" name="Shape 17"/>
          <p:cNvSpPr/>
          <p:nvPr/>
        </p:nvSpPr>
        <p:spPr>
          <a:xfrm>
            <a:off x="6446520" y="1828800"/>
            <a:ext cx="5010912" cy="2816352"/>
          </a:xfrm>
          <a:prstGeom prst="rect">
            <a:avLst/>
          </a:prstGeom>
          <a:ln w="9525">
            <a:solidFill>
              <a:srgbClr val="E7E5E4"/>
            </a:solidFill>
            <a:prstDash val="solid"/>
          </a:ln>
        </p:spPr>
      </p:sp>
      <p:sp>
        <p:nvSpPr>
          <p:cNvPr id="22" name="Text 18"/>
          <p:cNvSpPr/>
          <p:nvPr/>
        </p:nvSpPr>
        <p:spPr>
          <a:xfrm>
            <a:off x="6446520" y="4754880"/>
            <a:ext cx="5029200" cy="45720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También en la semana 2: cuadro comparativo de los principios de Scrum.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3 · ROLES Y PROTOTIPOS (FGAP030)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Cinco personas usan NewBit</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731520" y="1828800"/>
            <a:ext cx="2011680" cy="3383280"/>
          </a:xfrm>
          <a:prstGeom prst="roundRect">
            <a:avLst>
              <a:gd name="adj" fmla="val 3636"/>
            </a:avLst>
          </a:prstGeom>
          <a:solidFill>
            <a:srgbClr val="FFFFFF"/>
          </a:solidFill>
          <a:ln w="9525">
            <a:solidFill>
              <a:srgbClr val="E7E5E4"/>
            </a:solidFill>
            <a:prstDash val="solid"/>
          </a:ln>
        </p:spPr>
      </p:sp>
      <p:sp>
        <p:nvSpPr>
          <p:cNvPr id="9" name="Shape 6"/>
          <p:cNvSpPr/>
          <p:nvPr/>
        </p:nvSpPr>
        <p:spPr>
          <a:xfrm>
            <a:off x="1005840" y="2103120"/>
            <a:ext cx="640080" cy="640080"/>
          </a:xfrm>
          <a:prstGeom prst="ellipse">
            <a:avLst/>
          </a:prstGeom>
          <a:solidFill>
            <a:srgbClr val="EEF2FF"/>
          </a:solidFill>
          <a:ln w="12700">
            <a:solidFill>
              <a:srgbClr val="C7D2FE"/>
            </a:solidFill>
            <a:prstDash val="solid"/>
          </a:ln>
        </p:spPr>
      </p:sp>
      <p:sp>
        <p:nvSpPr>
          <p:cNvPr id="10" name="Text 7"/>
          <p:cNvSpPr/>
          <p:nvPr/>
        </p:nvSpPr>
        <p:spPr>
          <a:xfrm>
            <a:off x="1005840"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JP</a:t>
            </a:r>
            <a:endParaRPr lang="en-US" sz="1500" dirty="0"/>
          </a:p>
        </p:txBody>
      </p:sp>
      <p:sp>
        <p:nvSpPr>
          <p:cNvPr id="11" name="Text 8"/>
          <p:cNvSpPr/>
          <p:nvPr/>
        </p:nvSpPr>
        <p:spPr>
          <a:xfrm>
            <a:off x="1005840"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Jorge Ponce</a:t>
            </a:r>
            <a:endParaRPr lang="en-US" sz="1600" dirty="0"/>
          </a:p>
        </p:txBody>
      </p:sp>
      <p:sp>
        <p:nvSpPr>
          <p:cNvPr id="12" name="Text 9"/>
          <p:cNvSpPr/>
          <p:nvPr/>
        </p:nvSpPr>
        <p:spPr>
          <a:xfrm>
            <a:off x="1005840"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Administrador (TI)</a:t>
            </a:r>
            <a:endParaRPr lang="en-US" sz="1250" dirty="0"/>
          </a:p>
        </p:txBody>
      </p:sp>
      <p:sp>
        <p:nvSpPr>
          <p:cNvPr id="13" name="Text 10"/>
          <p:cNvSpPr/>
          <p:nvPr/>
        </p:nvSpPr>
        <p:spPr>
          <a:xfrm>
            <a:off x="1005840"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Cargar videos y ajustar la sensibilidad sin tocar código.</a:t>
            </a:r>
            <a:endParaRPr lang="en-US" sz="1350" dirty="0"/>
          </a:p>
        </p:txBody>
      </p:sp>
      <p:sp>
        <p:nvSpPr>
          <p:cNvPr id="14" name="Shape 11"/>
          <p:cNvSpPr/>
          <p:nvPr/>
        </p:nvSpPr>
        <p:spPr>
          <a:xfrm>
            <a:off x="2898648" y="1828800"/>
            <a:ext cx="2011680" cy="3383280"/>
          </a:xfrm>
          <a:prstGeom prst="roundRect">
            <a:avLst>
              <a:gd name="adj" fmla="val 3636"/>
            </a:avLst>
          </a:prstGeom>
          <a:solidFill>
            <a:srgbClr val="FFFFFF"/>
          </a:solidFill>
          <a:ln w="9525">
            <a:solidFill>
              <a:srgbClr val="E7E5E4"/>
            </a:solidFill>
            <a:prstDash val="solid"/>
          </a:ln>
        </p:spPr>
      </p:sp>
      <p:sp>
        <p:nvSpPr>
          <p:cNvPr id="15" name="Shape 12"/>
          <p:cNvSpPr/>
          <p:nvPr/>
        </p:nvSpPr>
        <p:spPr>
          <a:xfrm>
            <a:off x="3172968" y="2103120"/>
            <a:ext cx="640080" cy="640080"/>
          </a:xfrm>
          <a:prstGeom prst="ellipse">
            <a:avLst/>
          </a:prstGeom>
          <a:solidFill>
            <a:srgbClr val="EEF2FF"/>
          </a:solidFill>
          <a:ln w="12700">
            <a:solidFill>
              <a:srgbClr val="C7D2FE"/>
            </a:solidFill>
            <a:prstDash val="solid"/>
          </a:ln>
        </p:spPr>
      </p:sp>
      <p:sp>
        <p:nvSpPr>
          <p:cNvPr id="16" name="Text 13"/>
          <p:cNvSpPr/>
          <p:nvPr/>
        </p:nvSpPr>
        <p:spPr>
          <a:xfrm>
            <a:off x="3172968"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MT</a:t>
            </a:r>
            <a:endParaRPr lang="en-US" sz="1500" dirty="0"/>
          </a:p>
        </p:txBody>
      </p:sp>
      <p:sp>
        <p:nvSpPr>
          <p:cNvPr id="17" name="Text 14"/>
          <p:cNvSpPr/>
          <p:nvPr/>
        </p:nvSpPr>
        <p:spPr>
          <a:xfrm>
            <a:off x="3172968"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Mariana Torres</a:t>
            </a:r>
            <a:endParaRPr lang="en-US" sz="1600" dirty="0"/>
          </a:p>
        </p:txBody>
      </p:sp>
      <p:sp>
        <p:nvSpPr>
          <p:cNvPr id="18" name="Text 15"/>
          <p:cNvSpPr/>
          <p:nvPr/>
        </p:nvSpPr>
        <p:spPr>
          <a:xfrm>
            <a:off x="3172968"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Supervisora de SST</a:t>
            </a:r>
            <a:endParaRPr lang="en-US" sz="1250" dirty="0"/>
          </a:p>
        </p:txBody>
      </p:sp>
      <p:sp>
        <p:nvSpPr>
          <p:cNvPr id="19" name="Text 16"/>
          <p:cNvSpPr/>
          <p:nvPr/>
        </p:nvSpPr>
        <p:spPr>
          <a:xfrm>
            <a:off x="3172968"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Alertas con un clip corto de evidencia.</a:t>
            </a:r>
            <a:endParaRPr lang="en-US" sz="1350" dirty="0"/>
          </a:p>
        </p:txBody>
      </p:sp>
      <p:sp>
        <p:nvSpPr>
          <p:cNvPr id="20" name="Shape 17"/>
          <p:cNvSpPr/>
          <p:nvPr/>
        </p:nvSpPr>
        <p:spPr>
          <a:xfrm>
            <a:off x="5065776" y="1828800"/>
            <a:ext cx="2011680" cy="3383280"/>
          </a:xfrm>
          <a:prstGeom prst="roundRect">
            <a:avLst>
              <a:gd name="adj" fmla="val 3636"/>
            </a:avLst>
          </a:prstGeom>
          <a:solidFill>
            <a:srgbClr val="FFFFFF"/>
          </a:solidFill>
          <a:ln w="9525">
            <a:solidFill>
              <a:srgbClr val="E7E5E4"/>
            </a:solidFill>
            <a:prstDash val="solid"/>
          </a:ln>
        </p:spPr>
      </p:sp>
      <p:sp>
        <p:nvSpPr>
          <p:cNvPr id="21" name="Shape 18"/>
          <p:cNvSpPr/>
          <p:nvPr/>
        </p:nvSpPr>
        <p:spPr>
          <a:xfrm>
            <a:off x="5340096" y="2103120"/>
            <a:ext cx="640080" cy="640080"/>
          </a:xfrm>
          <a:prstGeom prst="ellipse">
            <a:avLst/>
          </a:prstGeom>
          <a:solidFill>
            <a:srgbClr val="EEF2FF"/>
          </a:solidFill>
          <a:ln w="12700">
            <a:solidFill>
              <a:srgbClr val="C7D2FE"/>
            </a:solidFill>
            <a:prstDash val="solid"/>
          </a:ln>
        </p:spPr>
      </p:sp>
      <p:sp>
        <p:nvSpPr>
          <p:cNvPr id="22" name="Text 19"/>
          <p:cNvSpPr/>
          <p:nvPr/>
        </p:nvSpPr>
        <p:spPr>
          <a:xfrm>
            <a:off x="5340096"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CV</a:t>
            </a:r>
            <a:endParaRPr lang="en-US" sz="1500" dirty="0"/>
          </a:p>
        </p:txBody>
      </p:sp>
      <p:sp>
        <p:nvSpPr>
          <p:cNvPr id="23" name="Text 20"/>
          <p:cNvSpPr/>
          <p:nvPr/>
        </p:nvSpPr>
        <p:spPr>
          <a:xfrm>
            <a:off x="5340096"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César Vásquez</a:t>
            </a:r>
            <a:endParaRPr lang="en-US" sz="1600" dirty="0"/>
          </a:p>
        </p:txBody>
      </p:sp>
      <p:sp>
        <p:nvSpPr>
          <p:cNvPr id="24" name="Text 21"/>
          <p:cNvSpPr/>
          <p:nvPr/>
        </p:nvSpPr>
        <p:spPr>
          <a:xfrm>
            <a:off x="5340096"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Supervisor de turno</a:t>
            </a:r>
            <a:endParaRPr lang="en-US" sz="1250" dirty="0"/>
          </a:p>
        </p:txBody>
      </p:sp>
      <p:sp>
        <p:nvSpPr>
          <p:cNvPr id="25" name="Text 22"/>
          <p:cNvSpPr/>
          <p:nvPr/>
        </p:nvSpPr>
        <p:spPr>
          <a:xfrm>
            <a:off x="5340096"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Saber qué pasó, dónde y cuándo, sin alertas repetidas.</a:t>
            </a:r>
            <a:endParaRPr lang="en-US" sz="1350" dirty="0"/>
          </a:p>
        </p:txBody>
      </p:sp>
      <p:sp>
        <p:nvSpPr>
          <p:cNvPr id="26" name="Shape 23"/>
          <p:cNvSpPr/>
          <p:nvPr/>
        </p:nvSpPr>
        <p:spPr>
          <a:xfrm>
            <a:off x="7232904" y="1828800"/>
            <a:ext cx="2011680" cy="3383280"/>
          </a:xfrm>
          <a:prstGeom prst="roundRect">
            <a:avLst>
              <a:gd name="adj" fmla="val 3636"/>
            </a:avLst>
          </a:prstGeom>
          <a:solidFill>
            <a:srgbClr val="FFFFFF"/>
          </a:solidFill>
          <a:ln w="9525">
            <a:solidFill>
              <a:srgbClr val="E7E5E4"/>
            </a:solidFill>
            <a:prstDash val="solid"/>
          </a:ln>
        </p:spPr>
      </p:sp>
      <p:sp>
        <p:nvSpPr>
          <p:cNvPr id="27" name="Shape 24"/>
          <p:cNvSpPr/>
          <p:nvPr/>
        </p:nvSpPr>
        <p:spPr>
          <a:xfrm>
            <a:off x="7507224" y="2103120"/>
            <a:ext cx="640080" cy="640080"/>
          </a:xfrm>
          <a:prstGeom prst="ellipse">
            <a:avLst/>
          </a:prstGeom>
          <a:solidFill>
            <a:srgbClr val="EEF2FF"/>
          </a:solidFill>
          <a:ln w="12700">
            <a:solidFill>
              <a:srgbClr val="C7D2FE"/>
            </a:solidFill>
            <a:prstDash val="solid"/>
          </a:ln>
        </p:spPr>
      </p:sp>
      <p:sp>
        <p:nvSpPr>
          <p:cNvPr id="28" name="Text 25"/>
          <p:cNvSpPr/>
          <p:nvPr/>
        </p:nvSpPr>
        <p:spPr>
          <a:xfrm>
            <a:off x="7507224"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LR</a:t>
            </a:r>
            <a:endParaRPr lang="en-US" sz="1500" dirty="0"/>
          </a:p>
        </p:txBody>
      </p:sp>
      <p:sp>
        <p:nvSpPr>
          <p:cNvPr id="29" name="Text 26"/>
          <p:cNvSpPr/>
          <p:nvPr/>
        </p:nvSpPr>
        <p:spPr>
          <a:xfrm>
            <a:off x="7507224"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Lucía Ramos</a:t>
            </a:r>
            <a:endParaRPr lang="en-US" sz="1600" dirty="0"/>
          </a:p>
        </p:txBody>
      </p:sp>
      <p:sp>
        <p:nvSpPr>
          <p:cNvPr id="30" name="Text 27"/>
          <p:cNvSpPr/>
          <p:nvPr/>
        </p:nvSpPr>
        <p:spPr>
          <a:xfrm>
            <a:off x="7507224"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Operadora de monitoreo</a:t>
            </a:r>
            <a:endParaRPr lang="en-US" sz="1250" dirty="0"/>
          </a:p>
        </p:txBody>
      </p:sp>
      <p:sp>
        <p:nvSpPr>
          <p:cNvPr id="31" name="Text 28"/>
          <p:cNvSpPr/>
          <p:nvPr/>
        </p:nvSpPr>
        <p:spPr>
          <a:xfrm>
            <a:off x="7507224"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Ver solo lo importante y confirmar en un clic.</a:t>
            </a:r>
            <a:endParaRPr lang="en-US" sz="1350" dirty="0"/>
          </a:p>
        </p:txBody>
      </p:sp>
      <p:sp>
        <p:nvSpPr>
          <p:cNvPr id="32" name="Shape 29"/>
          <p:cNvSpPr/>
          <p:nvPr/>
        </p:nvSpPr>
        <p:spPr>
          <a:xfrm>
            <a:off x="9400032" y="1828800"/>
            <a:ext cx="2011680" cy="3383280"/>
          </a:xfrm>
          <a:prstGeom prst="roundRect">
            <a:avLst>
              <a:gd name="adj" fmla="val 3636"/>
            </a:avLst>
          </a:prstGeom>
          <a:solidFill>
            <a:srgbClr val="FFFFFF"/>
          </a:solidFill>
          <a:ln w="9525">
            <a:solidFill>
              <a:srgbClr val="E7E5E4"/>
            </a:solidFill>
            <a:prstDash val="solid"/>
          </a:ln>
        </p:spPr>
      </p:sp>
      <p:sp>
        <p:nvSpPr>
          <p:cNvPr id="33" name="Shape 30"/>
          <p:cNvSpPr/>
          <p:nvPr/>
        </p:nvSpPr>
        <p:spPr>
          <a:xfrm>
            <a:off x="9674352" y="2103120"/>
            <a:ext cx="640080" cy="640080"/>
          </a:xfrm>
          <a:prstGeom prst="ellipse">
            <a:avLst/>
          </a:prstGeom>
          <a:solidFill>
            <a:srgbClr val="EEF2FF"/>
          </a:solidFill>
          <a:ln w="12700">
            <a:solidFill>
              <a:srgbClr val="C7D2FE"/>
            </a:solidFill>
            <a:prstDash val="solid"/>
          </a:ln>
        </p:spPr>
      </p:sp>
      <p:sp>
        <p:nvSpPr>
          <p:cNvPr id="34" name="Text 31"/>
          <p:cNvSpPr/>
          <p:nvPr/>
        </p:nvSpPr>
        <p:spPr>
          <a:xfrm>
            <a:off x="9674352"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RS</a:t>
            </a:r>
            <a:endParaRPr lang="en-US" sz="1500" dirty="0"/>
          </a:p>
        </p:txBody>
      </p:sp>
      <p:sp>
        <p:nvSpPr>
          <p:cNvPr id="35" name="Text 32"/>
          <p:cNvSpPr/>
          <p:nvPr/>
        </p:nvSpPr>
        <p:spPr>
          <a:xfrm>
            <a:off x="9674352"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Ricardo Salcedo</a:t>
            </a:r>
            <a:endParaRPr lang="en-US" sz="1600" dirty="0"/>
          </a:p>
        </p:txBody>
      </p:sp>
      <p:sp>
        <p:nvSpPr>
          <p:cNvPr id="36" name="Text 33"/>
          <p:cNvSpPr/>
          <p:nvPr/>
        </p:nvSpPr>
        <p:spPr>
          <a:xfrm>
            <a:off x="9674352"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Gerente general (sponsor)</a:t>
            </a:r>
            <a:endParaRPr lang="en-US" sz="1250" dirty="0"/>
          </a:p>
        </p:txBody>
      </p:sp>
      <p:sp>
        <p:nvSpPr>
          <p:cNvPr id="37" name="Text 34"/>
          <p:cNvSpPr/>
          <p:nvPr/>
        </p:nvSpPr>
        <p:spPr>
          <a:xfrm>
            <a:off x="9674352"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Reportes por tipo, zona y semana.</a:t>
            </a:r>
            <a:endParaRPr lang="en-US" sz="13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Perfiles ficticios de un caso académico. Fuente del concepto de personajes: SCRUMstudy (2022), p. 164.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3 · VISIÓN DEL PRODUCTO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Cómo comunicamos la idea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19</a:t>
            </a:r>
            <a:endParaRPr lang="en-US" sz="1000" dirty="0"/>
          </a:p>
        </p:txBody>
      </p:sp>
      <p:pic>
        <p:nvPicPr>
          <p:cNvPr id="8" name="Image 0" descr="/Users/anthony/Documents/Projects/NewBit/curso/semana-06-producto-unidad-1/nuestras-entregas/PPT_Producto_Unidad_1_NewBit/img/infografia-pasos-1-6.png">    </p:cNvPr>
          <p:cNvPicPr>
            <a:picLocks noChangeAspect="1"/>
          </p:cNvPicPr>
          <p:nvPr/>
        </p:nvPicPr>
        <p:blipFill>
          <a:blip r:embed="rId1"/>
          <a:stretch>
            <a:fillRect/>
          </a:stretch>
        </p:blipFill>
        <p:spPr>
          <a:xfrm>
            <a:off x="971550" y="1783080"/>
            <a:ext cx="4640580" cy="3977640"/>
          </a:xfrm>
          <a:prstGeom prst="rect">
            <a:avLst/>
          </a:prstGeom>
        </p:spPr>
      </p:pic>
      <p:sp>
        <p:nvSpPr>
          <p:cNvPr id="9" name="Shape 5"/>
          <p:cNvSpPr/>
          <p:nvPr/>
        </p:nvSpPr>
        <p:spPr>
          <a:xfrm>
            <a:off x="971550" y="1783080"/>
            <a:ext cx="4640580" cy="3977640"/>
          </a:xfrm>
          <a:prstGeom prst="rect">
            <a:avLst/>
          </a:prstGeom>
          <a:ln w="9525">
            <a:solidFill>
              <a:srgbClr val="E7E5E4"/>
            </a:solidFill>
            <a:prstDash val="solid"/>
          </a:ln>
        </p:spPr>
      </p:sp>
      <p:sp>
        <p:nvSpPr>
          <p:cNvPr id="10" name="Text 6"/>
          <p:cNvSpPr/>
          <p:nvPr/>
        </p:nvSpPr>
        <p:spPr>
          <a:xfrm>
            <a:off x="731520" y="5870448"/>
            <a:ext cx="5120640" cy="274320"/>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Infografía «Pasos para desarrollar NewBit» (pasos 1 a 6)</a:t>
            </a:r>
            <a:endParaRPr lang="en-US" sz="1200" dirty="0"/>
          </a:p>
        </p:txBody>
      </p:sp>
      <p:pic>
        <p:nvPicPr>
          <p:cNvPr id="11" name="Image 1" descr="/Users/anthony/Documents/Projects/NewBit/curso/semana-06-producto-unidad-1/nuestras-entregas/PPT_Producto_Unidad_1_NewBit/img/diagrama-arquitectura.png">    </p:cNvPr>
          <p:cNvPicPr>
            <a:picLocks noChangeAspect="1"/>
          </p:cNvPicPr>
          <p:nvPr/>
        </p:nvPicPr>
        <p:blipFill>
          <a:blip r:embed="rId2"/>
          <a:stretch>
            <a:fillRect/>
          </a:stretch>
        </p:blipFill>
        <p:spPr>
          <a:xfrm>
            <a:off x="6436463" y="1783080"/>
            <a:ext cx="4957873" cy="3977640"/>
          </a:xfrm>
          <a:prstGeom prst="rect">
            <a:avLst/>
          </a:prstGeom>
        </p:spPr>
      </p:pic>
      <p:sp>
        <p:nvSpPr>
          <p:cNvPr id="12" name="Shape 7"/>
          <p:cNvSpPr/>
          <p:nvPr/>
        </p:nvSpPr>
        <p:spPr>
          <a:xfrm>
            <a:off x="6436463" y="1783080"/>
            <a:ext cx="4957873" cy="3977640"/>
          </a:xfrm>
          <a:prstGeom prst="rect">
            <a:avLst/>
          </a:prstGeom>
          <a:ln w="9525">
            <a:solidFill>
              <a:srgbClr val="E7E5E4"/>
            </a:solidFill>
            <a:prstDash val="solid"/>
          </a:ln>
        </p:spPr>
      </p:sp>
      <p:sp>
        <p:nvSpPr>
          <p:cNvPr id="13" name="Text 8"/>
          <p:cNvSpPr/>
          <p:nvPr/>
        </p:nvSpPr>
        <p:spPr>
          <a:xfrm>
            <a:off x="6355080" y="5870448"/>
            <a:ext cx="5120640" cy="274320"/>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Diagrama de arquitectura: el flujo en siete etapas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4 · JUSTIFICACIÓN (EGAP015)</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¿Por qué vale la pena hacerlo?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20</a:t>
            </a:r>
            <a:endParaRPr lang="en-US" sz="1000" dirty="0"/>
          </a:p>
        </p:txBody>
      </p:sp>
      <p:pic>
        <p:nvPicPr>
          <p:cNvPr id="8" name="Image 0" descr="/Users/anthony/Documents/Projects/NewBit/curso/semana-06-producto-unidad-1/nuestras-entregas/PPT_Producto_Unidad_1_NewBit/img/iconos/objetivo-ink.png">    </p:cNvPr>
          <p:cNvPicPr>
            <a:picLocks noChangeAspect="1"/>
          </p:cNvPicPr>
          <p:nvPr/>
        </p:nvPicPr>
        <p:blipFill>
          <a:blip r:embed="rId1"/>
          <a:stretch>
            <a:fillRect/>
          </a:stretch>
        </p:blipFill>
        <p:spPr>
          <a:xfrm>
            <a:off x="731520" y="1828800"/>
            <a:ext cx="411480" cy="411480"/>
          </a:xfrm>
          <a:prstGeom prst="rect">
            <a:avLst/>
          </a:prstGeom>
        </p:spPr>
      </p:pic>
      <p:sp>
        <p:nvSpPr>
          <p:cNvPr id="9" name="Text 5"/>
          <p:cNvSpPr/>
          <p:nvPr/>
        </p:nvSpPr>
        <p:spPr>
          <a:xfrm>
            <a:off x="1417320" y="1783080"/>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Necesidad</a:t>
            </a:r>
            <a:endParaRPr lang="en-US" sz="2000" dirty="0"/>
          </a:p>
        </p:txBody>
      </p:sp>
      <p:sp>
        <p:nvSpPr>
          <p:cNvPr id="10" name="Text 6"/>
          <p:cNvSpPr/>
          <p:nvPr/>
        </p:nvSpPr>
        <p:spPr>
          <a:xfrm>
            <a:off x="3840480" y="1828800"/>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Las inspecciones son intermitentes y las cámaras graban sin avisar.</a:t>
            </a:r>
            <a:endParaRPr lang="en-US" sz="1700" dirty="0"/>
          </a:p>
        </p:txBody>
      </p:sp>
      <p:sp>
        <p:nvSpPr>
          <p:cNvPr id="11" name="Shape 7"/>
          <p:cNvSpPr/>
          <p:nvPr/>
        </p:nvSpPr>
        <p:spPr>
          <a:xfrm>
            <a:off x="731520" y="2560320"/>
            <a:ext cx="10728655" cy="0"/>
          </a:xfrm>
          <a:prstGeom prst="line">
            <a:avLst/>
          </a:prstGeom>
          <a:noFill/>
          <a:ln w="9525">
            <a:solidFill>
              <a:srgbClr val="E7E5E4"/>
            </a:solidFill>
            <a:prstDash val="solid"/>
          </a:ln>
        </p:spPr>
      </p:sp>
      <p:pic>
        <p:nvPicPr>
          <p:cNvPr id="12" name="Image 1" descr="/Users/anthony/Documents/Projects/NewBit/curso/semana-06-producto-unidad-1/nuestras-entregas/PPT_Producto_Unidad_1_NewBit/img/iconos/capas-ink.png">    </p:cNvPr>
          <p:cNvPicPr>
            <a:picLocks noChangeAspect="1"/>
          </p:cNvPicPr>
          <p:nvPr/>
        </p:nvPicPr>
        <p:blipFill>
          <a:blip r:embed="rId2"/>
          <a:stretch>
            <a:fillRect/>
          </a:stretch>
        </p:blipFill>
        <p:spPr>
          <a:xfrm>
            <a:off x="731520" y="2816352"/>
            <a:ext cx="411480" cy="411480"/>
          </a:xfrm>
          <a:prstGeom prst="rect">
            <a:avLst/>
          </a:prstGeom>
        </p:spPr>
      </p:pic>
      <p:sp>
        <p:nvSpPr>
          <p:cNvPr id="13" name="Text 8"/>
          <p:cNvSpPr/>
          <p:nvPr/>
        </p:nvSpPr>
        <p:spPr>
          <a:xfrm>
            <a:off x="1417320" y="2770632"/>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Tecnología</a:t>
            </a:r>
            <a:endParaRPr lang="en-US" sz="2000" dirty="0"/>
          </a:p>
        </p:txBody>
      </p:sp>
      <p:sp>
        <p:nvSpPr>
          <p:cNvPr id="14" name="Text 9"/>
          <p:cNvSpPr/>
          <p:nvPr/>
        </p:nvSpPr>
        <p:spPr>
          <a:xfrm>
            <a:off x="3840480" y="2816352"/>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Dos etapas (YOLOv8 + ConvLSTM) con software abierto y datos públicos.</a:t>
            </a:r>
            <a:endParaRPr lang="en-US" sz="1700" dirty="0"/>
          </a:p>
        </p:txBody>
      </p:sp>
      <p:sp>
        <p:nvSpPr>
          <p:cNvPr id="15" name="Shape 10"/>
          <p:cNvSpPr/>
          <p:nvPr/>
        </p:nvSpPr>
        <p:spPr>
          <a:xfrm>
            <a:off x="731520" y="3547872"/>
            <a:ext cx="10728655" cy="0"/>
          </a:xfrm>
          <a:prstGeom prst="line">
            <a:avLst/>
          </a:prstGeom>
          <a:noFill/>
          <a:ln w="9525">
            <a:solidFill>
              <a:srgbClr val="E7E5E4"/>
            </a:solidFill>
            <a:prstDash val="solid"/>
          </a:ln>
        </p:spPr>
      </p:sp>
      <p:pic>
        <p:nvPicPr>
          <p:cNvPr id="16" name="Image 2" descr="/Users/anthony/Documents/Projects/NewBit/curso/semana-06-producto-unidad-1/nuestras-entregas/PPT_Producto_Unidad_1_NewBit/img/iconos/persona-ink.png">    </p:cNvPr>
          <p:cNvPicPr>
            <a:picLocks noChangeAspect="1"/>
          </p:cNvPicPr>
          <p:nvPr/>
        </p:nvPicPr>
        <p:blipFill>
          <a:blip r:embed="rId3"/>
          <a:stretch>
            <a:fillRect/>
          </a:stretch>
        </p:blipFill>
        <p:spPr>
          <a:xfrm>
            <a:off x="731520" y="3803904"/>
            <a:ext cx="411480" cy="411480"/>
          </a:xfrm>
          <a:prstGeom prst="rect">
            <a:avLst/>
          </a:prstGeom>
        </p:spPr>
      </p:pic>
      <p:sp>
        <p:nvSpPr>
          <p:cNvPr id="17" name="Text 11"/>
          <p:cNvSpPr/>
          <p:nvPr/>
        </p:nvSpPr>
        <p:spPr>
          <a:xfrm>
            <a:off x="1417320" y="3758184"/>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Operación</a:t>
            </a:r>
            <a:endParaRPr lang="en-US" sz="2000" dirty="0"/>
          </a:p>
        </p:txBody>
      </p:sp>
      <p:sp>
        <p:nvSpPr>
          <p:cNvPr id="18" name="Text 12"/>
          <p:cNvSpPr/>
          <p:nvPr/>
        </p:nvSpPr>
        <p:spPr>
          <a:xfrm>
            <a:off x="3840480" y="3803904"/>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Apoya la decisión del supervisor; no la reemplaza.</a:t>
            </a:r>
            <a:endParaRPr lang="en-US" sz="1700" dirty="0"/>
          </a:p>
        </p:txBody>
      </p:sp>
      <p:sp>
        <p:nvSpPr>
          <p:cNvPr id="19" name="Shape 13"/>
          <p:cNvSpPr/>
          <p:nvPr/>
        </p:nvSpPr>
        <p:spPr>
          <a:xfrm>
            <a:off x="731520" y="4535424"/>
            <a:ext cx="10728655" cy="0"/>
          </a:xfrm>
          <a:prstGeom prst="line">
            <a:avLst/>
          </a:prstGeom>
          <a:noFill/>
          <a:ln w="9525">
            <a:solidFill>
              <a:srgbClr val="E7E5E4"/>
            </a:solidFill>
            <a:prstDash val="solid"/>
          </a:ln>
        </p:spPr>
      </p:sp>
      <p:pic>
        <p:nvPicPr>
          <p:cNvPr id="20" name="Image 3" descr="/Users/anthony/Documents/Projects/NewBit/curso/semana-06-producto-unidad-1/nuestras-entregas/PPT_Producto_Unidad_1_NewBit/img/iconos/dinero-ink.png">    </p:cNvPr>
          <p:cNvPicPr>
            <a:picLocks noChangeAspect="1"/>
          </p:cNvPicPr>
          <p:nvPr/>
        </p:nvPicPr>
        <p:blipFill>
          <a:blip r:embed="rId4"/>
          <a:stretch>
            <a:fillRect/>
          </a:stretch>
        </p:blipFill>
        <p:spPr>
          <a:xfrm>
            <a:off x="731520" y="4791456"/>
            <a:ext cx="411480" cy="411480"/>
          </a:xfrm>
          <a:prstGeom prst="rect">
            <a:avLst/>
          </a:prstGeom>
        </p:spPr>
      </p:pic>
      <p:sp>
        <p:nvSpPr>
          <p:cNvPr id="21" name="Text 14"/>
          <p:cNvSpPr/>
          <p:nvPr/>
        </p:nvSpPr>
        <p:spPr>
          <a:xfrm>
            <a:off x="1417320" y="4745736"/>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Economía</a:t>
            </a:r>
            <a:endParaRPr lang="en-US" sz="2000" dirty="0"/>
          </a:p>
        </p:txBody>
      </p:sp>
      <p:sp>
        <p:nvSpPr>
          <p:cNvPr id="22" name="Text 15"/>
          <p:cNvSpPr/>
          <p:nvPr/>
        </p:nvSpPr>
        <p:spPr>
          <a:xfrm>
            <a:off x="3840480" y="4791456"/>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S/ 20 768, igual que en el acta; el gasto en efectivo es de S/ 280 más la contingencia.</a:t>
            </a:r>
            <a:endParaRPr lang="en-US" sz="1700" dirty="0"/>
          </a:p>
        </p:txBody>
      </p:sp>
      <p:sp>
        <p:nvSpPr>
          <p:cNvPr id="23" name="Text 16"/>
          <p:cNvSpPr/>
          <p:nvPr/>
        </p:nvSpPr>
        <p:spPr>
          <a:xfrm>
            <a:off x="731520" y="5577840"/>
            <a:ext cx="10058400" cy="365760"/>
          </a:xfrm>
          <a:prstGeom prst="rect">
            <a:avLst/>
          </a:prstGeom>
          <a:noFill/>
          <a:ln/>
        </p:spPr>
        <p:txBody>
          <a:bodyPr wrap="square" lIns="0" tIns="0" rIns="0" bIns="0" rtlCol="0" anchor="t"/>
          <a:lstStyle/>
          <a:p>
            <a:pPr indent="0" marL="0">
              <a:buNone/>
            </a:pPr>
            <a:r>
              <a:rPr lang="en-US" sz="1500" b="1" dirty="0">
                <a:solidFill>
                  <a:srgbClr val="C2410C"/>
                </a:solidFill>
                <a:latin typeface="Calibri" pitchFamily="34" charset="0"/>
                <a:ea typeface="Calibri" pitchFamily="34" charset="-122"/>
                <a:cs typeface="Calibri" pitchFamily="34" charset="-120"/>
              </a:rPr>
              <a:t>No prometemos ahorros ni menos accidentes sin evidencia.</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4 · ÉPICAS E HISTORIAS (FGAP040)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Del video a la alerta, en seis épicas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21</a:t>
            </a:r>
            <a:endParaRPr lang="en-US" sz="1000" dirty="0"/>
          </a:p>
        </p:txBody>
      </p:sp>
      <p:sp>
        <p:nvSpPr>
          <p:cNvPr id="8" name="Text 5"/>
          <p:cNvSpPr/>
          <p:nvPr/>
        </p:nvSpPr>
        <p:spPr>
          <a:xfrm>
            <a:off x="731520"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EP01</a:t>
            </a:r>
            <a:endParaRPr lang="en-US" sz="1200" dirty="0"/>
          </a:p>
        </p:txBody>
      </p:sp>
      <p:sp>
        <p:nvSpPr>
          <p:cNvPr id="9" name="Shape 6"/>
          <p:cNvSpPr/>
          <p:nvPr/>
        </p:nvSpPr>
        <p:spPr>
          <a:xfrm>
            <a:off x="731520" y="2176272"/>
            <a:ext cx="1627632" cy="0"/>
          </a:xfrm>
          <a:prstGeom prst="line">
            <a:avLst/>
          </a:prstGeom>
          <a:noFill/>
          <a:ln w="25400">
            <a:solidFill>
              <a:srgbClr val="3E63DD"/>
            </a:solidFill>
            <a:prstDash val="solid"/>
          </a:ln>
        </p:spPr>
      </p:sp>
      <p:sp>
        <p:nvSpPr>
          <p:cNvPr id="10" name="Text 7"/>
          <p:cNvSpPr/>
          <p:nvPr/>
        </p:nvSpPr>
        <p:spPr>
          <a:xfrm>
            <a:off x="731520"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Ingestión</a:t>
            </a:r>
            <a:endParaRPr lang="en-US" sz="1700" dirty="0"/>
          </a:p>
        </p:txBody>
      </p:sp>
      <p:sp>
        <p:nvSpPr>
          <p:cNvPr id="11" name="Text 8"/>
          <p:cNvSpPr/>
          <p:nvPr/>
        </p:nvSpPr>
        <p:spPr>
          <a:xfrm>
            <a:off x="731520"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HU01–02</a:t>
            </a:r>
            <a:endParaRPr lang="en-US" sz="1300" dirty="0"/>
          </a:p>
        </p:txBody>
      </p:sp>
      <p:sp>
        <p:nvSpPr>
          <p:cNvPr id="12" name="Text 9"/>
          <p:cNvSpPr/>
          <p:nvPr/>
        </p:nvSpPr>
        <p:spPr>
          <a:xfrm>
            <a:off x="2542032"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EP02</a:t>
            </a:r>
            <a:endParaRPr lang="en-US" sz="1200" dirty="0"/>
          </a:p>
        </p:txBody>
      </p:sp>
      <p:sp>
        <p:nvSpPr>
          <p:cNvPr id="13" name="Shape 10"/>
          <p:cNvSpPr/>
          <p:nvPr/>
        </p:nvSpPr>
        <p:spPr>
          <a:xfrm>
            <a:off x="2542032" y="2176272"/>
            <a:ext cx="1627632" cy="0"/>
          </a:xfrm>
          <a:prstGeom prst="line">
            <a:avLst/>
          </a:prstGeom>
          <a:noFill/>
          <a:ln w="25400">
            <a:solidFill>
              <a:srgbClr val="3E63DD"/>
            </a:solidFill>
            <a:prstDash val="solid"/>
          </a:ln>
        </p:spPr>
      </p:sp>
      <p:sp>
        <p:nvSpPr>
          <p:cNvPr id="14" name="Text 11"/>
          <p:cNvSpPr/>
          <p:nvPr/>
        </p:nvSpPr>
        <p:spPr>
          <a:xfrm>
            <a:off x="2542032"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Detección</a:t>
            </a:r>
            <a:endParaRPr lang="en-US" sz="1700" dirty="0"/>
          </a:p>
        </p:txBody>
      </p:sp>
      <p:sp>
        <p:nvSpPr>
          <p:cNvPr id="15" name="Text 12"/>
          <p:cNvSpPr/>
          <p:nvPr/>
        </p:nvSpPr>
        <p:spPr>
          <a:xfrm>
            <a:off x="2542032"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HU03</a:t>
            </a:r>
            <a:endParaRPr lang="en-US" sz="1300" dirty="0"/>
          </a:p>
        </p:txBody>
      </p:sp>
      <p:sp>
        <p:nvSpPr>
          <p:cNvPr id="16" name="Text 13"/>
          <p:cNvSpPr/>
          <p:nvPr/>
        </p:nvSpPr>
        <p:spPr>
          <a:xfrm>
            <a:off x="4352544"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EP03</a:t>
            </a:r>
            <a:endParaRPr lang="en-US" sz="1200" dirty="0"/>
          </a:p>
        </p:txBody>
      </p:sp>
      <p:sp>
        <p:nvSpPr>
          <p:cNvPr id="17" name="Shape 14"/>
          <p:cNvSpPr/>
          <p:nvPr/>
        </p:nvSpPr>
        <p:spPr>
          <a:xfrm>
            <a:off x="4352544" y="2176272"/>
            <a:ext cx="1627632" cy="0"/>
          </a:xfrm>
          <a:prstGeom prst="line">
            <a:avLst/>
          </a:prstGeom>
          <a:noFill/>
          <a:ln w="25400">
            <a:solidFill>
              <a:srgbClr val="3E63DD"/>
            </a:solidFill>
            <a:prstDash val="solid"/>
          </a:ln>
        </p:spPr>
      </p:sp>
      <p:sp>
        <p:nvSpPr>
          <p:cNvPr id="18" name="Text 15"/>
          <p:cNvSpPr/>
          <p:nvPr/>
        </p:nvSpPr>
        <p:spPr>
          <a:xfrm>
            <a:off x="4352544"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Reducción y clips</a:t>
            </a:r>
            <a:endParaRPr lang="en-US" sz="1700" dirty="0"/>
          </a:p>
        </p:txBody>
      </p:sp>
      <p:sp>
        <p:nvSpPr>
          <p:cNvPr id="19" name="Text 16"/>
          <p:cNvSpPr/>
          <p:nvPr/>
        </p:nvSpPr>
        <p:spPr>
          <a:xfrm>
            <a:off x="4352544"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HU04–06</a:t>
            </a:r>
            <a:endParaRPr lang="en-US" sz="1300" dirty="0"/>
          </a:p>
        </p:txBody>
      </p:sp>
      <p:sp>
        <p:nvSpPr>
          <p:cNvPr id="20" name="Text 17"/>
          <p:cNvSpPr/>
          <p:nvPr/>
        </p:nvSpPr>
        <p:spPr>
          <a:xfrm>
            <a:off x="6163056" y="1828800"/>
            <a:ext cx="1645920" cy="274320"/>
          </a:xfrm>
          <a:prstGeom prst="rect">
            <a:avLst/>
          </a:prstGeom>
          <a:noFill/>
          <a:ln/>
        </p:spPr>
        <p:txBody>
          <a:bodyPr wrap="square" lIns="0" tIns="0" rIns="0" bIns="0" rtlCol="0" anchor="t"/>
          <a:lstStyle/>
          <a:p>
            <a:pPr indent="0" marL="0">
              <a:buNone/>
            </a:pPr>
            <a:r>
              <a:rPr lang="en-US" sz="1200" b="1" dirty="0">
                <a:solidFill>
                  <a:srgbClr val="C2410C"/>
                </a:solidFill>
                <a:latin typeface="Calibri" pitchFamily="34" charset="0"/>
                <a:ea typeface="Calibri" pitchFamily="34" charset="-122"/>
                <a:cs typeface="Calibri" pitchFamily="34" charset="-120"/>
              </a:rPr>
              <a:t>EP04</a:t>
            </a:r>
            <a:endParaRPr lang="en-US" sz="1200" dirty="0"/>
          </a:p>
        </p:txBody>
      </p:sp>
      <p:sp>
        <p:nvSpPr>
          <p:cNvPr id="21" name="Shape 18"/>
          <p:cNvSpPr/>
          <p:nvPr/>
        </p:nvSpPr>
        <p:spPr>
          <a:xfrm>
            <a:off x="6163056" y="2176272"/>
            <a:ext cx="1627632" cy="0"/>
          </a:xfrm>
          <a:prstGeom prst="line">
            <a:avLst/>
          </a:prstGeom>
          <a:noFill/>
          <a:ln w="25400">
            <a:solidFill>
              <a:srgbClr val="C2410C"/>
            </a:solidFill>
            <a:prstDash val="solid"/>
          </a:ln>
        </p:spPr>
      </p:sp>
      <p:sp>
        <p:nvSpPr>
          <p:cNvPr id="22" name="Text 19"/>
          <p:cNvSpPr/>
          <p:nvPr/>
        </p:nvSpPr>
        <p:spPr>
          <a:xfrm>
            <a:off x="6163056"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Clasificación</a:t>
            </a:r>
            <a:endParaRPr lang="en-US" sz="1700" dirty="0"/>
          </a:p>
        </p:txBody>
      </p:sp>
      <p:sp>
        <p:nvSpPr>
          <p:cNvPr id="23" name="Text 20"/>
          <p:cNvSpPr/>
          <p:nvPr/>
        </p:nvSpPr>
        <p:spPr>
          <a:xfrm>
            <a:off x="6163056"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HU07–08</a:t>
            </a:r>
            <a:endParaRPr lang="en-US" sz="1300" dirty="0"/>
          </a:p>
        </p:txBody>
      </p:sp>
      <p:sp>
        <p:nvSpPr>
          <p:cNvPr id="24" name="Text 21"/>
          <p:cNvSpPr/>
          <p:nvPr/>
        </p:nvSpPr>
        <p:spPr>
          <a:xfrm>
            <a:off x="7973568" y="1828800"/>
            <a:ext cx="1645920" cy="274320"/>
          </a:xfrm>
          <a:prstGeom prst="rect">
            <a:avLst/>
          </a:prstGeom>
          <a:noFill/>
          <a:ln/>
        </p:spPr>
        <p:txBody>
          <a:bodyPr wrap="square" lIns="0" tIns="0" rIns="0" bIns="0" rtlCol="0" anchor="t"/>
          <a:lstStyle/>
          <a:p>
            <a:pPr indent="0" marL="0">
              <a:buNone/>
            </a:pPr>
            <a:r>
              <a:rPr lang="en-US" sz="1200" b="1" dirty="0">
                <a:solidFill>
                  <a:srgbClr val="C2410C"/>
                </a:solidFill>
                <a:latin typeface="Calibri" pitchFamily="34" charset="0"/>
                <a:ea typeface="Calibri" pitchFamily="34" charset="-122"/>
                <a:cs typeface="Calibri" pitchFamily="34" charset="-120"/>
              </a:rPr>
              <a:t>EP05</a:t>
            </a:r>
            <a:endParaRPr lang="en-US" sz="1200" dirty="0"/>
          </a:p>
        </p:txBody>
      </p:sp>
      <p:sp>
        <p:nvSpPr>
          <p:cNvPr id="25" name="Shape 22"/>
          <p:cNvSpPr/>
          <p:nvPr/>
        </p:nvSpPr>
        <p:spPr>
          <a:xfrm>
            <a:off x="7973568" y="2176272"/>
            <a:ext cx="1627632" cy="0"/>
          </a:xfrm>
          <a:prstGeom prst="line">
            <a:avLst/>
          </a:prstGeom>
          <a:noFill/>
          <a:ln w="25400">
            <a:solidFill>
              <a:srgbClr val="C2410C"/>
            </a:solidFill>
            <a:prstDash val="solid"/>
          </a:ln>
        </p:spPr>
      </p:sp>
      <p:sp>
        <p:nvSpPr>
          <p:cNvPr id="26" name="Text 23"/>
          <p:cNvSpPr/>
          <p:nvPr/>
        </p:nvSpPr>
        <p:spPr>
          <a:xfrm>
            <a:off x="7973568"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Monitoreo y alertas</a:t>
            </a:r>
            <a:endParaRPr lang="en-US" sz="1700" dirty="0"/>
          </a:p>
        </p:txBody>
      </p:sp>
      <p:sp>
        <p:nvSpPr>
          <p:cNvPr id="27" name="Text 24"/>
          <p:cNvSpPr/>
          <p:nvPr/>
        </p:nvSpPr>
        <p:spPr>
          <a:xfrm>
            <a:off x="7973568"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HU09–10</a:t>
            </a:r>
            <a:endParaRPr lang="en-US" sz="1300" dirty="0"/>
          </a:p>
        </p:txBody>
      </p:sp>
      <p:sp>
        <p:nvSpPr>
          <p:cNvPr id="28" name="Text 25"/>
          <p:cNvSpPr/>
          <p:nvPr/>
        </p:nvSpPr>
        <p:spPr>
          <a:xfrm>
            <a:off x="9784080" y="1828800"/>
            <a:ext cx="1645920" cy="274320"/>
          </a:xfrm>
          <a:prstGeom prst="rect">
            <a:avLst/>
          </a:prstGeom>
          <a:noFill/>
          <a:ln/>
        </p:spPr>
        <p:txBody>
          <a:bodyPr wrap="square" lIns="0" tIns="0" rIns="0" bIns="0" rtlCol="0" anchor="t"/>
          <a:lstStyle/>
          <a:p>
            <a:pPr indent="0" marL="0">
              <a:buNone/>
            </a:pPr>
            <a:r>
              <a:rPr lang="en-US" sz="1200" b="1" dirty="0">
                <a:solidFill>
                  <a:srgbClr val="8A8984"/>
                </a:solidFill>
                <a:latin typeface="Calibri" pitchFamily="34" charset="0"/>
                <a:ea typeface="Calibri" pitchFamily="34" charset="-122"/>
                <a:cs typeface="Calibri" pitchFamily="34" charset="-120"/>
              </a:rPr>
              <a:t>EP06</a:t>
            </a:r>
            <a:endParaRPr lang="en-US" sz="1200" dirty="0"/>
          </a:p>
        </p:txBody>
      </p:sp>
      <p:sp>
        <p:nvSpPr>
          <p:cNvPr id="29" name="Shape 26"/>
          <p:cNvSpPr/>
          <p:nvPr/>
        </p:nvSpPr>
        <p:spPr>
          <a:xfrm>
            <a:off x="9784080" y="2176272"/>
            <a:ext cx="1627632" cy="0"/>
          </a:xfrm>
          <a:prstGeom prst="line">
            <a:avLst/>
          </a:prstGeom>
          <a:noFill/>
          <a:ln w="25400">
            <a:solidFill>
              <a:srgbClr val="8A8984"/>
            </a:solidFill>
            <a:prstDash val="solid"/>
          </a:ln>
        </p:spPr>
      </p:sp>
      <p:sp>
        <p:nvSpPr>
          <p:cNvPr id="30" name="Text 27"/>
          <p:cNvSpPr/>
          <p:nvPr/>
        </p:nvSpPr>
        <p:spPr>
          <a:xfrm>
            <a:off x="9784080"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Calibración</a:t>
            </a:r>
            <a:endParaRPr lang="en-US" sz="1700" dirty="0"/>
          </a:p>
        </p:txBody>
      </p:sp>
      <p:sp>
        <p:nvSpPr>
          <p:cNvPr id="31" name="Text 28"/>
          <p:cNvSpPr/>
          <p:nvPr/>
        </p:nvSpPr>
        <p:spPr>
          <a:xfrm>
            <a:off x="9784080"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HU11–12</a:t>
            </a:r>
            <a:endParaRPr lang="en-US" sz="1300" dirty="0"/>
          </a:p>
        </p:txBody>
      </p:sp>
      <p:sp>
        <p:nvSpPr>
          <p:cNvPr id="32" name="Shape 29"/>
          <p:cNvSpPr/>
          <p:nvPr/>
        </p:nvSpPr>
        <p:spPr>
          <a:xfrm>
            <a:off x="731520" y="3749040"/>
            <a:ext cx="10728655" cy="1920240"/>
          </a:xfrm>
          <a:prstGeom prst="roundRect">
            <a:avLst>
              <a:gd name="adj" fmla="val 3810"/>
            </a:avLst>
          </a:prstGeom>
          <a:solidFill>
            <a:srgbClr val="FFFFFF"/>
          </a:solidFill>
          <a:ln w="9525">
            <a:solidFill>
              <a:srgbClr val="E7E5E4"/>
            </a:solidFill>
            <a:prstDash val="solid"/>
          </a:ln>
        </p:spPr>
      </p:sp>
      <p:sp>
        <p:nvSpPr>
          <p:cNvPr id="33" name="Text 30"/>
          <p:cNvSpPr/>
          <p:nvPr/>
        </p:nvSpPr>
        <p:spPr>
          <a:xfrm>
            <a:off x="1051560" y="3931920"/>
            <a:ext cx="3657600" cy="274320"/>
          </a:xfrm>
          <a:prstGeom prst="rect">
            <a:avLst/>
          </a:prstGeom>
          <a:noFill/>
          <a:ln/>
        </p:spPr>
        <p:txBody>
          <a:bodyPr wrap="square" lIns="0" tIns="0" rIns="0" bIns="0" rtlCol="0" anchor="t"/>
          <a:lstStyle/>
          <a:p>
            <a:pPr indent="0" marL="0">
              <a:buNone/>
            </a:pPr>
            <a:r>
              <a:rPr lang="en-US" sz="1100" b="1" spc="100" kern="0" dirty="0">
                <a:solidFill>
                  <a:srgbClr val="3E63DD"/>
                </a:solidFill>
                <a:latin typeface="Calibri" pitchFamily="34" charset="0"/>
                <a:ea typeface="Calibri" pitchFamily="34" charset="-122"/>
                <a:cs typeface="Calibri" pitchFamily="34" charset="-120"/>
              </a:rPr>
              <a:t>EJEMPLO · HU10</a:t>
            </a:r>
            <a:endParaRPr lang="en-US" sz="1100" dirty="0"/>
          </a:p>
        </p:txBody>
      </p:sp>
      <p:sp>
        <p:nvSpPr>
          <p:cNvPr id="34" name="Text 31"/>
          <p:cNvSpPr/>
          <p:nvPr/>
        </p:nvSpPr>
        <p:spPr>
          <a:xfrm>
            <a:off x="1051560" y="4251960"/>
            <a:ext cx="10088575" cy="731520"/>
          </a:xfrm>
          <a:prstGeom prst="rect">
            <a:avLst/>
          </a:prstGeom>
          <a:noFill/>
          <a:ln/>
        </p:spPr>
        <p:txBody>
          <a:bodyPr wrap="square" lIns="0" tIns="0" rIns="0" bIns="0" rtlCol="0" anchor="t"/>
          <a:lstStyle/>
          <a:p>
            <a:pPr indent="0" marL="0">
              <a:buNone/>
            </a:pPr>
            <a:r>
              <a:rPr lang="en-US" sz="2000" dirty="0">
                <a:solidFill>
                  <a:srgbClr val="1A1A1A"/>
                </a:solidFill>
                <a:latin typeface="Calibri Light" pitchFamily="34" charset="0"/>
                <a:ea typeface="Calibri Light" pitchFamily="34" charset="-122"/>
                <a:cs typeface="Calibri Light" pitchFamily="34" charset="-120"/>
              </a:rPr>
              <a:t>Como operadora de monitoreo, quiero una alerta inmediata con hora y evidencia ante una conducta insegura, para intervenir a tiempo.</a:t>
            </a:r>
            <a:endParaRPr lang="en-US" sz="2000" dirty="0"/>
          </a:p>
        </p:txBody>
      </p:sp>
      <p:sp>
        <p:nvSpPr>
          <p:cNvPr id="35" name="Text 32"/>
          <p:cNvSpPr/>
          <p:nvPr/>
        </p:nvSpPr>
        <p:spPr>
          <a:xfrm>
            <a:off x="1051560" y="5074920"/>
            <a:ext cx="10088575" cy="36576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Criterios de aceptación: notificación visual y sonora · guarda fecha, marca de tiempo, clip y probabilidad.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BACKLOG PRIORIZADO (FGAP060)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se construye primero, y por qué</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22</a:t>
            </a:r>
            <a:endParaRPr lang="en-US" sz="1000" dirty="0"/>
          </a:p>
        </p:txBody>
      </p:sp>
      <p:sp>
        <p:nvSpPr>
          <p:cNvPr id="8" name="Shape 5"/>
          <p:cNvSpPr/>
          <p:nvPr/>
        </p:nvSpPr>
        <p:spPr>
          <a:xfrm>
            <a:off x="731520" y="1847088"/>
            <a:ext cx="457200" cy="457200"/>
          </a:xfrm>
          <a:prstGeom prst="ellipse">
            <a:avLst/>
          </a:prstGeom>
          <a:solidFill>
            <a:srgbClr val="EEF2FF"/>
          </a:solidFill>
          <a:ln w="12700">
            <a:solidFill>
              <a:srgbClr val="C7D2FE"/>
            </a:solidFill>
            <a:prstDash val="solid"/>
          </a:ln>
        </p:spPr>
      </p:sp>
      <p:sp>
        <p:nvSpPr>
          <p:cNvPr id="9" name="Text 6"/>
          <p:cNvSpPr/>
          <p:nvPr/>
        </p:nvSpPr>
        <p:spPr>
          <a:xfrm>
            <a:off x="731520" y="192024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1</a:t>
            </a:r>
            <a:endParaRPr lang="en-US" sz="1500" dirty="0"/>
          </a:p>
        </p:txBody>
      </p:sp>
      <p:sp>
        <p:nvSpPr>
          <p:cNvPr id="10" name="Text 7"/>
          <p:cNvSpPr/>
          <p:nvPr/>
        </p:nvSpPr>
        <p:spPr>
          <a:xfrm>
            <a:off x="1417320" y="182880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MoSCoW</a:t>
            </a:r>
            <a:endParaRPr lang="en-US" sz="1800" dirty="0"/>
          </a:p>
        </p:txBody>
      </p:sp>
      <p:sp>
        <p:nvSpPr>
          <p:cNvPr id="11" name="Text 8"/>
          <p:cNvSpPr/>
          <p:nvPr/>
        </p:nvSpPr>
        <p:spPr>
          <a:xfrm>
            <a:off x="1417320" y="221284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8 debe, 3 debería, 1 podría.</a:t>
            </a:r>
            <a:endParaRPr lang="en-US" sz="1400" dirty="0"/>
          </a:p>
        </p:txBody>
      </p:sp>
      <p:sp>
        <p:nvSpPr>
          <p:cNvPr id="12" name="Shape 9"/>
          <p:cNvSpPr/>
          <p:nvPr/>
        </p:nvSpPr>
        <p:spPr>
          <a:xfrm>
            <a:off x="731520" y="3035808"/>
            <a:ext cx="457200" cy="457200"/>
          </a:xfrm>
          <a:prstGeom prst="ellipse">
            <a:avLst/>
          </a:prstGeom>
          <a:solidFill>
            <a:srgbClr val="EEF2FF"/>
          </a:solidFill>
          <a:ln w="12700">
            <a:solidFill>
              <a:srgbClr val="C7D2FE"/>
            </a:solidFill>
            <a:prstDash val="solid"/>
          </a:ln>
        </p:spPr>
      </p:sp>
      <p:sp>
        <p:nvSpPr>
          <p:cNvPr id="13" name="Text 10"/>
          <p:cNvSpPr/>
          <p:nvPr/>
        </p:nvSpPr>
        <p:spPr>
          <a:xfrm>
            <a:off x="731520" y="310896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2</a:t>
            </a:r>
            <a:endParaRPr lang="en-US" sz="1500" dirty="0"/>
          </a:p>
        </p:txBody>
      </p:sp>
      <p:sp>
        <p:nvSpPr>
          <p:cNvPr id="14" name="Text 11"/>
          <p:cNvSpPr/>
          <p:nvPr/>
        </p:nvSpPr>
        <p:spPr>
          <a:xfrm>
            <a:off x="1417320" y="301752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100 puntos</a:t>
            </a:r>
            <a:endParaRPr lang="en-US" sz="1800" dirty="0"/>
          </a:p>
        </p:txBody>
      </p:sp>
      <p:sp>
        <p:nvSpPr>
          <p:cNvPr id="15" name="Text 12"/>
          <p:cNvSpPr/>
          <p:nvPr/>
        </p:nvSpPr>
        <p:spPr>
          <a:xfrm>
            <a:off x="1417320" y="340156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Cada integrante reparte 100 puntos entre las historias.</a:t>
            </a:r>
            <a:endParaRPr lang="en-US" sz="1400" dirty="0"/>
          </a:p>
        </p:txBody>
      </p:sp>
      <p:sp>
        <p:nvSpPr>
          <p:cNvPr id="16" name="Shape 13"/>
          <p:cNvSpPr/>
          <p:nvPr/>
        </p:nvSpPr>
        <p:spPr>
          <a:xfrm>
            <a:off x="731520" y="4224528"/>
            <a:ext cx="457200" cy="457200"/>
          </a:xfrm>
          <a:prstGeom prst="ellipse">
            <a:avLst/>
          </a:prstGeom>
          <a:solidFill>
            <a:srgbClr val="EEF2FF"/>
          </a:solidFill>
          <a:ln w="12700">
            <a:solidFill>
              <a:srgbClr val="C7D2FE"/>
            </a:solidFill>
            <a:prstDash val="solid"/>
          </a:ln>
        </p:spPr>
      </p:sp>
      <p:sp>
        <p:nvSpPr>
          <p:cNvPr id="17" name="Text 14"/>
          <p:cNvSpPr/>
          <p:nvPr/>
        </p:nvSpPr>
        <p:spPr>
          <a:xfrm>
            <a:off x="731520" y="429768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1417320" y="420624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Dependencias</a:t>
            </a:r>
            <a:endParaRPr lang="en-US" sz="1800" dirty="0"/>
          </a:p>
        </p:txBody>
      </p:sp>
      <p:sp>
        <p:nvSpPr>
          <p:cNvPr id="19" name="Text 16"/>
          <p:cNvSpPr/>
          <p:nvPr/>
        </p:nvSpPr>
        <p:spPr>
          <a:xfrm>
            <a:off x="1417320" y="459028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Ninguna etapa se prueba sin la anterior; por eso HU11 y HU06 se adelantan.</a:t>
            </a:r>
            <a:endParaRPr lang="en-US" sz="1400" dirty="0"/>
          </a:p>
        </p:txBody>
      </p:sp>
      <p:sp>
        <p:nvSpPr>
          <p:cNvPr id="20" name="Text 17"/>
          <p:cNvSpPr/>
          <p:nvPr/>
        </p:nvSpPr>
        <p:spPr>
          <a:xfrm>
            <a:off x="5943600" y="1691640"/>
            <a:ext cx="1463040" cy="914400"/>
          </a:xfrm>
          <a:prstGeom prst="rect">
            <a:avLst/>
          </a:prstGeom>
          <a:noFill/>
          <a:ln/>
        </p:spPr>
        <p:txBody>
          <a:bodyPr wrap="square" lIns="0" tIns="0" rIns="0" bIns="0" rtlCol="0" anchor="t"/>
          <a:lstStyle/>
          <a:p>
            <a:pPr indent="0" marL="0">
              <a:buNone/>
            </a:pPr>
            <a:r>
              <a:rPr lang="en-US" sz="6000" dirty="0">
                <a:solidFill>
                  <a:srgbClr val="1A1A1A"/>
                </a:solidFill>
                <a:latin typeface="Calibri Light" pitchFamily="34" charset="0"/>
                <a:ea typeface="Calibri Light" pitchFamily="34" charset="-122"/>
                <a:cs typeface="Calibri Light" pitchFamily="34" charset="-120"/>
              </a:rPr>
              <a:t>31</a:t>
            </a:r>
            <a:endParaRPr lang="en-US" sz="6000" dirty="0"/>
          </a:p>
        </p:txBody>
      </p:sp>
      <p:sp>
        <p:nvSpPr>
          <p:cNvPr id="21" name="Text 18"/>
          <p:cNvSpPr/>
          <p:nvPr/>
        </p:nvSpPr>
        <p:spPr>
          <a:xfrm>
            <a:off x="7086600" y="2011680"/>
            <a:ext cx="4114800" cy="45720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puntos de historia en cuatro sprints</a:t>
            </a:r>
            <a:endParaRPr lang="en-US" sz="1600" dirty="0"/>
          </a:p>
        </p:txBody>
      </p:sp>
      <p:sp>
        <p:nvSpPr>
          <p:cNvPr id="22" name="Text 19"/>
          <p:cNvSpPr/>
          <p:nvPr/>
        </p:nvSpPr>
        <p:spPr>
          <a:xfrm>
            <a:off x="5943600" y="2880360"/>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1</a:t>
            </a:r>
            <a:endParaRPr lang="en-US" sz="1400" dirty="0"/>
          </a:p>
        </p:txBody>
      </p:sp>
      <p:sp>
        <p:nvSpPr>
          <p:cNvPr id="23" name="Shape 20"/>
          <p:cNvSpPr/>
          <p:nvPr/>
        </p:nvSpPr>
        <p:spPr>
          <a:xfrm>
            <a:off x="7086600" y="2926080"/>
            <a:ext cx="2688336" cy="237744"/>
          </a:xfrm>
          <a:prstGeom prst="rect">
            <a:avLst/>
          </a:prstGeom>
          <a:solidFill>
            <a:srgbClr val="3E63DD"/>
          </a:solidFill>
          <a:ln w="12700">
            <a:solidFill>
              <a:srgbClr val="3E63DD"/>
            </a:solidFill>
            <a:prstDash val="solid"/>
          </a:ln>
        </p:spPr>
      </p:sp>
      <p:sp>
        <p:nvSpPr>
          <p:cNvPr id="24" name="Text 21"/>
          <p:cNvSpPr/>
          <p:nvPr/>
        </p:nvSpPr>
        <p:spPr>
          <a:xfrm>
            <a:off x="9866376" y="2880360"/>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7</a:t>
            </a:r>
            <a:endParaRPr lang="en-US" sz="1400" dirty="0"/>
          </a:p>
        </p:txBody>
      </p:sp>
      <p:sp>
        <p:nvSpPr>
          <p:cNvPr id="25" name="Text 22"/>
          <p:cNvSpPr/>
          <p:nvPr/>
        </p:nvSpPr>
        <p:spPr>
          <a:xfrm>
            <a:off x="7086600" y="3209544"/>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HU01–HU03 · subir video y detectar personas</a:t>
            </a:r>
            <a:endParaRPr lang="en-US" sz="1150" dirty="0"/>
          </a:p>
        </p:txBody>
      </p:sp>
      <p:sp>
        <p:nvSpPr>
          <p:cNvPr id="26" name="Text 23"/>
          <p:cNvSpPr/>
          <p:nvPr/>
        </p:nvSpPr>
        <p:spPr>
          <a:xfrm>
            <a:off x="5943600" y="3593592"/>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2</a:t>
            </a:r>
            <a:endParaRPr lang="en-US" sz="1400" dirty="0"/>
          </a:p>
        </p:txBody>
      </p:sp>
      <p:sp>
        <p:nvSpPr>
          <p:cNvPr id="27" name="Shape 24"/>
          <p:cNvSpPr/>
          <p:nvPr/>
        </p:nvSpPr>
        <p:spPr>
          <a:xfrm>
            <a:off x="7086600" y="3639312"/>
            <a:ext cx="3072384" cy="237744"/>
          </a:xfrm>
          <a:prstGeom prst="rect">
            <a:avLst/>
          </a:prstGeom>
          <a:solidFill>
            <a:srgbClr val="3E63DD"/>
          </a:solidFill>
          <a:ln w="12700">
            <a:solidFill>
              <a:srgbClr val="3E63DD"/>
            </a:solidFill>
            <a:prstDash val="solid"/>
          </a:ln>
        </p:spPr>
      </p:sp>
      <p:sp>
        <p:nvSpPr>
          <p:cNvPr id="28" name="Text 25"/>
          <p:cNvSpPr/>
          <p:nvPr/>
        </p:nvSpPr>
        <p:spPr>
          <a:xfrm>
            <a:off x="10250424" y="3593592"/>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29" name="Text 26"/>
          <p:cNvSpPr/>
          <p:nvPr/>
        </p:nvSpPr>
        <p:spPr>
          <a:xfrm>
            <a:off x="7086600" y="3922776"/>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HU04–HU06 y HU11 · filtrar y armar clips</a:t>
            </a:r>
            <a:endParaRPr lang="en-US" sz="1150" dirty="0"/>
          </a:p>
        </p:txBody>
      </p:sp>
      <p:sp>
        <p:nvSpPr>
          <p:cNvPr id="30" name="Text 27"/>
          <p:cNvSpPr/>
          <p:nvPr/>
        </p:nvSpPr>
        <p:spPr>
          <a:xfrm>
            <a:off x="5943600" y="4306824"/>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3</a:t>
            </a:r>
            <a:endParaRPr lang="en-US" sz="1400" dirty="0"/>
          </a:p>
        </p:txBody>
      </p:sp>
      <p:sp>
        <p:nvSpPr>
          <p:cNvPr id="31" name="Shape 28"/>
          <p:cNvSpPr/>
          <p:nvPr/>
        </p:nvSpPr>
        <p:spPr>
          <a:xfrm>
            <a:off x="7086600" y="4352544"/>
            <a:ext cx="3072384" cy="237744"/>
          </a:xfrm>
          <a:prstGeom prst="rect">
            <a:avLst/>
          </a:prstGeom>
          <a:solidFill>
            <a:srgbClr val="C2410C"/>
          </a:solidFill>
          <a:ln w="12700">
            <a:solidFill>
              <a:srgbClr val="C2410C"/>
            </a:solidFill>
            <a:prstDash val="solid"/>
          </a:ln>
        </p:spPr>
      </p:sp>
      <p:sp>
        <p:nvSpPr>
          <p:cNvPr id="32" name="Text 29"/>
          <p:cNvSpPr/>
          <p:nvPr/>
        </p:nvSpPr>
        <p:spPr>
          <a:xfrm>
            <a:off x="10250424" y="4306824"/>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33" name="Text 30"/>
          <p:cNvSpPr/>
          <p:nvPr/>
        </p:nvSpPr>
        <p:spPr>
          <a:xfrm>
            <a:off x="7086600" y="4636008"/>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HU07–HU08 · reconocer la conducta</a:t>
            </a:r>
            <a:endParaRPr lang="en-US" sz="1150" dirty="0"/>
          </a:p>
        </p:txBody>
      </p:sp>
      <p:sp>
        <p:nvSpPr>
          <p:cNvPr id="34" name="Text 31"/>
          <p:cNvSpPr/>
          <p:nvPr/>
        </p:nvSpPr>
        <p:spPr>
          <a:xfrm>
            <a:off x="5943600" y="5020056"/>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4</a:t>
            </a:r>
            <a:endParaRPr lang="en-US" sz="1400" dirty="0"/>
          </a:p>
        </p:txBody>
      </p:sp>
      <p:sp>
        <p:nvSpPr>
          <p:cNvPr id="35" name="Shape 32"/>
          <p:cNvSpPr/>
          <p:nvPr/>
        </p:nvSpPr>
        <p:spPr>
          <a:xfrm>
            <a:off x="7086600" y="5065776"/>
            <a:ext cx="3072384" cy="237744"/>
          </a:xfrm>
          <a:prstGeom prst="rect">
            <a:avLst/>
          </a:prstGeom>
          <a:solidFill>
            <a:srgbClr val="C2410C"/>
          </a:solidFill>
          <a:ln w="12700">
            <a:solidFill>
              <a:srgbClr val="C2410C"/>
            </a:solidFill>
            <a:prstDash val="solid"/>
          </a:ln>
        </p:spPr>
      </p:sp>
      <p:sp>
        <p:nvSpPr>
          <p:cNvPr id="36" name="Text 33"/>
          <p:cNvSpPr/>
          <p:nvPr/>
        </p:nvSpPr>
        <p:spPr>
          <a:xfrm>
            <a:off x="10250424" y="5020056"/>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37" name="Text 34"/>
          <p:cNvSpPr/>
          <p:nvPr/>
        </p:nvSpPr>
        <p:spPr>
          <a:xfrm>
            <a:off x="7086600" y="5349240"/>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HU09, HU10 y HU12 · alertas y reportes</a:t>
            </a:r>
            <a:endParaRPr lang="en-US" sz="11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del método: SCRUMstudy (2022), pp. 76–78 y 166–172.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ESTIMACIÓN Y TABLERO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Estimamos con los dedos y seguimos con un tablero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23</a:t>
            </a:r>
            <a:endParaRPr lang="en-US" sz="1000" dirty="0"/>
          </a:p>
        </p:txBody>
      </p:sp>
      <p:pic>
        <p:nvPicPr>
          <p:cNvPr id="8" name="Image 0" descr="/Users/anthony/Documents/Projects/NewBit/curso/semana-06-producto-unidad-1/nuestras-entregas/PPT_Producto_Unidad_1_NewBit/img/iconos/mano-ink.png">    </p:cNvPr>
          <p:cNvPicPr>
            <a:picLocks noChangeAspect="1"/>
          </p:cNvPicPr>
          <p:nvPr/>
        </p:nvPicPr>
        <p:blipFill>
          <a:blip r:embed="rId1"/>
          <a:stretch>
            <a:fillRect/>
          </a:stretch>
        </p:blipFill>
        <p:spPr>
          <a:xfrm>
            <a:off x="731520" y="1874520"/>
            <a:ext cx="548640" cy="548640"/>
          </a:xfrm>
          <a:prstGeom prst="rect">
            <a:avLst/>
          </a:prstGeom>
        </p:spPr>
      </p:pic>
      <p:sp>
        <p:nvSpPr>
          <p:cNvPr id="9" name="Text 5"/>
          <p:cNvSpPr/>
          <p:nvPr/>
        </p:nvSpPr>
        <p:spPr>
          <a:xfrm>
            <a:off x="1463040" y="1920240"/>
            <a:ext cx="3657600" cy="457200"/>
          </a:xfrm>
          <a:prstGeom prst="rect">
            <a:avLst/>
          </a:prstGeom>
          <a:noFill/>
          <a:ln/>
        </p:spPr>
        <p:txBody>
          <a:bodyPr wrap="square" lIns="0" tIns="0" rIns="0" bIns="0" rtlCol="0" anchor="t"/>
          <a:lstStyle/>
          <a:p>
            <a:pPr indent="0" marL="0">
              <a:buNone/>
            </a:pPr>
            <a:r>
              <a:rPr lang="en-US" sz="2200" b="1" dirty="0">
                <a:solidFill>
                  <a:srgbClr val="1A1A1A"/>
                </a:solidFill>
                <a:latin typeface="Calibri" pitchFamily="34" charset="0"/>
                <a:ea typeface="Calibri" pitchFamily="34" charset="-122"/>
                <a:cs typeface="Calibri" pitchFamily="34" charset="-120"/>
              </a:rPr>
              <a:t>Puño de cinco</a:t>
            </a:r>
            <a:endParaRPr lang="en-US" sz="2200" dirty="0"/>
          </a:p>
        </p:txBody>
      </p:sp>
      <p:sp>
        <p:nvSpPr>
          <p:cNvPr id="10" name="Text 6"/>
          <p:cNvSpPr/>
          <p:nvPr/>
        </p:nvSpPr>
        <p:spPr>
          <a:xfrm>
            <a:off x="731520" y="269748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1</a:t>
            </a:r>
            <a:endParaRPr lang="en-US" sz="1600" dirty="0"/>
          </a:p>
        </p:txBody>
      </p:sp>
      <p:sp>
        <p:nvSpPr>
          <p:cNvPr id="11" name="Text 7"/>
          <p:cNvSpPr/>
          <p:nvPr/>
        </p:nvSpPr>
        <p:spPr>
          <a:xfrm>
            <a:off x="1143000" y="269748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Todos muestran de 1 a 5 dedos a la vez: 1 es muy pequeña y 5, muy grande.</a:t>
            </a:r>
            <a:endParaRPr lang="en-US" sz="1500" dirty="0"/>
          </a:p>
        </p:txBody>
      </p:sp>
      <p:sp>
        <p:nvSpPr>
          <p:cNvPr id="12" name="Text 8"/>
          <p:cNvSpPr/>
          <p:nvPr/>
        </p:nvSpPr>
        <p:spPr>
          <a:xfrm>
            <a:off x="731520" y="347472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2</a:t>
            </a:r>
            <a:endParaRPr lang="en-US" sz="1600" dirty="0"/>
          </a:p>
        </p:txBody>
      </p:sp>
      <p:sp>
        <p:nvSpPr>
          <p:cNvPr id="13" name="Text 9"/>
          <p:cNvSpPr/>
          <p:nvPr/>
        </p:nvSpPr>
        <p:spPr>
          <a:xfrm>
            <a:off x="1143000" y="347472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Quienes votaron en los extremos explican por qué.</a:t>
            </a:r>
            <a:endParaRPr lang="en-US" sz="1500" dirty="0"/>
          </a:p>
        </p:txBody>
      </p:sp>
      <p:sp>
        <p:nvSpPr>
          <p:cNvPr id="14" name="Text 10"/>
          <p:cNvSpPr/>
          <p:nvPr/>
        </p:nvSpPr>
        <p:spPr>
          <a:xfrm>
            <a:off x="731520" y="425196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3</a:t>
            </a:r>
            <a:endParaRPr lang="en-US" sz="1600" dirty="0"/>
          </a:p>
        </p:txBody>
      </p:sp>
      <p:sp>
        <p:nvSpPr>
          <p:cNvPr id="15" name="Text 11"/>
          <p:cNvSpPr/>
          <p:nvPr/>
        </p:nvSpPr>
        <p:spPr>
          <a:xfrm>
            <a:off x="1143000" y="425196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Se vuelve a votar hasta acordar el tamaño.</a:t>
            </a:r>
            <a:endParaRPr lang="en-US" sz="1500" dirty="0"/>
          </a:p>
        </p:txBody>
      </p:sp>
      <p:sp>
        <p:nvSpPr>
          <p:cNvPr id="16" name="Text 12"/>
          <p:cNvSpPr/>
          <p:nvPr/>
        </p:nvSpPr>
        <p:spPr>
          <a:xfrm>
            <a:off x="731520" y="5120640"/>
            <a:ext cx="4572000" cy="5486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La épica más grande resultó la EP04: reconocer la conducta.</a:t>
            </a:r>
            <a:endParaRPr lang="en-US" sz="1400" dirty="0"/>
          </a:p>
        </p:txBody>
      </p:sp>
      <p:pic>
        <p:nvPicPr>
          <p:cNvPr id="17" name="Image 1" descr="/Users/anthony/Documents/Projects/NewBit/curso/semana-06-producto-unidad-1/nuestras-entregas/PPT_Producto_Unidad_1_NewBit/img/scrumboard-sprint1.png">    </p:cNvPr>
          <p:cNvPicPr>
            <a:picLocks noChangeAspect="1"/>
          </p:cNvPicPr>
          <p:nvPr/>
        </p:nvPicPr>
        <p:blipFill>
          <a:blip r:embed="rId2"/>
          <a:stretch>
            <a:fillRect/>
          </a:stretch>
        </p:blipFill>
        <p:spPr>
          <a:xfrm>
            <a:off x="5715000" y="1828800"/>
            <a:ext cx="5742432" cy="3227832"/>
          </a:xfrm>
          <a:prstGeom prst="rect">
            <a:avLst/>
          </a:prstGeom>
        </p:spPr>
      </p:pic>
      <p:sp>
        <p:nvSpPr>
          <p:cNvPr id="18" name="Shape 13"/>
          <p:cNvSpPr/>
          <p:nvPr/>
        </p:nvSpPr>
        <p:spPr>
          <a:xfrm>
            <a:off x="5715000" y="1828800"/>
            <a:ext cx="5742432" cy="3227832"/>
          </a:xfrm>
          <a:prstGeom prst="rect">
            <a:avLst/>
          </a:prstGeom>
          <a:ln w="9525">
            <a:solidFill>
              <a:srgbClr val="E7E5E4"/>
            </a:solidFill>
            <a:prstDash val="solid"/>
          </a:ln>
        </p:spPr>
      </p:sp>
      <p:sp>
        <p:nvSpPr>
          <p:cNvPr id="19" name="Text 14"/>
          <p:cNvSpPr/>
          <p:nvPr/>
        </p:nvSpPr>
        <p:spPr>
          <a:xfrm>
            <a:off x="5715000" y="5138928"/>
            <a:ext cx="576072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Scrumboard del Sprint 1: por hacer, en progreso, en prueba y terminada.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CRITERIOS DE TERMINADO (FGAP070)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¿Cuándo algo está realmente terminado?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24</a:t>
            </a:r>
            <a:endParaRPr lang="en-US" sz="1000" dirty="0"/>
          </a:p>
        </p:txBody>
      </p:sp>
      <p:sp>
        <p:nvSpPr>
          <p:cNvPr id="8" name="Shape 5"/>
          <p:cNvSpPr/>
          <p:nvPr/>
        </p:nvSpPr>
        <p:spPr>
          <a:xfrm>
            <a:off x="731520" y="1828800"/>
            <a:ext cx="5166360" cy="3749040"/>
          </a:xfrm>
          <a:prstGeom prst="roundRect">
            <a:avLst>
              <a:gd name="adj" fmla="val 1951"/>
            </a:avLst>
          </a:prstGeom>
          <a:solidFill>
            <a:srgbClr val="FFFFFF"/>
          </a:solidFill>
          <a:ln w="9525">
            <a:solidFill>
              <a:srgbClr val="E7E5E4"/>
            </a:solidFill>
            <a:prstDash val="solid"/>
          </a:ln>
        </p:spPr>
      </p:sp>
      <p:sp>
        <p:nvSpPr>
          <p:cNvPr id="9" name="Text 6"/>
          <p:cNvSpPr/>
          <p:nvPr/>
        </p:nvSpPr>
        <p:spPr>
          <a:xfrm>
            <a:off x="1097280" y="2103120"/>
            <a:ext cx="457200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CRITERIOS DE ACEPTACIÓN</a:t>
            </a:r>
            <a:endParaRPr lang="en-US" sz="1100" dirty="0"/>
          </a:p>
        </p:txBody>
      </p:sp>
      <p:sp>
        <p:nvSpPr>
          <p:cNvPr id="10" name="Text 7"/>
          <p:cNvSpPr/>
          <p:nvPr/>
        </p:nvSpPr>
        <p:spPr>
          <a:xfrm>
            <a:off x="1097280" y="2423160"/>
            <a:ext cx="4572000" cy="54864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Uno por historia</a:t>
            </a:r>
            <a:endParaRPr lang="en-US" sz="2800" dirty="0"/>
          </a:p>
        </p:txBody>
      </p:sp>
      <p:sp>
        <p:nvSpPr>
          <p:cNvPr id="11" name="Text 8"/>
          <p:cNvSpPr/>
          <p:nvPr/>
        </p:nvSpPr>
        <p:spPr>
          <a:xfrm>
            <a:off x="1097280" y="3108960"/>
            <a:ext cx="4434840" cy="14630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Los define el Product Owner. Ejemplo, HU01: acepta .mp4 y .avi, y muestra la duración y la resolución del video.</a:t>
            </a:r>
            <a:endParaRPr lang="en-US" sz="1500" dirty="0"/>
          </a:p>
        </p:txBody>
      </p:sp>
      <p:sp>
        <p:nvSpPr>
          <p:cNvPr id="12" name="Shape 9"/>
          <p:cNvSpPr/>
          <p:nvPr/>
        </p:nvSpPr>
        <p:spPr>
          <a:xfrm>
            <a:off x="6291072" y="1828800"/>
            <a:ext cx="5166360" cy="3749040"/>
          </a:xfrm>
          <a:prstGeom prst="roundRect">
            <a:avLst>
              <a:gd name="adj" fmla="val 1951"/>
            </a:avLst>
          </a:prstGeom>
          <a:solidFill>
            <a:srgbClr val="EEF2FF"/>
          </a:solidFill>
          <a:ln w="9525">
            <a:solidFill>
              <a:srgbClr val="C7D2FE"/>
            </a:solidFill>
            <a:prstDash val="solid"/>
          </a:ln>
        </p:spPr>
      </p:sp>
      <p:sp>
        <p:nvSpPr>
          <p:cNvPr id="13" name="Text 10"/>
          <p:cNvSpPr/>
          <p:nvPr/>
        </p:nvSpPr>
        <p:spPr>
          <a:xfrm>
            <a:off x="6656832" y="2103120"/>
            <a:ext cx="4572000" cy="274320"/>
          </a:xfrm>
          <a:prstGeom prst="rect">
            <a:avLst/>
          </a:prstGeom>
          <a:noFill/>
          <a:ln/>
        </p:spPr>
        <p:txBody>
          <a:bodyPr wrap="square" lIns="0" tIns="0" rIns="0" bIns="0" rtlCol="0" anchor="t"/>
          <a:lstStyle/>
          <a:p>
            <a:pPr indent="0" marL="0">
              <a:buNone/>
            </a:pPr>
            <a:r>
              <a:rPr lang="en-US" sz="1100" b="1" spc="100" kern="0" dirty="0">
                <a:solidFill>
                  <a:srgbClr val="3E63DD"/>
                </a:solidFill>
                <a:latin typeface="Calibri" pitchFamily="34" charset="0"/>
                <a:ea typeface="Calibri" pitchFamily="34" charset="-122"/>
                <a:cs typeface="Calibri" pitchFamily="34" charset="-120"/>
              </a:rPr>
              <a:t>CRITERIOS DE TERMINADO</a:t>
            </a:r>
            <a:endParaRPr lang="en-US" sz="1100" dirty="0"/>
          </a:p>
        </p:txBody>
      </p:sp>
      <p:sp>
        <p:nvSpPr>
          <p:cNvPr id="14" name="Text 11"/>
          <p:cNvSpPr/>
          <p:nvPr/>
        </p:nvSpPr>
        <p:spPr>
          <a:xfrm>
            <a:off x="6656832" y="2423160"/>
            <a:ext cx="4572000" cy="54864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Iguales para todas</a:t>
            </a:r>
            <a:endParaRPr lang="en-US" sz="2800" dirty="0"/>
          </a:p>
        </p:txBody>
      </p:sp>
      <p:pic>
        <p:nvPicPr>
          <p:cNvPr id="15" name="Image 0" descr="/Users/anthony/Documents/Projects/NewBit/curso/semana-06-producto-unidad-1/nuestras-entregas/PPT_Producto_Unidad_1_NewBit/img/iconos/seguro-azul.png">    </p:cNvPr>
          <p:cNvPicPr>
            <a:picLocks noChangeAspect="1"/>
          </p:cNvPicPr>
          <p:nvPr/>
        </p:nvPicPr>
        <p:blipFill>
          <a:blip r:embed="rId1"/>
          <a:stretch>
            <a:fillRect/>
          </a:stretch>
        </p:blipFill>
        <p:spPr>
          <a:xfrm>
            <a:off x="6656832" y="3154680"/>
            <a:ext cx="274320" cy="274320"/>
          </a:xfrm>
          <a:prstGeom prst="rect">
            <a:avLst/>
          </a:prstGeom>
        </p:spPr>
      </p:pic>
      <p:sp>
        <p:nvSpPr>
          <p:cNvPr id="16" name="Text 12"/>
          <p:cNvSpPr/>
          <p:nvPr/>
        </p:nvSpPr>
        <p:spPr>
          <a:xfrm>
            <a:off x="7040880" y="31729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Pruebas unitarias e integradas</a:t>
            </a:r>
            <a:endParaRPr lang="en-US" sz="1450" dirty="0"/>
          </a:p>
        </p:txBody>
      </p:sp>
      <p:pic>
        <p:nvPicPr>
          <p:cNvPr id="17" name="Image 1" descr="/Users/anthony/Documents/Projects/NewBit/curso/semana-06-producto-unidad-1/nuestras-entregas/PPT_Producto_Unidad_1_NewBit/img/iconos/seguro-azul.png">    </p:cNvPr>
          <p:cNvPicPr>
            <a:picLocks noChangeAspect="1"/>
          </p:cNvPicPr>
          <p:nvPr/>
        </p:nvPicPr>
        <p:blipFill>
          <a:blip r:embed="rId2"/>
          <a:stretch>
            <a:fillRect/>
          </a:stretch>
        </p:blipFill>
        <p:spPr>
          <a:xfrm>
            <a:off x="6656832" y="3611880"/>
            <a:ext cx="274320" cy="274320"/>
          </a:xfrm>
          <a:prstGeom prst="rect">
            <a:avLst/>
          </a:prstGeom>
        </p:spPr>
      </p:pic>
      <p:sp>
        <p:nvSpPr>
          <p:cNvPr id="18" name="Text 13"/>
          <p:cNvSpPr/>
          <p:nvPr/>
        </p:nvSpPr>
        <p:spPr>
          <a:xfrm>
            <a:off x="7040880" y="36301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Revisión de código entre pares</a:t>
            </a:r>
            <a:endParaRPr lang="en-US" sz="1450" dirty="0"/>
          </a:p>
        </p:txBody>
      </p:sp>
      <p:pic>
        <p:nvPicPr>
          <p:cNvPr id="19" name="Image 2" descr="/Users/anthony/Documents/Projects/NewBit/curso/semana-06-producto-unidad-1/nuestras-entregas/PPT_Producto_Unidad_1_NewBit/img/iconos/seguro-azul.png">    </p:cNvPr>
          <p:cNvPicPr>
            <a:picLocks noChangeAspect="1"/>
          </p:cNvPicPr>
          <p:nvPr/>
        </p:nvPicPr>
        <p:blipFill>
          <a:blip r:embed="rId3"/>
          <a:stretch>
            <a:fillRect/>
          </a:stretch>
        </p:blipFill>
        <p:spPr>
          <a:xfrm>
            <a:off x="6656832" y="4069080"/>
            <a:ext cx="274320" cy="274320"/>
          </a:xfrm>
          <a:prstGeom prst="rect">
            <a:avLst/>
          </a:prstGeom>
        </p:spPr>
      </p:pic>
      <p:sp>
        <p:nvSpPr>
          <p:cNvPr id="20" name="Text 14"/>
          <p:cNvSpPr/>
          <p:nvPr/>
        </p:nvSpPr>
        <p:spPr>
          <a:xfrm>
            <a:off x="7040880" y="40873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Documentación de datos, modelo y métricas</a:t>
            </a:r>
            <a:endParaRPr lang="en-US" sz="1450" dirty="0"/>
          </a:p>
        </p:txBody>
      </p:sp>
      <p:pic>
        <p:nvPicPr>
          <p:cNvPr id="21" name="Image 3" descr="/Users/anthony/Documents/Projects/NewBit/curso/semana-06-producto-unidad-1/nuestras-entregas/PPT_Producto_Unidad_1_NewBit/img/iconos/seguro-azul.png">    </p:cNvPr>
          <p:cNvPicPr>
            <a:picLocks noChangeAspect="1"/>
          </p:cNvPicPr>
          <p:nvPr/>
        </p:nvPicPr>
        <p:blipFill>
          <a:blip r:embed="rId4"/>
          <a:stretch>
            <a:fillRect/>
          </a:stretch>
        </p:blipFill>
        <p:spPr>
          <a:xfrm>
            <a:off x="6656832" y="4526280"/>
            <a:ext cx="274320" cy="274320"/>
          </a:xfrm>
          <a:prstGeom prst="rect">
            <a:avLst/>
          </a:prstGeom>
        </p:spPr>
      </p:pic>
      <p:sp>
        <p:nvSpPr>
          <p:cNvPr id="22" name="Text 15"/>
          <p:cNvSpPr/>
          <p:nvPr/>
        </p:nvSpPr>
        <p:spPr>
          <a:xfrm>
            <a:off x="7040880" y="45445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Aprobación técnica y del Product Owner</a:t>
            </a:r>
            <a:endParaRPr lang="en-US" sz="1450" dirty="0"/>
          </a:p>
        </p:txBody>
      </p:sp>
      <p:pic>
        <p:nvPicPr>
          <p:cNvPr id="23" name="Image 4" descr="/Users/anthony/Documents/Projects/NewBit/curso/semana-06-producto-unidad-1/nuestras-entregas/PPT_Producto_Unidad_1_NewBit/img/iconos/seguro-azul.png">    </p:cNvPr>
          <p:cNvPicPr>
            <a:picLocks noChangeAspect="1"/>
          </p:cNvPicPr>
          <p:nvPr/>
        </p:nvPicPr>
        <p:blipFill>
          <a:blip r:embed="rId5"/>
          <a:stretch>
            <a:fillRect/>
          </a:stretch>
        </p:blipFill>
        <p:spPr>
          <a:xfrm>
            <a:off x="6656832" y="4983480"/>
            <a:ext cx="274320" cy="274320"/>
          </a:xfrm>
          <a:prstGeom prst="rect">
            <a:avLst/>
          </a:prstGeom>
        </p:spPr>
      </p:pic>
      <p:sp>
        <p:nvSpPr>
          <p:cNvPr id="24" name="Text 16"/>
          <p:cNvSpPr/>
          <p:nvPr/>
        </p:nvSpPr>
        <p:spPr>
          <a:xfrm>
            <a:off x="7040880" y="50017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Ética: licencia respetada y sin biometría</a:t>
            </a:r>
            <a:endParaRPr lang="en-US" sz="14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6 · LO QUE COMPLETAMOS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Lo que el libro pedía y nos faltaba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25</a:t>
            </a:r>
            <a:endParaRPr lang="en-US" sz="1000" dirty="0"/>
          </a:p>
        </p:txBody>
      </p:sp>
      <p:sp>
        <p:nvSpPr>
          <p:cNvPr id="8" name="Shape 5"/>
          <p:cNvSpPr/>
          <p:nvPr/>
        </p:nvSpPr>
        <p:spPr>
          <a:xfrm>
            <a:off x="731520" y="1828800"/>
            <a:ext cx="3383280" cy="3566160"/>
          </a:xfrm>
          <a:prstGeom prst="roundRect">
            <a:avLst>
              <a:gd name="adj" fmla="val 2162"/>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equipo-azul.png">    </p:cNvPr>
          <p:cNvPicPr>
            <a:picLocks noChangeAspect="1"/>
          </p:cNvPicPr>
          <p:nvPr/>
        </p:nvPicPr>
        <p:blipFill>
          <a:blip r:embed="rId1"/>
          <a:stretch>
            <a:fillRect/>
          </a:stretch>
        </p:blipFill>
        <p:spPr>
          <a:xfrm>
            <a:off x="1051560" y="2148840"/>
            <a:ext cx="457200" cy="457200"/>
          </a:xfrm>
          <a:prstGeom prst="rect">
            <a:avLst/>
          </a:prstGeom>
        </p:spPr>
      </p:pic>
      <p:sp>
        <p:nvSpPr>
          <p:cNvPr id="10" name="Text 6"/>
          <p:cNvSpPr/>
          <p:nvPr/>
        </p:nvSpPr>
        <p:spPr>
          <a:xfrm>
            <a:off x="105156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Registro de interesados</a:t>
            </a:r>
            <a:endParaRPr lang="en-US" sz="1900" dirty="0"/>
          </a:p>
        </p:txBody>
      </p:sp>
      <p:sp>
        <p:nvSpPr>
          <p:cNvPr id="11" name="Text 7"/>
          <p:cNvSpPr/>
          <p:nvPr/>
        </p:nvSpPr>
        <p:spPr>
          <a:xfrm>
            <a:off x="105156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FGAP020 · proceso 8.2</a:t>
            </a:r>
            <a:endParaRPr lang="en-US" sz="1200" dirty="0"/>
          </a:p>
        </p:txBody>
      </p:sp>
      <p:sp>
        <p:nvSpPr>
          <p:cNvPr id="12" name="Text 8"/>
          <p:cNvSpPr/>
          <p:nvPr/>
        </p:nvSpPr>
        <p:spPr>
          <a:xfrm>
            <a:off x="105156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Quién influye en el proyecto, qué espera y cómo lo involucramos: matriz de poder e interés.</a:t>
            </a:r>
            <a:endParaRPr lang="en-US" sz="1450" dirty="0"/>
          </a:p>
        </p:txBody>
      </p:sp>
      <p:sp>
        <p:nvSpPr>
          <p:cNvPr id="13" name="Shape 9"/>
          <p:cNvSpPr/>
          <p:nvPr/>
        </p:nvSpPr>
        <p:spPr>
          <a:xfrm>
            <a:off x="4343400" y="1828800"/>
            <a:ext cx="3383280" cy="3566160"/>
          </a:xfrm>
          <a:prstGeom prst="roundRect">
            <a:avLst>
              <a:gd name="adj" fmla="val 2162"/>
            </a:avLst>
          </a:prstGeom>
          <a:solidFill>
            <a:srgbClr val="FFFFFF"/>
          </a:solidFill>
          <a:ln w="9525">
            <a:solidFill>
              <a:srgbClr val="E7E5E4"/>
            </a:solidFill>
            <a:prstDash val="solid"/>
          </a:ln>
        </p:spPr>
      </p:sp>
      <p:pic>
        <p:nvPicPr>
          <p:cNvPr id="14" name="Image 1" descr="/Users/anthony/Documents/Projects/NewBit/curso/semana-06-producto-unidad-1/nuestras-entregas/PPT_Producto_Unidad_1_NewBit/img/iconos/lista-azul.png">    </p:cNvPr>
          <p:cNvPicPr>
            <a:picLocks noChangeAspect="1"/>
          </p:cNvPicPr>
          <p:nvPr/>
        </p:nvPicPr>
        <p:blipFill>
          <a:blip r:embed="rId2"/>
          <a:stretch>
            <a:fillRect/>
          </a:stretch>
        </p:blipFill>
        <p:spPr>
          <a:xfrm>
            <a:off x="4663440" y="2148840"/>
            <a:ext cx="457200" cy="457200"/>
          </a:xfrm>
          <a:prstGeom prst="rect">
            <a:avLst/>
          </a:prstGeom>
        </p:spPr>
      </p:pic>
      <p:sp>
        <p:nvSpPr>
          <p:cNvPr id="15" name="Text 10"/>
          <p:cNvSpPr/>
          <p:nvPr/>
        </p:nvSpPr>
        <p:spPr>
          <a:xfrm>
            <a:off x="466344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Definición de listo</a:t>
            </a:r>
            <a:endParaRPr lang="en-US" sz="1900" dirty="0"/>
          </a:p>
        </p:txBody>
      </p:sp>
      <p:sp>
        <p:nvSpPr>
          <p:cNvPr id="16" name="Text 11"/>
          <p:cNvSpPr/>
          <p:nvPr/>
        </p:nvSpPr>
        <p:spPr>
          <a:xfrm>
            <a:off x="466344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proceso 8.5 · p. 92</a:t>
            </a:r>
            <a:endParaRPr lang="en-US" sz="1200" dirty="0"/>
          </a:p>
        </p:txBody>
      </p:sp>
      <p:sp>
        <p:nvSpPr>
          <p:cNvPr id="17" name="Text 12"/>
          <p:cNvSpPr/>
          <p:nvPr/>
        </p:nvSpPr>
        <p:spPr>
          <a:xfrm>
            <a:off x="466344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Una historia entra a un sprint solo si tiene criterios, dependencias resueltas, estimación y los datos que necesita.</a:t>
            </a:r>
            <a:endParaRPr lang="en-US" sz="1450" dirty="0"/>
          </a:p>
        </p:txBody>
      </p:sp>
      <p:sp>
        <p:nvSpPr>
          <p:cNvPr id="18" name="Shape 13"/>
          <p:cNvSpPr/>
          <p:nvPr/>
        </p:nvSpPr>
        <p:spPr>
          <a:xfrm>
            <a:off x="7955280" y="1828800"/>
            <a:ext cx="3383280" cy="3566160"/>
          </a:xfrm>
          <a:prstGeom prst="roundRect">
            <a:avLst>
              <a:gd name="adj" fmla="val 2162"/>
            </a:avLst>
          </a:prstGeom>
          <a:solidFill>
            <a:srgbClr val="FFFFFF"/>
          </a:solidFill>
          <a:ln w="9525">
            <a:solidFill>
              <a:srgbClr val="E7E5E4"/>
            </a:solidFill>
            <a:prstDash val="solid"/>
          </a:ln>
        </p:spPr>
      </p:sp>
      <p:pic>
        <p:nvPicPr>
          <p:cNvPr id="19" name="Image 2" descr="/Users/anthony/Documents/Projects/NewBit/curso/semana-06-producto-unidad-1/nuestras-entregas/PPT_Producto_Unidad_1_NewBit/img/iconos/calendario-azul.png">    </p:cNvPr>
          <p:cNvPicPr>
            <a:picLocks noChangeAspect="1"/>
          </p:cNvPicPr>
          <p:nvPr/>
        </p:nvPicPr>
        <p:blipFill>
          <a:blip r:embed="rId3"/>
          <a:stretch>
            <a:fillRect/>
          </a:stretch>
        </p:blipFill>
        <p:spPr>
          <a:xfrm>
            <a:off x="8275320" y="2148840"/>
            <a:ext cx="457200" cy="457200"/>
          </a:xfrm>
          <a:prstGeom prst="rect">
            <a:avLst/>
          </a:prstGeom>
        </p:spPr>
      </p:pic>
      <p:sp>
        <p:nvSpPr>
          <p:cNvPr id="20" name="Text 14"/>
          <p:cNvSpPr/>
          <p:nvPr/>
        </p:nvSpPr>
        <p:spPr>
          <a:xfrm>
            <a:off x="827532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Plan de liberación</a:t>
            </a:r>
            <a:endParaRPr lang="en-US" sz="1900" dirty="0"/>
          </a:p>
        </p:txBody>
      </p:sp>
      <p:sp>
        <p:nvSpPr>
          <p:cNvPr id="21" name="Text 15"/>
          <p:cNvSpPr/>
          <p:nvPr/>
        </p:nvSpPr>
        <p:spPr>
          <a:xfrm>
            <a:off x="827532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proceso 8.6 · p. 178</a:t>
            </a:r>
            <a:endParaRPr lang="en-US" sz="1200" dirty="0"/>
          </a:p>
        </p:txBody>
      </p:sp>
      <p:sp>
        <p:nvSpPr>
          <p:cNvPr id="22" name="Text 16"/>
          <p:cNvSpPr/>
          <p:nvPr/>
        </p:nvSpPr>
        <p:spPr>
          <a:xfrm>
            <a:off x="827532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Sprints de dos semanas y una sola liberación al cierre, del 14 al 18 de diciembre.</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PARTE 4 · LO QUE VIENE</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Cuatro sprints hasta diciembre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26</a:t>
            </a:r>
            <a:endParaRPr lang="en-US" sz="1000" dirty="0"/>
          </a:p>
        </p:txBody>
      </p:sp>
      <p:sp>
        <p:nvSpPr>
          <p:cNvPr id="8" name="Text 5"/>
          <p:cNvSpPr/>
          <p:nvPr/>
        </p:nvSpPr>
        <p:spPr>
          <a:xfrm>
            <a:off x="365760"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05 oct</a:t>
            </a:r>
            <a:endParaRPr lang="en-US" sz="1100" dirty="0"/>
          </a:p>
        </p:txBody>
      </p:sp>
      <p:sp>
        <p:nvSpPr>
          <p:cNvPr id="9" name="Shape 6"/>
          <p:cNvSpPr/>
          <p:nvPr/>
        </p:nvSpPr>
        <p:spPr>
          <a:xfrm>
            <a:off x="822960" y="2057400"/>
            <a:ext cx="0" cy="2971800"/>
          </a:xfrm>
          <a:prstGeom prst="line">
            <a:avLst/>
          </a:prstGeom>
          <a:noFill/>
          <a:ln w="9525">
            <a:solidFill>
              <a:srgbClr val="E7E5E4"/>
            </a:solidFill>
            <a:prstDash val="solid"/>
          </a:ln>
        </p:spPr>
      </p:sp>
      <p:sp>
        <p:nvSpPr>
          <p:cNvPr id="10" name="Text 7"/>
          <p:cNvSpPr/>
          <p:nvPr/>
        </p:nvSpPr>
        <p:spPr>
          <a:xfrm>
            <a:off x="2360907"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19 oct</a:t>
            </a:r>
            <a:endParaRPr lang="en-US" sz="1100" dirty="0"/>
          </a:p>
        </p:txBody>
      </p:sp>
      <p:sp>
        <p:nvSpPr>
          <p:cNvPr id="11" name="Shape 8"/>
          <p:cNvSpPr/>
          <p:nvPr/>
        </p:nvSpPr>
        <p:spPr>
          <a:xfrm>
            <a:off x="2818107" y="2057400"/>
            <a:ext cx="0" cy="2971800"/>
          </a:xfrm>
          <a:prstGeom prst="line">
            <a:avLst/>
          </a:prstGeom>
          <a:noFill/>
          <a:ln w="9525">
            <a:solidFill>
              <a:srgbClr val="E7E5E4"/>
            </a:solidFill>
            <a:prstDash val="solid"/>
          </a:ln>
        </p:spPr>
      </p:sp>
      <p:sp>
        <p:nvSpPr>
          <p:cNvPr id="12" name="Text 9"/>
          <p:cNvSpPr/>
          <p:nvPr/>
        </p:nvSpPr>
        <p:spPr>
          <a:xfrm>
            <a:off x="4356053"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02 nov</a:t>
            </a:r>
            <a:endParaRPr lang="en-US" sz="1100" dirty="0"/>
          </a:p>
        </p:txBody>
      </p:sp>
      <p:sp>
        <p:nvSpPr>
          <p:cNvPr id="13" name="Shape 10"/>
          <p:cNvSpPr/>
          <p:nvPr/>
        </p:nvSpPr>
        <p:spPr>
          <a:xfrm>
            <a:off x="4813253" y="2057400"/>
            <a:ext cx="0" cy="2971800"/>
          </a:xfrm>
          <a:prstGeom prst="line">
            <a:avLst/>
          </a:prstGeom>
          <a:noFill/>
          <a:ln w="9525">
            <a:solidFill>
              <a:srgbClr val="E7E5E4"/>
            </a:solidFill>
            <a:prstDash val="solid"/>
          </a:ln>
        </p:spPr>
      </p:sp>
      <p:sp>
        <p:nvSpPr>
          <p:cNvPr id="14" name="Text 11"/>
          <p:cNvSpPr/>
          <p:nvPr/>
        </p:nvSpPr>
        <p:spPr>
          <a:xfrm>
            <a:off x="6351200"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16 nov</a:t>
            </a:r>
            <a:endParaRPr lang="en-US" sz="1100" dirty="0"/>
          </a:p>
        </p:txBody>
      </p:sp>
      <p:sp>
        <p:nvSpPr>
          <p:cNvPr id="15" name="Shape 12"/>
          <p:cNvSpPr/>
          <p:nvPr/>
        </p:nvSpPr>
        <p:spPr>
          <a:xfrm>
            <a:off x="6808400" y="2057400"/>
            <a:ext cx="0" cy="2971800"/>
          </a:xfrm>
          <a:prstGeom prst="line">
            <a:avLst/>
          </a:prstGeom>
          <a:noFill/>
          <a:ln w="9525">
            <a:solidFill>
              <a:srgbClr val="E7E5E4"/>
            </a:solidFill>
            <a:prstDash val="solid"/>
          </a:ln>
        </p:spPr>
      </p:sp>
      <p:sp>
        <p:nvSpPr>
          <p:cNvPr id="16" name="Text 13"/>
          <p:cNvSpPr/>
          <p:nvPr/>
        </p:nvSpPr>
        <p:spPr>
          <a:xfrm>
            <a:off x="8346347"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30 nov</a:t>
            </a:r>
            <a:endParaRPr lang="en-US" sz="1100" dirty="0"/>
          </a:p>
        </p:txBody>
      </p:sp>
      <p:sp>
        <p:nvSpPr>
          <p:cNvPr id="17" name="Shape 14"/>
          <p:cNvSpPr/>
          <p:nvPr/>
        </p:nvSpPr>
        <p:spPr>
          <a:xfrm>
            <a:off x="8803547" y="2057400"/>
            <a:ext cx="0" cy="2971800"/>
          </a:xfrm>
          <a:prstGeom prst="line">
            <a:avLst/>
          </a:prstGeom>
          <a:noFill/>
          <a:ln w="9525">
            <a:solidFill>
              <a:srgbClr val="E7E5E4"/>
            </a:solidFill>
            <a:prstDash val="solid"/>
          </a:ln>
        </p:spPr>
      </p:sp>
      <p:sp>
        <p:nvSpPr>
          <p:cNvPr id="18" name="Text 15"/>
          <p:cNvSpPr/>
          <p:nvPr/>
        </p:nvSpPr>
        <p:spPr>
          <a:xfrm>
            <a:off x="10341493"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14 dic</a:t>
            </a:r>
            <a:endParaRPr lang="en-US" sz="1100" dirty="0"/>
          </a:p>
        </p:txBody>
      </p:sp>
      <p:sp>
        <p:nvSpPr>
          <p:cNvPr id="19" name="Shape 16"/>
          <p:cNvSpPr/>
          <p:nvPr/>
        </p:nvSpPr>
        <p:spPr>
          <a:xfrm>
            <a:off x="10798693" y="2057400"/>
            <a:ext cx="0" cy="2971800"/>
          </a:xfrm>
          <a:prstGeom prst="line">
            <a:avLst/>
          </a:prstGeom>
          <a:noFill/>
          <a:ln w="9525">
            <a:solidFill>
              <a:srgbClr val="E7E5E4"/>
            </a:solidFill>
            <a:prstDash val="solid"/>
          </a:ln>
        </p:spPr>
      </p:sp>
      <p:sp>
        <p:nvSpPr>
          <p:cNvPr id="20" name="Shape 17"/>
          <p:cNvSpPr/>
          <p:nvPr/>
        </p:nvSpPr>
        <p:spPr>
          <a:xfrm>
            <a:off x="822960" y="2148840"/>
            <a:ext cx="1567615" cy="292608"/>
          </a:xfrm>
          <a:prstGeom prst="roundRect">
            <a:avLst>
              <a:gd name="adj" fmla="val 15625"/>
            </a:avLst>
          </a:prstGeom>
          <a:solidFill>
            <a:srgbClr val="8A8984"/>
          </a:solidFill>
          <a:ln w="12700">
            <a:solidFill>
              <a:srgbClr val="8A8984"/>
            </a:solidFill>
            <a:prstDash val="solid"/>
          </a:ln>
        </p:spPr>
      </p:sp>
      <p:sp>
        <p:nvSpPr>
          <p:cNvPr id="21" name="Text 18"/>
          <p:cNvSpPr/>
          <p:nvPr/>
        </p:nvSpPr>
        <p:spPr>
          <a:xfrm>
            <a:off x="2527735" y="2167128"/>
            <a:ext cx="320040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Inicio  </a:t>
            </a:r>
            <a:pPr algn="l" indent="0" marL="0">
              <a:buNone/>
            </a:pPr>
            <a:r>
              <a:rPr lang="en-US" sz="1300" dirty="0">
                <a:solidFill>
                  <a:srgbClr val="57534E"/>
                </a:solidFill>
                <a:latin typeface="Calibri" pitchFamily="34" charset="0"/>
                <a:ea typeface="Calibri" pitchFamily="34" charset="-122"/>
                <a:cs typeface="Calibri" pitchFamily="34" charset="-120"/>
              </a:rPr>
              <a:t>Formatos de la Unidad I</a:t>
            </a:r>
            <a:endParaRPr lang="en-US" sz="1300" dirty="0"/>
          </a:p>
        </p:txBody>
      </p:sp>
      <p:sp>
        <p:nvSpPr>
          <p:cNvPr id="22" name="Shape 19"/>
          <p:cNvSpPr/>
          <p:nvPr/>
        </p:nvSpPr>
        <p:spPr>
          <a:xfrm>
            <a:off x="2818107" y="2624328"/>
            <a:ext cx="1567615" cy="292608"/>
          </a:xfrm>
          <a:prstGeom prst="roundRect">
            <a:avLst>
              <a:gd name="adj" fmla="val 15625"/>
            </a:avLst>
          </a:prstGeom>
          <a:solidFill>
            <a:srgbClr val="3E63DD"/>
          </a:solidFill>
          <a:ln w="12700">
            <a:solidFill>
              <a:srgbClr val="3E63DD"/>
            </a:solidFill>
            <a:prstDash val="solid"/>
          </a:ln>
        </p:spPr>
      </p:sp>
      <p:sp>
        <p:nvSpPr>
          <p:cNvPr id="23" name="Text 20"/>
          <p:cNvSpPr/>
          <p:nvPr/>
        </p:nvSpPr>
        <p:spPr>
          <a:xfrm>
            <a:off x="4522882" y="2642616"/>
            <a:ext cx="320040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1  </a:t>
            </a:r>
            <a:pPr algn="l" indent="0" marL="0">
              <a:buNone/>
            </a:pPr>
            <a:r>
              <a:rPr lang="en-US" sz="1300" dirty="0">
                <a:solidFill>
                  <a:srgbClr val="57534E"/>
                </a:solidFill>
                <a:latin typeface="Calibri" pitchFamily="34" charset="0"/>
                <a:ea typeface="Calibri" pitchFamily="34" charset="-122"/>
                <a:cs typeface="Calibri" pitchFamily="34" charset="-120"/>
              </a:rPr>
              <a:t>Subir video y detectar personas</a:t>
            </a:r>
            <a:endParaRPr lang="en-US" sz="1300" dirty="0"/>
          </a:p>
        </p:txBody>
      </p:sp>
      <p:sp>
        <p:nvSpPr>
          <p:cNvPr id="24" name="Shape 21"/>
          <p:cNvSpPr/>
          <p:nvPr/>
        </p:nvSpPr>
        <p:spPr>
          <a:xfrm>
            <a:off x="4813253" y="3099816"/>
            <a:ext cx="1567615" cy="292608"/>
          </a:xfrm>
          <a:prstGeom prst="roundRect">
            <a:avLst>
              <a:gd name="adj" fmla="val 15625"/>
            </a:avLst>
          </a:prstGeom>
          <a:solidFill>
            <a:srgbClr val="3E63DD"/>
          </a:solidFill>
          <a:ln w="12700">
            <a:solidFill>
              <a:srgbClr val="3E63DD"/>
            </a:solidFill>
            <a:prstDash val="solid"/>
          </a:ln>
        </p:spPr>
      </p:sp>
      <p:sp>
        <p:nvSpPr>
          <p:cNvPr id="25" name="Text 22"/>
          <p:cNvSpPr/>
          <p:nvPr/>
        </p:nvSpPr>
        <p:spPr>
          <a:xfrm>
            <a:off x="6518029" y="3118104"/>
            <a:ext cx="320040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2  </a:t>
            </a:r>
            <a:pPr algn="l" indent="0" marL="0">
              <a:buNone/>
            </a:pPr>
            <a:r>
              <a:rPr lang="en-US" sz="1300" dirty="0">
                <a:solidFill>
                  <a:srgbClr val="57534E"/>
                </a:solidFill>
                <a:latin typeface="Calibri" pitchFamily="34" charset="0"/>
                <a:ea typeface="Calibri" pitchFamily="34" charset="-122"/>
                <a:cs typeface="Calibri" pitchFamily="34" charset="-120"/>
              </a:rPr>
              <a:t>Filtrar fotogramas y armar clips</a:t>
            </a:r>
            <a:endParaRPr lang="en-US" sz="1300" dirty="0"/>
          </a:p>
        </p:txBody>
      </p:sp>
      <p:sp>
        <p:nvSpPr>
          <p:cNvPr id="26" name="Shape 23"/>
          <p:cNvSpPr/>
          <p:nvPr/>
        </p:nvSpPr>
        <p:spPr>
          <a:xfrm>
            <a:off x="6808400" y="3575304"/>
            <a:ext cx="1567615" cy="292608"/>
          </a:xfrm>
          <a:prstGeom prst="roundRect">
            <a:avLst>
              <a:gd name="adj" fmla="val 15625"/>
            </a:avLst>
          </a:prstGeom>
          <a:solidFill>
            <a:srgbClr val="C2410C"/>
          </a:solidFill>
          <a:ln w="12700">
            <a:solidFill>
              <a:srgbClr val="C2410C"/>
            </a:solidFill>
            <a:prstDash val="solid"/>
          </a:ln>
        </p:spPr>
      </p:sp>
      <p:sp>
        <p:nvSpPr>
          <p:cNvPr id="27" name="Text 24"/>
          <p:cNvSpPr/>
          <p:nvPr/>
        </p:nvSpPr>
        <p:spPr>
          <a:xfrm>
            <a:off x="8513175" y="3593592"/>
            <a:ext cx="320040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3  </a:t>
            </a:r>
            <a:pPr algn="l" indent="0" marL="0">
              <a:buNone/>
            </a:pPr>
            <a:r>
              <a:rPr lang="en-US" sz="1300" dirty="0">
                <a:solidFill>
                  <a:srgbClr val="57534E"/>
                </a:solidFill>
                <a:latin typeface="Calibri" pitchFamily="34" charset="0"/>
                <a:ea typeface="Calibri" pitchFamily="34" charset="-122"/>
                <a:cs typeface="Calibri" pitchFamily="34" charset="-120"/>
              </a:rPr>
              <a:t>Reconocer la conducta</a:t>
            </a:r>
            <a:endParaRPr lang="en-US" sz="1300" dirty="0"/>
          </a:p>
        </p:txBody>
      </p:sp>
      <p:sp>
        <p:nvSpPr>
          <p:cNvPr id="28" name="Shape 25"/>
          <p:cNvSpPr/>
          <p:nvPr/>
        </p:nvSpPr>
        <p:spPr>
          <a:xfrm>
            <a:off x="8803547" y="4050792"/>
            <a:ext cx="1567615" cy="292608"/>
          </a:xfrm>
          <a:prstGeom prst="roundRect">
            <a:avLst>
              <a:gd name="adj" fmla="val 15625"/>
            </a:avLst>
          </a:prstGeom>
          <a:solidFill>
            <a:srgbClr val="C2410C"/>
          </a:solidFill>
          <a:ln w="12700">
            <a:solidFill>
              <a:srgbClr val="C2410C"/>
            </a:solidFill>
            <a:prstDash val="solid"/>
          </a:ln>
        </p:spPr>
      </p:sp>
      <p:sp>
        <p:nvSpPr>
          <p:cNvPr id="29" name="Text 26"/>
          <p:cNvSpPr/>
          <p:nvPr/>
        </p:nvSpPr>
        <p:spPr>
          <a:xfrm>
            <a:off x="5511707" y="4069080"/>
            <a:ext cx="3200400" cy="274320"/>
          </a:xfrm>
          <a:prstGeom prst="rect">
            <a:avLst/>
          </a:prstGeom>
          <a:noFill/>
          <a:ln/>
        </p:spPr>
        <p:txBody>
          <a:bodyPr wrap="square" lIns="0" tIns="0" rIns="0" bIns="0" rtlCol="0" anchor="t"/>
          <a:lstStyle/>
          <a:p>
            <a:pPr algn="r" indent="0" marL="0">
              <a:buNone/>
            </a:pPr>
            <a:r>
              <a:rPr lang="en-US" sz="1300" b="1" dirty="0">
                <a:solidFill>
                  <a:srgbClr val="1A1A1A"/>
                </a:solidFill>
                <a:latin typeface="Calibri" pitchFamily="34" charset="0"/>
                <a:ea typeface="Calibri" pitchFamily="34" charset="-122"/>
                <a:cs typeface="Calibri" pitchFamily="34" charset="-120"/>
              </a:rPr>
              <a:t>Sprint 4  </a:t>
            </a:r>
            <a:pPr algn="r" indent="0" marL="0">
              <a:buNone/>
            </a:pPr>
            <a:r>
              <a:rPr lang="en-US" sz="1300" dirty="0">
                <a:solidFill>
                  <a:srgbClr val="57534E"/>
                </a:solidFill>
                <a:latin typeface="Calibri" pitchFamily="34" charset="0"/>
                <a:ea typeface="Calibri" pitchFamily="34" charset="-122"/>
                <a:cs typeface="Calibri" pitchFamily="34" charset="-120"/>
              </a:rPr>
              <a:t>Alertas, recuadro de riesgo y reportes</a:t>
            </a:r>
            <a:endParaRPr lang="en-US" sz="1300" dirty="0"/>
          </a:p>
        </p:txBody>
      </p:sp>
      <p:sp>
        <p:nvSpPr>
          <p:cNvPr id="30" name="Shape 27"/>
          <p:cNvSpPr/>
          <p:nvPr/>
        </p:nvSpPr>
        <p:spPr>
          <a:xfrm>
            <a:off x="10798693" y="4526280"/>
            <a:ext cx="570042" cy="292608"/>
          </a:xfrm>
          <a:prstGeom prst="roundRect">
            <a:avLst>
              <a:gd name="adj" fmla="val 15625"/>
            </a:avLst>
          </a:prstGeom>
          <a:solidFill>
            <a:srgbClr val="8A8984"/>
          </a:solidFill>
          <a:ln w="12700">
            <a:solidFill>
              <a:srgbClr val="8A8984"/>
            </a:solidFill>
            <a:prstDash val="solid"/>
          </a:ln>
        </p:spPr>
      </p:sp>
      <p:sp>
        <p:nvSpPr>
          <p:cNvPr id="31" name="Text 28"/>
          <p:cNvSpPr/>
          <p:nvPr/>
        </p:nvSpPr>
        <p:spPr>
          <a:xfrm>
            <a:off x="7506853" y="4544568"/>
            <a:ext cx="3200400" cy="274320"/>
          </a:xfrm>
          <a:prstGeom prst="rect">
            <a:avLst/>
          </a:prstGeom>
          <a:noFill/>
          <a:ln/>
        </p:spPr>
        <p:txBody>
          <a:bodyPr wrap="square" lIns="0" tIns="0" rIns="0" bIns="0" rtlCol="0" anchor="t"/>
          <a:lstStyle/>
          <a:p>
            <a:pPr algn="r" indent="0" marL="0">
              <a:buNone/>
            </a:pPr>
            <a:r>
              <a:rPr lang="en-US" sz="1300" b="1" dirty="0">
                <a:solidFill>
                  <a:srgbClr val="1A1A1A"/>
                </a:solidFill>
                <a:latin typeface="Calibri" pitchFamily="34" charset="0"/>
                <a:ea typeface="Calibri" pitchFamily="34" charset="-122"/>
                <a:cs typeface="Calibri" pitchFamily="34" charset="-120"/>
              </a:rPr>
              <a:t>Cierre  </a:t>
            </a:r>
            <a:pPr algn="r" indent="0" marL="0">
              <a:buNone/>
            </a:pPr>
            <a:r>
              <a:rPr lang="en-US" sz="1300" dirty="0">
                <a:solidFill>
                  <a:srgbClr val="57534E"/>
                </a:solidFill>
                <a:latin typeface="Calibri" pitchFamily="34" charset="0"/>
                <a:ea typeface="Calibri" pitchFamily="34" charset="-122"/>
                <a:cs typeface="Calibri" pitchFamily="34" charset="-120"/>
              </a:rPr>
              <a:t>FGAP090</a:t>
            </a:r>
            <a:endParaRPr lang="en-US" sz="1300" dirty="0"/>
          </a:p>
        </p:txBody>
      </p:sp>
      <p:sp>
        <p:nvSpPr>
          <p:cNvPr id="32" name="Shape 29"/>
          <p:cNvSpPr/>
          <p:nvPr/>
        </p:nvSpPr>
        <p:spPr>
          <a:xfrm>
            <a:off x="2818107" y="2560320"/>
            <a:ext cx="0" cy="2514600"/>
          </a:xfrm>
          <a:prstGeom prst="line">
            <a:avLst/>
          </a:prstGeom>
          <a:noFill/>
          <a:ln w="22225">
            <a:solidFill>
              <a:srgbClr val="1A1A1A"/>
            </a:solidFill>
            <a:prstDash val="solid"/>
          </a:ln>
        </p:spPr>
      </p:sp>
      <p:sp>
        <p:nvSpPr>
          <p:cNvPr id="33" name="Text 30"/>
          <p:cNvSpPr/>
          <p:nvPr/>
        </p:nvSpPr>
        <p:spPr>
          <a:xfrm>
            <a:off x="2909547" y="4892040"/>
            <a:ext cx="228600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Hoy · 19 de octubre</a:t>
            </a:r>
            <a:endParaRPr lang="en-US" sz="1200" dirty="0"/>
          </a:p>
        </p:txBody>
      </p:sp>
      <p:sp>
        <p:nvSpPr>
          <p:cNvPr id="34" name="Text 31"/>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Fechas del acta (FGAP010). Cada sprint: planificación 4 h · Daily 15 min · revisión 2 h · retrospectiva 2 h.</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Menos horas mirando video.</a:t>
            </a:r>
            <a:endParaRPr lang="en-US" sz="5400" dirty="0"/>
          </a:p>
        </p:txBody>
      </p:sp>
      <p:sp>
        <p:nvSpPr>
          <p:cNvPr id="4" name="Text 1"/>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Más tiempo para prevenir.</a:t>
            </a:r>
            <a:endParaRPr lang="en-US" sz="5400" dirty="0"/>
          </a:p>
        </p:txBody>
      </p:sp>
      <p:sp>
        <p:nvSpPr>
          <p:cNvPr id="5" name="Text 2"/>
          <p:cNvSpPr/>
          <p:nvPr/>
        </p:nvSpPr>
        <p:spPr>
          <a:xfrm>
            <a:off x="731520" y="4206240"/>
            <a:ext cx="7315200" cy="457200"/>
          </a:xfrm>
          <a:prstGeom prst="rect">
            <a:avLst/>
          </a:prstGeom>
          <a:noFill/>
          <a:ln/>
        </p:spPr>
        <p:txBody>
          <a:bodyPr wrap="square" lIns="0" tIns="0" rIns="0" bIns="0" rtlCol="0" anchor="t"/>
          <a:lstStyle/>
          <a:p>
            <a:pPr indent="0" marL="0">
              <a:buNone/>
            </a:pPr>
            <a:r>
              <a:rPr lang="en-US" sz="2000" dirty="0">
                <a:solidFill>
                  <a:srgbClr val="F5F5F4"/>
                </a:solidFill>
                <a:latin typeface="Calibri" pitchFamily="34" charset="0"/>
                <a:ea typeface="Calibri" pitchFamily="34" charset="-122"/>
                <a:cs typeface="Calibri" pitchFamily="34" charset="-120"/>
              </a:rPr>
              <a:t>Gracias · ¿Preguntas?</a:t>
            </a:r>
            <a:endParaRPr lang="en-US" sz="2000" dirty="0"/>
          </a:p>
        </p:txBody>
      </p:sp>
      <p:sp>
        <p:nvSpPr>
          <p:cNvPr id="6" name="Shape 3"/>
          <p:cNvSpPr/>
          <p:nvPr/>
        </p:nvSpPr>
        <p:spPr>
          <a:xfrm>
            <a:off x="731520" y="5257800"/>
            <a:ext cx="10728655" cy="0"/>
          </a:xfrm>
          <a:prstGeom prst="line">
            <a:avLst/>
          </a:prstGeom>
          <a:noFill/>
          <a:ln w="12700">
            <a:solidFill>
              <a:srgbClr val="2B2B2A"/>
            </a:solidFill>
            <a:prstDash val="solid"/>
          </a:ln>
        </p:spPr>
      </p:sp>
      <p:sp>
        <p:nvSpPr>
          <p:cNvPr id="7" name="Text 4"/>
          <p:cNvSpPr/>
          <p:nvPr/>
        </p:nvSpPr>
        <p:spPr>
          <a:xfrm>
            <a:off x="731520" y="5440680"/>
            <a:ext cx="10728655" cy="365760"/>
          </a:xfrm>
          <a:prstGeom prst="rect">
            <a:avLst/>
          </a:prstGeom>
          <a:noFill/>
          <a:ln/>
        </p:spPr>
        <p:txBody>
          <a:bodyPr wrap="square" lIns="0" tIns="0" rIns="0" bIns="0" rtlCol="0" anchor="t"/>
          <a:lstStyle/>
          <a:p>
            <a:pPr indent="0" marL="0">
              <a:buNone/>
            </a:pPr>
            <a:r>
              <a:rPr lang="en-US" sz="1200" dirty="0">
                <a:solidFill>
                  <a:srgbClr val="A8A29E"/>
                </a:solidFill>
                <a:latin typeface="Calibri" pitchFamily="34" charset="0"/>
                <a:ea typeface="Calibri" pitchFamily="34" charset="-122"/>
                <a:cs typeface="Calibri" pitchFamily="34" charset="-120"/>
              </a:rPr>
              <a:t>NewBit · Grupo D3 · Albert Chumacero · Anthony Lopez · Luis Salazar · Ingeniería de Software II · UNS · 2026-II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NewBit · Producto de la Unidad I</dc:title>
  <dc:subject>PptxGenJS Presentation</dc:subject>
  <dc:creator>Grupo D3 · Ingeniería de Software II · UNS</dc:creator>
  <cp:lastModifiedBy>Grupo D3 · Ingeniería de Software II · UNS</cp:lastModifiedBy>
  <cp:revision>1</cp:revision>
  <dcterms:created xsi:type="dcterms:W3CDTF">2026-10-19T18:51:05Z</dcterms:created>
  <dcterms:modified xsi:type="dcterms:W3CDTF">2026-10-19T18:51:05Z</dcterms:modified>
</cp:coreProperties>
</file>