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Producto de la Unidad I. Presenta: Albert (PO). Mencionar el código del proyecto y que todo el trabajo sigue la Guía SBOK.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Contexto: muchos accidentes nacen de una conducta, no de una falla del equipo. La supervisión es intermitente y el video no se revisa. Cerrar con la pregunta que guía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flujo en cuatro pasos. El sistema no reemplaza a la persona de SST: le entrega evidencia para que decida.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 de control empírico aplicado antes del primer sprint: inspeccionar y adaptar. Cada versión resolvió un problema concreto de la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nacionales detectan objetos (sobre todo EPP) en imágenes. Unsafe-Net reconoce conductas en video: ahí se ubica NewBit. Las cifras no son comparables entre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guía organiza Scrum en principios, aspectos y procesos (p. 9). Los principios no se negocian; aspectos y procesos se adaptan. Cada aspecto tiene un formato en NewBit.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roles principales sin jerarquía entre ellos (p. 42). La guía recomienda 6 a 10 miembros (p. 50); somos 3 y el SM también desarrolla, riesgo registrado en el acta. 19 procesos en 5 fases (p.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de la guía (pp. 35–37) aplicadas a sprints de dos semanas. Daily: tres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formato del curso es la salida de un proceso de la guía. Al contrastarlos aparecieron tres salidas obligatorias sin formato: FGAP020, definición de listo y planificación de la liberación; se completaron en la semana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Cuadro comparativo: cada principio con un ejemplo de NewBit. Acta (proceso 8.1): alcance, fuera de alcance, presupuesto y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personajes son la salida obligatoria del proceso 8.4 (p. 164). Cada necesidad se convierte en una historia: HU10 responde a Lucía; HU09, a Mariana.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Piezas para la reunión de la visión del proyecto (8.1). Se muestran como se entregaron: aún decían YOLOv4; en la semana 5 pasó a YOLOv8.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justificación es el caso de negocio, entrada obligatoria de 8.1 (p. 141). Épicas (8.4) e historias (9.1) siguen el recorrido del dato.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8.5: un único documento ordenado por valor, riesgo y dependencias. Tres pasos: MoSCoW, 100 puntos por integrante y dependencias. HU11 y HU06 se adelantan al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Estimación (9.2) con el puño de cinco: 1 = muy pequeña, 5 = muy grande. Scrumboard (9.3) del Sprint 1: tareas propuestas. DoD (8.5): obligatoria para toda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FGAP020 (proceso 8.2): no había formato del docente; se elaboró desde el acta y FGAP030. Definición de listo (8.5, p. 92): propuesta que se validará en la planificación del Sprint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Actualiza el diagrama de la semana 3 con YOLOv8n y el sprint de cada etapa. Separar etapas permite evaluarlas por su cuenta y medir cuánto aporta la reducción de fotogramas, como exige el 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8.6 (p. 178): duración del sprint de dos semanas y una liberación guiada por fecha, 14–18/12. El Sprint 3 concentra el mayor riesgo técnico; las metas se fijan con su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deja la Unidad I y qué viene. Abrir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4" name="Image 0" descr="/Users/anthony/Documents/Projects/NewBit/curso/semana-06-producto-unidad-1/nuestras-entregas/PPT_Producto_Unidad_1_NewBit/img/logo-u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841248" cy="10972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54480" y="56692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DEL SANTA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· Escuela Profesional de Ingeniería de Sistemas e Informática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· Producto de la Unidad I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16916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548640" y="24688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con visión artificial para la detección de actos inseguros en áreas operativas de manufactura metalmecánica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proyecto: PY-NB-001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3611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 Chumacero Chávarry · </a:t>
            </a:r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Lopez Yrribarren · </a:t>
            </a:r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y Developer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Salazar Diaz · </a:t>
            </a:r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0" y="36118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Ing. Alfredo Daza Vergaray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Chimbote,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el acto inseguro se detecta tarde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14300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metalmecánico, muchos accidentes nacen de una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cruzar fuera de la vía peatonal o dejar abierto un tablero (Heinrich, 1931).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supervisión de SST es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intermitente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inspector recorre la planta por turnos.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graban horas de video que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nadie revisa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N.º 29783 exige un enfoque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preventivo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(Congreso de la República del Perú, 2011).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23560" y="1234440"/>
            <a:ext cx="3063240" cy="2194560"/>
          </a:xfrm>
          <a:prstGeom prst="roundRect">
            <a:avLst>
              <a:gd name="adj" fmla="val 25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0644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QUE GUÍA EL PROYECTO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806440" y="173736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convertir el video que ya se graba en evidencia oportuna de actos inseguros, sin vigilar a las personas?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propuesta: NewBit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29844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grabado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66420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.mp4 / .avi por lotes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258568" y="1847088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78608" y="118872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70048" y="129844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670048" y="166420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operarios y descarta fotogramas sin actividad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79976" y="1847088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700016" y="118872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91456" y="129844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ConvLSTM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91456" y="166420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la secuencia como conducta segura o insegura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01384" y="1847088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821424" y="118872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12864" y="129844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con evidencia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12864" y="1664208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de SST confirma o descarta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2971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conductas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57200" y="32918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Tránsito fuera de la vía peatonal y tablero eléctrico abierto.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246120" y="2971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científica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3246120" y="32918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Unsafe-Net (Önal y Dandıl, 2025) y su conjunto de datos público, CC BY 4.0.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35040" y="2971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por diseño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035040" y="32918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reconocimiento facial ni identificación de personas.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evolucionó la propuesta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2–3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94360" y="1481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Industrial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94360" y="1828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Casco, chaleco e ingreso a zonas en 4 cámaras en vivo.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detectaba objetos, no conductas, y dependía de un piloto en planta sin garantizar.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35808" y="2395728"/>
            <a:ext cx="219456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73552" y="1143000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10712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4 · 05/10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10712" y="1481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 de Unsafe-Net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410712" y="1828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comparan tres investigaciones y se elige la que reconoce conductas en el tiempo.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10712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Ganancia: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datos público: desaparece el mayor riesgo.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852160" y="2395728"/>
            <a:ext cx="219456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9904" y="1143000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27064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27064" y="1481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normalizado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227064" y="1828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metalmecánico, video por lotes, YOLOv8 + ConvLSTM, 12 historias con criterios y roles de planta.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27064" y="2697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coherentes entre sí.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conservó en las tres versiones: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reconocimiento facial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final humana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evento completo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el fotograma.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Antecedentes: de objetos en imágenes a conductas en video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743200"/>
                <a:gridCol w="82296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 (año)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reportado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Önal y Dandıl (2021), Turquía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YOLOv4, detección de EPP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91.18 %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Önal y Dandıl (2025), Turquía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YOLOv4 + ConvLSTM, conductas inseguras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 por clase 95.81 %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Gutiérrez Torres (2022), PUCP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VGG-16, ResNet-18, Inception-V3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 84 %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Machaca Arcana (2019), UNSA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convolucionales, eventos anómalos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Paucara y Rodríguez (2024), UCV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Aprendizaje profundo, detección de casco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que el método convencional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León y León (2024), UPN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YOLOv8, mascarilla y gorro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 96.57 %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cifra corresponde al conjunto de datos de su autor; no son comparables entre sí. Referencias completas en el informe (APA 7).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según la Guía SBOK: principios y aspectos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principios (obligatorios)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14173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490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Control del proceso empírico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94760" y="15087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8928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Autoorganización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94760" y="198424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27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36829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2441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Colaboración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94760" y="245973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29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84378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2916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Priorización basada en valor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794760" y="293522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3319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33924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Time-boxing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794760" y="341071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35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37947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Desarrollo iterativo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794760" y="38862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aspectos y su formato en NewBit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1732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 (cap.)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 que lo concreta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Organización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FGAP020 · FGAP030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 del negocio (4)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EGAP015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FGAP070 · definición de 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Cambio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versiones de cada formato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(7)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Riesgos del acta (FGAP010)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4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SCRUMstudy (2022), pp. 9 y 21–134.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procesos de Scrum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188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Albert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148132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 el valor; voz del cliente; prioriza el backlog y acepta o rechaza historias.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121408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2128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Anthony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505456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Facilita, enseña Scrum y elimina impedimentos; es un par del equipo, no un jefe.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145536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32369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Scrum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Anthony y Luis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" y="3529584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los requerimientos, estima las historias y crea los entregables.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097280"/>
          <a:ext cx="43434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(cap.)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NewBit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Inicio (8)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1–6: visión, SM e interesados, equipo, épicas, backlog, liberación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 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Planificación y estimación (9)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7–12: crear y estimar historias, comprometer, tareas, backlog del sprint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en la Unidad I; 9–12 en cada sprint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Implementación (10)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13–15: entregables, Daily Standup, refinar backlog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Durante cada sprint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y retrospectiva (11)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16–17: demostrar y validar, retrospectiva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cierre de cada sprint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Liberación (12)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18–19: enviar entregables, retrospectiva de la liberación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 (FGAP090)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SCRUMstudy (2022), pp. 15, 42–44 y 50.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de Scrum y sus time-boxes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109728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Reunión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 de la Guía SBOK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NewBit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 4 semanas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semanas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Iteración que produce un incremento revisable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Planificación del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 por semana de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Comprometer historias, identificar y estimar tareas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Standup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al día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hice?, ¿qué haré?, ¿qué impedimentos tengo?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del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 por semana de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Demostrar el incremento; el PO acepta o rechaza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Retrospectiva del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 por semana de sprint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Acordar mejoras accionables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SCRUMstudy (2022), pp. 35–37.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de la Unidad I y su proceso en la Guía SBOK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224028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 SBOK (pág.)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obligatoria que aporta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Cuadro de principios · FGAP010 Acta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Cap. 2 (21–40) · 8.1 (139–144)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identificado; declaración de la visión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FGAP030 Roles y prototipos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 (151–156) · 8.4 (158–164)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Scrum identificado; personajes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Infografía, diagrama y presentación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Apoyo a 8.1 (141–144)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Visión comunicada a los interesados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EGAP015 Justificación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Cap. 4 (67–86) · entrada de 8.1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negocio del proyecto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FGAP040 Épicas e historias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 · 9.1 (185–189)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Historias y criterios de aceptación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FGAP060 · Puño de cinco · Kanban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 (166–172) · 9.2 · 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priorizado; estimaciones; Scrumboard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FGAP070 Criterios de terminado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 (172) · 5.4.3 (92)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Criterios de terminado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FGAP020 · Definición de listo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 (145–150) · 8.5 (92)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Interesados identificados; definición de listo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Planificación de la liberación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 (173–178)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Cronograma de liberación; duración del sprint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ámbar, lo elaborado en la semana 6 para completar la fase de inicio. Fuente: SCRUMstudy (2022).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 · Principios de Scrum y acta de constitución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7" name="Image 0" descr="/Users/anthony/Documents/Projects/NewBit/curso/semana-06-producto-unidad-1/nuestras-entregas/PPT_Producto_Unidad_1_NewBit/img/cuadro-princip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02995"/>
            <a:ext cx="4206240" cy="236601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1102995"/>
            <a:ext cx="4206240" cy="2366010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Cuadro comparativo de los principios (extracto)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937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FGAP010 · Acta (proceso 8.1)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37760" y="1463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conductas y sus casos seguros; conjunto de datos público con su división oficial.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alcance: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planta, cámaras en vivo, reconocimiento facial y certificación de SST.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S/ 20 768 (S/ 18 600 de dedicación valorizada, S/ 280 en efectivo y 10 % de contingencia).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05/10 al 18/12/2026, cuatro sprints de dos semanas.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riesgos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respuesta; el mayor, ajustar el modelo temporal.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 · Roles y prototipos (FGAP030)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73736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 (persona)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necesita de NewBit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 de la plataforma (Jorge Ponce, TI)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Diario, al ingresar lotes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Cargar videos y calibrar umbrales sin tocar código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Supervisora de SST (Mariana Torres)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 y ante cada 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Alertas con clip de evidencia para confirmar o descartar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de turno (César Vásquez)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Diario, en su turno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qué pasó, dónde y cuándo, sin alertas repetidas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Operadora de monitoreo (Lucía Ramos)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Permanente en su turno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solo lo importante y confirmar en un clic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 general y sponsor (Ricardo Salcedo)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 por tipo, zona y semana para decidir recursos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ficticios de un caso académico. Fuente del concepto de personajes: SCRUMstudy (2022), p. 164.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 · Infografía y diagrama de arquitectura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/Users/anthony/Documents/Projects/NewBit/curso/semana-06-producto-unidad-1/nuestras-entregas/PPT_Producto_Unidad_1_NewBit/img/infografia-pasos-1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0" y="1051560"/>
            <a:ext cx="3947160" cy="33832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95300" y="1051560"/>
            <a:ext cx="3947160" cy="3383280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pic>
        <p:nvPicPr>
          <p:cNvPr id="9" name="Image 1" descr="/Users/anthony/Documents/Projects/NewBit/curso/semana-06-producto-unidad-1/nuestras-entregas/PPT_Producto_Unidad_1_NewBit/img/diagrama-arquitectu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29254"/>
            <a:ext cx="4023360" cy="322789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663440" y="1129254"/>
            <a:ext cx="4023360" cy="3227892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457200" y="44622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Infografía «Pasos para desarrollar NewBit» (pasos 1 a 6)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4663440" y="44622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arquitectura: flujo principal en siete etapas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4 · Justificación y épicas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EGAP015 · Justificación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41732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inspecciones intermitentes y cámaras que no alertan.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Tecnológica: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YOLOv8 + ConvLSTM con software abierto.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apoya al supervisor, no lo reemplaza.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S/ 20 768, igual al acta.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prometen ahorros ni reducción de accidentes sin evidencia.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023360" y="1051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FGAP040 · Seis épicas, doce historias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23360" y="1417320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0" y="149047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Ingestión y preprocesamiento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114800" y="19842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HU01–HU02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0" y="1417320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92240" y="149047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operarios (YOLOv8)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492240" y="19842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023360" y="2404872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0" y="247802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y reducción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114800" y="29718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HU04–HU06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00800" y="2404872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47802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con ConvLSTM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29718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HU07–HU08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023360" y="3392424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14800" y="34655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y alertas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114800" y="39593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HU09–HU10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00800" y="3392424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92240" y="34655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EP06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 y trazabilidad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92240" y="39593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HU11–HU12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 · Backlog priorizado (FGAP060)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94560"/>
                <a:gridCol w="777240"/>
                <a:gridCol w="685800"/>
                <a:gridCol w="822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(pts)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Cargar video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Extraer fotogramas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Detectar operarios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 fotogramas vacíos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Agrupar en clips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 clips cortos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Calibrar umbral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Procesar con ConvLSTM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Clasificar y tipificar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video con recuadro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 de riesgo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log de tiempos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85216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criterios, en orden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852160" y="1417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Must, 3 Should, 1 Could.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puntos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integrante (300 en total).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pipeline.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852160" y="26974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 y HU06 se adelantan al Sprint 2: calibran y filtran antes de entrenar el modelo temporal.
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puntos: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· 8 · 8 · 8 por sprint.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 · Estimación, Scrumboard y criterios de terminado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7" name="Image 0" descr="/Users/anthony/Documents/Projects/NewBit/curso/semana-06-producto-unidad-1/nuestras-entregas/PPT_Producto_Unidad_1_NewBit/img/scrumboard-sprin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62990"/>
            <a:ext cx="4754880" cy="26746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1062990"/>
            <a:ext cx="4754880" cy="2674620"/>
          </a:xfrm>
          <a:prstGeom prst="rect">
            <a:avLst/>
          </a:prstGeom>
          <a:ln w="9525">
            <a:solidFill>
              <a:srgbClr val="E5E7E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376732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Scrumboard propuesto para el Sprint 1 (tablero Kanban)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Puño de cinco (9.2)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86400" y="1371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relativo de 1 a 5 dedos; los extremos explican y se vuelve a votar. Total: 31 puntos; la EP04 es la más grande.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terminado (FGAP070)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0" y="26974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integradas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pares entre Developers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datos, pesos y métricas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técnica y del PO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 CC BY 4.0, sin biometría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 · Registro de interesados y definición de listo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697480" y="1143000"/>
            <a:ext cx="2011680" cy="15544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697480"/>
            <a:ext cx="2011680" cy="1554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1143000"/>
            <a:ext cx="4023360" cy="3108960"/>
          </a:xfrm>
          <a:prstGeom prst="rect">
            <a:avLst/>
          </a:prstGeom>
          <a:ln w="9525">
            <a:solidFill>
              <a:srgbClr val="6B72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143000"/>
            <a:ext cx="0" cy="310896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85800" y="2697480"/>
            <a:ext cx="402336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758952" y="11978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SATISFECHO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2697480" y="11978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DE CERCA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58952" y="399592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697480" y="399592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INFORMADO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209190" y="1719072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0390" y="16642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261104" y="1452590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32304" y="139772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00170" y="1763486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271370" y="170862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80637" y="2074382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351837" y="201951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y Developer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697834" y="2429691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869034" y="2374827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 y TI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180637" y="3051483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351837" y="2996619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Operadora de monitoreo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939235" y="3406793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10435" y="3351929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de turno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209190" y="3495621"/>
            <a:ext cx="91440" cy="914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80390" y="3440757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Trabajadores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85800" y="42976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Interés →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18872" y="25877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↑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120640" y="1097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listo (propuesta)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512064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historia entra a un sprint cuando…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120640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rol, funcionalidad y beneficio, y el PO la explicó.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criterios de aceptación verificables.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dependencias están resueltas o planificadas.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estimada y cabe en un sprint de dos semanas.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conocen los datos que necesita (clips y etiquetas).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propuesta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85800" y="1024128"/>
            <a:ext cx="7964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espacial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5800" y="1298448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" y="138988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y validación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" y="19659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RF-01 · Sprint 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441448" y="1828800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61488" y="1298448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34640" y="138988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Fotogramas normalizados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834640" y="19659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517136" y="1828800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837176" y="1298448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10328" y="138988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operarios (YOLOv8n)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10328" y="19659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RF-02 · Sprint 1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92824" y="1828800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912864" y="1298448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86016" y="138988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y clips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86016" y="19659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RF-03, RF-04 · Sprint 2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781544" y="2368296"/>
            <a:ext cx="0" cy="448056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85800" y="2834640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58952" y="29260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por SST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58952" y="35021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humana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761488" y="2834640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834640" y="29260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visual y sonora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2834640" y="35021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RF-07 · Sprint 4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 flipH="1">
            <a:off x="2441448" y="3364992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837176" y="2834640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10328" y="29260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la detección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910328" y="35021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RF-06 · Sprint 3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 flipH="1">
            <a:off x="4517136" y="3364992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912864" y="2834640"/>
            <a:ext cx="1737360" cy="1051560"/>
          </a:xfrm>
          <a:prstGeom prst="roundRect">
            <a:avLst>
              <a:gd name="adj" fmla="val 5217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86016" y="29260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la conducta (ConvLSTM)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86016" y="35021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RF-05 · Sprint 3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 flipH="1">
            <a:off x="6592824" y="3364992"/>
            <a:ext cx="301752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685800" y="3950208"/>
            <a:ext cx="7964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temporal y salida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 Unsafe-Net (Önal y Dandıl, 2025), con YOLOv8n en lugar de YOLOv4.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la liberación y de los sprints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377440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11680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oct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465576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99816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53712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87952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nov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41848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76088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nov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729984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64224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nov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818120" y="1234440"/>
            <a:ext cx="0" cy="187452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52360" y="10058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dic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2377440" y="1307592"/>
            <a:ext cx="854964" cy="201168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FGAP010 a FGAP070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465576" y="1600200"/>
            <a:ext cx="854964" cy="201168"/>
          </a:xfrm>
          <a:prstGeom prst="roundRect">
            <a:avLst>
              <a:gd name="adj" fmla="val 1363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5760" y="16093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EP01, EP02 · 7 pts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53712" y="1892808"/>
            <a:ext cx="854964" cy="201168"/>
          </a:xfrm>
          <a:prstGeom prst="roundRect">
            <a:avLst>
              <a:gd name="adj" fmla="val 13636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1901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 y HU11 · 8 pts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41848" y="2185416"/>
            <a:ext cx="854964" cy="201168"/>
          </a:xfrm>
          <a:prstGeom prst="roundRect">
            <a:avLst>
              <a:gd name="adj" fmla="val 1363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5760" y="21945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 · 8 pts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729984" y="2478024"/>
            <a:ext cx="854964" cy="201168"/>
          </a:xfrm>
          <a:prstGeom prst="roundRect">
            <a:avLst>
              <a:gd name="adj" fmla="val 1363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248716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 y HU12 · 8 pts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818120" y="2770632"/>
            <a:ext cx="310896" cy="201168"/>
          </a:xfrm>
          <a:prstGeom prst="roundRect">
            <a:avLst>
              <a:gd name="adj" fmla="val 13636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5760" y="277977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 </a:t>
            </a:r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FGAP090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3465576" y="1216152"/>
            <a:ext cx="0" cy="192024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551176" y="3136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19/10: inicio del Sprint 1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7200" y="3566160"/>
            <a:ext cx="1901952" cy="868680"/>
          </a:xfrm>
          <a:prstGeom prst="roundRect">
            <a:avLst>
              <a:gd name="adj" fmla="val 6316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4864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 · backlog del sprint, tareas, Scrumboard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377440" y="3995928"/>
            <a:ext cx="146304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2542032" y="3566160"/>
            <a:ext cx="1901952" cy="868680"/>
          </a:xfrm>
          <a:prstGeom prst="roundRect">
            <a:avLst>
              <a:gd name="adj" fmla="val 6316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633472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Standup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2633472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· impedimentos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4462272" y="3995928"/>
            <a:ext cx="146304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4626864" y="3566160"/>
            <a:ext cx="1901952" cy="868680"/>
          </a:xfrm>
          <a:prstGeom prst="roundRect">
            <a:avLst>
              <a:gd name="adj" fmla="val 6316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718304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4718304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· el PO acepta o rechaza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47104" y="3995928"/>
            <a:ext cx="146304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6711696" y="3566160"/>
            <a:ext cx="1901952" cy="868680"/>
          </a:xfrm>
          <a:prstGeom prst="roundRect">
            <a:avLst>
              <a:gd name="adj" fmla="val 6316"/>
            </a:avLst>
          </a:prstGeom>
          <a:solidFill>
            <a:srgbClr val="D1FAE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803136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6803136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· mejoras accionables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45720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cada sprint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502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NewBit · Producto de la Unidad I · Grupo D3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deja la Unidad 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14630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y una propuesta claros, con base científica y datos públicos.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entregables de las semanas 2 a 5, vinculados a sus procesos de la Guía SBOK.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salidas obligatorias que faltaban: FGAP020, definición de listo y planificación de la liberación.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backlog de 12 historias priorizado, estimado y repartido en cuatro sprints.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754880" y="14630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1 y 2: etapa espacial.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3: modelo temporal y evaluación comparativa.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4: interfaz, alerta y log de tiempos.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con FGAP090: 14 al 18 de diciembre.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 ¿Preguntas?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NewBit · Producto de la Unidad I</dc:title>
  <dc:subject>PptxGenJS Presentation</dc:subject>
  <dc:creator>Grupo D3 · Ingeniería de Software II · UNS</dc:creator>
  <cp:lastModifiedBy>Grupo D3 · Ingeniería de Software II · UNS</cp:lastModifiedBy>
  <cp:revision>1</cp:revision>
  <dcterms:created xsi:type="dcterms:W3CDTF">2026-10-19T17:32:15Z</dcterms:created>
  <dcterms:modified xsi:type="dcterms:W3CDTF">2026-10-19T17:32:15Z</dcterms:modified>
</cp:coreProperties>
</file>