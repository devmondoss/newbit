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283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cuadro comparativo de los seis principios de Scrum. Para cada uno explicamos qué significa con nuestras palabras y damos un ejemplo práctico de cómo lo aplicamos en NewBit.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empírico: decidimos con lo que observamos en cada sprint. Autoorganización: el equipo se reparte las historias. Colaboración: PO, desarrolladores e interesados validan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Priorización por valor: primero lo que más valor aporta y de lo que dependen las demás historias. Time-boxing: cuatro sprints de dos semanas y eventos con tiempo fijo. Desarrollo iterativo: cada sprint entrega una parte de NewBit que el PO revisa.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NewBit · Principios de Scrum · Ingeniería de Software II · UNS 2026-II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CUADRO COMPARATIVO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principios de Scrum aplicados a NewBit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cada principio y cómo lo usamos en nuestro proyecto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914400" cy="914400"/>
          </a:xfrm>
          <a:prstGeom prst="ellipse">
            <a:avLst/>
          </a:prstGeom>
          <a:solidFill>
            <a:srgbClr val="2F6FE4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7398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proceso empírico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3520440"/>
            <a:ext cx="914400" cy="91440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76" y="373989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3317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Autoorganización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89120" y="3520440"/>
            <a:ext cx="914400" cy="914400"/>
          </a:xfrm>
          <a:prstGeom prst="ellipse">
            <a:avLst/>
          </a:prstGeom>
          <a:solidFill>
            <a:srgbClr val="5B4BDB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373989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605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17920" y="352044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73989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9893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basada en el valor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046720" y="3520440"/>
            <a:ext cx="914400" cy="914400"/>
          </a:xfrm>
          <a:prstGeom prst="ellipse">
            <a:avLst/>
          </a:prstGeom>
          <a:solidFill>
            <a:srgbClr val="E0483E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76" y="373989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8181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Time-boxing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9875520" y="3520440"/>
            <a:ext cx="914400" cy="914400"/>
          </a:xfrm>
          <a:prstGeom prst="ellipse">
            <a:avLst/>
          </a:prstGeom>
          <a:solidFill>
            <a:srgbClr val="3A5A8C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4976" y="3739896"/>
            <a:ext cx="475488" cy="47548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6469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iterativo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</a:t>
            </a: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Chumacero (PO) · Anthony Lopez (SM y Dev) · Luis Salazar (Dev) · Docente: Dr. Alfredo Daza Vergaray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comparativo (1/2)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086600" y="10972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 EN NEWBIT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2F6FE4"/>
          </a:solidFill>
          <a:ln w="127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31520" y="16642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19656"/>
            <a:ext cx="374904" cy="3749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788920" y="1572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proceso empírico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74720" y="14630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3639312" y="15727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 lo que se observa, no con suposiciones. Se trabaja en ciclos cortos y se ajusta con lo aprendido.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39312" y="2514600"/>
            <a:ext cx="1038758" cy="27432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3639312" y="2514600"/>
            <a:ext cx="1038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1222" y="25146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4751222" y="25146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5622" y="25146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5665622" y="25146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86600" y="14630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 txBox="1"/>
          <p:nvPr/>
        </p:nvSpPr>
        <p:spPr>
          <a:xfrm>
            <a:off x="7269480" y="15727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5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vemos el mismo tablero Kanban (transparencia). En la revisión del Sprint 3 revisamos las métricas por clase del ConvLSTM (inspección). Si hay muchas falsas alarmas, ajustamos el umbral de confianza (HU11) en el Sprint 2 (adaptación).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30632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731520" y="32644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419856"/>
            <a:ext cx="374904" cy="37490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2788920" y="31729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315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Autoorganización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3474720" y="30632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 txBox="1"/>
          <p:nvPr/>
        </p:nvSpPr>
        <p:spPr>
          <a:xfrm>
            <a:off x="3639312" y="31729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decide cómo hacer el trabajo y se reparte las tareas; nadie se las impone desde fuera.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3639312" y="4114800"/>
            <a:ext cx="1056626" cy="274320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 txBox="1"/>
          <p:nvPr/>
        </p:nvSpPr>
        <p:spPr>
          <a:xfrm>
            <a:off x="3639312" y="4114800"/>
            <a:ext cx="1056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Autoasignación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769090" y="4114800"/>
            <a:ext cx="1119603" cy="274320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7"/>
          <p:cNvSpPr txBox="1"/>
          <p:nvPr/>
        </p:nvSpPr>
        <p:spPr>
          <a:xfrm>
            <a:off x="4769090" y="4114800"/>
            <a:ext cx="1119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961845" y="4114800"/>
            <a:ext cx="804715" cy="274320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9"/>
          <p:cNvSpPr txBox="1"/>
          <p:nvPr/>
        </p:nvSpPr>
        <p:spPr>
          <a:xfrm>
            <a:off x="5961845" y="4114800"/>
            <a:ext cx="804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086600" y="30632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1"/>
          <p:cNvSpPr txBox="1"/>
          <p:nvPr/>
        </p:nvSpPr>
        <p:spPr>
          <a:xfrm>
            <a:off x="7269480" y="31729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5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planificación, Luis toma las historias de YOLOv8 y ConvLSTM (EP02–EP04) y Anthony las de interfaz y alertas (EP05). Si alguien termina antes, toma la siguiente historia del tablero sin esperar órdenes.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548640" y="4663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5B4BDB"/>
          </a:solidFill>
          <a:ln w="12700">
            <a:solidFill>
              <a:srgbClr val="5B4B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3"/>
          <p:cNvSpPr/>
          <p:nvPr/>
        </p:nvSpPr>
        <p:spPr>
          <a:xfrm>
            <a:off x="731520" y="48646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020056"/>
            <a:ext cx="374904" cy="374904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2788920" y="47731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731520" y="5577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1500" dirty="0"/>
          </a:p>
        </p:txBody>
      </p:sp>
      <p:sp>
        <p:nvSpPr>
          <p:cNvPr id="41" name="Shape 36"/>
          <p:cNvSpPr/>
          <p:nvPr/>
        </p:nvSpPr>
        <p:spPr>
          <a:xfrm>
            <a:off x="3474720" y="46634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7"/>
          <p:cNvSpPr txBox="1"/>
          <p:nvPr/>
        </p:nvSpPr>
        <p:spPr>
          <a:xfrm>
            <a:off x="3639312" y="47731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Owner, Scrum Master, equipo e interesados trabajan juntos para entender, construir y validar el producto.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3639312" y="57150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39"/>
          <p:cNvSpPr txBox="1"/>
          <p:nvPr/>
        </p:nvSpPr>
        <p:spPr>
          <a:xfrm>
            <a:off x="3639312" y="57150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Conciencia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553712" y="5715000"/>
            <a:ext cx="972922" cy="274320"/>
          </a:xfrm>
          <a:prstGeom prst="roundRect">
            <a:avLst>
              <a:gd name="adj" fmla="val 50000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1"/>
          <p:cNvSpPr txBox="1"/>
          <p:nvPr/>
        </p:nvSpPr>
        <p:spPr>
          <a:xfrm>
            <a:off x="4553712" y="5715000"/>
            <a:ext cx="972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5599786" y="5715000"/>
            <a:ext cx="907085" cy="274320"/>
          </a:xfrm>
          <a:prstGeom prst="roundRect">
            <a:avLst>
              <a:gd name="adj" fmla="val 50000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3"/>
          <p:cNvSpPr txBox="1"/>
          <p:nvPr/>
        </p:nvSpPr>
        <p:spPr>
          <a:xfrm>
            <a:off x="5599786" y="5715000"/>
            <a:ext cx="907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7086600" y="46634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5"/>
          <p:cNvSpPr txBox="1"/>
          <p:nvPr/>
        </p:nvSpPr>
        <p:spPr>
          <a:xfrm>
            <a:off x="7269480" y="47731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(PO) aclara los criterios de aceptación antes de estimar. Anthony y Luis revisan el código del otro. La supervisora de SST del caso valida en la revisión si las alertas son útiles.</a:t>
            </a:r>
            <a:endParaRPr lang="en-US" sz="12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comparativo (2/2)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086600" y="10972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 EN NEWBIT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31520" y="16642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19656"/>
            <a:ext cx="374904" cy="3749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788920" y="1572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basada en el valor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74720" y="14630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3639312" y="15727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primero lo que más valor aporta, considerando también el riesgo y las dependencias.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39312" y="2514600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3639312" y="25146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24528" y="2514600"/>
            <a:ext cx="577901" cy="274320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4224528" y="2514600"/>
            <a:ext cx="5779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75581" y="2514600"/>
            <a:ext cx="972922" cy="274320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4875581" y="2514600"/>
            <a:ext cx="972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86600" y="14630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 txBox="1"/>
          <p:nvPr/>
        </p:nvSpPr>
        <p:spPr>
          <a:xfrm>
            <a:off x="7269480" y="15727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5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 (cargar el video) va primero porque todo depende de ella. EP04 (ConvLSTM) tiene mucho valor y riesgo: se aborda en el Sprint 3 con el pipeline listo. Por necesidad técnica de calibración, HU11 (configurar umbrales) se adelanta al Sprint 2 junto con HU04-HU06.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30632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E0483E"/>
          </a:solidFill>
          <a:ln w="12700">
            <a:solidFill>
              <a:srgbClr val="E04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731520" y="32644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419856"/>
            <a:ext cx="374904" cy="37490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2788920" y="31729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315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Time-boxing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3474720" y="30632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 txBox="1"/>
          <p:nvPr/>
        </p:nvSpPr>
        <p:spPr>
          <a:xfrm>
            <a:off x="3639312" y="31729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actividad tiene un tiempo fijo que no se excede. Da foco y evita perfeccionar sin fin.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3639312" y="4114800"/>
            <a:ext cx="907085" cy="274320"/>
          </a:xfrm>
          <a:prstGeom prst="roundRect">
            <a:avLst>
              <a:gd name="adj" fmla="val 500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 txBox="1"/>
          <p:nvPr/>
        </p:nvSpPr>
        <p:spPr>
          <a:xfrm>
            <a:off x="3639312" y="4114800"/>
            <a:ext cx="907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fijo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619549" y="4114800"/>
            <a:ext cx="446227" cy="274320"/>
          </a:xfrm>
          <a:prstGeom prst="roundRect">
            <a:avLst>
              <a:gd name="adj" fmla="val 500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7"/>
          <p:cNvSpPr txBox="1"/>
          <p:nvPr/>
        </p:nvSpPr>
        <p:spPr>
          <a:xfrm>
            <a:off x="4619549" y="4114800"/>
            <a:ext cx="446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138928" y="4114800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9"/>
          <p:cNvSpPr txBox="1"/>
          <p:nvPr/>
        </p:nvSpPr>
        <p:spPr>
          <a:xfrm>
            <a:off x="5138928" y="4114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086600" y="30632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1"/>
          <p:cNvSpPr txBox="1"/>
          <p:nvPr/>
        </p:nvSpPr>
        <p:spPr>
          <a:xfrm>
            <a:off x="7269480" y="31729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 de 2 semanas (19/10 – 11/12). Daily de 15 minutos. La planificación de cada sprint dura como máximo 4 horas (2 h por semana de sprint), y la revisión y la retrospectiva se hacen al cierre de cada sprint.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548640" y="4663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3"/>
          <p:cNvSpPr/>
          <p:nvPr/>
        </p:nvSpPr>
        <p:spPr>
          <a:xfrm>
            <a:off x="731520" y="48646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020056"/>
            <a:ext cx="374904" cy="374904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2788920" y="47731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731520" y="5577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iterativo</a:t>
            </a:r>
            <a:endParaRPr lang="en-US" sz="1500" dirty="0"/>
          </a:p>
        </p:txBody>
      </p:sp>
      <p:sp>
        <p:nvSpPr>
          <p:cNvPr id="41" name="Shape 36"/>
          <p:cNvSpPr/>
          <p:nvPr/>
        </p:nvSpPr>
        <p:spPr>
          <a:xfrm>
            <a:off x="3474720" y="46634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7"/>
          <p:cNvSpPr txBox="1"/>
          <p:nvPr/>
        </p:nvSpPr>
        <p:spPr>
          <a:xfrm>
            <a:off x="3639312" y="47731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se construye por partes: las épicas se dividen en historias y cada sprint entrega algo que se puede revisar.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3639312" y="5715000"/>
            <a:ext cx="755904" cy="27432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39"/>
          <p:cNvSpPr txBox="1"/>
          <p:nvPr/>
        </p:nvSpPr>
        <p:spPr>
          <a:xfrm>
            <a:off x="3639312" y="5715000"/>
            <a:ext cx="75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Incrementos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468368" y="5715000"/>
            <a:ext cx="1139952" cy="27432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1"/>
          <p:cNvSpPr txBox="1"/>
          <p:nvPr/>
        </p:nvSpPr>
        <p:spPr>
          <a:xfrm>
            <a:off x="4468368" y="5715000"/>
            <a:ext cx="1139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 → historias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5681472" y="5715000"/>
            <a:ext cx="1085088" cy="27432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3"/>
          <p:cNvSpPr txBox="1"/>
          <p:nvPr/>
        </p:nvSpPr>
        <p:spPr>
          <a:xfrm>
            <a:off x="5681472" y="5715000"/>
            <a:ext cx="1085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7086600" y="46634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5"/>
          <p:cNvSpPr txBox="1"/>
          <p:nvPr/>
        </p:nvSpPr>
        <p:spPr>
          <a:xfrm>
            <a:off x="7269480" y="47731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cargar video y extraer frames. Sprint 2: YOLOv8, umbrales (HU11), filtrado y clips. Sprint 3: ConvLSTM. Sprint 4: interfaz y alertas. Al final de cada sprint, Albert revisa el incremento y ajustamos el backlog.</a:t>
            </a:r>
            <a:endParaRPr lang="en-US" sz="12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Panorámica</PresentationFormat>
  <Paragraphs>68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Presentación de PowerPoint</vt:lpstr>
      <vt:lpstr>Cuadro comparativo (1/2)</vt:lpstr>
      <vt:lpstr>Cuadro comparativo (2/2)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Principios de Scrum aplicados a NewBit</dc:title>
  <dc:subject>PptxGenJS Presentation</dc:subject>
  <dc:creator>Equipo NewBit</dc:creator>
  <cp:lastModifiedBy>SALAZAR DIAZ LUIS FERNANDO ELIAS</cp:lastModifiedBy>
  <cp:revision>2</cp:revision>
  <dcterms:created xsi:type="dcterms:W3CDTF">2026-10-12T22:28:59Z</dcterms:created>
  <dcterms:modified xsi:type="dcterms:W3CDTF">2026-10-17T20:03:30Z</dcterms:modified>
</cp:coreProperties>
</file>