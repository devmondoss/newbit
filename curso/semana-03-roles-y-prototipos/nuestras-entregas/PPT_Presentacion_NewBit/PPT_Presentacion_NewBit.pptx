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bb0e4f6c-97a7-e9d1-2ef6-51dac7824fda}">
          <p14:sldIdLst>
            <p14:sldId id="256"/>
          </p14:sldIdLst>
        </p14:section>
        <p14:section name="Problema y solución" id="{b3e5ab63-0a47-302a-5766-712763d7984e}">
          <p14:sldIdLst>
            <p14:sldId id="257"/>
            <p14:sldId id="258"/>
          </p14:sldIdLst>
        </p14:section>
        <p14:section name="Cómo funciona" id="{742314a1-c8bf-ea98-3c5f-ce7f282ee121}">
          <p14:sldIdLst>
            <p14:sldId id="259"/>
            <p14:sldId id="260"/>
            <p14:sldId id="261"/>
          </p14:sldIdLst>
        </p14:section>
        <p14:section name="Usuarios y equipo" id="{a6248d91-5537-b03f-8eb9-552f8f83cbed}">
          <p14:sldIdLst>
            <p14:sldId id="262"/>
            <p14:sldId id="263"/>
          </p14:sldIdLst>
        </p14:section>
        <p14:section name="Épicas e historias" id="{2167496f-7c61-d843-09be-d850312cf759}">
          <p14:sldIdLst>
            <p14:sldId id="264"/>
            <p14:sldId id="265"/>
          </p14:sldIdLst>
        </p14:section>
        <p14:section name="Viabilidad y cierre" id="{c17a1117-80b7-f10d-4071-b6e7a1ef4abd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NewBit, nuestra plataforma de Computer Vision para operaciones industriales. Somos tres: Albert es el Product Owner, Anthony es Scrum Master y Developer, y Luis es Developer. El proyecto se desarrolla con Scrum en cuatro sprints.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problema no es la falta de cámaras: las plantas ya las tienen. El problema es que graban sin avisar. Las inspecciones son puntuales y las conductas inseguras duran segundos, así que se detectan tarde o nunca.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NewBit aprovecha las cámaras existentes. Hace tres cosas: detecta la conducta en el video, alerta con evidencia y registra todo para que la gerencia pueda decidir. Una persona siempre valida la alerta.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corazón técnico. El video entra, YOLOv4 detecta personas y objetos en cada frame, descartamos los frames sin actividad, armamos secuencias y el ConvLSTM reconoce la conducta. Si es insegura, se genera la alerta con evidencia y una persona la valida. Cada etapa corresponde a un requisito del Acta.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Empezamos con dos conductas visualmente distintas que se pueden entrenar en cuatro sprints. El modelo también aprende los casos seguros de contraste. La plataforma queda lista para sumar más conductas.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operar, NewBit aprende con un dataset público de video industrial con licencia abierta. Anotamos frames, entrenamos YOLOv4 y ConvLSTM, evaluamos con métricas por clase y versionamos los modelos. No prometemos cifras: las metas salen de la línea base del Sprint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Diseñamos NewBit para cinco perfiles. Cada uno tiene una necesidad distinta: el administrador configura, la supervisora de SST y la operadora atienden alertas, el supervisor de turno corrige y el gerente decide con reportes.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Somos tres. Albert es el Product Owner, Anthony combina Scrum Master y Developer, y Luis es Developer; los dos Developers se revisan el código entre sí. Trabajamos en cuatro sprints de dos semanas, del 19 de octubre al 11 de diciembre.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Organizamos el trabajo en seis épicas que siguen el recorrido del video: ingestión, filtrado con YOLOv4, segmentación en clips, clasificación con ConvLSTM, interfaz con alertas y administración de parámetros. La épica central es la EP04. Cada épica tiene la forma: como rol, yo debería, a fin 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épica se descompone en historias de usuario más pequeñas y verificables. Por ejemplo, la EP04 se divide en procesar el clip con ConvLSTM y etiquetar la conducta. Son doce historias iniciales que luego priorizamos en el Product Backlog y repartimos entre los cuatro sprints.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presupuesto total es de 20 768 soles, el mismo del Acta. Casi todo es la dedicación valorizada del equipo; el gasto real en efectivo es de unos 280 soles más la contingencia, porque el dataset y las herramientas son abiertos. No afirmamos ahorros: se medirán con la evaluación.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con los principios de NewBit: evaluamos conductas y no frames, una persona valida cada alerta, protegemos la privacidad y todo es reproducible. Gracias; quedamos atentos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· Ingeniería de Software II · UNS 2026-II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1D3A66"/>
          </a:solidFill>
          <a:ln w="12700">
            <a:solidFill>
              <a:srgbClr val="1D3A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141732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4592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96596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</a:t>
            </a:r>
            <a:endParaRPr lang="en-US" sz="6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69748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Computer Vision que convierte cámaras existentes en sensores inteligentes configurables para operaciones industriales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31520" y="4069080"/>
            <a:ext cx="1874520" cy="411480"/>
          </a:xfrm>
          <a:prstGeom prst="roundRect">
            <a:avLst>
              <a:gd name="adj" fmla="val 48889"/>
            </a:avLst>
          </a:prstGeom>
          <a:solidFill>
            <a:srgbClr val="1D3A66"/>
          </a:solidFill>
          <a:ln w="9525">
            <a:solidFill>
              <a:srgbClr val="3A5A8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40690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PY-NB-001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788920" y="4069080"/>
            <a:ext cx="1874520" cy="411480"/>
          </a:xfrm>
          <a:prstGeom prst="roundRect">
            <a:avLst>
              <a:gd name="adj" fmla="val 48889"/>
            </a:avLst>
          </a:prstGeom>
          <a:solidFill>
            <a:srgbClr val="1D3A66"/>
          </a:solidFill>
          <a:ln w="9525">
            <a:solidFill>
              <a:srgbClr val="3A5A8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8920" y="40690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· 4 sprints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846320" y="4069080"/>
            <a:ext cx="1874520" cy="411480"/>
          </a:xfrm>
          <a:prstGeom prst="roundRect">
            <a:avLst>
              <a:gd name="adj" fmla="val 48889"/>
            </a:avLst>
          </a:prstGeom>
          <a:solidFill>
            <a:srgbClr val="1D3A66"/>
          </a:solidFill>
          <a:ln w="9525">
            <a:solidFill>
              <a:srgbClr val="3A5A8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40690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 · 2026-II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52578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Albert Sebastian Chumacero Chávarry (Product Owner) · Anthony Gabriel Lopez Yrribarren (Scrum Master y Developer) · Luis Fernando Salazar Diaz (Developer)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585216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II · Dr. Alfredo Daza Vergaray · Universidad Nacional del Santa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cámaras graban, pero no avisan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822960" cy="822960"/>
          </a:xfrm>
          <a:prstGeom prst="ellipse">
            <a:avLst/>
          </a:prstGeom>
          <a:solidFill>
            <a:srgbClr val="FDE8E6"/>
          </a:solidFill>
          <a:ln w="12700">
            <a:solidFill>
              <a:srgbClr val="FDE8E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1660550"/>
            <a:ext cx="427939" cy="42793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144475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Inspecciones puntuales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600200" y="18745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supervisión de seguridad no cubre todo el turno ni todas las zonas.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926080"/>
            <a:ext cx="822960" cy="822960"/>
          </a:xfrm>
          <a:prstGeom prst="ellipse">
            <a:avLst/>
          </a:prstGeom>
          <a:solidFill>
            <a:srgbClr val="FDE8E6"/>
          </a:solidFill>
          <a:ln w="12700">
            <a:solidFill>
              <a:srgbClr val="FDE8E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" y="3123590"/>
            <a:ext cx="427939" cy="42793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00200" y="29077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video sin revisar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600200" y="33375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cámaras graban de forma continua, pero nadie puede verlo todo a tiempo.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4389120"/>
            <a:ext cx="822960" cy="822960"/>
          </a:xfrm>
          <a:prstGeom prst="ellipse">
            <a:avLst/>
          </a:prstGeom>
          <a:solidFill>
            <a:srgbClr val="FDE8E6"/>
          </a:solidFill>
          <a:ln w="12700">
            <a:solidFill>
              <a:srgbClr val="FDE8E6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4586630"/>
            <a:ext cx="427939" cy="4279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00200" y="43708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conducta se detecta tarde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600200" y="48006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 fuera de la vía peatonal o dejar un panel abierto pasa inadvertido.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7040880" y="1417320"/>
            <a:ext cx="4572000" cy="4389120"/>
          </a:xfrm>
          <a:prstGeom prst="roundRect">
            <a:avLst>
              <a:gd name="adj" fmla="val 3750"/>
            </a:avLst>
          </a:prstGeom>
          <a:solidFill>
            <a:srgbClr val="12233F"/>
          </a:solidFill>
          <a:ln w="12700">
            <a:solidFill>
              <a:srgbClr val="12233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06640" y="15087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7200" dirty="0"/>
          </a:p>
        </p:txBody>
      </p:sp>
      <p:sp>
        <p:nvSpPr>
          <p:cNvPr id="17" name="Text 12"/>
          <p:cNvSpPr txBox="1"/>
          <p:nvPr/>
        </p:nvSpPr>
        <p:spPr>
          <a:xfrm>
            <a:off x="7406640" y="233172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conducta insegura dura segundos. El video la guarda por días, pero nadie la ve a tiempo.</a:t>
            </a:r>
            <a:endParaRPr lang="en-US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425196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Ley 29783 exige identificar y controlar los riesgos laborales; hoy esa vigilancia depende casi por completo de la observación humana.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convierte cada cámara en un sensor inteligente</a:t>
            </a:r>
            <a:endParaRPr lang="en-US" sz="3200" dirty="0"/>
          </a:p>
        </p:txBody>
      </p:sp>
      <p:sp>
        <p:nvSpPr>
          <p:cNvPr id="3" name="sol0"/>
          <p:cNvSpPr/>
          <p:nvPr/>
        </p:nvSpPr>
        <p:spPr>
          <a:xfrm>
            <a:off x="548640" y="1508760"/>
            <a:ext cx="3474720" cy="36118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828800"/>
            <a:ext cx="1005840" cy="1005840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5802" y="2070202"/>
            <a:ext cx="523037" cy="52303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0632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6576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 la conducta, no solo el objeto: detección con YOLOv4 y análisis de la secuencia con ConvLSTM.</a:t>
            </a:r>
            <a:endParaRPr lang="en-US" sz="1600" dirty="0"/>
          </a:p>
        </p:txBody>
      </p:sp>
      <p:sp>
        <p:nvSpPr>
          <p:cNvPr id="8" name="sol1"/>
          <p:cNvSpPr/>
          <p:nvPr/>
        </p:nvSpPr>
        <p:spPr>
          <a:xfrm>
            <a:off x="4297680" y="1508760"/>
            <a:ext cx="3474720" cy="36118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1828800"/>
            <a:ext cx="1005840" cy="1005840"/>
          </a:xfrm>
          <a:prstGeom prst="ellipse">
            <a:avLst/>
          </a:prstGeom>
          <a:solidFill>
            <a:srgbClr val="FDE8E6"/>
          </a:solidFill>
          <a:ln w="12700">
            <a:solidFill>
              <a:srgbClr val="FDE8E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4842" y="2070202"/>
            <a:ext cx="523037" cy="52303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0632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6576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Emite una alerta visual y sonora con el clip de evidencia para intervenir a tiempo.</a:t>
            </a:r>
            <a:endParaRPr lang="en-US" sz="1600" dirty="0"/>
          </a:p>
        </p:txBody>
      </p:sp>
      <p:sp>
        <p:nvSpPr>
          <p:cNvPr id="13" name="sol2"/>
          <p:cNvSpPr/>
          <p:nvPr/>
        </p:nvSpPr>
        <p:spPr>
          <a:xfrm>
            <a:off x="8046720" y="1508760"/>
            <a:ext cx="3474720" cy="36118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12480" y="1828800"/>
            <a:ext cx="1005840" cy="1005840"/>
          </a:xfrm>
          <a:prstGeom prst="ellipse">
            <a:avLst/>
          </a:prstGeom>
          <a:solidFill>
            <a:srgbClr val="E2F6F3"/>
          </a:solidFill>
          <a:ln w="12700">
            <a:solidFill>
              <a:srgbClr val="E2F6F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3882" y="2070202"/>
            <a:ext cx="523037" cy="52303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12480" y="30632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</a:t>
            </a:r>
            <a:endParaRPr lang="en-US" sz="26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36576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cada evento validado y genera reportes por tipo, zona y semana para decidir.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video a la alerta en 7 etapas</a:t>
            </a:r>
            <a:endParaRPr lang="en-US" sz="3200" dirty="0"/>
          </a:p>
        </p:txBody>
      </p:sp>
      <p:sp>
        <p:nvSpPr>
          <p:cNvPr id="3" name="etapa1"/>
          <p:cNvSpPr/>
          <p:nvPr/>
        </p:nvSpPr>
        <p:spPr>
          <a:xfrm>
            <a:off x="548640" y="1554480"/>
            <a:ext cx="137160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8580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68680" y="1965960"/>
            <a:ext cx="731520" cy="731520"/>
          </a:xfrm>
          <a:prstGeom prst="ellipse">
            <a:avLst/>
          </a:prstGeom>
          <a:solidFill>
            <a:srgbClr val="E6EFFF"/>
          </a:solidFill>
          <a:ln w="12700">
            <a:solidFill>
              <a:srgbClr val="E6E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5" y="2141525"/>
            <a:ext cx="380390" cy="3803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7889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38328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Clips MP4 de las cámaras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914400" y="4297680"/>
            <a:ext cx="640080" cy="292608"/>
          </a:xfrm>
          <a:prstGeom prst="roundRect">
            <a:avLst>
              <a:gd name="adj" fmla="val 25000"/>
            </a:avLst>
          </a:prstGeom>
          <a:solidFill>
            <a:srgbClr val="F4F6FA"/>
          </a:solidFill>
          <a:ln w="6350">
            <a:solidFill>
              <a:srgbClr val="D7DEE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947672" y="2240280"/>
            <a:ext cx="192024" cy="201168"/>
          </a:xfrm>
          <a:prstGeom prst="rightArrow">
            <a:avLst/>
          </a:prstGeom>
          <a:solidFill>
            <a:srgbClr val="12233F"/>
          </a:solidFill>
          <a:ln w="12700">
            <a:solidFill>
              <a:srgbClr val="12233F"/>
            </a:solidFill>
            <a:prstDash val="solid"/>
          </a:ln>
        </p:spPr>
      </p:sp>
      <p:sp>
        <p:nvSpPr>
          <p:cNvPr id="12" name="etapa2"/>
          <p:cNvSpPr/>
          <p:nvPr/>
        </p:nvSpPr>
        <p:spPr>
          <a:xfrm>
            <a:off x="2167128" y="1554480"/>
            <a:ext cx="137160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2304288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87168" y="1965960"/>
            <a:ext cx="731520" cy="731520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2733" y="214152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258568" y="27889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YOLOv4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2258568" y="338328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Personas, montacargas y paneles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2532888" y="4297680"/>
            <a:ext cx="640080" cy="292608"/>
          </a:xfrm>
          <a:prstGeom prst="roundRect">
            <a:avLst>
              <a:gd name="adj" fmla="val 25000"/>
            </a:avLst>
          </a:prstGeom>
          <a:solidFill>
            <a:srgbClr val="F4F6FA"/>
          </a:solidFill>
          <a:ln w="6350">
            <a:solidFill>
              <a:srgbClr val="D7DEE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32888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RF-02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3566160" y="2240280"/>
            <a:ext cx="192024" cy="201168"/>
          </a:xfrm>
          <a:prstGeom prst="rightArrow">
            <a:avLst/>
          </a:prstGeom>
          <a:solidFill>
            <a:srgbClr val="12233F"/>
          </a:solidFill>
          <a:ln w="12700">
            <a:solidFill>
              <a:srgbClr val="12233F"/>
            </a:solidFill>
            <a:prstDash val="solid"/>
          </a:ln>
        </p:spPr>
      </p:sp>
      <p:sp>
        <p:nvSpPr>
          <p:cNvPr id="21" name="etapa3"/>
          <p:cNvSpPr/>
          <p:nvPr/>
        </p:nvSpPr>
        <p:spPr>
          <a:xfrm>
            <a:off x="3785616" y="1554480"/>
            <a:ext cx="137160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3922776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105656" y="1965960"/>
            <a:ext cx="731520" cy="731520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1221" y="2141525"/>
            <a:ext cx="380390" cy="38039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3877056" y="27889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de frames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3877056" y="338328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 lo irrelevante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4151376" y="4297680"/>
            <a:ext cx="640080" cy="292608"/>
          </a:xfrm>
          <a:prstGeom prst="roundRect">
            <a:avLst>
              <a:gd name="adj" fmla="val 25000"/>
            </a:avLst>
          </a:prstGeom>
          <a:solidFill>
            <a:srgbClr val="F4F6FA"/>
          </a:solidFill>
          <a:ln w="6350">
            <a:solidFill>
              <a:srgbClr val="D7DEE9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151376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RF-03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5184648" y="2240280"/>
            <a:ext cx="192024" cy="201168"/>
          </a:xfrm>
          <a:prstGeom prst="rightArrow">
            <a:avLst/>
          </a:prstGeom>
          <a:solidFill>
            <a:srgbClr val="12233F"/>
          </a:solidFill>
          <a:ln w="12700">
            <a:solidFill>
              <a:srgbClr val="12233F"/>
            </a:solidFill>
            <a:prstDash val="solid"/>
          </a:ln>
        </p:spPr>
      </p:sp>
      <p:sp>
        <p:nvSpPr>
          <p:cNvPr id="30" name="etapa4"/>
          <p:cNvSpPr/>
          <p:nvPr/>
        </p:nvSpPr>
        <p:spPr>
          <a:xfrm>
            <a:off x="5404104" y="1554480"/>
            <a:ext cx="137160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31" name="Text 26"/>
          <p:cNvSpPr txBox="1"/>
          <p:nvPr/>
        </p:nvSpPr>
        <p:spPr>
          <a:xfrm>
            <a:off x="5541264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5724144" y="1965960"/>
            <a:ext cx="731520" cy="731520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9709" y="2141525"/>
            <a:ext cx="380390" cy="380390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5495544" y="27889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Secuencias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5495544" y="338328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acción por clip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5769864" y="4297680"/>
            <a:ext cx="640080" cy="292608"/>
          </a:xfrm>
          <a:prstGeom prst="roundRect">
            <a:avLst>
              <a:gd name="adj" fmla="val 25000"/>
            </a:avLst>
          </a:prstGeom>
          <a:solidFill>
            <a:srgbClr val="F4F6FA"/>
          </a:solidFill>
          <a:ln w="6350">
            <a:solidFill>
              <a:srgbClr val="D7DEE9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5769864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RF-04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6803136" y="2240280"/>
            <a:ext cx="192024" cy="201168"/>
          </a:xfrm>
          <a:prstGeom prst="rightArrow">
            <a:avLst/>
          </a:prstGeom>
          <a:solidFill>
            <a:srgbClr val="12233F"/>
          </a:solidFill>
          <a:ln w="12700">
            <a:solidFill>
              <a:srgbClr val="12233F"/>
            </a:solidFill>
            <a:prstDash val="solid"/>
          </a:ln>
        </p:spPr>
      </p:sp>
      <p:sp>
        <p:nvSpPr>
          <p:cNvPr id="39" name="etapa5"/>
          <p:cNvSpPr/>
          <p:nvPr/>
        </p:nvSpPr>
        <p:spPr>
          <a:xfrm>
            <a:off x="7022592" y="1554480"/>
            <a:ext cx="137160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40" name="Text 34"/>
          <p:cNvSpPr txBox="1"/>
          <p:nvPr/>
        </p:nvSpPr>
        <p:spPr>
          <a:xfrm>
            <a:off x="7159752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7342632" y="1965960"/>
            <a:ext cx="731520" cy="731520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8197" y="2141525"/>
            <a:ext cx="380390" cy="380390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7114032" y="27889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ConvLSTM</a:t>
            </a:r>
            <a:endParaRPr lang="en-US" sz="1400" dirty="0"/>
          </a:p>
        </p:txBody>
      </p:sp>
      <p:sp>
        <p:nvSpPr>
          <p:cNvPr id="44" name="Text 37"/>
          <p:cNvSpPr txBox="1"/>
          <p:nvPr/>
        </p:nvSpPr>
        <p:spPr>
          <a:xfrm>
            <a:off x="7114032" y="338328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 la conducta</a:t>
            </a:r>
            <a:endParaRPr lang="en-US" sz="1200" dirty="0"/>
          </a:p>
        </p:txBody>
      </p:sp>
      <p:sp>
        <p:nvSpPr>
          <p:cNvPr id="45" name="Shape 38"/>
          <p:cNvSpPr/>
          <p:nvPr/>
        </p:nvSpPr>
        <p:spPr>
          <a:xfrm>
            <a:off x="7388352" y="4297680"/>
            <a:ext cx="640080" cy="292608"/>
          </a:xfrm>
          <a:prstGeom prst="roundRect">
            <a:avLst>
              <a:gd name="adj" fmla="val 25000"/>
            </a:avLst>
          </a:prstGeom>
          <a:solidFill>
            <a:srgbClr val="F4F6FA"/>
          </a:solidFill>
          <a:ln w="6350">
            <a:solidFill>
              <a:srgbClr val="D7DEE9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7388352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RF-05</a:t>
            </a:r>
            <a:endParaRPr lang="en-US" sz="1000" dirty="0"/>
          </a:p>
        </p:txBody>
      </p:sp>
      <p:sp>
        <p:nvSpPr>
          <p:cNvPr id="47" name="Shape 40"/>
          <p:cNvSpPr/>
          <p:nvPr/>
        </p:nvSpPr>
        <p:spPr>
          <a:xfrm>
            <a:off x="8421624" y="2240280"/>
            <a:ext cx="192024" cy="201168"/>
          </a:xfrm>
          <a:prstGeom prst="rightArrow">
            <a:avLst/>
          </a:prstGeom>
          <a:solidFill>
            <a:srgbClr val="12233F"/>
          </a:solidFill>
          <a:ln w="12700">
            <a:solidFill>
              <a:srgbClr val="12233F"/>
            </a:solidFill>
            <a:prstDash val="solid"/>
          </a:ln>
        </p:spPr>
      </p:sp>
      <p:sp>
        <p:nvSpPr>
          <p:cNvPr id="48" name="etapa6"/>
          <p:cNvSpPr/>
          <p:nvPr/>
        </p:nvSpPr>
        <p:spPr>
          <a:xfrm>
            <a:off x="8641080" y="1554480"/>
            <a:ext cx="137160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49" name="Text 42"/>
          <p:cNvSpPr txBox="1"/>
          <p:nvPr/>
        </p:nvSpPr>
        <p:spPr>
          <a:xfrm>
            <a:off x="877824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50" name="Shape 43"/>
          <p:cNvSpPr/>
          <p:nvPr/>
        </p:nvSpPr>
        <p:spPr>
          <a:xfrm>
            <a:off x="8961120" y="1965960"/>
            <a:ext cx="731520" cy="731520"/>
          </a:xfrm>
          <a:prstGeom prst="ellipse">
            <a:avLst/>
          </a:prstGeom>
          <a:solidFill>
            <a:srgbClr val="FDE8E6"/>
          </a:solidFill>
          <a:ln w="12700">
            <a:solidFill>
              <a:srgbClr val="FDE8E6"/>
            </a:solidFill>
            <a:prstDash val="solid"/>
          </a:ln>
        </p:spPr>
      </p:sp>
      <p:pic>
        <p:nvPicPr>
          <p:cNvPr id="5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6685" y="2141525"/>
            <a:ext cx="380390" cy="380390"/>
          </a:xfrm>
          <a:prstGeom prst="rect">
            <a:avLst/>
          </a:prstGeom>
        </p:spPr>
      </p:pic>
      <p:sp>
        <p:nvSpPr>
          <p:cNvPr id="52" name="Text 44"/>
          <p:cNvSpPr txBox="1"/>
          <p:nvPr/>
        </p:nvSpPr>
        <p:spPr>
          <a:xfrm>
            <a:off x="8732520" y="27889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8732520" y="338328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y sonora, con evidencia</a:t>
            </a:r>
            <a:endParaRPr lang="en-US" sz="1200" dirty="0"/>
          </a:p>
        </p:txBody>
      </p:sp>
      <p:sp>
        <p:nvSpPr>
          <p:cNvPr id="54" name="Shape 46"/>
          <p:cNvSpPr/>
          <p:nvPr/>
        </p:nvSpPr>
        <p:spPr>
          <a:xfrm>
            <a:off x="9006840" y="4297680"/>
            <a:ext cx="640080" cy="292608"/>
          </a:xfrm>
          <a:prstGeom prst="roundRect">
            <a:avLst>
              <a:gd name="adj" fmla="val 25000"/>
            </a:avLst>
          </a:prstGeom>
          <a:solidFill>
            <a:srgbClr val="F4F6FA"/>
          </a:solidFill>
          <a:ln w="6350">
            <a:solidFill>
              <a:srgbClr val="D7DEE9"/>
            </a:solidFill>
            <a:prstDash val="solid"/>
          </a:ln>
        </p:spPr>
      </p:sp>
      <p:sp>
        <p:nvSpPr>
          <p:cNvPr id="55" name="Text 47"/>
          <p:cNvSpPr txBox="1"/>
          <p:nvPr/>
        </p:nvSpPr>
        <p:spPr>
          <a:xfrm>
            <a:off x="9006840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RF-07</a:t>
            </a:r>
            <a:endParaRPr lang="en-US" sz="1000" dirty="0"/>
          </a:p>
        </p:txBody>
      </p:sp>
      <p:sp>
        <p:nvSpPr>
          <p:cNvPr id="56" name="Shape 48"/>
          <p:cNvSpPr/>
          <p:nvPr/>
        </p:nvSpPr>
        <p:spPr>
          <a:xfrm>
            <a:off x="10040112" y="2240280"/>
            <a:ext cx="192024" cy="201168"/>
          </a:xfrm>
          <a:prstGeom prst="rightArrow">
            <a:avLst/>
          </a:prstGeom>
          <a:solidFill>
            <a:srgbClr val="12233F"/>
          </a:solidFill>
          <a:ln w="12700">
            <a:solidFill>
              <a:srgbClr val="12233F"/>
            </a:solidFill>
            <a:prstDash val="solid"/>
          </a:ln>
        </p:spPr>
      </p:sp>
      <p:sp>
        <p:nvSpPr>
          <p:cNvPr id="57" name="etapa7"/>
          <p:cNvSpPr/>
          <p:nvPr/>
        </p:nvSpPr>
        <p:spPr>
          <a:xfrm>
            <a:off x="10259568" y="1554480"/>
            <a:ext cx="137160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58" name="Text 50"/>
          <p:cNvSpPr txBox="1"/>
          <p:nvPr/>
        </p:nvSpPr>
        <p:spPr>
          <a:xfrm>
            <a:off x="10396728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59" name="Shape 51"/>
          <p:cNvSpPr/>
          <p:nvPr/>
        </p:nvSpPr>
        <p:spPr>
          <a:xfrm>
            <a:off x="10579608" y="1965960"/>
            <a:ext cx="731520" cy="731520"/>
          </a:xfrm>
          <a:prstGeom prst="ellipse">
            <a:avLst/>
          </a:prstGeom>
          <a:solidFill>
            <a:srgbClr val="E2F6F3"/>
          </a:solidFill>
          <a:ln w="12700">
            <a:solidFill>
              <a:srgbClr val="E2F6F3"/>
            </a:solidFill>
            <a:prstDash val="solid"/>
          </a:ln>
        </p:spPr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55173" y="2141525"/>
            <a:ext cx="380390" cy="380390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10351008" y="27889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y registro</a:t>
            </a:r>
            <a:endParaRPr lang="en-US" sz="1400" dirty="0"/>
          </a:p>
        </p:txBody>
      </p:sp>
      <p:sp>
        <p:nvSpPr>
          <p:cNvPr id="62" name="Text 53"/>
          <p:cNvSpPr txBox="1"/>
          <p:nvPr/>
        </p:nvSpPr>
        <p:spPr>
          <a:xfrm>
            <a:off x="10351008" y="338328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persona confirma</a:t>
            </a:r>
            <a:endParaRPr lang="en-US" sz="1200" dirty="0"/>
          </a:p>
        </p:txBody>
      </p:sp>
      <p:sp>
        <p:nvSpPr>
          <p:cNvPr id="63" name="Shape 54"/>
          <p:cNvSpPr/>
          <p:nvPr/>
        </p:nvSpPr>
        <p:spPr>
          <a:xfrm>
            <a:off x="10625328" y="4297680"/>
            <a:ext cx="640080" cy="292608"/>
          </a:xfrm>
          <a:prstGeom prst="roundRect">
            <a:avLst>
              <a:gd name="adj" fmla="val 25000"/>
            </a:avLst>
          </a:prstGeom>
          <a:solidFill>
            <a:srgbClr val="F4F6FA"/>
          </a:solidFill>
          <a:ln w="6350">
            <a:solidFill>
              <a:srgbClr val="D7DEE9"/>
            </a:solidFill>
            <a:prstDash val="solid"/>
          </a:ln>
        </p:spPr>
      </p:sp>
      <p:sp>
        <p:nvSpPr>
          <p:cNvPr id="64" name="Text 55"/>
          <p:cNvSpPr txBox="1"/>
          <p:nvPr/>
        </p:nvSpPr>
        <p:spPr>
          <a:xfrm>
            <a:off x="10625328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RF-06</a:t>
            </a:r>
            <a:endParaRPr lang="en-US" sz="1000" dirty="0"/>
          </a:p>
        </p:txBody>
      </p:sp>
      <p:sp>
        <p:nvSpPr>
          <p:cNvPr id="65" name="Shape 56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4DC"/>
          </a:solidFill>
          <a:ln w="12700">
            <a:solidFill>
              <a:srgbClr val="F5A623"/>
            </a:solidFill>
            <a:prstDash val="dash"/>
          </a:ln>
        </p:spPr>
      </p:sp>
      <p:pic>
        <p:nvPicPr>
          <p:cNvPr id="6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257800"/>
            <a:ext cx="502920" cy="502920"/>
          </a:xfrm>
          <a:prstGeom prst="rect">
            <a:avLst/>
          </a:prstGeom>
        </p:spPr>
      </p:pic>
      <p:sp>
        <p:nvSpPr>
          <p:cNvPr id="67" name="Text 57"/>
          <p:cNvSpPr txBox="1"/>
          <p:nvPr/>
        </p:nvSpPr>
        <p:spPr>
          <a:xfrm>
            <a:off x="1463040" y="51206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43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entrenados y versionados </a:t>
            </a:r>
            <a:pPr indent="0" marL="0">
              <a:buNone/>
            </a:pPr>
            <a:r>
              <a:rPr lang="en-US" sz="1500" dirty="0">
                <a:solidFill>
                  <a:srgbClr val="5A43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alimentan las etapas 2 (YOLOv4) y 5 (ConvLSTM). La detección dice qué hay en cada frame; el modelo temporal entiende qué está pasando.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versión: dos conductas de alto riesgo</a:t>
            </a:r>
            <a:endParaRPr lang="en-US" sz="3200" dirty="0"/>
          </a:p>
        </p:txBody>
      </p:sp>
      <p:sp>
        <p:nvSpPr>
          <p:cNvPr id="3" name="conducta0"/>
          <p:cNvSpPr/>
          <p:nvPr/>
        </p:nvSpPr>
        <p:spPr>
          <a:xfrm>
            <a:off x="548640" y="150876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828800"/>
            <a:ext cx="1005840" cy="1005840"/>
          </a:xfrm>
          <a:prstGeom prst="ellipse">
            <a:avLst/>
          </a:prstGeom>
          <a:solidFill>
            <a:srgbClr val="FDE8E6"/>
          </a:solidFill>
          <a:ln w="12700">
            <a:solidFill>
              <a:srgbClr val="FDE8E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5802" y="2070202"/>
            <a:ext cx="523037" cy="52303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301752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FDE8E6"/>
          </a:solidFill>
          <a:ln w="12700">
            <a:solidFill>
              <a:srgbClr val="FDE8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301752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4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CONDUCTA INSEGURA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4747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Tránsito fuera de la vía peatonal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41605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persona camina fuera de la zona marcada, por donde circulan montacargas.</a:t>
            </a:r>
            <a:endParaRPr lang="en-US" sz="1400" dirty="0"/>
          </a:p>
        </p:txBody>
      </p:sp>
      <p:sp>
        <p:nvSpPr>
          <p:cNvPr id="10" name="conducta1"/>
          <p:cNvSpPr/>
          <p:nvPr/>
        </p:nvSpPr>
        <p:spPr>
          <a:xfrm>
            <a:off x="4343400" y="150876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1828800"/>
            <a:ext cx="1005840" cy="1005840"/>
          </a:xfrm>
          <a:prstGeom prst="ellipse">
            <a:avLst/>
          </a:prstGeom>
          <a:solidFill>
            <a:srgbClr val="FDE8E6"/>
          </a:solidFill>
          <a:ln w="12700">
            <a:solidFill>
              <a:srgbClr val="FDE8E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562" y="2070202"/>
            <a:ext cx="523037" cy="523037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709160" y="301752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FDE8E6"/>
          </a:solidFill>
          <a:ln w="12700">
            <a:solidFill>
              <a:srgbClr val="FDE8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709160" y="301752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4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CONDUCTA INSEGURA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709160" y="34747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eléctrico abierto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709160" y="41605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tablero eléctrico queda abierto después de una intervención.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138160" y="150876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2F6F3"/>
          </a:solidFill>
          <a:ln w="12700">
            <a:solidFill>
              <a:srgbClr val="E2F6F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28800"/>
            <a:ext cx="822960" cy="8229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503920" y="3017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6E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 por contraste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8503920" y="35204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5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ve los casos seguros: caminar por la vía peatonal y el panel cerrado. Así distingue lo correcto de lo inseguro.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queda preparada para incorporar nuevas conductas en siguientes versiones.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aprende NewBit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234440" y="2377440"/>
            <a:ext cx="9692640" cy="0"/>
          </a:xfrm>
          <a:prstGeom prst="line">
            <a:avLst/>
          </a:prstGeom>
          <a:noFill/>
          <a:ln w="38100">
            <a:solidFill>
              <a:srgbClr val="F5A62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874520"/>
            <a:ext cx="1005840" cy="10058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5A62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121408"/>
            <a:ext cx="512064" cy="5120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5760" y="3108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de video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370332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industrial público, licencia CC BY 4.0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670048" y="1874520"/>
            <a:ext cx="1005840" cy="10058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5A62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6936" y="2121408"/>
            <a:ext cx="512064" cy="51206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304288" y="3108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Anotación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2304288" y="370332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etiquetados con LabelImg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608576" y="1874520"/>
            <a:ext cx="1005840" cy="10058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5A623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464" y="2121408"/>
            <a:ext cx="512064" cy="5120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242816" y="3108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Entrenar YOLOv4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242816" y="370332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de personas, montacargas y paneles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547104" y="1874520"/>
            <a:ext cx="1005840" cy="10058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5A623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121408"/>
            <a:ext cx="512064" cy="51206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181344" y="3108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Entrenar ConvLSTM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181344" y="370332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 de conductas en secuencias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8485632" y="1874520"/>
            <a:ext cx="1005840" cy="10058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5A623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2121408"/>
            <a:ext cx="512064" cy="51206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119872" y="3108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119872" y="370332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por clase: directa vs. pipeline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10424160" y="1874520"/>
            <a:ext cx="1005840" cy="10058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5A623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1048" y="2121408"/>
            <a:ext cx="512064" cy="512064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0058400" y="3108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Versionar</a:t>
            </a:r>
            <a:endParaRPr lang="en-US" sz="1600" dirty="0"/>
          </a:p>
        </p:txBody>
      </p:sp>
      <p:sp>
        <p:nvSpPr>
          <p:cNvPr id="27" name="Text 19"/>
          <p:cNvSpPr txBox="1"/>
          <p:nvPr/>
        </p:nvSpPr>
        <p:spPr>
          <a:xfrm>
            <a:off x="10058400" y="370332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y configuración reproducibles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548640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4F6FA"/>
          </a:solidFill>
          <a:ln w="9525">
            <a:solidFill>
              <a:srgbClr val="D7DEE9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822960" y="512064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Reproducible: </a:t>
            </a:r>
            <a:pPr indent="0" marL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división oficial entre entrenamiento y prueba, configuración versionada y métricas por clase. Las metas de desempeño se fijan con la línea base del Sprint 3.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perfiles, una misma plataforma</a:t>
            </a:r>
            <a:endParaRPr lang="en-US" sz="3200" dirty="0"/>
          </a:p>
        </p:txBody>
      </p:sp>
      <p:sp>
        <p:nvSpPr>
          <p:cNvPr id="3" name="perfil0"/>
          <p:cNvSpPr/>
          <p:nvPr/>
        </p:nvSpPr>
        <p:spPr>
          <a:xfrm>
            <a:off x="548640" y="1508760"/>
            <a:ext cx="2057400" cy="3429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97280" y="1783080"/>
            <a:ext cx="960120" cy="960120"/>
          </a:xfrm>
          <a:prstGeom prst="ellipse">
            <a:avLst/>
          </a:prstGeom>
          <a:solidFill>
            <a:srgbClr val="2F6FE4"/>
          </a:solidFill>
          <a:ln w="12700">
            <a:solidFill>
              <a:srgbClr val="2F6F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7830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92608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58444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Jorge Ponce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97764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videos, configura umbrales y gestiona usuarios sin tocar código.</a:t>
            </a:r>
            <a:endParaRPr lang="en-US" sz="1300" dirty="0"/>
          </a:p>
        </p:txBody>
      </p:sp>
      <p:sp>
        <p:nvSpPr>
          <p:cNvPr id="9" name="perfil1"/>
          <p:cNvSpPr/>
          <p:nvPr/>
        </p:nvSpPr>
        <p:spPr>
          <a:xfrm>
            <a:off x="2807208" y="1508760"/>
            <a:ext cx="2057400" cy="3429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55848" y="1783080"/>
            <a:ext cx="960120" cy="960120"/>
          </a:xfrm>
          <a:prstGeom prst="ellipse">
            <a:avLst/>
          </a:prstGeom>
          <a:solidFill>
            <a:srgbClr val="0F9D8A"/>
          </a:solidFill>
          <a:ln w="12700">
            <a:solidFill>
              <a:srgbClr val="0F9D8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55848" y="17830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944368" y="292608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Supervisora de SST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944368" y="358444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Mariana Torres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944368" y="397764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alertas y evidencia, y prioriza inspecciones.</a:t>
            </a:r>
            <a:endParaRPr lang="en-US" sz="1300" dirty="0"/>
          </a:p>
        </p:txBody>
      </p:sp>
      <p:sp>
        <p:nvSpPr>
          <p:cNvPr id="15" name="perfil2"/>
          <p:cNvSpPr/>
          <p:nvPr/>
        </p:nvSpPr>
        <p:spPr>
          <a:xfrm>
            <a:off x="5065776" y="1508760"/>
            <a:ext cx="2057400" cy="3429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614416" y="1783080"/>
            <a:ext cx="960120" cy="96012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14416" y="17830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202936" y="292608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de turno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202936" y="358444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César Vásquez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202936" y="397764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las alertas de su área y corrige en el momento.</a:t>
            </a:r>
            <a:endParaRPr lang="en-US" sz="1300" dirty="0"/>
          </a:p>
        </p:txBody>
      </p:sp>
      <p:sp>
        <p:nvSpPr>
          <p:cNvPr id="21" name="perfil3"/>
          <p:cNvSpPr/>
          <p:nvPr/>
        </p:nvSpPr>
        <p:spPr>
          <a:xfrm>
            <a:off x="7324344" y="1508760"/>
            <a:ext cx="2057400" cy="3429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872984" y="1783080"/>
            <a:ext cx="960120" cy="960120"/>
          </a:xfrm>
          <a:prstGeom prst="ellipse">
            <a:avLst/>
          </a:prstGeom>
          <a:solidFill>
            <a:srgbClr val="E0483E"/>
          </a:solidFill>
          <a:ln w="12700">
            <a:solidFill>
              <a:srgbClr val="E0483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72984" y="17830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7461504" y="292608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Operadora de monitoreo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61504" y="358444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Lucía Ramos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461504" y="397764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Atiende cada alerta y marca las falsas alarmas.</a:t>
            </a:r>
            <a:endParaRPr lang="en-US" sz="1300" dirty="0"/>
          </a:p>
        </p:txBody>
      </p:sp>
      <p:sp>
        <p:nvSpPr>
          <p:cNvPr id="27" name="perfil4"/>
          <p:cNvSpPr/>
          <p:nvPr/>
        </p:nvSpPr>
        <p:spPr>
          <a:xfrm>
            <a:off x="9582912" y="1508760"/>
            <a:ext cx="2057400" cy="3429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131552" y="1783080"/>
            <a:ext cx="960120" cy="960120"/>
          </a:xfrm>
          <a:prstGeom prst="ellipse">
            <a:avLst/>
          </a:prstGeom>
          <a:solidFill>
            <a:srgbClr val="12233F"/>
          </a:solidFill>
          <a:ln w="12700">
            <a:solidFill>
              <a:srgbClr val="12233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131552" y="17830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9720072" y="292608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de operaciones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720072" y="358444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Salcedo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720072" y="397764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reportes breves y decide dónde invertir.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166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ficticias del caso académico (SIDERPERU como caso propuesto), definidas en Roles y Prototipos (FGAP030).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Scrum y plan en 4 sprints</a:t>
            </a:r>
            <a:endParaRPr lang="en-US" sz="3200" dirty="0"/>
          </a:p>
        </p:txBody>
      </p:sp>
      <p:sp>
        <p:nvSpPr>
          <p:cNvPr id="3" name="integrante0"/>
          <p:cNvSpPr/>
          <p:nvPr/>
        </p:nvSpPr>
        <p:spPr>
          <a:xfrm>
            <a:off x="548640" y="146304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09928"/>
            <a:ext cx="786384" cy="786384"/>
          </a:xfrm>
          <a:prstGeom prst="ellipse">
            <a:avLst/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972" y="1898660"/>
            <a:ext cx="408920" cy="408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600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18745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Albert Sebastian Chumacero Chávarry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2402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 el backlog y acepta los incrementos.</a:t>
            </a:r>
            <a:endParaRPr lang="en-US" sz="1300" dirty="0"/>
          </a:p>
        </p:txBody>
      </p:sp>
      <p:sp>
        <p:nvSpPr>
          <p:cNvPr id="9" name="integrante1"/>
          <p:cNvSpPr/>
          <p:nvPr/>
        </p:nvSpPr>
        <p:spPr>
          <a:xfrm>
            <a:off x="548640" y="292608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77240" y="3172968"/>
            <a:ext cx="786384" cy="786384"/>
          </a:xfrm>
          <a:prstGeom prst="ellipse">
            <a:avLst/>
          </a:prstGeom>
          <a:solidFill>
            <a:srgbClr val="E2F6F3"/>
          </a:solidFill>
          <a:ln w="12700">
            <a:solidFill>
              <a:srgbClr val="E2F6F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972" y="3361700"/>
            <a:ext cx="408920" cy="4089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83080" y="3063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Y DEVELOPER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1783080" y="3337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Anthony Gabriel Lopez Yrribarren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783080" y="3703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 Scrum; interfaz, integración y pruebas.</a:t>
            </a:r>
            <a:endParaRPr lang="en-US" sz="1300" dirty="0"/>
          </a:p>
        </p:txBody>
      </p:sp>
      <p:sp>
        <p:nvSpPr>
          <p:cNvPr id="15" name="integrante2"/>
          <p:cNvSpPr/>
          <p:nvPr/>
        </p:nvSpPr>
        <p:spPr>
          <a:xfrm>
            <a:off x="548640" y="438912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636008"/>
            <a:ext cx="786384" cy="786384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972" y="4824740"/>
            <a:ext cx="408920" cy="4089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783080" y="4526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4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783080" y="48006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Fernando Salazar Diaz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1783080" y="5166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Datos, YOLOv4 y ConvLSTM.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6217920" y="1463040"/>
            <a:ext cx="822960" cy="777240"/>
          </a:xfrm>
          <a:prstGeom prst="roundRect">
            <a:avLst>
              <a:gd name="adj" fmla="val 14118"/>
            </a:avLst>
          </a:prstGeom>
          <a:solidFill>
            <a:srgbClr val="12233F"/>
          </a:solidFill>
          <a:ln w="12700">
            <a:solidFill>
              <a:srgbClr val="12233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217920" y="146304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7223760" y="15087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Dataset, conductas, entorno y anotación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223760" y="190195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– 30/10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6217920" y="2450592"/>
            <a:ext cx="822960" cy="777240"/>
          </a:xfrm>
          <a:prstGeom prst="roundRect">
            <a:avLst>
              <a:gd name="adj" fmla="val 14118"/>
            </a:avLst>
          </a:prstGeom>
          <a:solidFill>
            <a:srgbClr val="12233F"/>
          </a:solidFill>
          <a:ln w="12700">
            <a:solidFill>
              <a:srgbClr val="12233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217920" y="2450592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2000" dirty="0"/>
          </a:p>
        </p:txBody>
      </p:sp>
      <p:sp>
        <p:nvSpPr>
          <p:cNvPr id="27" name="Text 22"/>
          <p:cNvSpPr txBox="1"/>
          <p:nvPr/>
        </p:nvSpPr>
        <p:spPr>
          <a:xfrm>
            <a:off x="7223760" y="249631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YOLOv4, selección de frames y secuencias</a:t>
            </a:r>
            <a:endParaRPr lang="en-US" sz="1600" dirty="0"/>
          </a:p>
        </p:txBody>
      </p:sp>
      <p:sp>
        <p:nvSpPr>
          <p:cNvPr id="28" name="Text 23"/>
          <p:cNvSpPr txBox="1"/>
          <p:nvPr/>
        </p:nvSpPr>
        <p:spPr>
          <a:xfrm>
            <a:off x="7223760" y="288950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– 13/11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6217920" y="3438144"/>
            <a:ext cx="822960" cy="777240"/>
          </a:xfrm>
          <a:prstGeom prst="roundRect">
            <a:avLst>
              <a:gd name="adj" fmla="val 14118"/>
            </a:avLst>
          </a:prstGeom>
          <a:solidFill>
            <a:srgbClr val="12233F"/>
          </a:solidFill>
          <a:ln w="12700">
            <a:solidFill>
              <a:srgbClr val="12233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217920" y="3438144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2000" dirty="0"/>
          </a:p>
        </p:txBody>
      </p:sp>
      <p:sp>
        <p:nvSpPr>
          <p:cNvPr id="31" name="Text 26"/>
          <p:cNvSpPr txBox="1"/>
          <p:nvPr/>
        </p:nvSpPr>
        <p:spPr>
          <a:xfrm>
            <a:off x="7223760" y="3483864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ConvLSTM, pipeline completo y evaluación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7223760" y="387705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16/11 – 27/11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6217920" y="4425696"/>
            <a:ext cx="822960" cy="777240"/>
          </a:xfrm>
          <a:prstGeom prst="roundRect">
            <a:avLst>
              <a:gd name="adj" fmla="val 14118"/>
            </a:avLst>
          </a:prstGeom>
          <a:solidFill>
            <a:srgbClr val="12233F"/>
          </a:solidFill>
          <a:ln w="12700">
            <a:solidFill>
              <a:srgbClr val="12233F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6217920" y="4425696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2000" dirty="0"/>
          </a:p>
        </p:txBody>
      </p:sp>
      <p:sp>
        <p:nvSpPr>
          <p:cNvPr id="35" name="Text 30"/>
          <p:cNvSpPr txBox="1"/>
          <p:nvPr/>
        </p:nvSpPr>
        <p:spPr>
          <a:xfrm>
            <a:off x="7223760" y="447141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Interfaz, alertas, registro y pruebas</a:t>
            </a:r>
            <a:endParaRPr lang="en-US" sz="1600" dirty="0"/>
          </a:p>
        </p:txBody>
      </p:sp>
      <p:sp>
        <p:nvSpPr>
          <p:cNvPr id="36" name="Text 31"/>
          <p:cNvSpPr txBox="1"/>
          <p:nvPr/>
        </p:nvSpPr>
        <p:spPr>
          <a:xfrm>
            <a:off x="7223760" y="48646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30/11 – 11/12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6217920" y="54864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Inicio: </a:t>
            </a:r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05–16/10 · </a:t>
            </a:r>
            <a:pPr indent="0" marL="0">
              <a:buNone/>
            </a:pPr>
            <a:r>
              <a:rPr lang="en-US" sz="14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Cierre: </a:t>
            </a:r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14–18/12/2026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épicas: del video a la alerta</a:t>
            </a:r>
            <a:endParaRPr lang="en-US" sz="3200" dirty="0"/>
          </a:p>
        </p:txBody>
      </p:sp>
      <p:sp>
        <p:nvSpPr>
          <p:cNvPr id="3" name="epicaEP01"/>
          <p:cNvSpPr/>
          <p:nvPr/>
        </p:nvSpPr>
        <p:spPr>
          <a:xfrm>
            <a:off x="548640" y="141732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645920"/>
            <a:ext cx="685800" cy="685800"/>
          </a:xfrm>
          <a:prstGeom prst="ellipse">
            <a:avLst/>
          </a:prstGeom>
          <a:solidFill>
            <a:srgbClr val="E6EFFF"/>
          </a:solidFill>
          <a:ln w="12700">
            <a:solidFill>
              <a:srgbClr val="E6E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1051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45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8928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Ingestión y preprocesamiento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514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investigador: </a:t>
            </a:r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y normalizar el video industrial para dejarlo listo para el análisis.</a:t>
            </a:r>
            <a:endParaRPr lang="en-US" sz="1300" dirty="0"/>
          </a:p>
        </p:txBody>
      </p:sp>
      <p:sp>
        <p:nvSpPr>
          <p:cNvPr id="9" name="epicaEP02"/>
          <p:cNvSpPr/>
          <p:nvPr/>
        </p:nvSpPr>
        <p:spPr>
          <a:xfrm>
            <a:off x="4297680" y="141732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45920"/>
            <a:ext cx="685800" cy="685800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872" y="1810512"/>
            <a:ext cx="356616" cy="3566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1645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4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EP02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349240" y="18928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espacial y filtrado (YOLOv4)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514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investigador: </a:t>
            </a:r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trabajadores y descartar frames irrelevantes para aligerar el procesamiento.</a:t>
            </a:r>
            <a:endParaRPr lang="en-US" sz="1300" dirty="0"/>
          </a:p>
        </p:txBody>
      </p:sp>
      <p:sp>
        <p:nvSpPr>
          <p:cNvPr id="15" name="epicaEP03"/>
          <p:cNvSpPr/>
          <p:nvPr/>
        </p:nvSpPr>
        <p:spPr>
          <a:xfrm>
            <a:off x="8046720" y="141732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45920"/>
            <a:ext cx="685800" cy="685800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1810512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98280" y="1645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4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EP03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098280" y="18928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Segmentación temporal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2514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investigador: </a:t>
            </a:r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Agrupar los frames filtrados en clips de una sola acción.</a:t>
            </a:r>
            <a:endParaRPr lang="en-US" sz="1300" dirty="0"/>
          </a:p>
        </p:txBody>
      </p:sp>
      <p:sp>
        <p:nvSpPr>
          <p:cNvPr id="21" name="epicaEP04"/>
          <p:cNvSpPr/>
          <p:nvPr/>
        </p:nvSpPr>
        <p:spPr>
          <a:xfrm>
            <a:off x="548640" y="379476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77240" y="4023360"/>
            <a:ext cx="685800" cy="685800"/>
          </a:xfrm>
          <a:prstGeom prst="ellipse">
            <a:avLst/>
          </a:prstGeom>
          <a:solidFill>
            <a:srgbClr val="FDE8E6"/>
          </a:solidFill>
          <a:ln w="12700">
            <a:solidFill>
              <a:srgbClr val="FDE8E6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4187952"/>
            <a:ext cx="356616" cy="35661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023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4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EP04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1600200" y="42702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espacio-temporal (ConvLSTM)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77240" y="48920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investigador: </a:t>
            </a:r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cada clip como conducta segura o insegura. Épica central.</a:t>
            </a:r>
            <a:endParaRPr lang="en-US" sz="1300" dirty="0"/>
          </a:p>
        </p:txBody>
      </p:sp>
      <p:sp>
        <p:nvSpPr>
          <p:cNvPr id="27" name="epicaEP05"/>
          <p:cNvSpPr/>
          <p:nvPr/>
        </p:nvSpPr>
        <p:spPr>
          <a:xfrm>
            <a:off x="4297680" y="379476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4526280" y="4023360"/>
            <a:ext cx="685800" cy="685800"/>
          </a:xfrm>
          <a:prstGeom prst="ellipse">
            <a:avLst/>
          </a:prstGeom>
          <a:solidFill>
            <a:srgbClr val="E2F6F3"/>
          </a:solidFill>
          <a:ln w="12700">
            <a:solidFill>
              <a:srgbClr val="E2F6F3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872" y="4187952"/>
            <a:ext cx="356616" cy="35661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5349240" y="4023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EP05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5349240" y="42702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gráfica y registro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4526280" y="48920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evaluador del sistema: </a:t>
            </a:r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el video con etiquetas, recibir alertas y registrar los resultados.</a:t>
            </a:r>
            <a:endParaRPr lang="en-US" sz="1300" dirty="0"/>
          </a:p>
        </p:txBody>
      </p:sp>
      <p:sp>
        <p:nvSpPr>
          <p:cNvPr id="33" name="epicaEP06"/>
          <p:cNvSpPr/>
          <p:nvPr/>
        </p:nvSpPr>
        <p:spPr>
          <a:xfrm>
            <a:off x="8046720" y="379476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275320" y="4023360"/>
            <a:ext cx="685800" cy="685800"/>
          </a:xfrm>
          <a:prstGeom prst="ellipse">
            <a:avLst/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9912" y="4187952"/>
            <a:ext cx="356616" cy="356616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098280" y="4023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7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EP06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9098280" y="42702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y trazabilidad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8275320" y="48920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administrador técnico: </a:t>
            </a:r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umbrales y parámetros, y revisar los registros de procesamiento.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épicas a historias de usuario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514600" cy="566928"/>
          </a:xfrm>
          <a:prstGeom prst="roundRect">
            <a:avLst>
              <a:gd name="adj" fmla="val 16129"/>
            </a:avLst>
          </a:prstGeom>
          <a:solidFill>
            <a:srgbClr val="2F6FE4"/>
          </a:solidFill>
          <a:ln w="12700">
            <a:solidFill>
              <a:srgbClr val="2F6F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716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EP01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Ingestión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46120" y="1371600"/>
            <a:ext cx="4069080" cy="566928"/>
          </a:xfrm>
          <a:prstGeom prst="roundRect">
            <a:avLst>
              <a:gd name="adj" fmla="val 16129"/>
            </a:avLst>
          </a:prstGeom>
          <a:solidFill>
            <a:srgbClr val="F4F6FA"/>
          </a:solidFill>
          <a:ln w="9525">
            <a:solidFill>
              <a:srgbClr val="D7DE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383280" y="137160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HU01 </a:t>
            </a:r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un video industrial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452360" y="1371600"/>
            <a:ext cx="4069080" cy="566928"/>
          </a:xfrm>
          <a:prstGeom prst="roundRect">
            <a:avLst>
              <a:gd name="adj" fmla="val 16129"/>
            </a:avLst>
          </a:prstGeom>
          <a:solidFill>
            <a:srgbClr val="F4F6FA"/>
          </a:solidFill>
          <a:ln w="9525">
            <a:solidFill>
              <a:srgbClr val="D7DEE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0" y="137160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HU02 </a:t>
            </a:r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Fragmentar el video en frames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84832"/>
            <a:ext cx="2514600" cy="566928"/>
          </a:xfrm>
          <a:prstGeom prst="roundRect">
            <a:avLst>
              <a:gd name="adj" fmla="val 16129"/>
            </a:avLst>
          </a:prstGeom>
          <a:solidFill>
            <a:srgbClr val="5B4BDB"/>
          </a:solidFill>
          <a:ln w="12700">
            <a:solidFill>
              <a:srgbClr val="5B4B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0848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EP02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Filtrado YOLOv4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46120" y="2084832"/>
            <a:ext cx="4069080" cy="566928"/>
          </a:xfrm>
          <a:prstGeom prst="roundRect">
            <a:avLst>
              <a:gd name="adj" fmla="val 16129"/>
            </a:avLst>
          </a:prstGeom>
          <a:solidFill>
            <a:srgbClr val="F4F6FA"/>
          </a:solidFill>
          <a:ln w="9525">
            <a:solidFill>
              <a:srgbClr val="D7DE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83280" y="2084832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HU03 </a:t>
            </a:r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trabajadores en cada frame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452360" y="2084832"/>
            <a:ext cx="4069080" cy="566928"/>
          </a:xfrm>
          <a:prstGeom prst="roundRect">
            <a:avLst>
              <a:gd name="adj" fmla="val 16129"/>
            </a:avLst>
          </a:prstGeom>
          <a:solidFill>
            <a:srgbClr val="F4F6FA"/>
          </a:solidFill>
          <a:ln w="9525">
            <a:solidFill>
              <a:srgbClr val="D7DE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0" y="2084832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HU04 </a:t>
            </a:r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frames sin trabajadores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2798064"/>
            <a:ext cx="2514600" cy="566928"/>
          </a:xfrm>
          <a:prstGeom prst="roundRect">
            <a:avLst>
              <a:gd name="adj" fmla="val 16129"/>
            </a:avLst>
          </a:prstGeom>
          <a:solidFill>
            <a:srgbClr val="5B4BDB"/>
          </a:solidFill>
          <a:ln w="12700">
            <a:solidFill>
              <a:srgbClr val="5B4B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279806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EP03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Segmentación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246120" y="2798064"/>
            <a:ext cx="4069080" cy="566928"/>
          </a:xfrm>
          <a:prstGeom prst="roundRect">
            <a:avLst>
              <a:gd name="adj" fmla="val 16129"/>
            </a:avLst>
          </a:prstGeom>
          <a:solidFill>
            <a:srgbClr val="F4F6FA"/>
          </a:solidFill>
          <a:ln w="9525">
            <a:solidFill>
              <a:srgbClr val="D7DE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83280" y="2798064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HU05 </a:t>
            </a:r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Agrupar frames en clips de tamaño fijo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52360" y="2798064"/>
            <a:ext cx="4069080" cy="566928"/>
          </a:xfrm>
          <a:prstGeom prst="roundRect">
            <a:avLst>
              <a:gd name="adj" fmla="val 16129"/>
            </a:avLst>
          </a:prstGeom>
          <a:solidFill>
            <a:srgbClr val="F4F6FA"/>
          </a:solidFill>
          <a:ln w="9525">
            <a:solidFill>
              <a:srgbClr val="D7DE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0" y="2798064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HU06 </a:t>
            </a:r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clips sin tiempo mínimo de acción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511296"/>
            <a:ext cx="2514600" cy="566928"/>
          </a:xfrm>
          <a:prstGeom prst="roundRect">
            <a:avLst>
              <a:gd name="adj" fmla="val 16129"/>
            </a:avLst>
          </a:prstGeom>
          <a:solidFill>
            <a:srgbClr val="E0483E"/>
          </a:solidFill>
          <a:ln w="12700">
            <a:solidFill>
              <a:srgbClr val="E0483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351129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EP04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ConvLSTM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46120" y="3511296"/>
            <a:ext cx="4069080" cy="566928"/>
          </a:xfrm>
          <a:prstGeom prst="roundRect">
            <a:avLst>
              <a:gd name="adj" fmla="val 16129"/>
            </a:avLst>
          </a:prstGeom>
          <a:solidFill>
            <a:srgbClr val="F4F6FA"/>
          </a:solidFill>
          <a:ln w="9525">
            <a:solidFill>
              <a:srgbClr val="D7DE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383280" y="3511296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4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HU07 </a:t>
            </a:r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Procesar el clip con ConvLSTM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452360" y="3511296"/>
            <a:ext cx="4069080" cy="566928"/>
          </a:xfrm>
          <a:prstGeom prst="roundRect">
            <a:avLst>
              <a:gd name="adj" fmla="val 16129"/>
            </a:avLst>
          </a:prstGeom>
          <a:solidFill>
            <a:srgbClr val="F4F6FA"/>
          </a:solidFill>
          <a:ln w="9525">
            <a:solidFill>
              <a:srgbClr val="D7DE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89520" y="3511296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4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HU08 </a:t>
            </a:r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Etiquetar la conducta: segura o insegura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224528"/>
            <a:ext cx="2514600" cy="566928"/>
          </a:xfrm>
          <a:prstGeom prst="roundRect">
            <a:avLst>
              <a:gd name="adj" fmla="val 16129"/>
            </a:avLst>
          </a:prstGeom>
          <a:solidFill>
            <a:srgbClr val="0F9D8A"/>
          </a:solidFill>
          <a:ln w="12700">
            <a:solidFill>
              <a:srgbClr val="0F9D8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422452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EP05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y registro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246120" y="4224528"/>
            <a:ext cx="4069080" cy="566928"/>
          </a:xfrm>
          <a:prstGeom prst="roundRect">
            <a:avLst>
              <a:gd name="adj" fmla="val 16129"/>
            </a:avLst>
          </a:prstGeom>
          <a:solidFill>
            <a:srgbClr val="F4F6FA"/>
          </a:solidFill>
          <a:ln w="9525">
            <a:solidFill>
              <a:srgbClr val="D7DE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383280" y="422452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HU09 </a:t>
            </a:r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el video con un recuadro de color según el riesgo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452360" y="4224528"/>
            <a:ext cx="4069080" cy="566928"/>
          </a:xfrm>
          <a:prstGeom prst="roundRect">
            <a:avLst>
              <a:gd name="adj" fmla="val 16129"/>
            </a:avLst>
          </a:prstGeom>
          <a:solidFill>
            <a:srgbClr val="F4F6FA"/>
          </a:solidFill>
          <a:ln w="9525">
            <a:solidFill>
              <a:srgbClr val="D7DE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589520" y="422452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HU10 </a:t>
            </a:r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Activar una alerta ante una conducta insegura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4937760"/>
            <a:ext cx="2514600" cy="566928"/>
          </a:xfrm>
          <a:prstGeom prst="roundRect">
            <a:avLst>
              <a:gd name="adj" fmla="val 16129"/>
            </a:avLst>
          </a:prstGeom>
          <a:solidFill>
            <a:srgbClr val="B07A12"/>
          </a:solidFill>
          <a:ln w="12700">
            <a:solidFill>
              <a:srgbClr val="B07A1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" y="49377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EP06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246120" y="4937760"/>
            <a:ext cx="4069080" cy="566928"/>
          </a:xfrm>
          <a:prstGeom prst="roundRect">
            <a:avLst>
              <a:gd name="adj" fmla="val 16129"/>
            </a:avLst>
          </a:prstGeom>
          <a:solidFill>
            <a:srgbClr val="F4F6FA"/>
          </a:solidFill>
          <a:ln w="9525">
            <a:solidFill>
              <a:srgbClr val="D7DEE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49377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7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HU11 </a:t>
            </a:r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el umbral de confianza de YOLOv4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452360" y="4937760"/>
            <a:ext cx="4069080" cy="566928"/>
          </a:xfrm>
          <a:prstGeom prst="roundRect">
            <a:avLst>
              <a:gd name="adj" fmla="val 16129"/>
            </a:avLst>
          </a:prstGeom>
          <a:solidFill>
            <a:srgbClr val="F4F6FA"/>
          </a:solidFill>
          <a:ln w="9525">
            <a:solidFill>
              <a:srgbClr val="D7DEE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89520" y="49377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7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HU12 </a:t>
            </a:r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el log de tiempos de procesamiento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Formato: </a:t>
            </a:r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«Como [rol], quiero [funcionalidad], para [beneficio]». Son 12 historias iniciales; se priorizan en el Product Backlog y se reparten entre los 4 sprints.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Viable con un presupuesto acotado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 20,768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 total (igual al Acta de Constitución)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 18,600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3063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Dedicación valorizada del equipo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840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 280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3840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en efectivo (GPU, almacenamiento, impresión)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177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4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 1,888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331720" y="4617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Contingencia del 10 %</a:t>
            </a:r>
            <a:endParaRPr lang="en-US" sz="1400" dirty="0"/>
          </a:p>
        </p:txBody>
      </p:sp>
      <p:sp>
        <p:nvSpPr>
          <p:cNvPr id="11" name="viabilidad"/>
          <p:cNvSpPr/>
          <p:nvPr/>
        </p:nvSpPr>
        <p:spPr>
          <a:xfrm>
            <a:off x="6675120" y="1463040"/>
            <a:ext cx="493776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9525">
            <a:solidFill>
              <a:srgbClr val="D7DEE9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99516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 viable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995160" y="2331720"/>
            <a:ext cx="566928" cy="566928"/>
          </a:xfrm>
          <a:prstGeom prst="ellipse">
            <a:avLst/>
          </a:prstGeom>
          <a:solidFill>
            <a:srgbClr val="E2F6F3"/>
          </a:solidFill>
          <a:ln w="12700">
            <a:solidFill>
              <a:srgbClr val="E2F6F3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1223" y="2467783"/>
            <a:ext cx="294803" cy="294803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726680" y="233172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público de video industrial con licencia CC BY 4.0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995160" y="3200400"/>
            <a:ext cx="566928" cy="566928"/>
          </a:xfrm>
          <a:prstGeom prst="ellipse">
            <a:avLst/>
          </a:prstGeom>
          <a:solidFill>
            <a:srgbClr val="E2F6F3"/>
          </a:solidFill>
          <a:ln w="12700">
            <a:solidFill>
              <a:srgbClr val="E2F6F3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23" y="3336463"/>
            <a:ext cx="294803" cy="294803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726680" y="320040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abiertas y GPU bajo demanda (Colab o local)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995160" y="4069080"/>
            <a:ext cx="566928" cy="566928"/>
          </a:xfrm>
          <a:prstGeom prst="ellipse">
            <a:avLst/>
          </a:prstGeom>
          <a:solidFill>
            <a:srgbClr val="E2F6F3"/>
          </a:solidFill>
          <a:ln w="12700">
            <a:solidFill>
              <a:srgbClr val="E2F6F3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1223" y="4205143"/>
            <a:ext cx="294803" cy="29480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726680" y="40690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 disponible y roles de usuario definidos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995160" y="4937760"/>
            <a:ext cx="566928" cy="566928"/>
          </a:xfrm>
          <a:prstGeom prst="ellipse">
            <a:avLst/>
          </a:prstGeom>
          <a:solidFill>
            <a:srgbClr val="E2F6F3"/>
          </a:solidFill>
          <a:ln w="12700">
            <a:solidFill>
              <a:srgbClr val="E2F6F3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1223" y="5073823"/>
            <a:ext cx="294803" cy="29480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726680" y="493776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Privacidad por diseño: sin reconocimiento facial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840480"/>
            <a:ext cx="4937760" cy="4937760"/>
          </a:xfrm>
          <a:prstGeom prst="ellipse">
            <a:avLst/>
          </a:prstGeom>
          <a:solidFill>
            <a:srgbClr val="1D3A66"/>
          </a:solidFill>
          <a:ln w="12700">
            <a:solidFill>
              <a:srgbClr val="1D3A6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guía a NewBit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868680" cy="8686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947672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788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evalúa la conducta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246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 frame aislado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474720" y="1737360"/>
            <a:ext cx="868680" cy="8686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5032" y="1947672"/>
            <a:ext cx="457200" cy="457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474720" y="2788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persona valida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3474720" y="3246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apoya, no reemplaza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217920" y="1737360"/>
            <a:ext cx="868680" cy="8686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1947672"/>
            <a:ext cx="457200" cy="4572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217920" y="2788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Privacidad por diseño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6217920" y="3246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reconocimiento facial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961120" y="1737360"/>
            <a:ext cx="868680" cy="8686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1432" y="1947672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1120" y="2788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961120" y="3246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y configuración versionados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731520" y="4343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5400" dirty="0"/>
          </a:p>
        </p:txBody>
      </p:sp>
      <p:sp>
        <p:nvSpPr>
          <p:cNvPr id="21" name="Text 15"/>
          <p:cNvSpPr txBox="1"/>
          <p:nvPr/>
        </p:nvSpPr>
        <p:spPr>
          <a:xfrm>
            <a:off x="731520" y="52578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NewBit – Presentación del proyecto</dc:title>
  <dc:subject>PptxGenJS Presentation</dc:subject>
  <dc:creator>Equipo NewBit</dc:creator>
  <cp:lastModifiedBy>Equipo NewBit</cp:lastModifiedBy>
  <cp:revision>1</cp:revision>
  <dcterms:created xsi:type="dcterms:W3CDTF">2026-10-12T20:36:22Z</dcterms:created>
  <dcterms:modified xsi:type="dcterms:W3CDTF">2026-10-12T20:36:22Z</dcterms:modified>
</cp:coreProperties>
</file>